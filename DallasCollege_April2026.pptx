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93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74904"/>
            <a:ext cx="112196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Dallas College Workforce Credit Programs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Largest Credit Division Within Each School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1792" y="1051560"/>
            <a:ext cx="1911096" cy="0"/>
          </a:xfrm>
          <a:prstGeom prst="line">
            <a:avLst/>
          </a:prstGeom>
          <a:noFill/>
          <a:ln w="12700">
            <a:solidFill>
              <a:srgbClr val="29B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748873"/>
              </p:ext>
            </p:extLst>
          </p:nvPr>
        </p:nvGraphicFramePr>
        <p:xfrm>
          <a:off x="613837" y="1279006"/>
          <a:ext cx="10980519" cy="4793858"/>
        </p:xfrm>
        <a:graphic>
          <a:graphicData uri="http://schemas.openxmlformats.org/drawingml/2006/table">
            <a:tbl>
              <a:tblPr/>
              <a:tblGrid>
                <a:gridCol w="2795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7874">
                  <a:extLst>
                    <a:ext uri="{9D8B030D-6E8A-4147-A177-3AD203B41FA5}">
                      <a16:colId xmlns:a16="http://schemas.microsoft.com/office/drawing/2014/main" val="22160955"/>
                    </a:ext>
                  </a:extLst>
                </a:gridCol>
              </a:tblGrid>
              <a:tr h="5658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School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Division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Example Program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Number of Students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kern="1200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Approx. Cost</a:t>
                      </a:r>
                      <a:endParaRPr lang="en-US" sz="1300" b="1" kern="1200" dirty="0">
                        <a:solidFill>
                          <a:srgbClr val="FFFFFF"/>
                        </a:solidFill>
                        <a:latin typeface="Lucida Sans" pitchFamily="34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kern="1200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charset="0"/>
                          <a:cs typeface="Lucida Sans" charset="0"/>
                        </a:rPr>
                        <a:t>ROI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Business, Hospitality, and Global Trade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Management Careers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Human Resources Assistant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2,500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$1,500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29.4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Health Sciences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Nursing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Associate Degree Nursing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2,100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$5,000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40.6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Law and Public Service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Criminal Justice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Basic Criminal Justice Studies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1,000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$1,500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27.2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9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Engineering, Technology,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Math &amp; Science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Computer Information Systems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Technology Support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1,400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$1,500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37.4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Manufacturing and Industrial Technology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Automotive 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Automotive Repair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1,200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$1,500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46.4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3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Creative Arts, Entertainment &amp; Design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Digital Art and Design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Digital Media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200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$2,500</a:t>
                      </a:r>
                      <a:endParaRPr lang="en-US" sz="1300" kern="1200" dirty="0">
                        <a:solidFill>
                          <a:srgbClr val="262626"/>
                        </a:solidFill>
                        <a:latin typeface="Lucida Sans" pitchFamily="34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-17.8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3837" y="6139007"/>
            <a:ext cx="1121849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 groups are defined as the largest credit-program division within each Dallas College school, restricting to students with enrollment year ≤ 2019. Approximate cost is calculated as modal program credit hours × Dallas College’s current Dallas County resident tuition rate of $99 per credit hour. We assume 60% graduation rate.</a:t>
            </a:r>
            <a:endParaRPr lang="en-US" sz="1100" dirty="0"/>
          </a:p>
        </p:txBody>
      </p:sp>
      <p:pic>
        <p:nvPicPr>
          <p:cNvPr id="6" name="Image 0" descr="C:\Users\realj\Documents\oi-slide\o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36" y="6483096"/>
            <a:ext cx="32004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74904"/>
            <a:ext cx="112196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Dallas College Workforce Continuing Education Programs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Largest Continuing Education Division Within Each School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1792" y="1051560"/>
            <a:ext cx="1911096" cy="0"/>
          </a:xfrm>
          <a:prstGeom prst="line">
            <a:avLst/>
          </a:prstGeom>
          <a:noFill/>
          <a:ln w="12700">
            <a:solidFill>
              <a:srgbClr val="29B6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03638"/>
              </p:ext>
            </p:extLst>
          </p:nvPr>
        </p:nvGraphicFramePr>
        <p:xfrm>
          <a:off x="612648" y="1267431"/>
          <a:ext cx="10980588" cy="4807567"/>
        </p:xfrm>
        <a:graphic>
          <a:graphicData uri="http://schemas.openxmlformats.org/drawingml/2006/table">
            <a:tbl>
              <a:tblPr/>
              <a:tblGrid>
                <a:gridCol w="279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7882">
                  <a:extLst>
                    <a:ext uri="{9D8B030D-6E8A-4147-A177-3AD203B41FA5}">
                      <a16:colId xmlns:a16="http://schemas.microsoft.com/office/drawing/2014/main" val="1521984689"/>
                    </a:ext>
                  </a:extLst>
                </a:gridCol>
              </a:tblGrid>
              <a:tr h="5840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School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Division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Example Program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Number of Students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kern="1200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Approx. Cost</a:t>
                      </a:r>
                      <a:endParaRPr lang="en-US" sz="1300" b="1" kern="1200" dirty="0">
                        <a:solidFill>
                          <a:srgbClr val="FFFFFF"/>
                        </a:solidFill>
                        <a:latin typeface="Lucida Sans" pitchFamily="34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kern="1200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charset="0"/>
                          <a:cs typeface="Lucida Sans" charset="0"/>
                        </a:rPr>
                        <a:t>ROI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Business, Hospitality, and Global Trade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Management Careers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Organizational Culture Change/Adaptation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$500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20.7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Health Sciences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Nursing Support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Certified Nurse Aide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700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$1,300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16.1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Law and Public Service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Criminal Justice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Basic Police Recruit Training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1,700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$4,200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6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Engineering, Technology,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Math &amp; Science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Computer Information Systems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CISCO Networking Technician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$2,800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34.6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0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Manufacturing and Industrial Technology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Construction 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Commercial Plumbing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400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$3,600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51.9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60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Education</a:t>
                      </a:r>
                      <a:endParaRPr lang="en-US" sz="1300" b="1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Child Development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Teaching Assistant Preparation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$600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US" sz="1300" kern="12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+mn-ea"/>
                          <a:cs typeface="+mn-cs"/>
                        </a:rPr>
                        <a:t>-27.0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" y="6139007"/>
            <a:ext cx="1121849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Program groups are defined as the largest continuing-education division within each Dallas College school, restricting to students with enrollment year ≤ 2019. Approximate cost is calculated as modal program contact hours × the relevant Dallas College CE contact-hour rate. We assume 60% graduation rate.</a:t>
            </a:r>
            <a:endParaRPr lang="en-US" sz="1100" dirty="0"/>
          </a:p>
        </p:txBody>
      </p:sp>
      <p:pic>
        <p:nvPicPr>
          <p:cNvPr id="6" name="Image 0" descr="C:\Users\realj\Documents\oi-slide\o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36" y="6483096"/>
            <a:ext cx="320040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321</Words>
  <Application>Microsoft Office PowerPoint</Application>
  <PresentationFormat>Widescreen</PresentationFormat>
  <Paragraphs>94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Lucida Bright</vt:lpstr>
      <vt:lpstr>Lucida Sans</vt:lpstr>
      <vt:lpstr>Office Theme</vt:lpstr>
      <vt:lpstr>PowerPoint Presentation</vt:lpstr>
      <vt:lpstr>PowerPoint Presentation</vt:lpstr>
    </vt:vector>
  </TitlesOfParts>
  <Company>Opportunity Insights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Opportunity Insights</dc:creator>
  <cp:lastModifiedBy>Kim, Yeojin</cp:lastModifiedBy>
  <cp:revision>7</cp:revision>
  <dcterms:created xsi:type="dcterms:W3CDTF">2026-04-26T18:52:37Z</dcterms:created>
  <dcterms:modified xsi:type="dcterms:W3CDTF">2026-05-12T15:39:28Z</dcterms:modified>
</cp:coreProperties>
</file>