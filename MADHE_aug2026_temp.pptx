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12" r:id="rId1"/>
    <p:sldMasterId id="2147483726" r:id="rId2"/>
  </p:sldMasterIdLst>
  <p:notesMasterIdLst>
    <p:notesMasterId r:id="rId36"/>
  </p:notesMasterIdLst>
  <p:handoutMasterIdLst>
    <p:handoutMasterId r:id="rId37"/>
  </p:handoutMasterIdLst>
  <p:sldIdLst>
    <p:sldId id="9955" r:id="rId3"/>
    <p:sldId id="9956" r:id="rId4"/>
    <p:sldId id="256" r:id="rId5"/>
    <p:sldId id="257" r:id="rId6"/>
    <p:sldId id="258" r:id="rId7"/>
    <p:sldId id="259" r:id="rId8"/>
    <p:sldId id="9960" r:id="rId9"/>
    <p:sldId id="9958" r:id="rId10"/>
    <p:sldId id="9961" r:id="rId11"/>
    <p:sldId id="9962" r:id="rId12"/>
    <p:sldId id="264" r:id="rId13"/>
    <p:sldId id="265" r:id="rId14"/>
    <p:sldId id="266" r:id="rId15"/>
    <p:sldId id="267" r:id="rId16"/>
    <p:sldId id="268" r:id="rId17"/>
    <p:sldId id="269" r:id="rId18"/>
    <p:sldId id="273" r:id="rId19"/>
    <p:sldId id="274" r:id="rId20"/>
    <p:sldId id="9959" r:id="rId21"/>
    <p:sldId id="277" r:id="rId22"/>
    <p:sldId id="280" r:id="rId23"/>
    <p:sldId id="283" r:id="rId24"/>
    <p:sldId id="285" r:id="rId25"/>
    <p:sldId id="287" r:id="rId26"/>
    <p:sldId id="296" r:id="rId27"/>
    <p:sldId id="9963" r:id="rId28"/>
    <p:sldId id="288" r:id="rId29"/>
    <p:sldId id="289" r:id="rId30"/>
    <p:sldId id="294" r:id="rId31"/>
    <p:sldId id="300" r:id="rId32"/>
    <p:sldId id="302" r:id="rId33"/>
    <p:sldId id="305" r:id="rId34"/>
    <p:sldId id="308" r:id="rId35"/>
  </p:sldIdLst>
  <p:sldSz cx="12192000" cy="6858000"/>
  <p:notesSz cx="6858000" cy="9144000"/>
  <p:embeddedFontLst>
    <p:embeddedFont>
      <p:font typeface="Lucida Bright" panose="02040602050505020304" pitchFamily="18" charset="0"/>
      <p:regular r:id="rId38"/>
      <p:bold r:id="rId39"/>
      <p:italic r:id="rId40"/>
      <p:boldItalic r:id="rId41"/>
    </p:embeddedFont>
    <p:embeddedFont>
      <p:font typeface="Lucida Sans" panose="020B0602030504020204" pitchFamily="34" charset="0"/>
      <p:regular r:id="rId42"/>
      <p:bold r:id="rId43"/>
      <p:italic r:id="rId44"/>
      <p:boldItalic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626365"/>
    <a:srgbClr val="29B6A4"/>
    <a:srgbClr val="000000"/>
    <a:srgbClr val="FFFFFF"/>
    <a:srgbClr val="FAA523"/>
    <a:srgbClr val="D9D9D9"/>
    <a:srgbClr val="B2B5B7"/>
    <a:srgbClr val="7F4892"/>
    <a:srgbClr val="19B7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31" autoAdjust="0"/>
    <p:restoredTop sz="66344" autoAdjust="0"/>
  </p:normalViewPr>
  <p:slideViewPr>
    <p:cSldViewPr snapToGrid="0">
      <p:cViewPr varScale="1">
        <p:scale>
          <a:sx n="70" d="100"/>
          <a:sy n="70" d="100"/>
        </p:scale>
        <p:origin x="1620" y="54"/>
      </p:cViewPr>
      <p:guideLst/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5.fntdata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6.fntdata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6AFC86-27A9-9E95-2727-D9D4A8DB11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655AD-DDB4-9E33-5374-7073A775A2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2DC63-E65A-424C-8CAA-1D619F56AE50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6E5FC8-9B34-4F53-C3CC-7E34B4AF74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1F2B2-986D-63CB-1D64-E69F5426D9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4D987-604E-4356-9357-0E7343739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96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7B20E-7C29-400A-ACB4-EA33BE0918AC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5BCDB-D66B-4FB6-98F0-5DAE7FE58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71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090F63-9CE6-41E6-B4D4-5D6470FDA8C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6387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245A7-72C5-E01C-58A5-0B92ABE3F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236496-C03B-3576-E723-FC2363480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7B2D07-1796-8976-9D0C-E236D14A9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41065-F9A2-CF11-2DC7-7E77A3C11A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090F63-9CE6-41E6-B4D4-5D6470FDA8C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5873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BCDB-D66B-4FB6-98F0-5DAE7FE5807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912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C5BC4-D846-398A-A6D1-5F10C1D09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977E24-A3E9-A07D-5297-F1D2869391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10A98F-1E6B-5712-227B-7C6792656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EF701-9488-F241-D6D3-9A63E265D6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BCDB-D66B-4FB6-98F0-5DAE7FE5807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858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8451B-8C7D-690A-41A2-BE37F2F80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9F6E0D-496D-7564-6105-72A258C35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2D6AE-3395-ACDB-564E-71B4DE5E9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69DB9-34B3-683B-DBCB-280A919CD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BCDB-D66B-4FB6-98F0-5DAE7FE5807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460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BCDB-D66B-4FB6-98F0-5DAE7FE5807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4993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BCDB-D66B-4FB6-98F0-5DAE7FE5807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96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4B603-5752-018E-4F07-2F174A8A4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F2BB0-AF99-A239-EB32-11519AA1FF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DFAEA-2FBD-9D19-7880-44E33387E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C839-6FFF-4C41-9B1E-C1071059EA6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8E1E6-649B-6257-4859-45C74C5AA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CA60E-EE73-1C91-5EA8-A7871CACD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0047-E55F-4706-8684-C0AE860D8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214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3634D-821F-7DF2-7B37-E12B8C6E7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5EDBE-2525-670B-6EA5-986F93710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32BE6-8B7B-7480-AA41-4CFF91C59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C839-6FFF-4C41-9B1E-C1071059EA6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E2CD6-1EE1-9BB7-B1A2-7F69A54C6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9E1F9-D005-536C-70B1-4FA33ECB1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0047-E55F-4706-8684-C0AE860D8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99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D9B04-9641-1BF5-DFDD-8229B838B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C14C8-90EA-9623-5E10-B01BAE099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34FD4-2C34-9685-54C4-2A9C34B9B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C839-6FFF-4C41-9B1E-C1071059EA6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B727B-9B1F-E351-EB7F-D38C2A783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8CA-4EB0-E0E6-1BD2-5717DE0E9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0047-E55F-4706-8684-C0AE860D8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720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AF7B8-84D6-BB93-461D-A224BB2BF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F0481-E4E6-C583-354D-872F285571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468DD-74D9-818B-8C8F-B4DDA4683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E56E4-7EB2-00F2-E5B8-3395CA1CB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C839-6FFF-4C41-9B1E-C1071059EA6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1AF66-E635-E5E2-A66D-64AE5D96F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443CE-1117-71DA-FD05-220DEAA22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0047-E55F-4706-8684-C0AE860D8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656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9BFA4-C689-056A-9F58-8493DACB9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A5B97-85E5-6649-8CFE-BA24CD056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96D20-4181-CAC2-DFEB-3E43A2C93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7E2D77-DF6C-B59C-EB13-BD65047DC0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C46B5B-ADCD-7584-DAC4-E66830C5F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46DD0A-6DC7-E900-04E7-45993EB5E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C839-6FFF-4C41-9B1E-C1071059EA6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4D3EF-2BD0-F6D0-B07C-93401815F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D52737-D8D5-3F6E-183D-C3AE7B06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0047-E55F-4706-8684-C0AE860D8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581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C2552-5118-C7A2-8E99-F1E282746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80165D-F3B3-D9C4-74DB-B701C5FC8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C839-6FFF-4C41-9B1E-C1071059EA6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FCE3E6-D696-8EC1-B2CB-AF9B1CF8E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60539-ABF5-CA44-9C0B-8FB972D5C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0047-E55F-4706-8684-C0AE860D8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874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15CF71-BBF7-9859-4BE4-A9E72DBBB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C839-6FFF-4C41-9B1E-C1071059EA6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139712-683F-E069-B06F-7A4E40745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430C8-0EDF-9EEE-969E-6D292607E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0047-E55F-4706-8684-C0AE860D8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12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A4286-16AD-CAD1-7A3E-A0C64B114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FDFE5-C029-BAC9-BCB3-B700992C8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89FAB4-EF20-AB5B-200F-CD0A0748E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72224-6796-3A61-72F1-7B2C1B989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C839-6FFF-4C41-9B1E-C1071059EA6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57975-96E5-1B17-2D86-35273C0D3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80E13-D9CC-C247-3030-ADBB4F1A2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0047-E55F-4706-8684-C0AE860D8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2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8FDE5-B7BA-240D-30BC-D719ABE92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2D1510-5CB0-00BE-2AD8-9A8F6E9361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FF3F4A-46B3-8BF1-46A7-17D804833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7CE87-079B-5F52-8A70-6A845AC0B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C839-6FFF-4C41-9B1E-C1071059EA6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0FCFB2-2E19-CD56-F3C7-3E824493A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E0BB2-A29D-7757-D658-159C45642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0047-E55F-4706-8684-C0AE860D8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980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635ED-B21E-0C68-10C7-636060B5F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BA2786-E87C-6C87-3E36-31A2A03DCD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A55AC-E394-B684-EAA3-358980219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C839-6FFF-4C41-9B1E-C1071059EA6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4E2F6-7B48-EBF3-FDFD-BBFFAD903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A2379-438A-F94D-A02B-E10337224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0047-E55F-4706-8684-C0AE860D8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164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2BF3E7-06BF-D69A-EF13-33F749CD34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9EFAEA-6B18-B979-458D-9EF08EF629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8E573-6043-20CC-03E1-43CF232B4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4C839-6FFF-4C41-9B1E-C1071059EA6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EC745-9299-C3E8-3AC4-E72C22BBF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0CAE2-BC4A-4B4B-0C83-375FD510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600047-E55F-4706-8684-C0AE860D8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02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I Theme: Title - No Subtitle, no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1AF2DE-EC0A-F096-CF43-D7121547010B}"/>
              </a:ext>
            </a:extLst>
          </p:cNvPr>
          <p:cNvCxnSpPr>
            <a:cxnSpLocks/>
          </p:cNvCxnSpPr>
          <p:nvPr userDrawn="1"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9118330A-FAC3-DA52-0B67-08340508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Picture 1" descr="A black and grey text&#10;&#10;Description automatically generated">
            <a:extLst>
              <a:ext uri="{FF2B5EF4-FFF2-40B4-BE49-F238E27FC236}">
                <a16:creationId xmlns:a16="http://schemas.microsoft.com/office/drawing/2014/main" id="{00D15EAF-C4E1-1773-9042-35DC00C98C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806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I-Theme: Title and Subtitle, no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0EBB-5295-6483-AFAC-33081E089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90" y="1177798"/>
            <a:ext cx="10937462" cy="50149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4B4EBE-AF72-4F2B-A861-943B0687A8DC}"/>
              </a:ext>
            </a:extLst>
          </p:cNvPr>
          <p:cNvCxnSpPr>
            <a:cxnSpLocks/>
          </p:cNvCxnSpPr>
          <p:nvPr userDrawn="1"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ubtitle 2">
            <a:extLst>
              <a:ext uri="{FF2B5EF4-FFF2-40B4-BE49-F238E27FC236}">
                <a16:creationId xmlns:a16="http://schemas.microsoft.com/office/drawing/2014/main" id="{94A791F6-9DA5-91C1-6AA5-29406DF11AEF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22913" y="719713"/>
            <a:ext cx="10950039" cy="260907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rgbClr val="62636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 descr="A black and grey text&#10;&#10;Description automatically generated">
            <a:extLst>
              <a:ext uri="{FF2B5EF4-FFF2-40B4-BE49-F238E27FC236}">
                <a16:creationId xmlns:a16="http://schemas.microsoft.com/office/drawing/2014/main" id="{A8713239-F501-723D-D01B-A99907ACA1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34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 Theme: Intr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4A8026D-1409-DDF3-BA57-7B0518BDC1FD}"/>
              </a:ext>
            </a:extLst>
          </p:cNvPr>
          <p:cNvSpPr/>
          <p:nvPr userDrawn="1"/>
        </p:nvSpPr>
        <p:spPr>
          <a:xfrm>
            <a:off x="2903220" y="4416316"/>
            <a:ext cx="9288780" cy="2215987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350" tIns="45718" rIns="91350" bIns="45718" rtlCol="0" anchor="ctr"/>
          <a:lstStyle/>
          <a:p>
            <a:pPr marL="0" marR="0" lvl="0" indent="0" algn="ctr" defTabSz="913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C1C8C-8A15-6003-CC10-86C03FD41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7806" y="5499417"/>
            <a:ext cx="7531624" cy="767762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2" descr="Chetty, Friedman, and Hendren Launch Opportunity Insights | Opportunity  Insights">
            <a:extLst>
              <a:ext uri="{FF2B5EF4-FFF2-40B4-BE49-F238E27FC236}">
                <a16:creationId xmlns:a16="http://schemas.microsoft.com/office/drawing/2014/main" id="{87EDAE40-C311-7D4A-86B9-A801BBB1B9FA}"/>
              </a:ext>
            </a:extLst>
          </p:cNvPr>
          <p:cNvPicPr/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082" y="6218992"/>
            <a:ext cx="1968338" cy="342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5EED02-CBB8-F4FF-F842-371491D42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6970" y="4416315"/>
            <a:ext cx="10032460" cy="1083101"/>
          </a:xfrm>
          <a:prstGeom prst="rect">
            <a:avLst/>
          </a:prstGeom>
        </p:spPr>
        <p:txBody>
          <a:bodyPr anchor="b"/>
          <a:lstStyle>
            <a:lvl1pPr algn="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287E356F-8C63-73F9-7168-432FB4BD7B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7806" y="6267179"/>
            <a:ext cx="7531624" cy="365125"/>
          </a:xfrm>
        </p:spPr>
        <p:txBody>
          <a:bodyPr>
            <a:noAutofit/>
          </a:bodyPr>
          <a:lstStyle>
            <a:lvl1pPr algn="r">
              <a:buNone/>
              <a:defRPr sz="1200" b="1"/>
            </a:lvl1pPr>
          </a:lstStyle>
          <a:p>
            <a:pPr lvl="0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685784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-Theme: Title and Subtitle with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0EBB-5295-6483-AFAC-33081E089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90" y="1177798"/>
            <a:ext cx="10937462" cy="50149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4B4EBE-AF72-4F2B-A861-943B0687A8DC}"/>
              </a:ext>
            </a:extLst>
          </p:cNvPr>
          <p:cNvCxnSpPr>
            <a:cxnSpLocks/>
          </p:cNvCxnSpPr>
          <p:nvPr userDrawn="1"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885194-2FED-DEDF-680B-2422726A2E49}"/>
              </a:ext>
            </a:extLst>
          </p:cNvPr>
          <p:cNvCxnSpPr>
            <a:cxnSpLocks/>
          </p:cNvCxnSpPr>
          <p:nvPr userDrawn="1"/>
        </p:nvCxnSpPr>
        <p:spPr>
          <a:xfrm>
            <a:off x="620980" y="6483107"/>
            <a:ext cx="109536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ubtitle 2">
            <a:extLst>
              <a:ext uri="{FF2B5EF4-FFF2-40B4-BE49-F238E27FC236}">
                <a16:creationId xmlns:a16="http://schemas.microsoft.com/office/drawing/2014/main" id="{94A791F6-9DA5-91C1-6AA5-29406DF11AEF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22913" y="719713"/>
            <a:ext cx="10950039" cy="260907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rgbClr val="62636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E486B3F-3423-79BB-737B-789C144F83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5490" y="6512596"/>
            <a:ext cx="10937875" cy="365125"/>
          </a:xfrm>
        </p:spPr>
        <p:txBody>
          <a:bodyPr/>
          <a:lstStyle>
            <a:lvl1pPr>
              <a:buNone/>
              <a:defRPr sz="1400"/>
            </a:lvl1pPr>
          </a:lstStyle>
          <a:p>
            <a:pPr lvl="0"/>
            <a:r>
              <a:rPr lang="en-US" dirty="0"/>
              <a:t>Click</a:t>
            </a:r>
          </a:p>
        </p:txBody>
      </p:sp>
      <p:pic>
        <p:nvPicPr>
          <p:cNvPr id="29" name="Picture 28" descr="A black and grey text&#10;&#10;Description automatically generated">
            <a:extLst>
              <a:ext uri="{FF2B5EF4-FFF2-40B4-BE49-F238E27FC236}">
                <a16:creationId xmlns:a16="http://schemas.microsoft.com/office/drawing/2014/main" id="{92FEF83D-11CA-9217-08E0-656D3BABBD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552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I-Theme: Title and Subtitle, no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0EBB-5295-6483-AFAC-33081E089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90" y="1177798"/>
            <a:ext cx="10937462" cy="50149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4B4EBE-AF72-4F2B-A861-943B0687A8DC}"/>
              </a:ext>
            </a:extLst>
          </p:cNvPr>
          <p:cNvCxnSpPr>
            <a:cxnSpLocks/>
          </p:cNvCxnSpPr>
          <p:nvPr userDrawn="1"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ubtitle 2">
            <a:extLst>
              <a:ext uri="{FF2B5EF4-FFF2-40B4-BE49-F238E27FC236}">
                <a16:creationId xmlns:a16="http://schemas.microsoft.com/office/drawing/2014/main" id="{94A791F6-9DA5-91C1-6AA5-29406DF11AEF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22913" y="719713"/>
            <a:ext cx="10950039" cy="260907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rgbClr val="62636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 descr="A black and grey text&#10;&#10;Description automatically generated">
            <a:extLst>
              <a:ext uri="{FF2B5EF4-FFF2-40B4-BE49-F238E27FC236}">
                <a16:creationId xmlns:a16="http://schemas.microsoft.com/office/drawing/2014/main" id="{A8713239-F501-723D-D01B-A99907ACA1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9621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 Theme: Title - No Subtitle with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1AF2DE-EC0A-F096-CF43-D7121547010B}"/>
              </a:ext>
            </a:extLst>
          </p:cNvPr>
          <p:cNvCxnSpPr>
            <a:cxnSpLocks/>
          </p:cNvCxnSpPr>
          <p:nvPr userDrawn="1"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1337F9-9B78-B3A3-3F34-61AB23DCC0C9}"/>
              </a:ext>
            </a:extLst>
          </p:cNvPr>
          <p:cNvCxnSpPr>
            <a:cxnSpLocks/>
          </p:cNvCxnSpPr>
          <p:nvPr userDrawn="1"/>
        </p:nvCxnSpPr>
        <p:spPr>
          <a:xfrm>
            <a:off x="620980" y="6483107"/>
            <a:ext cx="109536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9118330A-FAC3-DA52-0B67-08340508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 descr="A black and grey text&#10;&#10;Description automatically generated">
            <a:extLst>
              <a:ext uri="{FF2B5EF4-FFF2-40B4-BE49-F238E27FC236}">
                <a16:creationId xmlns:a16="http://schemas.microsoft.com/office/drawing/2014/main" id="{A9ECF13D-850A-03D5-4AE1-873C1EC657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2" name="Text Placeholder 24">
            <a:extLst>
              <a:ext uri="{FF2B5EF4-FFF2-40B4-BE49-F238E27FC236}">
                <a16:creationId xmlns:a16="http://schemas.microsoft.com/office/drawing/2014/main" id="{AD0F6157-D6B6-8B83-0365-9C13F43D14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5490" y="6512596"/>
            <a:ext cx="10937875" cy="365125"/>
          </a:xfrm>
        </p:spPr>
        <p:txBody>
          <a:bodyPr/>
          <a:lstStyle>
            <a:lvl1pPr>
              <a:buNone/>
              <a:defRPr sz="1400"/>
            </a:lvl1pPr>
          </a:lstStyle>
          <a:p>
            <a:pPr lvl="0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14659239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I Theme: Title - No Subtitle, no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1AF2DE-EC0A-F096-CF43-D7121547010B}"/>
              </a:ext>
            </a:extLst>
          </p:cNvPr>
          <p:cNvCxnSpPr>
            <a:cxnSpLocks/>
          </p:cNvCxnSpPr>
          <p:nvPr userDrawn="1"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9118330A-FAC3-DA52-0B67-08340508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Picture 1" descr="A black and grey text&#10;&#10;Description automatically generated">
            <a:extLst>
              <a:ext uri="{FF2B5EF4-FFF2-40B4-BE49-F238E27FC236}">
                <a16:creationId xmlns:a16="http://schemas.microsoft.com/office/drawing/2014/main" id="{00D15EAF-C4E1-1773-9042-35DC00C98C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363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A2E52B-B7E0-7FE6-B0E7-50CFB9B65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32E12-B26E-B92D-06F0-2590C09E1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C52F5-38B0-8916-15A4-351DCEA57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C4C839-6FFF-4C41-9B1E-C1071059EA64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852E8-BB61-BF81-1C7A-166C078290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DF4E4-3FA6-FFD3-13CF-2AD33D38BD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600047-E55F-4706-8684-C0AE860D8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35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C5D21-4EDC-A414-72BF-71D388321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557" y="1825625"/>
            <a:ext cx="109374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73FA415-12F8-8B2B-BC11-F713C1AAD15C}"/>
              </a:ext>
            </a:extLst>
          </p:cNvPr>
          <p:cNvSpPr txBox="1">
            <a:spLocks/>
          </p:cNvSpPr>
          <p:nvPr userDrawn="1"/>
        </p:nvSpPr>
        <p:spPr>
          <a:xfrm>
            <a:off x="633556" y="375319"/>
            <a:ext cx="10937463" cy="8511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994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sv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FC011-02F9-6DB1-A7A4-615240566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908383D-0551-88E5-44DB-59BA08266D02}"/>
              </a:ext>
            </a:extLst>
          </p:cNvPr>
          <p:cNvSpPr txBox="1">
            <a:spLocks/>
          </p:cNvSpPr>
          <p:nvPr/>
        </p:nvSpPr>
        <p:spPr>
          <a:xfrm>
            <a:off x="522402" y="1177798"/>
            <a:ext cx="11210686" cy="46792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-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-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-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>
              <a:lnSpc>
                <a:spcPct val="100000"/>
              </a:lnSpc>
              <a:spcBef>
                <a:spcPct val="20000"/>
              </a:spcBef>
              <a:buClr>
                <a:srgbClr val="29B6A4"/>
              </a:buClr>
              <a:buFont typeface="Wingdings" panose="05000000000000000000" pitchFamily="2" charset="2"/>
              <a:buChar char="§"/>
              <a:defRPr spc="-50"/>
            </a:pPr>
            <a:r>
              <a:rPr lang="en-US" sz="2200" dirty="0">
                <a:solidFill>
                  <a:srgbClr val="262626"/>
                </a:solidFill>
                <a:latin typeface="Lucida Sans" panose="020B0604020202020204" pitchFamily="34" charset="0"/>
                <a:cs typeface="Arial" panose="020B0604020202020204" pitchFamily="34" charset="0"/>
              </a:rPr>
              <a:t>We start with Massachusetts residents who were ages 17–19 when they first applied to a MA public four-year college.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29B6A4"/>
              </a:buClr>
              <a:buSzTx/>
              <a:buNone/>
              <a:tabLst/>
              <a:defRPr spc="-50"/>
            </a:pPr>
            <a:endParaRPr kumimoji="0" lang="en-US" sz="2000" b="0" i="0" u="none" strike="noStrike" kern="1200" cap="none" spc="-5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457200" lvl="0" indent="-457200">
              <a:lnSpc>
                <a:spcPct val="100000"/>
              </a:lnSpc>
              <a:spcBef>
                <a:spcPct val="20000"/>
              </a:spcBef>
              <a:buClr>
                <a:srgbClr val="29B6A4"/>
              </a:buClr>
              <a:buFont typeface="Wingdings" panose="05000000000000000000" pitchFamily="2" charset="2"/>
              <a:buChar char="§"/>
              <a:defRPr spc="-50"/>
            </a:pPr>
            <a:r>
              <a:rPr lang="en-US" sz="2000" dirty="0">
                <a:solidFill>
                  <a:srgbClr val="262626"/>
                </a:solidFill>
                <a:latin typeface="Lucida Sans" panose="020B0604020202020204" pitchFamily="34" charset="0"/>
                <a:cs typeface="Arial" panose="020B0604020202020204" pitchFamily="34" charset="0"/>
              </a:rPr>
              <a:t>Main study group : </a:t>
            </a:r>
            <a:r>
              <a:rPr lang="en-US" sz="2000" b="1" dirty="0">
                <a:solidFill>
                  <a:srgbClr val="29B6A4"/>
                </a:solidFill>
                <a:latin typeface="Lucida Sans" panose="020B0604020202020204" pitchFamily="34" charset="0"/>
                <a:cs typeface="Arial" panose="020B0604020202020204" pitchFamily="34" charset="0"/>
              </a:rPr>
              <a:t>BA completers</a:t>
            </a:r>
          </a:p>
          <a:p>
            <a:pPr marL="457200" lvl="0" indent="-457200">
              <a:lnSpc>
                <a:spcPct val="100000"/>
              </a:lnSpc>
              <a:spcBef>
                <a:spcPct val="20000"/>
              </a:spcBef>
              <a:buClr>
                <a:srgbClr val="29B6A4"/>
              </a:buClr>
              <a:buFont typeface="Wingdings" panose="05000000000000000000" pitchFamily="2" charset="2"/>
              <a:buChar char="§"/>
              <a:defRPr spc="-50"/>
            </a:pPr>
            <a:endParaRPr lang="en-US" sz="2000" dirty="0">
              <a:solidFill>
                <a:srgbClr val="29B6A4"/>
              </a:solidFill>
              <a:latin typeface="Lucida Sans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00000"/>
              </a:lnSpc>
              <a:spcBef>
                <a:spcPct val="20000"/>
              </a:spcBef>
              <a:buClr>
                <a:srgbClr val="29B6A4"/>
              </a:buClr>
              <a:buFont typeface="Wingdings" panose="05000000000000000000" pitchFamily="2" charset="2"/>
              <a:buChar char="§"/>
              <a:defRPr spc="-50"/>
            </a:pPr>
            <a:r>
              <a:rPr lang="en-US" sz="1600" dirty="0">
                <a:solidFill>
                  <a:srgbClr val="262626"/>
                </a:solidFill>
                <a:latin typeface="Lucida Sans" panose="020B0604020202020204" pitchFamily="34" charset="0"/>
                <a:cs typeface="Arial" panose="020B0604020202020204" pitchFamily="34" charset="0"/>
              </a:rPr>
              <a:t>Students who earn a bachelor’s degree from a MA public four-year institution within six years.</a:t>
            </a:r>
          </a:p>
          <a:p>
            <a:pPr marL="0" lvl="0" indent="0">
              <a:lnSpc>
                <a:spcPct val="100000"/>
              </a:lnSpc>
              <a:spcBef>
                <a:spcPct val="20000"/>
              </a:spcBef>
              <a:buClr>
                <a:srgbClr val="29B6A4"/>
              </a:buClr>
              <a:buNone/>
              <a:defRPr spc="-50"/>
            </a:pPr>
            <a:endParaRPr lang="en-US" sz="2000" dirty="0">
              <a:solidFill>
                <a:srgbClr val="262626"/>
              </a:solidFill>
              <a:latin typeface="Lucida Sans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lnSpc>
                <a:spcPct val="100000"/>
              </a:lnSpc>
              <a:spcBef>
                <a:spcPct val="20000"/>
              </a:spcBef>
              <a:buClr>
                <a:srgbClr val="29B6A4"/>
              </a:buClr>
              <a:buFont typeface="Wingdings" panose="05000000000000000000" pitchFamily="2" charset="2"/>
              <a:buChar char="§"/>
              <a:defRPr spc="-50"/>
            </a:pPr>
            <a:r>
              <a:rPr lang="en-US" sz="2000" dirty="0">
                <a:solidFill>
                  <a:srgbClr val="262626"/>
                </a:solidFill>
                <a:latin typeface="Lucida Sans" panose="020B0604020202020204" pitchFamily="34" charset="0"/>
                <a:cs typeface="Arial" panose="020B0604020202020204" pitchFamily="34" charset="0"/>
              </a:rPr>
              <a:t>Comparison groups</a:t>
            </a:r>
          </a:p>
          <a:p>
            <a:pPr marL="457200" lvl="0" indent="-457200">
              <a:lnSpc>
                <a:spcPct val="100000"/>
              </a:lnSpc>
              <a:spcBef>
                <a:spcPct val="20000"/>
              </a:spcBef>
              <a:buClr>
                <a:srgbClr val="29B6A4"/>
              </a:buClr>
              <a:buFont typeface="Wingdings" panose="05000000000000000000" pitchFamily="2" charset="2"/>
              <a:buChar char="§"/>
              <a:defRPr spc="-50"/>
            </a:pPr>
            <a:endParaRPr lang="en-US" sz="2000" dirty="0">
              <a:solidFill>
                <a:srgbClr val="262626"/>
              </a:solidFill>
              <a:latin typeface="Lucida Sans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00000"/>
              </a:lnSpc>
              <a:spcBef>
                <a:spcPct val="20000"/>
              </a:spcBef>
              <a:buClr>
                <a:srgbClr val="29B6A4"/>
              </a:buClr>
              <a:buFont typeface="Wingdings" panose="05000000000000000000" pitchFamily="2" charset="2"/>
              <a:buChar char="§"/>
              <a:defRPr spc="-50"/>
            </a:pPr>
            <a:r>
              <a:rPr lang="en-US" sz="1600" dirty="0">
                <a:solidFill>
                  <a:srgbClr val="29B6A4"/>
                </a:solidFill>
                <a:latin typeface="Lucida Sans" panose="020B0604020202020204" pitchFamily="34" charset="0"/>
                <a:cs typeface="Arial" panose="020B0604020202020204" pitchFamily="34" charset="0"/>
              </a:rPr>
              <a:t>Non-completers</a:t>
            </a:r>
            <a:r>
              <a:rPr lang="en-US" sz="1600" dirty="0">
                <a:solidFill>
                  <a:srgbClr val="262626"/>
                </a:solidFill>
                <a:latin typeface="Lucida Sans" panose="020B0604020202020204" pitchFamily="34" charset="0"/>
                <a:cs typeface="Arial" panose="020B0604020202020204" pitchFamily="34" charset="0"/>
              </a:rPr>
              <a:t>: Enroll at a MA public four-year institution but do not earn a bachelor’s degree.</a:t>
            </a:r>
          </a:p>
          <a:p>
            <a:pPr marL="914400" lvl="1" indent="-457200">
              <a:lnSpc>
                <a:spcPct val="100000"/>
              </a:lnSpc>
              <a:spcBef>
                <a:spcPct val="20000"/>
              </a:spcBef>
              <a:buClr>
                <a:srgbClr val="29B6A4"/>
              </a:buClr>
              <a:buFont typeface="Wingdings" panose="05000000000000000000" pitchFamily="2" charset="2"/>
              <a:buChar char="§"/>
              <a:defRPr spc="-50"/>
            </a:pPr>
            <a:endParaRPr lang="en-US" sz="1600" dirty="0">
              <a:solidFill>
                <a:srgbClr val="262626"/>
              </a:solidFill>
              <a:latin typeface="Lucida Sans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00000"/>
              </a:lnSpc>
              <a:spcBef>
                <a:spcPct val="20000"/>
              </a:spcBef>
              <a:buClr>
                <a:srgbClr val="29B6A4"/>
              </a:buClr>
              <a:buFont typeface="Wingdings" panose="05000000000000000000" pitchFamily="2" charset="2"/>
              <a:buChar char="§"/>
              <a:defRPr spc="-50"/>
            </a:pPr>
            <a:r>
              <a:rPr lang="en-US" sz="1600" dirty="0">
                <a:solidFill>
                  <a:srgbClr val="262626"/>
                </a:solidFill>
                <a:latin typeface="Lucida Sans" panose="020B0604020202020204" pitchFamily="34" charset="0"/>
                <a:cs typeface="Arial" panose="020B0604020202020204" pitchFamily="34" charset="0"/>
              </a:rPr>
              <a:t>Community-college completers: Earn an associate degree from a MA community college.</a:t>
            </a:r>
          </a:p>
          <a:p>
            <a:pPr marL="914400" lvl="1" indent="-457200">
              <a:lnSpc>
                <a:spcPct val="100000"/>
              </a:lnSpc>
              <a:spcBef>
                <a:spcPct val="20000"/>
              </a:spcBef>
              <a:buClr>
                <a:srgbClr val="29B6A4"/>
              </a:buClr>
              <a:buFont typeface="Wingdings" panose="05000000000000000000" pitchFamily="2" charset="2"/>
              <a:buChar char="§"/>
              <a:defRPr spc="-50"/>
            </a:pPr>
            <a:endParaRPr lang="en-US" sz="1600" dirty="0">
              <a:solidFill>
                <a:srgbClr val="262626"/>
              </a:solidFill>
              <a:latin typeface="Lucida Sans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00000"/>
              </a:lnSpc>
              <a:spcBef>
                <a:spcPct val="20000"/>
              </a:spcBef>
              <a:buClr>
                <a:srgbClr val="29B6A4"/>
              </a:buClr>
              <a:buFont typeface="Wingdings" panose="05000000000000000000" pitchFamily="2" charset="2"/>
              <a:buChar char="§"/>
              <a:defRPr spc="-50"/>
            </a:pPr>
            <a:r>
              <a:rPr lang="en-US" sz="1600" dirty="0">
                <a:solidFill>
                  <a:srgbClr val="262626"/>
                </a:solidFill>
                <a:latin typeface="Lucida Sans" panose="020B0604020202020204" pitchFamily="34" charset="0"/>
                <a:cs typeface="Arial" panose="020B0604020202020204" pitchFamily="34" charset="0"/>
              </a:rPr>
              <a:t>No observed college enrollment: Have neither MA DHE enrollment nor a 1098-T college enrollment record.</a:t>
            </a:r>
          </a:p>
        </p:txBody>
      </p:sp>
      <p:sp>
        <p:nvSpPr>
          <p:cNvPr id="10" name="Title 180">
            <a:extLst>
              <a:ext uri="{FF2B5EF4-FFF2-40B4-BE49-F238E27FC236}">
                <a16:creationId xmlns:a16="http://schemas.microsoft.com/office/drawing/2014/main" id="{F67732A8-F5DE-294F-D31E-13FEC3028491}"/>
              </a:ext>
            </a:extLst>
          </p:cNvPr>
          <p:cNvSpPr txBox="1">
            <a:spLocks/>
          </p:cNvSpPr>
          <p:nvPr/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Lucida Bright"/>
                <a:ea typeface="+mj-ea"/>
                <a:cs typeface="+mj-cs"/>
              </a:rPr>
              <a:t>Sample selection</a:t>
            </a:r>
          </a:p>
        </p:txBody>
      </p:sp>
    </p:spTree>
    <p:extLst>
      <p:ext uri="{BB962C8B-B14F-4D97-AF65-F5344CB8AC3E}">
        <p14:creationId xmlns:p14="http://schemas.microsoft.com/office/powerpoint/2010/main" val="3493213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51537-4ABD-98F3-334E-E3EE5ABB3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B92B4B7-8159-1581-1244-2D963BA4967D}"/>
              </a:ext>
            </a:extLst>
          </p:cNvPr>
          <p:cNvSpPr txBox="1">
            <a:spLocks/>
          </p:cNvSpPr>
          <p:nvPr/>
        </p:nvSpPr>
        <p:spPr>
          <a:xfrm>
            <a:off x="522402" y="1177798"/>
            <a:ext cx="11210686" cy="46792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-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-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-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-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0" indent="-457200">
              <a:lnSpc>
                <a:spcPct val="100000"/>
              </a:lnSpc>
              <a:spcBef>
                <a:spcPct val="20000"/>
              </a:spcBef>
              <a:buClr>
                <a:srgbClr val="29B6A4"/>
              </a:buClr>
              <a:buFont typeface="Wingdings" panose="05000000000000000000" pitchFamily="2" charset="2"/>
              <a:buChar char="§"/>
              <a:defRPr spc="-50"/>
            </a:pPr>
            <a:r>
              <a:rPr lang="en-US" sz="2200" dirty="0">
                <a:solidFill>
                  <a:srgbClr val="262626"/>
                </a:solidFill>
                <a:latin typeface="Lucida Sans" panose="020B0604020202020204" pitchFamily="34" charset="0"/>
                <a:cs typeface="Arial" panose="020B0604020202020204" pitchFamily="34" charset="0"/>
              </a:rPr>
              <a:t>We estimate value added (VA) for completing a degree at that institution or program.</a:t>
            </a:r>
          </a:p>
          <a:p>
            <a:pPr marL="457200" lvl="0" indent="-457200">
              <a:lnSpc>
                <a:spcPct val="100000"/>
              </a:lnSpc>
              <a:spcBef>
                <a:spcPct val="20000"/>
              </a:spcBef>
              <a:buClr>
                <a:srgbClr val="29B6A4"/>
              </a:buClr>
              <a:buFont typeface="Wingdings" panose="05000000000000000000" pitchFamily="2" charset="2"/>
              <a:buChar char="§"/>
              <a:defRPr spc="-50"/>
            </a:pPr>
            <a:endParaRPr lang="en-US" sz="2200" dirty="0">
              <a:solidFill>
                <a:srgbClr val="262626"/>
              </a:solidFill>
              <a:latin typeface="Lucida Sans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lnSpc>
                <a:spcPct val="100000"/>
              </a:lnSpc>
              <a:spcBef>
                <a:spcPct val="20000"/>
              </a:spcBef>
              <a:buClr>
                <a:srgbClr val="29B6A4"/>
              </a:buClr>
              <a:buFont typeface="Wingdings" panose="05000000000000000000" pitchFamily="2" charset="2"/>
              <a:buChar char="§"/>
              <a:defRPr spc="-50"/>
            </a:pPr>
            <a:r>
              <a:rPr lang="en-US" sz="2000" dirty="0">
                <a:solidFill>
                  <a:srgbClr val="262626"/>
                </a:solidFill>
                <a:latin typeface="Lucida Sans" panose="020B0604020202020204" pitchFamily="34" charset="0"/>
                <a:cs typeface="Arial" panose="020B0604020202020204" pitchFamily="34" charset="0"/>
              </a:rPr>
              <a:t>Main outcome</a:t>
            </a:r>
            <a:r>
              <a:rPr lang="en-US" sz="2000" dirty="0">
                <a:solidFill>
                  <a:srgbClr val="000000"/>
                </a:solidFill>
                <a:latin typeface="Lucida Sans" panose="020B0604020202020204" pitchFamily="34" charset="0"/>
                <a:cs typeface="Arial" panose="020B0604020202020204" pitchFamily="34" charset="0"/>
              </a:rPr>
              <a:t> :  </a:t>
            </a:r>
            <a:r>
              <a:rPr lang="en-US" sz="2000" b="1" dirty="0">
                <a:solidFill>
                  <a:srgbClr val="29B6A4"/>
                </a:solidFill>
                <a:latin typeface="Lucida Sans" panose="020B0604020202020204" pitchFamily="34" charset="0"/>
                <a:cs typeface="Arial" panose="020B0604020202020204" pitchFamily="34" charset="0"/>
              </a:rPr>
              <a:t>Average annual earnings at ages 25–27</a:t>
            </a:r>
            <a:r>
              <a:rPr lang="en-US" sz="2000" dirty="0">
                <a:solidFill>
                  <a:srgbClr val="29B6A4"/>
                </a:solidFill>
                <a:latin typeface="Lucida Sans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lvl="0" indent="-457200">
              <a:lnSpc>
                <a:spcPct val="100000"/>
              </a:lnSpc>
              <a:spcBef>
                <a:spcPct val="20000"/>
              </a:spcBef>
              <a:buClr>
                <a:srgbClr val="29B6A4"/>
              </a:buClr>
              <a:buFont typeface="Wingdings" panose="05000000000000000000" pitchFamily="2" charset="2"/>
              <a:buChar char="§"/>
              <a:defRPr spc="-50"/>
            </a:pPr>
            <a:endParaRPr lang="en-US" sz="2000" dirty="0">
              <a:solidFill>
                <a:srgbClr val="262626"/>
              </a:solidFill>
              <a:latin typeface="Lucida Sans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lnSpc>
                <a:spcPct val="100000"/>
              </a:lnSpc>
              <a:spcBef>
                <a:spcPct val="20000"/>
              </a:spcBef>
              <a:buClr>
                <a:srgbClr val="29B6A4"/>
              </a:buClr>
              <a:buFont typeface="Wingdings" panose="05000000000000000000" pitchFamily="2" charset="2"/>
              <a:buChar char="§"/>
              <a:defRPr spc="-50"/>
            </a:pPr>
            <a:r>
              <a:rPr lang="en-US" sz="2000" dirty="0">
                <a:solidFill>
                  <a:srgbClr val="262626"/>
                </a:solidFill>
                <a:latin typeface="Lucida Sans" panose="020B0604020202020204" pitchFamily="34" charset="0"/>
                <a:cs typeface="Arial" panose="020B0604020202020204" pitchFamily="34" charset="0"/>
              </a:rPr>
              <a:t>We compare BA completers at each institution or program to observationally similar students in the comparison groups. </a:t>
            </a:r>
          </a:p>
          <a:p>
            <a:pPr marL="457200" lvl="0" indent="-457200">
              <a:lnSpc>
                <a:spcPct val="100000"/>
              </a:lnSpc>
              <a:spcBef>
                <a:spcPct val="20000"/>
              </a:spcBef>
              <a:buClr>
                <a:srgbClr val="29B6A4"/>
              </a:buClr>
              <a:buFont typeface="Wingdings" panose="05000000000000000000" pitchFamily="2" charset="2"/>
              <a:buChar char="§"/>
              <a:defRPr spc="-50"/>
            </a:pPr>
            <a:endParaRPr lang="en-US" sz="2000" dirty="0">
              <a:solidFill>
                <a:srgbClr val="262626"/>
              </a:solidFill>
              <a:latin typeface="Lucida Sans" panose="020B0604020202020204" pitchFamily="34" charset="0"/>
              <a:cs typeface="Arial" panose="020B0604020202020204" pitchFamily="34" charset="0"/>
            </a:endParaRPr>
          </a:p>
          <a:p>
            <a:pPr marL="457200" lvl="0" indent="-457200">
              <a:lnSpc>
                <a:spcPct val="100000"/>
              </a:lnSpc>
              <a:spcBef>
                <a:spcPct val="20000"/>
              </a:spcBef>
              <a:buClr>
                <a:srgbClr val="29B6A4"/>
              </a:buClr>
              <a:buFont typeface="Wingdings" panose="05000000000000000000" pitchFamily="2" charset="2"/>
              <a:buChar char="§"/>
              <a:defRPr spc="-50"/>
            </a:pPr>
            <a:r>
              <a:rPr lang="en-US" sz="2000" dirty="0">
                <a:solidFill>
                  <a:srgbClr val="262626"/>
                </a:solidFill>
                <a:latin typeface="Lucida Sans" panose="020B0604020202020204" pitchFamily="34" charset="0"/>
                <a:cs typeface="Arial" panose="020B0604020202020204" pitchFamily="34" charset="0"/>
              </a:rPr>
              <a:t>The estimates flexibly adjust for </a:t>
            </a:r>
          </a:p>
          <a:p>
            <a:pPr marL="457200" lvl="0" indent="-457200">
              <a:lnSpc>
                <a:spcPct val="100000"/>
              </a:lnSpc>
              <a:spcBef>
                <a:spcPct val="20000"/>
              </a:spcBef>
              <a:buClr>
                <a:srgbClr val="29B6A4"/>
              </a:buClr>
              <a:buFont typeface="Wingdings" panose="05000000000000000000" pitchFamily="2" charset="2"/>
              <a:buChar char="§"/>
              <a:defRPr spc="-50"/>
            </a:pPr>
            <a:endParaRPr lang="en-US" sz="2000" dirty="0">
              <a:solidFill>
                <a:srgbClr val="262626"/>
              </a:solidFill>
              <a:latin typeface="Lucida Sans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00000"/>
              </a:lnSpc>
              <a:spcBef>
                <a:spcPct val="20000"/>
              </a:spcBef>
              <a:buClr>
                <a:srgbClr val="29B6A4"/>
              </a:buClr>
              <a:buFont typeface="Wingdings" panose="05000000000000000000" pitchFamily="2" charset="2"/>
              <a:buChar char="§"/>
              <a:defRPr spc="-50"/>
            </a:pPr>
            <a:r>
              <a:rPr lang="en-US" sz="1600" dirty="0">
                <a:solidFill>
                  <a:srgbClr val="262626"/>
                </a:solidFill>
                <a:latin typeface="Lucida Sans" panose="020B0604020202020204" pitchFamily="34" charset="0"/>
                <a:cs typeface="Arial" panose="020B0604020202020204" pitchFamily="34" charset="0"/>
              </a:rPr>
              <a:t>Demographics and parental income</a:t>
            </a:r>
          </a:p>
          <a:p>
            <a:pPr marL="914400" lvl="1" indent="-457200">
              <a:lnSpc>
                <a:spcPct val="100000"/>
              </a:lnSpc>
              <a:spcBef>
                <a:spcPct val="20000"/>
              </a:spcBef>
              <a:buClr>
                <a:srgbClr val="29B6A4"/>
              </a:buClr>
              <a:buFont typeface="Wingdings" panose="05000000000000000000" pitchFamily="2" charset="2"/>
              <a:buChar char="§"/>
              <a:defRPr spc="-50"/>
            </a:pPr>
            <a:endParaRPr lang="en-US" sz="1600" dirty="0">
              <a:solidFill>
                <a:srgbClr val="262626"/>
              </a:solidFill>
              <a:latin typeface="Lucida Sans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00000"/>
              </a:lnSpc>
              <a:spcBef>
                <a:spcPct val="20000"/>
              </a:spcBef>
              <a:buClr>
                <a:srgbClr val="29B6A4"/>
              </a:buClr>
              <a:buFont typeface="Wingdings" panose="05000000000000000000" pitchFamily="2" charset="2"/>
              <a:buChar char="§"/>
              <a:defRPr spc="-50"/>
            </a:pPr>
            <a:r>
              <a:rPr lang="en-US" sz="1600" dirty="0">
                <a:solidFill>
                  <a:srgbClr val="262626"/>
                </a:solidFill>
                <a:latin typeface="Lucida Sans" panose="020B0604020202020204" pitchFamily="34" charset="0"/>
                <a:cs typeface="Arial" panose="020B0604020202020204" pitchFamily="34" charset="0"/>
              </a:rPr>
              <a:t>SAT/ACT scores</a:t>
            </a:r>
          </a:p>
          <a:p>
            <a:pPr marL="914400" lvl="1" indent="-457200">
              <a:lnSpc>
                <a:spcPct val="100000"/>
              </a:lnSpc>
              <a:spcBef>
                <a:spcPct val="20000"/>
              </a:spcBef>
              <a:buClr>
                <a:srgbClr val="29B6A4"/>
              </a:buClr>
              <a:buFont typeface="Wingdings" panose="05000000000000000000" pitchFamily="2" charset="2"/>
              <a:buChar char="§"/>
              <a:defRPr spc="-50"/>
            </a:pPr>
            <a:endParaRPr lang="en-US" sz="1600" dirty="0">
              <a:solidFill>
                <a:srgbClr val="262626"/>
              </a:solidFill>
              <a:latin typeface="Lucida Sans" panose="020B0604020202020204" pitchFamily="34" charset="0"/>
              <a:cs typeface="Arial" panose="020B0604020202020204" pitchFamily="34" charset="0"/>
            </a:endParaRPr>
          </a:p>
          <a:p>
            <a:pPr marL="914400" lvl="1" indent="-457200">
              <a:lnSpc>
                <a:spcPct val="100000"/>
              </a:lnSpc>
              <a:spcBef>
                <a:spcPct val="20000"/>
              </a:spcBef>
              <a:buClr>
                <a:srgbClr val="29B6A4"/>
              </a:buClr>
              <a:buFont typeface="Wingdings" panose="05000000000000000000" pitchFamily="2" charset="2"/>
              <a:buChar char="§"/>
              <a:defRPr spc="-50"/>
            </a:pPr>
            <a:r>
              <a:rPr lang="en-US" sz="1600" dirty="0">
                <a:solidFill>
                  <a:srgbClr val="262626"/>
                </a:solidFill>
                <a:latin typeface="Lucida Sans" panose="020B0604020202020204" pitchFamily="34" charset="0"/>
                <a:cs typeface="Arial" panose="020B0604020202020204" pitchFamily="34" charset="0"/>
              </a:rPr>
              <a:t>Birth-cohort and county differences.</a:t>
            </a:r>
            <a:endParaRPr kumimoji="0" lang="en-US" sz="1200" b="0" i="0" u="none" strike="noStrike" kern="1200" cap="none" spc="-5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Title 180">
            <a:extLst>
              <a:ext uri="{FF2B5EF4-FFF2-40B4-BE49-F238E27FC236}">
                <a16:creationId xmlns:a16="http://schemas.microsoft.com/office/drawing/2014/main" id="{AB66FBFF-67C6-737D-D7AE-450B5F511C35}"/>
              </a:ext>
            </a:extLst>
          </p:cNvPr>
          <p:cNvSpPr txBox="1">
            <a:spLocks/>
          </p:cNvSpPr>
          <p:nvPr/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ysClr val="windowText" lastClr="000000"/>
                </a:solidFill>
                <a:latin typeface="Lucida Bright"/>
              </a:rPr>
              <a:t>Method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ucida Brigh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88019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Institution-Level VA Relative to Non-Completers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Adjusted Earnings Differences at Ages 25–27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inst_va_estimate_noncomp_animation_0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Institution-Level VA Relative to Non-Completers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Adjusted Earnings Differences at Ages 25–27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inst_va_estimate_noncomp_animation_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Institution-Level VA Relative to Non-Completers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Adjusted Earnings Differences at Ages 25–27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inst_va_estimate_noncomp_animation_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Institution-Level VA Relative to Non-Completers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Adjusted Earnings Differences at Ages 25–27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inst_va_estimate_noncomp_animation_3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1BE57-A2C6-CE24-FC63-F24EC93BD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1E6AD69-E93E-D733-4878-D5D0B3B40E16}"/>
              </a:ext>
            </a:extLst>
          </p:cNvPr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Institution-Level VA Relative to Non-Completers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562757B-CF7A-5BDE-50B5-F82B214A9C99}"/>
              </a:ext>
            </a:extLst>
          </p:cNvPr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Adjusted Earnings Differences at Ages 25–27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inst_va_estimate_noncomp_animation_3.svg">
            <a:extLst>
              <a:ext uri="{FF2B5EF4-FFF2-40B4-BE49-F238E27FC236}">
                <a16:creationId xmlns:a16="http://schemas.microsoft.com/office/drawing/2014/main" id="{0AA9C990-5438-3271-4559-B28D0F7696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  <p:sp>
        <p:nvSpPr>
          <p:cNvPr id="5" name="Freeform: Shape 6">
            <a:extLst>
              <a:ext uri="{FF2B5EF4-FFF2-40B4-BE49-F238E27FC236}">
                <a16:creationId xmlns:a16="http://schemas.microsoft.com/office/drawing/2014/main" id="{3CBC76B2-C079-349B-9B83-486BBB5B6A61}"/>
              </a:ext>
            </a:extLst>
          </p:cNvPr>
          <p:cNvSpPr/>
          <p:nvPr/>
        </p:nvSpPr>
        <p:spPr>
          <a:xfrm>
            <a:off x="-2511188" y="-423081"/>
            <a:ext cx="15080776" cy="8774351"/>
          </a:xfrm>
          <a:custGeom>
            <a:avLst/>
            <a:gdLst>
              <a:gd name="connsiteX0" fmla="*/ 3748400 w 12192000"/>
              <a:gd name="connsiteY0" fmla="*/ 1727200 h 6858000"/>
              <a:gd name="connsiteX1" fmla="*/ 3748400 w 12192000"/>
              <a:gd name="connsiteY1" fmla="*/ 5303520 h 6858000"/>
              <a:gd name="connsiteX2" fmla="*/ 4662800 w 12192000"/>
              <a:gd name="connsiteY2" fmla="*/ 5303520 h 6858000"/>
              <a:gd name="connsiteX3" fmla="*/ 4662800 w 12192000"/>
              <a:gd name="connsiteY3" fmla="*/ 1727200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748400" y="1727200"/>
                </a:moveTo>
                <a:lnTo>
                  <a:pt x="3748400" y="5303520"/>
                </a:lnTo>
                <a:lnTo>
                  <a:pt x="4662800" y="5303520"/>
                </a:lnTo>
                <a:lnTo>
                  <a:pt x="4662800" y="1727200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5975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531C8-9076-DD48-FE8F-792292FE3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EED70721-3F59-21E7-AD56-4153C6747D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-3009" y="2315121"/>
            <a:ext cx="4140801" cy="3006633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F1316E29-3042-F6BE-B73C-1D4175F2F399}"/>
              </a:ext>
            </a:extLst>
          </p:cNvPr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UMass Amherst : Translating Earnings VA into Lifetime Returns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73E7A9-B2D4-2D10-19A7-1F8379C2325D}"/>
              </a:ext>
            </a:extLst>
          </p:cNvPr>
          <p:cNvSpPr/>
          <p:nvPr/>
        </p:nvSpPr>
        <p:spPr>
          <a:xfrm>
            <a:off x="523037" y="692337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Lifetime earnings gains relative to four-year non-completers</a:t>
            </a:r>
            <a:endParaRPr lang="en-US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48E155-1023-A32D-40A0-9FD783F50B21}"/>
              </a:ext>
            </a:extLst>
          </p:cNvPr>
          <p:cNvSpPr/>
          <p:nvPr/>
        </p:nvSpPr>
        <p:spPr>
          <a:xfrm>
            <a:off x="553460" y="1852045"/>
            <a:ext cx="300663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</a:rPr>
              <a:t>1. Earnings Value Added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396665-BCF4-5872-03E4-64F6F700D1A8}"/>
              </a:ext>
            </a:extLst>
          </p:cNvPr>
          <p:cNvSpPr txBox="1"/>
          <p:nvPr/>
        </p:nvSpPr>
        <p:spPr>
          <a:xfrm>
            <a:off x="833045" y="4256509"/>
            <a:ext cx="2479951" cy="707886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lvl="0" algn="ctr" defTabSz="914411"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9B6A4"/>
                </a:solidFill>
                <a:effectLst/>
                <a:uLnTx/>
                <a:uFillTx/>
                <a:latin typeface="Lucida Sans" panose="020B0602030504020204" pitchFamily="34" charset="0"/>
                <a:cs typeface="Arial" pitchFamily="34" charset="0"/>
              </a:rPr>
              <a:t>+$</a:t>
            </a:r>
            <a:r>
              <a:rPr lang="en-US" sz="4000" b="1" dirty="0">
                <a:solidFill>
                  <a:srgbClr val="29B6A4"/>
                </a:solidFill>
                <a:latin typeface="Lucida Sans" panose="020B0602030504020204" pitchFamily="34" charset="0"/>
                <a:cs typeface="Arial" pitchFamily="34" charset="0"/>
              </a:rPr>
              <a:t>16 K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29B6A4"/>
              </a:solidFill>
              <a:effectLst/>
              <a:uLnTx/>
              <a:uFillTx/>
              <a:latin typeface="Lucida Sans" panose="020B0602030504020204" pitchFamily="34" charset="0"/>
              <a:cs typeface="Arial" pitchFamily="34" charset="0"/>
            </a:endParaRP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52C9371C-E0EA-8A4E-0939-BE20BF4F76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3367" y="2429389"/>
            <a:ext cx="1868780" cy="1868780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995AA96A-EB6D-18DE-EB53-F1AEB4C3D361}"/>
              </a:ext>
            </a:extLst>
          </p:cNvPr>
          <p:cNvSpPr/>
          <p:nvPr/>
        </p:nvSpPr>
        <p:spPr>
          <a:xfrm>
            <a:off x="609222" y="5180788"/>
            <a:ext cx="29970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Higher annual earnings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at ages 25-27</a:t>
            </a:r>
          </a:p>
        </p:txBody>
      </p:sp>
    </p:spTree>
    <p:extLst>
      <p:ext uri="{BB962C8B-B14F-4D97-AF65-F5344CB8AC3E}">
        <p14:creationId xmlns:p14="http://schemas.microsoft.com/office/powerpoint/2010/main" val="4197927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75055-07D2-069F-C74D-0F7E83CFD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6CE74F30-3906-D94C-64BB-FB07F93C54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071244" y="2315121"/>
            <a:ext cx="4140801" cy="3006633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F057AF4-FFDB-0551-94D6-55CB0EE9FE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-3009" y="2315121"/>
            <a:ext cx="4140801" cy="3006633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0120361-7167-43C6-645C-CA42E5C67CA2}"/>
              </a:ext>
            </a:extLst>
          </p:cNvPr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UMass Amherst : Translating Earnings VA into Lifetime Returns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098AF98-FBFF-58AE-B3FA-4A2BD17C02AB}"/>
              </a:ext>
            </a:extLst>
          </p:cNvPr>
          <p:cNvSpPr/>
          <p:nvPr/>
        </p:nvSpPr>
        <p:spPr>
          <a:xfrm>
            <a:off x="523037" y="692337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Lifetime earnings gains relative to four-year non-completers</a:t>
            </a:r>
            <a:endParaRPr lang="en-US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914EBC-2257-D667-A71A-E00E2BC310D6}"/>
              </a:ext>
            </a:extLst>
          </p:cNvPr>
          <p:cNvSpPr/>
          <p:nvPr/>
        </p:nvSpPr>
        <p:spPr>
          <a:xfrm>
            <a:off x="553460" y="1852045"/>
            <a:ext cx="300663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</a:rPr>
              <a:t>1. Earnings Value Added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E25342-EC18-9809-DAE1-A9B1DBA4F593}"/>
              </a:ext>
            </a:extLst>
          </p:cNvPr>
          <p:cNvCxnSpPr>
            <a:cxnSpLocks/>
          </p:cNvCxnSpPr>
          <p:nvPr/>
        </p:nvCxnSpPr>
        <p:spPr>
          <a:xfrm>
            <a:off x="7615411" y="4398957"/>
            <a:ext cx="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756C8B0-8EF0-CDDE-F67B-C105886F850F}"/>
              </a:ext>
            </a:extLst>
          </p:cNvPr>
          <p:cNvSpPr txBox="1"/>
          <p:nvPr/>
        </p:nvSpPr>
        <p:spPr>
          <a:xfrm>
            <a:off x="833045" y="4256509"/>
            <a:ext cx="2479951" cy="707886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lvl="0" algn="ctr" defTabSz="914411"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9B6A4"/>
                </a:solidFill>
                <a:effectLst/>
                <a:uLnTx/>
                <a:uFillTx/>
                <a:latin typeface="Lucida Sans" panose="020B0602030504020204" pitchFamily="34" charset="0"/>
                <a:cs typeface="Arial" pitchFamily="34" charset="0"/>
              </a:rPr>
              <a:t>+$</a:t>
            </a:r>
            <a:r>
              <a:rPr lang="en-US" sz="4000" b="1" dirty="0">
                <a:solidFill>
                  <a:srgbClr val="29B6A4"/>
                </a:solidFill>
                <a:latin typeface="Lucida Sans" panose="020B0602030504020204" pitchFamily="34" charset="0"/>
                <a:cs typeface="Arial" pitchFamily="34" charset="0"/>
              </a:rPr>
              <a:t>16 K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29B6A4"/>
              </a:solidFill>
              <a:effectLst/>
              <a:uLnTx/>
              <a:uFillTx/>
              <a:latin typeface="Lucida Sans" panose="020B0602030504020204" pitchFamily="34" charset="0"/>
              <a:cs typeface="Arial" pitchFamily="34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18C5580B-A613-4BB6-23EB-15796F9AD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3332" y="3607844"/>
            <a:ext cx="842372" cy="421186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EB39FDCA-CEDF-82EA-D442-520C876AE9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3367" y="2429389"/>
            <a:ext cx="1868780" cy="186878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69A2114A-20C4-08BE-CBAF-2419707C6F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17621" y="2495099"/>
            <a:ext cx="1737360" cy="1737360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02E47EC6-CC9B-5F61-7AB7-09699C0154CA}"/>
              </a:ext>
            </a:extLst>
          </p:cNvPr>
          <p:cNvSpPr/>
          <p:nvPr/>
        </p:nvSpPr>
        <p:spPr>
          <a:xfrm>
            <a:off x="4633020" y="2005933"/>
            <a:ext cx="30066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</a:rPr>
              <a:t>2. Lifetime NPV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7B03B77-B62C-5D2B-2CC2-F1CF2C89A199}"/>
              </a:ext>
            </a:extLst>
          </p:cNvPr>
          <p:cNvSpPr/>
          <p:nvPr/>
        </p:nvSpPr>
        <p:spPr>
          <a:xfrm>
            <a:off x="4683475" y="5180788"/>
            <a:ext cx="29970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626365"/>
                </a:solidFill>
                <a:latin typeface="Lucida Sans" panose="020B0602030504020204" pitchFamily="34" charset="0"/>
              </a:rPr>
              <a:t>Present value of projected lifetime earnings gain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626365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2E73BF-ECA7-4BCD-5B7F-942D9578D8F7}"/>
              </a:ext>
            </a:extLst>
          </p:cNvPr>
          <p:cNvSpPr txBox="1"/>
          <p:nvPr/>
        </p:nvSpPr>
        <p:spPr>
          <a:xfrm>
            <a:off x="4809041" y="4256509"/>
            <a:ext cx="2479951" cy="707886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lvl="0" algn="ctr" defTabSz="914411"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9B6A4"/>
                </a:solidFill>
                <a:effectLst/>
                <a:uLnTx/>
                <a:uFillTx/>
                <a:latin typeface="Lucida Sans" panose="020B0602030504020204" pitchFamily="34" charset="0"/>
                <a:cs typeface="Arial" pitchFamily="34" charset="0"/>
              </a:rPr>
              <a:t>+$</a:t>
            </a:r>
            <a:r>
              <a:rPr lang="en-US" sz="4000" b="1" noProof="0" dirty="0">
                <a:solidFill>
                  <a:srgbClr val="29B6A4"/>
                </a:solidFill>
                <a:latin typeface="Lucida Sans" panose="020B0602030504020204" pitchFamily="34" charset="0"/>
                <a:cs typeface="Arial" pitchFamily="34" charset="0"/>
              </a:rPr>
              <a:t>570</a:t>
            </a:r>
            <a:r>
              <a:rPr lang="en-US" sz="4000" b="1" dirty="0">
                <a:solidFill>
                  <a:srgbClr val="29B6A4"/>
                </a:solidFill>
                <a:latin typeface="Lucida Sans" panose="020B0602030504020204" pitchFamily="34" charset="0"/>
                <a:cs typeface="Arial" pitchFamily="34" charset="0"/>
              </a:rPr>
              <a:t> K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29B6A4"/>
              </a:solidFill>
              <a:effectLst/>
              <a:uLnTx/>
              <a:uFillTx/>
              <a:latin typeface="Lucida Sans" panose="020B0602030504020204" pitchFamily="34" charset="0"/>
              <a:cs typeface="Arial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2F602C2-36BB-AF19-49F1-8891A945955E}"/>
              </a:ext>
            </a:extLst>
          </p:cNvPr>
          <p:cNvSpPr/>
          <p:nvPr/>
        </p:nvSpPr>
        <p:spPr>
          <a:xfrm>
            <a:off x="609222" y="5180788"/>
            <a:ext cx="29970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Higher annual earnings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at ages 25-27</a:t>
            </a:r>
          </a:p>
        </p:txBody>
      </p:sp>
    </p:spTree>
    <p:extLst>
      <p:ext uri="{BB962C8B-B14F-4D97-AF65-F5344CB8AC3E}">
        <p14:creationId xmlns:p14="http://schemas.microsoft.com/office/powerpoint/2010/main" val="2824262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5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CD735-A447-D10F-A6E7-FFC60A5E0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759FC12B-F857-1374-8BBD-E5DDE53797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8145497" y="2315121"/>
            <a:ext cx="4140801" cy="3006633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ucida Sans" panose="020B0602030504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A6AFC03-C41A-A7C2-A43B-85ADD81927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071244" y="2315121"/>
            <a:ext cx="4140801" cy="3006633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7766F1E-75D7-572A-989F-94A2B36BCE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-3009" y="2315121"/>
            <a:ext cx="4140801" cy="3006633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397A1FA-F82E-56D4-6382-7E3A7C063A09}"/>
              </a:ext>
            </a:extLst>
          </p:cNvPr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UMass Amherst : Translating Earnings VA into Lifetime Returns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4094F9-06E2-F9AA-11C7-4EDCC492C4A9}"/>
              </a:ext>
            </a:extLst>
          </p:cNvPr>
          <p:cNvSpPr/>
          <p:nvPr/>
        </p:nvSpPr>
        <p:spPr>
          <a:xfrm>
            <a:off x="523037" y="692337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Lifetime earnings gains relative to four-year non-completers</a:t>
            </a:r>
            <a:endParaRPr lang="en-US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AB34FE-A20E-3D13-DDA2-C972385A515D}"/>
              </a:ext>
            </a:extLst>
          </p:cNvPr>
          <p:cNvSpPr/>
          <p:nvPr/>
        </p:nvSpPr>
        <p:spPr>
          <a:xfrm>
            <a:off x="553460" y="1852045"/>
            <a:ext cx="300663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</a:rPr>
              <a:t>1. Earnings Value Added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D94624B-206A-6ED3-293A-7C580269BE6D}"/>
              </a:ext>
            </a:extLst>
          </p:cNvPr>
          <p:cNvCxnSpPr>
            <a:cxnSpLocks/>
          </p:cNvCxnSpPr>
          <p:nvPr/>
        </p:nvCxnSpPr>
        <p:spPr>
          <a:xfrm>
            <a:off x="7615411" y="4398957"/>
            <a:ext cx="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0A54C98-FBD2-765C-E830-179BDBCE6A8A}"/>
              </a:ext>
            </a:extLst>
          </p:cNvPr>
          <p:cNvSpPr txBox="1"/>
          <p:nvPr/>
        </p:nvSpPr>
        <p:spPr>
          <a:xfrm>
            <a:off x="833045" y="4256509"/>
            <a:ext cx="2479951" cy="707886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lvl="0" algn="ctr" defTabSz="914411"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9B6A4"/>
                </a:solidFill>
                <a:effectLst/>
                <a:uLnTx/>
                <a:uFillTx/>
                <a:latin typeface="Lucida Sans" panose="020B0602030504020204" pitchFamily="34" charset="0"/>
                <a:cs typeface="Arial" pitchFamily="34" charset="0"/>
              </a:rPr>
              <a:t>+$</a:t>
            </a:r>
            <a:r>
              <a:rPr lang="en-US" sz="4000" b="1" dirty="0">
                <a:solidFill>
                  <a:srgbClr val="29B6A4"/>
                </a:solidFill>
                <a:latin typeface="Lucida Sans" panose="020B0602030504020204" pitchFamily="34" charset="0"/>
                <a:cs typeface="Arial" pitchFamily="34" charset="0"/>
              </a:rPr>
              <a:t>16 K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29B6A4"/>
              </a:solidFill>
              <a:effectLst/>
              <a:uLnTx/>
              <a:uFillTx/>
              <a:latin typeface="Lucida Sans" panose="020B0602030504020204" pitchFamily="34" charset="0"/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8F0796-76FC-CA9B-8BBF-77E4DFC52530}"/>
              </a:ext>
            </a:extLst>
          </p:cNvPr>
          <p:cNvSpPr txBox="1"/>
          <p:nvPr/>
        </p:nvSpPr>
        <p:spPr>
          <a:xfrm>
            <a:off x="8769369" y="4318065"/>
            <a:ext cx="1312678" cy="707886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lvl="0" algn="ctr" defTabSz="914411">
              <a:defRPr/>
            </a:pPr>
            <a:r>
              <a:rPr lang="en-US" sz="4000" b="1" noProof="0" dirty="0">
                <a:solidFill>
                  <a:srgbClr val="29B6A4"/>
                </a:solidFill>
                <a:latin typeface="Lucida Sans" panose="020B0602030504020204" pitchFamily="34" charset="0"/>
                <a:cs typeface="Arial" pitchFamily="34" charset="0"/>
              </a:rPr>
              <a:t>9x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29B6A4"/>
              </a:solidFill>
              <a:effectLst/>
              <a:uLnTx/>
              <a:uFillTx/>
              <a:latin typeface="Lucida Sans" panose="020B0602030504020204" pitchFamily="34" charset="0"/>
              <a:cs typeface="Arial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B4C813-346B-0EF0-97BF-689912EBB505}"/>
              </a:ext>
            </a:extLst>
          </p:cNvPr>
          <p:cNvSpPr txBox="1"/>
          <p:nvPr/>
        </p:nvSpPr>
        <p:spPr>
          <a:xfrm>
            <a:off x="10377589" y="4318065"/>
            <a:ext cx="1312678" cy="707886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lvl="0" algn="ctr" defTabSz="914411">
              <a:defRPr/>
            </a:pPr>
            <a:r>
              <a:rPr lang="en-US" sz="4000" b="1" dirty="0">
                <a:solidFill>
                  <a:srgbClr val="29B6A4"/>
                </a:solidFill>
                <a:latin typeface="Lucida Sans" panose="020B0602030504020204" pitchFamily="34" charset="0"/>
                <a:cs typeface="Arial" pitchFamily="34" charset="0"/>
              </a:rPr>
              <a:t>6</a:t>
            </a:r>
            <a:r>
              <a:rPr lang="en-US" sz="4000" b="1" noProof="0" dirty="0">
                <a:solidFill>
                  <a:srgbClr val="29B6A4"/>
                </a:solidFill>
                <a:latin typeface="Lucida Sans" panose="020B0602030504020204" pitchFamily="34" charset="0"/>
                <a:cs typeface="Arial" pitchFamily="34" charset="0"/>
              </a:rPr>
              <a:t>x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29B6A4"/>
              </a:solidFill>
              <a:effectLst/>
              <a:uLnTx/>
              <a:uFillTx/>
              <a:latin typeface="Lucida Sans" panose="020B0602030504020204" pitchFamily="34" charset="0"/>
              <a:cs typeface="Arial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315392E-7E1F-127B-4ACE-6AB45CE2E9A6}"/>
              </a:ext>
            </a:extLst>
          </p:cNvPr>
          <p:cNvSpPr/>
          <p:nvPr/>
        </p:nvSpPr>
        <p:spPr>
          <a:xfrm>
            <a:off x="8712580" y="1852045"/>
            <a:ext cx="300663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</a:rPr>
              <a:t>3. </a:t>
            </a:r>
            <a:r>
              <a:rPr lang="en-US" sz="2000" b="1" dirty="0">
                <a:solidFill>
                  <a:srgbClr val="262626"/>
                </a:solidFill>
                <a:latin typeface="Lucida Sans" panose="020B0602030504020204" pitchFamily="34" charset="0"/>
              </a:rPr>
              <a:t>Return on Investment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9B5EAB3E-EF30-61EE-81F1-0DB3BF970B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3332" y="3607844"/>
            <a:ext cx="842372" cy="421186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35C23256-E4E7-5085-41D6-5B578FC36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3367" y="2429389"/>
            <a:ext cx="1868780" cy="186878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8F0D88B9-A703-9736-41F5-60E64CD954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17621" y="2495099"/>
            <a:ext cx="1737360" cy="173736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AFE81064-1CE0-E598-228E-ADB733DCAE00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30456" y="2756627"/>
            <a:ext cx="1517882" cy="1214305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211A2A21-716C-0C74-8637-B34BD1268961}"/>
              </a:ext>
            </a:extLst>
          </p:cNvPr>
          <p:cNvSpPr/>
          <p:nvPr/>
        </p:nvSpPr>
        <p:spPr>
          <a:xfrm>
            <a:off x="4633020" y="2005933"/>
            <a:ext cx="300663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</a:rPr>
              <a:t>2. Lifetime NPV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5BDF9DF-2DB5-FEC4-A7DC-27D0D744C1C2}"/>
              </a:ext>
            </a:extLst>
          </p:cNvPr>
          <p:cNvSpPr/>
          <p:nvPr/>
        </p:nvSpPr>
        <p:spPr>
          <a:xfrm>
            <a:off x="4683475" y="5180788"/>
            <a:ext cx="29970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626365"/>
                </a:solidFill>
                <a:latin typeface="Lucida Sans" panose="020B0602030504020204" pitchFamily="34" charset="0"/>
              </a:rPr>
              <a:t>Present value of projected lifetime earnings gain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626365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EE02DB9-CABA-3CD0-2D1A-B867A2144CF8}"/>
              </a:ext>
            </a:extLst>
          </p:cNvPr>
          <p:cNvSpPr txBox="1"/>
          <p:nvPr/>
        </p:nvSpPr>
        <p:spPr>
          <a:xfrm>
            <a:off x="4809041" y="4256509"/>
            <a:ext cx="2479951" cy="707886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lvl="0" algn="ctr" defTabSz="914411"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9B6A4"/>
                </a:solidFill>
                <a:effectLst/>
                <a:uLnTx/>
                <a:uFillTx/>
                <a:latin typeface="Lucida Sans" panose="020B0602030504020204" pitchFamily="34" charset="0"/>
                <a:cs typeface="Arial" pitchFamily="34" charset="0"/>
              </a:rPr>
              <a:t>+$</a:t>
            </a:r>
            <a:r>
              <a:rPr lang="en-US" sz="4000" b="1" noProof="0" dirty="0">
                <a:solidFill>
                  <a:srgbClr val="29B6A4"/>
                </a:solidFill>
                <a:latin typeface="Lucida Sans" panose="020B0602030504020204" pitchFamily="34" charset="0"/>
                <a:cs typeface="Arial" pitchFamily="34" charset="0"/>
              </a:rPr>
              <a:t>570</a:t>
            </a:r>
            <a:r>
              <a:rPr lang="en-US" sz="4000" b="1" dirty="0">
                <a:solidFill>
                  <a:srgbClr val="29B6A4"/>
                </a:solidFill>
                <a:latin typeface="Lucida Sans" panose="020B0602030504020204" pitchFamily="34" charset="0"/>
                <a:cs typeface="Arial" pitchFamily="34" charset="0"/>
              </a:rPr>
              <a:t> K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rgbClr val="29B6A4"/>
              </a:solidFill>
              <a:effectLst/>
              <a:uLnTx/>
              <a:uFillTx/>
              <a:latin typeface="Lucida Sans" panose="020B0602030504020204" pitchFamily="34" charset="0"/>
              <a:cs typeface="Arial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1ADD77F-800A-B81E-1966-C72EFE398DA6}"/>
              </a:ext>
            </a:extLst>
          </p:cNvPr>
          <p:cNvSpPr/>
          <p:nvPr/>
        </p:nvSpPr>
        <p:spPr>
          <a:xfrm>
            <a:off x="609222" y="5180788"/>
            <a:ext cx="299707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Higher annual earnings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at ages 25-27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A8186FC-CD15-02B6-444A-358E59F55B02}"/>
              </a:ext>
            </a:extLst>
          </p:cNvPr>
          <p:cNvSpPr/>
          <p:nvPr/>
        </p:nvSpPr>
        <p:spPr>
          <a:xfrm>
            <a:off x="8757728" y="5073066"/>
            <a:ext cx="299707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626365"/>
                </a:solidFill>
                <a:latin typeface="Lucida Sans" panose="020B0602030504020204" pitchFamily="34" charset="0"/>
              </a:rPr>
              <a:t>Lifetime NPV of lifetime earnings gains relative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626365"/>
                </a:solidFill>
                <a:latin typeface="Lucida Sans" panose="020B0602030504020204" pitchFamily="34" charset="0"/>
              </a:rPr>
              <a:t>to cost per student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626365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DBE95ED0-C3E8-34B2-314B-F679C8DF13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7585" y="3607844"/>
            <a:ext cx="842372" cy="421186"/>
          </a:xfrm>
          <a:prstGeom prst="rect">
            <a:avLst/>
          </a:prstGeom>
        </p:spPr>
      </p:pic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A3AF928-0B0C-0ABE-F304-AC5B2EAC2AEF}"/>
              </a:ext>
            </a:extLst>
          </p:cNvPr>
          <p:cNvCxnSpPr>
            <a:cxnSpLocks/>
          </p:cNvCxnSpPr>
          <p:nvPr/>
        </p:nvCxnSpPr>
        <p:spPr>
          <a:xfrm flipH="1">
            <a:off x="10259930" y="4454868"/>
            <a:ext cx="0" cy="457200"/>
          </a:xfrm>
          <a:prstGeom prst="line">
            <a:avLst/>
          </a:prstGeom>
          <a:ln>
            <a:solidFill>
              <a:srgbClr val="29B6A4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6936D17A-3F3A-1787-625E-73985493BED3}"/>
              </a:ext>
            </a:extLst>
          </p:cNvPr>
          <p:cNvSpPr/>
          <p:nvPr/>
        </p:nvSpPr>
        <p:spPr>
          <a:xfrm>
            <a:off x="8712580" y="4043266"/>
            <a:ext cx="15178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626365"/>
                </a:solidFill>
                <a:latin typeface="Lucida Sans" panose="020B0602030504020204" pitchFamily="34" charset="0"/>
              </a:rPr>
              <a:t>v. Student  cost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626365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8963477-2555-CF39-D3F4-8B1B44DE4FCD}"/>
              </a:ext>
            </a:extLst>
          </p:cNvPr>
          <p:cNvSpPr/>
          <p:nvPr/>
        </p:nvSpPr>
        <p:spPr>
          <a:xfrm>
            <a:off x="10289397" y="4043266"/>
            <a:ext cx="15178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626365"/>
                </a:solidFill>
                <a:latin typeface="Lucida Sans" panose="020B0602030504020204" pitchFamily="34" charset="0"/>
              </a:rPr>
              <a:t>v. Total cost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626365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4646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3" grpId="0" animBg="1"/>
      <p:bldP spid="28" grpId="0" animBg="1"/>
      <p:bldP spid="5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UMass Program-Level VA Relative to Non-Completers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Adjusted Earnings Differences at Ages 25–27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umass_program_va_estimate_noncomp_animation_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33B2140-D8DE-0BE2-A144-FB1684FD5E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5696" t="23989" r="34826" b="66524"/>
          <a:stretch>
            <a:fillRect/>
          </a:stretch>
        </p:blipFill>
        <p:spPr>
          <a:xfrm>
            <a:off x="2483894" y="1335025"/>
            <a:ext cx="1651378" cy="2754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UMass Program-Level VA Relative to Non-Completers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Adjusted Earnings Differences at Ages 25–27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umass_program_va_estimate_noncomp_animation_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27B8429-A586-989A-6365-52710F6034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5696" t="23989" r="34826" b="60883"/>
          <a:stretch>
            <a:fillRect/>
          </a:stretch>
        </p:blipFill>
        <p:spPr>
          <a:xfrm>
            <a:off x="2483894" y="1335024"/>
            <a:ext cx="1651378" cy="4391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UMass Program-Level VA Relative to Non-Completers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Adjusted Earnings Differences at Ages 25–27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umass_program_va_estimate_noncomp_animation_8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0AFDD31-9BAE-BB03-1ACA-EA90E386ED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5696" t="23989" r="34826" b="25249"/>
          <a:stretch>
            <a:fillRect/>
          </a:stretch>
        </p:blipFill>
        <p:spPr>
          <a:xfrm>
            <a:off x="2483894" y="1335024"/>
            <a:ext cx="1651378" cy="14736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State University Program-Level VA Relative to Non-Completers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Adjusted Earnings Differences at Ages 25–27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tateschools_program_va_estimate_noncomp_animation_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FA50E79-46EA-7165-7644-57CF7CD96A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5696" t="23989" r="47250" b="66994"/>
          <a:stretch>
            <a:fillRect/>
          </a:stretch>
        </p:blipFill>
        <p:spPr>
          <a:xfrm>
            <a:off x="2483894" y="1335025"/>
            <a:ext cx="955342" cy="2617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Adjusted Earnings Differences at Ages 25–27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tateschools_program_va_estimate_noncomp_animation_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A7CA06BE-B2AF-D7B4-87FB-5BC0BB8F24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5696" t="23989" r="45301" b="61823"/>
          <a:stretch>
            <a:fillRect/>
          </a:stretch>
        </p:blipFill>
        <p:spPr>
          <a:xfrm>
            <a:off x="2483894" y="1335024"/>
            <a:ext cx="1064524" cy="411889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5B17DFD7-D667-C2AC-7C99-CA3E76479046}"/>
              </a:ext>
            </a:extLst>
          </p:cNvPr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State University Program-Level VA Relative to Non-Completers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Adjusted Earnings Differences at Ages 25–27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tateschools_program_va_estimate_noncomp_animation_8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F54200D-76AB-4656-5EDF-21217DDB0F92}"/>
              </a:ext>
            </a:extLst>
          </p:cNvPr>
          <p:cNvPicPr>
            <a:picLocks noChangeAspect="1"/>
          </p:cNvPicPr>
          <p:nvPr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5696" t="23989" r="34826" b="25249"/>
          <a:stretch>
            <a:fillRect/>
          </a:stretch>
        </p:blipFill>
        <p:spPr>
          <a:xfrm>
            <a:off x="2483894" y="1335024"/>
            <a:ext cx="1651378" cy="1473699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77FBBEB2-FC29-9A86-84EB-AAB92AD6CB0B}"/>
              </a:ext>
            </a:extLst>
          </p:cNvPr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State University Program-Level VA Relative to Non-Completers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Institution-Level </a:t>
            </a: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VA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Relative to Non-Completers vs. Median Earnings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8 Years After Entry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/>
              <a:ea typeface="+mn-ea"/>
              <a:cs typeface="+mn-cs"/>
            </a:endParaRPr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_va_estimate_noncomp_scorecard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Institution-Level VA Relative to Non-Completers vs. Median Earnings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8 Years After Entry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/>
              <a:ea typeface="+mn-ea"/>
              <a:cs typeface="+mn-cs"/>
            </a:endParaRPr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_va_estimate_noncomp_scorecard_wlbl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0160F-B40E-64A4-5458-AF848149B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13DA81D-C53F-DE22-29F0-8660A17CFC04}"/>
              </a:ext>
            </a:extLst>
          </p:cNvPr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Institution-Level VA Relative to Non-Completers vs. Median Earnings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3B4C25C-AB1A-EE3B-1A50-641DECAE1949}"/>
              </a:ext>
            </a:extLst>
          </p:cNvPr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8 Years After Entry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/>
              <a:ea typeface="+mn-ea"/>
              <a:cs typeface="+mn-cs"/>
            </a:endParaRPr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_va_estimate_noncomp_scorecard_wlbl.svg">
            <a:extLst>
              <a:ext uri="{FF2B5EF4-FFF2-40B4-BE49-F238E27FC236}">
                <a16:creationId xmlns:a16="http://schemas.microsoft.com/office/drawing/2014/main" id="{B8A8AF4B-CCDA-2DE6-A44F-E276882DB4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B1C019-6D82-3844-C190-646008BC84E8}"/>
              </a:ext>
            </a:extLst>
          </p:cNvPr>
          <p:cNvSpPr txBox="1"/>
          <p:nvPr/>
        </p:nvSpPr>
        <p:spPr>
          <a:xfrm>
            <a:off x="8247832" y="4374731"/>
            <a:ext cx="3203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Correlation = </a:t>
            </a:r>
            <a:r>
              <a:rPr lang="en-US" b="1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0.96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Slope = </a:t>
            </a:r>
            <a:r>
              <a:rPr lang="en-US" b="1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0.72</a:t>
            </a: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  </a:t>
            </a:r>
            <a:endParaRPr kumimoji="0" lang="en-US" b="0" i="0" u="none" strike="noStrike" kern="1200" cap="none" spc="0" normalizeH="0" baseline="0" noProof="0" dirty="0">
              <a:ln/>
              <a:solidFill>
                <a:srgbClr val="29B6A4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Helvetica"/>
              <a:sym typeface="Helvetica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2503876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Institution-Level </a:t>
            </a: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VA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Relative to Non-Completers vs. Median Earnings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8 Years After Entry; Excluding Mass Maritime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/>
              <a:ea typeface="+mn-ea"/>
              <a:cs typeface="+mn-cs"/>
            </a:endParaRPr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_va_estimate_noncomp_scorecard_wlbl_womaritime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45DF37-DC0E-5EB8-2A8A-CE039C5A1E92}"/>
              </a:ext>
            </a:extLst>
          </p:cNvPr>
          <p:cNvSpPr txBox="1"/>
          <p:nvPr/>
        </p:nvSpPr>
        <p:spPr>
          <a:xfrm>
            <a:off x="8247832" y="4374731"/>
            <a:ext cx="3203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Correlation = </a:t>
            </a:r>
            <a:r>
              <a:rPr lang="en-US" b="1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0.87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Slope = </a:t>
            </a:r>
            <a:r>
              <a:rPr lang="en-US" b="1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0.65</a:t>
            </a: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  </a:t>
            </a:r>
            <a:endParaRPr kumimoji="0" lang="en-US" b="0" i="0" u="none" strike="noStrike" kern="1200" cap="none" spc="0" normalizeH="0" baseline="0" noProof="0" dirty="0">
              <a:ln/>
              <a:solidFill>
                <a:srgbClr val="29B6A4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Helvetica"/>
              <a:sym typeface="Helvetica"/>
              <a:rtl val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Carnegie Earnings Benchmark Adjusted for Student Demographics and Geography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_va_estimate_noncomp_carnegie_earningscontext_wlbl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E95F61E0-E1A8-6149-607F-4269D7AD4305}"/>
              </a:ext>
            </a:extLst>
          </p:cNvPr>
          <p:cNvSpPr/>
          <p:nvPr/>
        </p:nvSpPr>
        <p:spPr>
          <a:xfrm>
            <a:off x="523037" y="364846"/>
            <a:ext cx="11145926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Institution-Level VA Relative to Non-Completers vs. Adjusted Earnings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CB06F7-E5B0-CC05-0767-F42B04FF270B}"/>
              </a:ext>
            </a:extLst>
          </p:cNvPr>
          <p:cNvSpPr txBox="1"/>
          <p:nvPr/>
        </p:nvSpPr>
        <p:spPr>
          <a:xfrm>
            <a:off x="8247832" y="1563287"/>
            <a:ext cx="3203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Correlation = </a:t>
            </a:r>
            <a:r>
              <a:rPr lang="en-US" b="1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- 0.21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Slope = </a:t>
            </a:r>
            <a:r>
              <a:rPr lang="en-US" b="1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- 0.42</a:t>
            </a: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  </a:t>
            </a:r>
            <a:endParaRPr kumimoji="0" lang="en-US" b="0" i="0" u="none" strike="noStrike" kern="1200" cap="none" spc="0" normalizeH="0" baseline="0" noProof="0" dirty="0">
              <a:ln/>
              <a:solidFill>
                <a:srgbClr val="29B6A4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Helvetica"/>
              <a:sym typeface="Helvetica"/>
              <a:rtl val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Carnegie Earnings Benchmark Adjusted for Student Demographics and Geography; Excluding Mass Maritime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_va_estimate_noncomp_carnegie_earningscontext_wlbl_womaritime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1605348B-33DB-5F6C-10C8-4870B2D8A0B1}"/>
              </a:ext>
            </a:extLst>
          </p:cNvPr>
          <p:cNvSpPr/>
          <p:nvPr/>
        </p:nvSpPr>
        <p:spPr>
          <a:xfrm>
            <a:off x="523037" y="364846"/>
            <a:ext cx="11145926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Institution-Level VA Relative to Non-Completers vs. Adjusted Earnings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565B7A-74F1-7FD2-F1C6-306D073D496D}"/>
              </a:ext>
            </a:extLst>
          </p:cNvPr>
          <p:cNvSpPr txBox="1"/>
          <p:nvPr/>
        </p:nvSpPr>
        <p:spPr>
          <a:xfrm>
            <a:off x="8247832" y="1563287"/>
            <a:ext cx="3203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Correlation = </a:t>
            </a:r>
            <a:r>
              <a:rPr lang="en-US" b="1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0.04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Slope = </a:t>
            </a:r>
            <a:r>
              <a:rPr lang="en-US" b="1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0.05</a:t>
            </a: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  </a:t>
            </a:r>
            <a:endParaRPr kumimoji="0" lang="en-US" b="0" i="0" u="none" strike="noStrike" kern="1200" cap="none" spc="0" normalizeH="0" baseline="0" noProof="0" dirty="0">
              <a:ln/>
              <a:solidFill>
                <a:srgbClr val="29B6A4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Helvetica"/>
              <a:sym typeface="Helvetica"/>
              <a:rtl val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Program-Level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One Point per Institution-Field Program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byprg_va_estimate_noncomp_scorecard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6E40BA-1C9E-166B-19FF-24092EF9ABE0}"/>
              </a:ext>
            </a:extLst>
          </p:cNvPr>
          <p:cNvSpPr txBox="1"/>
          <p:nvPr/>
        </p:nvSpPr>
        <p:spPr>
          <a:xfrm>
            <a:off x="8247832" y="4374731"/>
            <a:ext cx="3203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Correlation = </a:t>
            </a:r>
            <a:r>
              <a:rPr lang="en-US" b="1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0.94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Slope = </a:t>
            </a:r>
            <a:r>
              <a:rPr lang="en-US" b="1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0.69</a:t>
            </a: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  </a:t>
            </a:r>
            <a:endParaRPr kumimoji="0" lang="en-US" b="0" i="0" u="none" strike="noStrike" kern="1200" cap="none" spc="0" normalizeH="0" baseline="0" noProof="0" dirty="0">
              <a:ln/>
              <a:solidFill>
                <a:srgbClr val="29B6A4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Helvetica"/>
              <a:sym typeface="Helvetica"/>
              <a:rtl val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Program-Level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Adding Health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byprg_va_estimate_noncomp_scorecard_byfield_1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3BEC7-6BCE-FCA4-4701-6D0567DEA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D2829E-B26C-E348-B599-786231944C3F}"/>
              </a:ext>
            </a:extLst>
          </p:cNvPr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Zooming In on Health Programs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F351B79-A95E-87E3-7504-4E8A9BB79CB8}"/>
              </a:ext>
            </a:extLst>
          </p:cNvPr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health_va_estimate_noncomp_scorecard_wlbl.svg">
            <a:extLst>
              <a:ext uri="{FF2B5EF4-FFF2-40B4-BE49-F238E27FC236}">
                <a16:creationId xmlns:a16="http://schemas.microsoft.com/office/drawing/2014/main" id="{ECAEDF89-481A-8EC6-15D7-CD23C94097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2DE9E1-49BF-7AFB-0D58-62B057F871B9}"/>
              </a:ext>
            </a:extLst>
          </p:cNvPr>
          <p:cNvSpPr txBox="1"/>
          <p:nvPr/>
        </p:nvSpPr>
        <p:spPr>
          <a:xfrm>
            <a:off x="8247832" y="4374731"/>
            <a:ext cx="3203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Correlation = </a:t>
            </a:r>
            <a:r>
              <a:rPr lang="en-US" b="1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0.70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Slope = </a:t>
            </a:r>
            <a:r>
              <a:rPr lang="en-US" b="1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0.54</a:t>
            </a: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  </a:t>
            </a:r>
            <a:endParaRPr kumimoji="0" lang="en-US" b="0" i="0" u="none" strike="noStrike" kern="1200" cap="none" spc="0" normalizeH="0" baseline="0" noProof="0" dirty="0">
              <a:ln/>
              <a:solidFill>
                <a:srgbClr val="29B6A4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Helvetica"/>
              <a:sym typeface="Helvetica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19850639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Program-Level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Adding Education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byprg_va_estimate_noncomp_scorecard_byfield_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Program-Level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Adding Education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byprg_va_estimate_noncomp_scorecard_byfield_2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Program-Level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Adding CS &amp; Engineering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byprg_va_estimate_noncomp_scorecard_byfield_3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Program-Level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instbyprg_va_estimate_noncomp_scorecard_byfield_8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021334B-0E74-C2FF-00B0-776B17BB94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5696" t="23989" r="34826" b="25249"/>
          <a:stretch>
            <a:fillRect/>
          </a:stretch>
        </p:blipFill>
        <p:spPr>
          <a:xfrm>
            <a:off x="2483894" y="1335024"/>
            <a:ext cx="1651378" cy="14736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010613-BA0A-E30D-B664-C015DDFB90BB}"/>
              </a:ext>
            </a:extLst>
          </p:cNvPr>
          <p:cNvSpPr txBox="1"/>
          <p:nvPr/>
        </p:nvSpPr>
        <p:spPr>
          <a:xfrm>
            <a:off x="8247832" y="4374731"/>
            <a:ext cx="3203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Correlation = </a:t>
            </a:r>
            <a:r>
              <a:rPr lang="en-US" b="1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0.94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Slope = </a:t>
            </a:r>
            <a:r>
              <a:rPr lang="en-US" b="1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0.69</a:t>
            </a: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  </a:t>
            </a:r>
            <a:endParaRPr kumimoji="0" lang="en-US" b="0" i="0" u="none" strike="noStrike" kern="1200" cap="none" spc="0" normalizeH="0" baseline="0" noProof="0" dirty="0">
              <a:ln/>
              <a:solidFill>
                <a:srgbClr val="29B6A4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Helvetica"/>
              <a:sym typeface="Helvetica"/>
              <a:rtl val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Zooming In On UMass Amherst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Programs Colored by Field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prgamherst_va_estimate_noncomp_byfield_scorecard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65EBFF-A640-9114-04B0-B6D36C025FAC}"/>
              </a:ext>
            </a:extLst>
          </p:cNvPr>
          <p:cNvSpPr txBox="1"/>
          <p:nvPr/>
        </p:nvSpPr>
        <p:spPr>
          <a:xfrm>
            <a:off x="8247832" y="4374731"/>
            <a:ext cx="3203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Correlation = </a:t>
            </a:r>
            <a:r>
              <a:rPr lang="en-US" b="1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0.95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Slope = </a:t>
            </a:r>
            <a:r>
              <a:rPr lang="en-US" b="1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0.80</a:t>
            </a: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  </a:t>
            </a:r>
            <a:endParaRPr kumimoji="0" lang="en-US" b="0" i="0" u="none" strike="noStrike" kern="1200" cap="none" spc="0" normalizeH="0" baseline="0" noProof="0" dirty="0">
              <a:ln/>
              <a:solidFill>
                <a:srgbClr val="29B6A4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Helvetica"/>
              <a:sym typeface="Helvetica"/>
              <a:rtl val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Field-Level VA Relative to Non-Completers vs. Median Earnings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One Point per Field Across Institutions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prg_va_estimate_noncomp_byfield_scorecard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C18FCE8B-7FF6-9133-3FF0-B34DB89FED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5696" t="23989" r="34826" b="25249"/>
          <a:stretch>
            <a:fillRect/>
          </a:stretch>
        </p:blipFill>
        <p:spPr>
          <a:xfrm>
            <a:off x="2483894" y="1335024"/>
            <a:ext cx="1651378" cy="14736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8AA344-025B-9840-F0D4-7C52B0965139}"/>
              </a:ext>
            </a:extLst>
          </p:cNvPr>
          <p:cNvSpPr txBox="1"/>
          <p:nvPr/>
        </p:nvSpPr>
        <p:spPr>
          <a:xfrm>
            <a:off x="8247832" y="4374731"/>
            <a:ext cx="3203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Correlation = </a:t>
            </a:r>
            <a:r>
              <a:rPr lang="en-US" b="1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0.98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Slope = </a:t>
            </a:r>
            <a:r>
              <a:rPr lang="en-US" b="1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0.72</a:t>
            </a: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  </a:t>
            </a:r>
            <a:endParaRPr kumimoji="0" lang="en-US" b="0" i="0" u="none" strike="noStrike" kern="1200" cap="none" spc="0" normalizeH="0" baseline="0" noProof="0" dirty="0">
              <a:ln/>
              <a:solidFill>
                <a:srgbClr val="29B6A4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Helvetica"/>
              <a:sym typeface="Helvetica"/>
              <a:rtl val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</a:rPr>
              <a:t>Zooming In On UMass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One Point per Field Across UMass Institutions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prg_va_estimate_noncomp_byfield_scorecard_umass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D2CF53-6CB1-4FA9-61DF-683406FA3BCC}"/>
              </a:ext>
            </a:extLst>
          </p:cNvPr>
          <p:cNvSpPr txBox="1"/>
          <p:nvPr/>
        </p:nvSpPr>
        <p:spPr>
          <a:xfrm>
            <a:off x="8247832" y="4374731"/>
            <a:ext cx="3203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Correlation = </a:t>
            </a:r>
            <a:r>
              <a:rPr lang="en-US" b="1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0.97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Slope = </a:t>
            </a:r>
            <a:r>
              <a:rPr lang="en-US" b="1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0.75</a:t>
            </a: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  </a:t>
            </a:r>
            <a:endParaRPr kumimoji="0" lang="en-US" b="0" i="0" u="none" strike="noStrike" kern="1200" cap="none" spc="0" normalizeH="0" baseline="0" noProof="0" dirty="0">
              <a:ln/>
              <a:solidFill>
                <a:srgbClr val="29B6A4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Helvetica"/>
              <a:sym typeface="Helvetica"/>
              <a:rtl val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</a:rPr>
              <a:t>Zooming In On State Universities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College Scorecard Median Earnings, 4 Years After Completion; One Point per Field Across State Universities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MADHE_aug2026\figures\scatterplot_prg_va_estimate_noncomp_byfield_scorecard_state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" y="1083564"/>
            <a:ext cx="10710367" cy="55504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1B020C-C8A8-F656-4ABC-40F335CC17E6}"/>
              </a:ext>
            </a:extLst>
          </p:cNvPr>
          <p:cNvSpPr txBox="1"/>
          <p:nvPr/>
        </p:nvSpPr>
        <p:spPr>
          <a:xfrm>
            <a:off x="8247832" y="4374731"/>
            <a:ext cx="3203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Correlation = </a:t>
            </a:r>
            <a:r>
              <a:rPr lang="en-US" b="1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0.98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Slope = </a:t>
            </a:r>
            <a:r>
              <a:rPr lang="en-US" b="1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0.69</a:t>
            </a:r>
            <a:r>
              <a:rPr lang="en-US" dirty="0">
                <a:ln/>
                <a:solidFill>
                  <a:prstClr val="black"/>
                </a:solidFill>
                <a:latin typeface="Lucida Sans" panose="020B0602030504020204" pitchFamily="34" charset="0"/>
                <a:cs typeface="Helvetica"/>
                <a:sym typeface="Helvetica"/>
                <a:rtl val="0"/>
              </a:rPr>
              <a:t>  </a:t>
            </a:r>
            <a:endParaRPr kumimoji="0" lang="en-US" b="0" i="0" u="none" strike="noStrike" kern="1200" cap="none" spc="0" normalizeH="0" baseline="0" noProof="0" dirty="0">
              <a:ln/>
              <a:solidFill>
                <a:srgbClr val="29B6A4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Helvetica"/>
              <a:sym typeface="Helvetica"/>
              <a:rtl val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aster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ubtitle">
      <a:majorFont>
        <a:latin typeface="Lucida Bright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2339</TotalTime>
  <Words>852</Words>
  <Application>Microsoft Office PowerPoint</Application>
  <PresentationFormat>Widescreen</PresentationFormat>
  <Paragraphs>144</Paragraphs>
  <Slides>33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Lucida Sans</vt:lpstr>
      <vt:lpstr>Aptos Display</vt:lpstr>
      <vt:lpstr>Calibri</vt:lpstr>
      <vt:lpstr>Arial</vt:lpstr>
      <vt:lpstr>Wingdings</vt:lpstr>
      <vt:lpstr>Aptos</vt:lpstr>
      <vt:lpstr>Lucida Bright</vt:lpstr>
      <vt:lpstr>Office Theme</vt:lpstr>
      <vt:lpstr>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Harvard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Leff, Emily C</dc:creator>
  <cp:lastModifiedBy>Kim, Yeojin</cp:lastModifiedBy>
  <cp:revision>62</cp:revision>
  <dcterms:created xsi:type="dcterms:W3CDTF">2025-01-15T20:52:06Z</dcterms:created>
  <dcterms:modified xsi:type="dcterms:W3CDTF">2026-08-09T20:34:19Z</dcterms:modified>
</cp:coreProperties>
</file>