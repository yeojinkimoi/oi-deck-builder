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56" r:id="rId26"/>
    <p:sldId id="257" r:id="rId27"/>
    <p:sldId id="258" r:id="rId28"/>
    <p:sldId id="259" r:id="rId29"/>
    <p:sldId id="260" r:id="rId30"/>
    <p:sldId id="261" r:id="rId31"/>
    <p:sldId id="262" r:id="rId32"/>
    <p:sldId id="263" r:id="rId33"/>
    <p:sldId id="264" r:id="rId34"/>
    <p:sldId id="265" r:id="rId35"/>
  </p:sldIdLst>
  <p:sldSz cx="12192000" cy="6858000"/>
  <p:notesSz cx="6858000" cy="9144000"/>
  <p:embeddedFontLst>
    <p:embeddedFont>
      <p:font typeface="Lucida Bright" panose="02040602050505020304" pitchFamily="18" charset="0"/>
      <p:regular r:id="rId14"/>
      <p:bold r:id="rId15"/>
      <p:italic r:id="rId16"/>
      <p:boldItalic r:id="rId17"/>
    </p:embeddedFont>
    <p:embeddedFont>
      <p:font typeface="Lucida Sans" panose="020B0602030504020204" pitchFamily="34" charset="0"/>
      <p:regular r:id="rId18"/>
      <p:bold r:id="rId19"/>
      <p:italic r:id="rId20"/>
      <p:boldItalic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626365"/>
    <a:srgbClr val="000000"/>
    <a:srgbClr val="FAA523"/>
    <a:srgbClr val="29B6A4"/>
    <a:srgbClr val="262626"/>
    <a:srgbClr val="D9D9D9"/>
    <a:srgbClr val="B2B5B7"/>
    <a:srgbClr val="7F4892"/>
    <a:srgbClr val="19B7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331" autoAdjust="0"/>
    <p:restoredTop sz="66344" autoAdjust="0"/>
  </p:normalViewPr>
  <p:slideViewPr>
    <p:cSldViewPr snapToGrid="0">
      <p:cViewPr varScale="1">
        <p:scale>
          <a:sx n="70" d="100"/>
          <a:sy n="70" d="100"/>
        </p:scale>
        <p:origin x="2394" y="48"/>
      </p:cViewPr>
      <p:guideLst/>
    </p:cSldViewPr>
  </p:slideViewPr>
  <p:outlineViewPr>
    <p:cViewPr>
      <p:scale>
        <a:sx n="100" d="100"/>
        <a:sy n="100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handoutMaster" Target="handoutMasters/handoutMaster1.xml"/><Relationship Id="rId18" Type="http://schemas.openxmlformats.org/officeDocument/2006/relationships/font" Target="fonts/font5.fntdata"/><Relationship Id="rId21" Type="http://schemas.openxmlformats.org/officeDocument/2006/relationships/font" Target="fonts/font8.fntdata"/><Relationship Id="rId12" Type="http://schemas.openxmlformats.org/officeDocument/2006/relationships/notesMaster" Target="notesMasters/notesMaster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24" Type="http://schemas.openxmlformats.org/officeDocument/2006/relationships/theme" Target="theme/theme1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19" Type="http://schemas.openxmlformats.org/officeDocument/2006/relationships/font" Target="fonts/font6.fntdata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6" Type="http://schemas.openxmlformats.org/officeDocument/2006/relationships/slide" Target="slides/slide1.xml"/><Relationship Id="rId27" Type="http://schemas.openxmlformats.org/officeDocument/2006/relationships/slide" Target="slides/slide2.xml"/><Relationship Id="rId28" Type="http://schemas.openxmlformats.org/officeDocument/2006/relationships/slide" Target="slides/slide3.xml"/><Relationship Id="rId29" Type="http://schemas.openxmlformats.org/officeDocument/2006/relationships/slide" Target="slides/slide4.xml"/><Relationship Id="rId30" Type="http://schemas.openxmlformats.org/officeDocument/2006/relationships/slide" Target="slides/slide5.xml"/><Relationship Id="rId31" Type="http://schemas.openxmlformats.org/officeDocument/2006/relationships/slide" Target="slides/slide6.xml"/><Relationship Id="rId32" Type="http://schemas.openxmlformats.org/officeDocument/2006/relationships/slide" Target="slides/slide7.xml"/><Relationship Id="rId33" Type="http://schemas.openxmlformats.org/officeDocument/2006/relationships/slide" Target="slides/slide8.xml"/><Relationship Id="rId34" Type="http://schemas.openxmlformats.org/officeDocument/2006/relationships/slide" Target="slides/slide9.xml"/><Relationship Id="rId35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6AFC86-27A9-9E95-2727-D9D4A8DB112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7655AD-DDB4-9E33-5374-7073A775A22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32DC63-E65A-424C-8CAA-1D619F56AE50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6E5FC8-9B34-4F53-C3CC-7E34B4AF746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1F2B2-986D-63CB-1D64-E69F5426D9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E4D987-604E-4356-9357-0E73437397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1962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7B20E-7C29-400A-ACB4-EA33BE0918AC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5BCDB-D66B-4FB6-98F0-5DAE7FE580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77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 groups are the largest credit-program division within each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Strongest result in the deck. ROI 33.8x, payback 0.6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ROI 8.4x on a cost of $14K.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Leavers gain far less than graduates. The second dashed line marks expected completion, not an observed exit 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CIP 47 is Mechanic and Repair Technologies and includes aviation and diesel, so the cost shown is above the automotive programs themselves.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Certificates complete in 12 months, so the second dashed line sits at year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Weakest result. $890 does not break even -- ROI 0.7x, payback 30.2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Graduates and leavers on one axis. Replaces the hand-built slide whose subtitle said "Enrollees who Leave" under a chart showing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Intr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D4A8026D-1409-DDF3-BA57-7B0518BDC1FD}"/>
              </a:ext>
            </a:extLst>
          </p:cNvPr>
          <p:cNvSpPr/>
          <p:nvPr userDrawn="1"/>
        </p:nvSpPr>
        <p:spPr>
          <a:xfrm>
            <a:off x="2903220" y="4416316"/>
            <a:ext cx="9288780" cy="2215987"/>
          </a:xfrm>
          <a:prstGeom prst="rect">
            <a:avLst/>
          </a:prstGeom>
          <a:solidFill>
            <a:srgbClr val="FFFFFF">
              <a:alpha val="85098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91350" tIns="45718" rIns="91350" bIns="45718" rtlCol="0" anchor="ctr"/>
          <a:lstStyle/>
          <a:p>
            <a:pPr marL="0" marR="0" lvl="0" indent="0" algn="ctr" defTabSz="913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BC1C8C-8A15-6003-CC10-86C03FD412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7806" y="5499417"/>
            <a:ext cx="7531624" cy="767762"/>
          </a:xfrm>
        </p:spPr>
        <p:txBody>
          <a:bodyPr>
            <a:no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14" name="Picture 2" descr="Chetty, Friedman, and Hendren Launch Opportunity Insights | Opportunity  Insights">
            <a:extLst>
              <a:ext uri="{FF2B5EF4-FFF2-40B4-BE49-F238E27FC236}">
                <a16:creationId xmlns:a16="http://schemas.microsoft.com/office/drawing/2014/main" id="{87EDAE40-C311-7D4A-86B9-A801BBB1B9FA}"/>
              </a:ext>
            </a:extLst>
          </p:cNvPr>
          <p:cNvPicPr/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3082" y="6218992"/>
            <a:ext cx="1968338" cy="3426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15EED02-CBB8-F4FF-F842-371491D42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6970" y="4416315"/>
            <a:ext cx="10032460" cy="1083101"/>
          </a:xfrm>
          <a:prstGeom prst="rect">
            <a:avLst/>
          </a:prstGeom>
        </p:spPr>
        <p:txBody>
          <a:bodyPr anchor="b"/>
          <a:lstStyle>
            <a:lvl1pPr algn="r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Text Placeholder 24">
            <a:extLst>
              <a:ext uri="{FF2B5EF4-FFF2-40B4-BE49-F238E27FC236}">
                <a16:creationId xmlns:a16="http://schemas.microsoft.com/office/drawing/2014/main" id="{287E356F-8C63-73F9-7168-432FB4BD7BA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037806" y="6267179"/>
            <a:ext cx="7531624" cy="365125"/>
          </a:xfrm>
        </p:spPr>
        <p:txBody>
          <a:bodyPr>
            <a:noAutofit/>
          </a:bodyPr>
          <a:lstStyle>
            <a:lvl1pPr algn="r">
              <a:buNone/>
              <a:defRPr sz="1200" b="1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8300334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-Theme: Title and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885194-2FED-DEDF-680B-2422726A2E4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E486B3F-3423-79BB-737B-789C144F838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  <p:pic>
        <p:nvPicPr>
          <p:cNvPr id="29" name="Picture 28" descr="A black and grey text&#10;&#10;Description automatically generated">
            <a:extLst>
              <a:ext uri="{FF2B5EF4-FFF2-40B4-BE49-F238E27FC236}">
                <a16:creationId xmlns:a16="http://schemas.microsoft.com/office/drawing/2014/main" id="{92FEF83D-11CA-9217-08E0-656D3BABBD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27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-Theme: Title and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0EBB-5295-6483-AFAC-33081E089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490" y="1177798"/>
            <a:ext cx="10937462" cy="501491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F4B4EBE-AF72-4F2B-A861-943B0687A8DC}"/>
              </a:ext>
            </a:extLst>
          </p:cNvPr>
          <p:cNvCxnSpPr>
            <a:cxnSpLocks/>
          </p:cNvCxnSpPr>
          <p:nvPr userDrawn="1"/>
        </p:nvCxnSpPr>
        <p:spPr>
          <a:xfrm>
            <a:off x="620980" y="10009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ubtitle 2">
            <a:extLst>
              <a:ext uri="{FF2B5EF4-FFF2-40B4-BE49-F238E27FC236}">
                <a16:creationId xmlns:a16="http://schemas.microsoft.com/office/drawing/2014/main" id="{94A791F6-9DA5-91C1-6AA5-29406DF11AEF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2913" y="719713"/>
            <a:ext cx="10950039" cy="260907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rgbClr val="62636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4" name="Picture 3" descr="A black and grey text&#10;&#10;Description automatically generated">
            <a:extLst>
              <a:ext uri="{FF2B5EF4-FFF2-40B4-BE49-F238E27FC236}">
                <a16:creationId xmlns:a16="http://schemas.microsoft.com/office/drawing/2014/main" id="{A8713239-F501-723D-D01B-A99907ACA1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868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I Theme: Title - No Subtitle with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91337F9-9B78-B3A3-3F34-61AB23DCC0C9}"/>
              </a:ext>
            </a:extLst>
          </p:cNvPr>
          <p:cNvCxnSpPr>
            <a:cxnSpLocks/>
          </p:cNvCxnSpPr>
          <p:nvPr userDrawn="1"/>
        </p:nvCxnSpPr>
        <p:spPr>
          <a:xfrm>
            <a:off x="620980" y="6483107"/>
            <a:ext cx="1095364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1" name="Picture 10" descr="A black and grey text&#10;&#10;Description automatically generated">
            <a:extLst>
              <a:ext uri="{FF2B5EF4-FFF2-40B4-BE49-F238E27FC236}">
                <a16:creationId xmlns:a16="http://schemas.microsoft.com/office/drawing/2014/main" id="{A9ECF13D-850A-03D5-4AE1-873C1EC657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  <p:sp>
        <p:nvSpPr>
          <p:cNvPr id="2" name="Text Placeholder 24">
            <a:extLst>
              <a:ext uri="{FF2B5EF4-FFF2-40B4-BE49-F238E27FC236}">
                <a16:creationId xmlns:a16="http://schemas.microsoft.com/office/drawing/2014/main" id="{AD0F6157-D6B6-8B83-0365-9C13F43D14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5490" y="6512596"/>
            <a:ext cx="10937875" cy="365125"/>
          </a:xfrm>
        </p:spPr>
        <p:txBody>
          <a:bodyPr/>
          <a:lstStyle>
            <a:lvl1pPr>
              <a:buNone/>
              <a:defRPr sz="1400"/>
            </a:lvl1pPr>
          </a:lstStyle>
          <a:p>
            <a:pPr lvl="0"/>
            <a:r>
              <a:rPr lang="en-US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331006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I Theme: Title - No Subtitle, no Source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5CAB9E-3347-0F44-534F-292BBA4D54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91AF2DE-EC0A-F096-CF43-D7121547010B}"/>
              </a:ext>
            </a:extLst>
          </p:cNvPr>
          <p:cNvCxnSpPr>
            <a:cxnSpLocks/>
          </p:cNvCxnSpPr>
          <p:nvPr userDrawn="1"/>
        </p:nvCxnSpPr>
        <p:spPr>
          <a:xfrm>
            <a:off x="620980" y="835820"/>
            <a:ext cx="1913229" cy="0"/>
          </a:xfrm>
          <a:prstGeom prst="line">
            <a:avLst/>
          </a:prstGeom>
          <a:ln w="6350">
            <a:solidFill>
              <a:srgbClr val="29B6A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itle 1">
            <a:extLst>
              <a:ext uri="{FF2B5EF4-FFF2-40B4-BE49-F238E27FC236}">
                <a16:creationId xmlns:a16="http://schemas.microsoft.com/office/drawing/2014/main" id="{9118330A-FAC3-DA52-0B67-083405089A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13" y="365271"/>
            <a:ext cx="10937463" cy="365121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" name="Picture 1" descr="A black and grey text&#10;&#10;Description automatically generated">
            <a:extLst>
              <a:ext uri="{FF2B5EF4-FFF2-40B4-BE49-F238E27FC236}">
                <a16:creationId xmlns:a16="http://schemas.microsoft.com/office/drawing/2014/main" id="{00D15EAF-C4E1-1773-9042-35DC00C98C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947"/>
          <a:stretch/>
        </p:blipFill>
        <p:spPr>
          <a:xfrm>
            <a:off x="11835183" y="6480880"/>
            <a:ext cx="315482" cy="304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487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0C5D21-4EDC-A414-72BF-71D3883214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3557" y="1825625"/>
            <a:ext cx="1093746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73FA415-12F8-8B2B-BC11-F713C1AAD15C}"/>
              </a:ext>
            </a:extLst>
          </p:cNvPr>
          <p:cNvSpPr txBox="1">
            <a:spLocks/>
          </p:cNvSpPr>
          <p:nvPr userDrawn="1"/>
        </p:nvSpPr>
        <p:spPr>
          <a:xfrm>
            <a:off x="633556" y="375319"/>
            <a:ext cx="10937463" cy="851116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0318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710" r:id="rId3"/>
    <p:sldLayoutId id="2147483660" r:id="rId4"/>
    <p:sldLayoutId id="214748371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3_0.png"/><Relationship Id="rId2" Type="http://schemas.openxmlformats.org/officeDocument/2006/relationships/image" Target="../media/oi_gen_s3_1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4_2.png"/><Relationship Id="rId2" Type="http://schemas.openxmlformats.org/officeDocument/2006/relationships/image" Target="../media/oi_gen_s4_3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5_4.png"/><Relationship Id="rId2" Type="http://schemas.openxmlformats.org/officeDocument/2006/relationships/image" Target="../media/oi_gen_s5_5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6_6.png"/><Relationship Id="rId2" Type="http://schemas.openxmlformats.org/officeDocument/2006/relationships/image" Target="../media/oi_gen_s6_7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7_8.png"/><Relationship Id="rId2" Type="http://schemas.openxmlformats.org/officeDocument/2006/relationships/image" Target="../media/oi_gen_s7_9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8_10.png"/><Relationship Id="rId2" Type="http://schemas.openxmlformats.org/officeDocument/2006/relationships/image" Target="../media/oi_gen_s8_11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oi_gen_s10_12.png"/><Relationship Id="rId2" Type="http://schemas.openxmlformats.org/officeDocument/2006/relationships/image" Target="../media/oi_gen_s10_13.sv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37106" y="4517136"/>
            <a:ext cx="10032797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32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The Impacts of TSTC Programs on Earnings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037990" y="5504688"/>
            <a:ext cx="7531913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2000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Preliminary Estimates Using Digital Twins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037990" y="5998464"/>
            <a:ext cx="7531913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October 2026</a:t>
            </a:r>
            <a:endParaRPr lang="en-US" sz="1200" dirty="0"/>
          </a:p>
          <a:p>
            <a:pPr algn="r"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PRELIMINARY DATA -- DO NOT CITE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TSTC Programs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Largest Credit Division Within Each School</a:t>
            </a:r>
            <a:endParaRPr lang="en-US" sz="1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5838" y="1371600"/>
          <a:ext cx="10937138" cy="914400"/>
        </p:xfrm>
        <a:graphic>
          <a:graphicData uri="http://schemas.openxmlformats.org/drawingml/2006/table">
            <a:tbl>
              <a:tblPr/>
              <a:tblGrid>
                <a:gridCol w="3645713"/>
                <a:gridCol w="3645713"/>
                <a:gridCol w="3645713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School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Division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Example Program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9B6A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Business, Hospitality, and Global Trade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Management Careers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Human Resources Assistant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Health Sciences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Nursing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Associate Degree Nursing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Law and Public Service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Criminal Justice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Basic Criminal Justice Studies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Engineering, Technology, Math &amp; Science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Computer Information Systems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Technology Support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Manufacturing and Industrial Technology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Automotive Technology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Automotive Repair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Creative Arts, Entertainment &amp; Design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Digital Art and Design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62626"/>
                          </a:solidFill>
                          <a:latin typeface="Lucida Sans" pitchFamily="34" charset="0"/>
                          <a:ea typeface="Lucida Sans" pitchFamily="34" charset="-122"/>
                          <a:cs typeface="Lucida Sans" pitchFamily="34" charset="-120"/>
                        </a:rPr>
                        <a:t>Digital Media</a:t>
                      </a:r>
                      <a:endParaRPr lang="en-US" sz="1300" dirty="0">
                        <a:latin typeface="Lucida Sans" charset="0"/>
                        <a:ea typeface="Lucida Sans" charset="0"/>
                        <a:cs typeface="Lucida San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TSTC on Earnings: Construction Certificate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TSTC Enrollees who Graduate vs. Digital Twins -- $27K Increase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TSTC_oct2026\figures\cert_construction_graduate_event_stud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050" y="1083564"/>
            <a:ext cx="10484510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TSTC on Earnings: Engineering Associate's Degree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TSTC Enrollees who Graduate vs. Digital Twins -- $14K Increase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TSTC_oct2026\figures\aas_engineering_graduate_event_stud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050" y="1083564"/>
            <a:ext cx="10484510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TSTC on Earnings: Engineering Associate's Degree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TSTC Enrollees who Leave vs. Digital Twins -- $2K Increase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TSTC_oct2026\figures\aas_engineering_leaver_event_stud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050" y="1083564"/>
            <a:ext cx="10484510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TSTC on Earnings: Automotive Associate's Degree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TSTC Enrollees who Graduate vs. Digital Twins -- $7K Increase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TSTC_oct2026\figures\aas_automotive_graduate_event_stud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050" y="1083564"/>
            <a:ext cx="10484510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TSTC on Earnings: Automotive Certificate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TSTC Enrollees who Graduate vs. Digital Twins -- $9K Increase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TSTC_oct2026\figures\cert_automotive_graduate_event_stud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050" y="1083564"/>
            <a:ext cx="10484510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TSTC on Earnings: IT Associate's Degree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TSTC Enrollees who Graduate vs. Digital Twins -- $890 Increase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TSTC_oct2026\figures\aas_it_graduate_event_stud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050" y="1083564"/>
            <a:ext cx="10484510" cy="555040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Appendix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35838" y="1335024"/>
            <a:ext cx="10937138" cy="4343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Estimates use the September 2026 disclosure, statistic `mean`.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digital twins counterfactual is released for years 0-5 only; the pre-period is filled with the treated series plus uniform jitter.</a:t>
            </a:r>
            <a:endParaRPr lang="en-US" sz="2200" dirty="0"/>
          </a:p>
          <a:p>
            <a:pPr lvl="1" marL="685800" indent="-342900">
              <a:spcAft>
                <a:spcPts val="400"/>
              </a:spcAft>
              <a:buSzPct val="100000"/>
              <a:buChar char="​"/>
            </a:pPr>
            <a:r>
              <a:rPr lang="en-US" sz="18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</a:t>
            </a:r>
            <a:pPr indent="0" marL="0">
              <a:buNone/>
            </a:pPr>
            <a:r>
              <a:rPr lang="en-US" sz="18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Flagged in the data as `imputed_control_aipw`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​"/>
            </a:pPr>
            <a:r>
              <a:rPr lang="en-US" sz="2200" dirty="0">
                <a:solidFill>
                  <a:srgbClr val="29B6A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assumes a 0.4 graduation rate over 20 years.</a:t>
            </a:r>
            <a:endParaRPr lang="en-US" sz="2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037" y="364846"/>
            <a:ext cx="10937138" cy="3648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262626"/>
                </a:solidFill>
                <a:latin typeface="Lucida Bright" pitchFamily="34" charset="0"/>
                <a:ea typeface="Lucida Bright" pitchFamily="34" charset="-122"/>
                <a:cs typeface="Lucida Bright" pitchFamily="34" charset="-120"/>
              </a:rPr>
              <a:t>Impact of TSTC on Earnings: Engineering Associate's Degree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23037" y="719633"/>
            <a:ext cx="10949940" cy="2606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1600" dirty="0">
                <a:solidFill>
                  <a:srgbClr val="626365"/>
                </a:solidFill>
                <a:latin typeface="Lucida Sans" pitchFamily="34" charset="0"/>
                <a:ea typeface="Lucida Sans" pitchFamily="34" charset="-122"/>
                <a:cs typeface="Lucida Sans" pitchFamily="34" charset="-120"/>
              </a:rPr>
              <a:t>TSTC Enrollees who Graduate vs. Leave vs. Digital Twins</a:t>
            </a:r>
            <a:endParaRPr lang="en-US" sz="1600" dirty="0"/>
          </a:p>
        </p:txBody>
      </p:sp>
      <p:pic>
        <p:nvPicPr>
          <p:cNvPr id="4" name="Image 0" descr="C:\Users\realj\Opportunity Insights Dropbox\Opportunity Insights Shared Workspace\Research files\outside\workforce_training\Slides\TSTC_oct2026\figures\aas_engineering_combined_event_study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54050" y="1083564"/>
            <a:ext cx="10484510" cy="555040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ster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Subtitle">
      <a:majorFont>
        <a:latin typeface="Lucida Bright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2115</TotalTime>
  <Words>267</Words>
  <Application>Microsoft Office PowerPoint</Application>
  <PresentationFormat>Widescreen</PresentationFormat>
  <Paragraphs>55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Wingdings</vt:lpstr>
      <vt:lpstr>Calibri</vt:lpstr>
      <vt:lpstr>Lucida Sans</vt:lpstr>
      <vt:lpstr>Lucida Bright</vt:lpstr>
      <vt:lpstr>Aptos</vt:lpstr>
      <vt:lpstr>Master</vt:lpstr>
      <vt:lpstr>PowerPoint Presentation</vt:lpstr>
      <vt:lpstr>Example – Creating Opportunity</vt:lpstr>
      <vt:lpstr>PowerPoint Presentation</vt:lpstr>
      <vt:lpstr>Example - The Geography of Upward Mobility in the United States </vt:lpstr>
      <vt:lpstr>PowerPoint Presentation</vt:lpstr>
      <vt:lpstr>Example - Creating Moves to Opportunity Experiment</vt:lpstr>
      <vt:lpstr>PowerPoint Presentation</vt:lpstr>
      <vt:lpstr>Example - Where Housing Choice Voucher Holders Live in Seattle</vt:lpstr>
      <vt:lpstr>PowerPoint Presentation</vt:lpstr>
      <vt:lpstr>Example - Three Policy Approaches to Increasing Upward Mobility</vt:lpstr>
    </vt:vector>
  </TitlesOfParts>
  <Company>Harvard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Leff, Emily C</dc:creator>
  <cp:lastModifiedBy>Leff, Emily C</cp:lastModifiedBy>
  <cp:revision>51</cp:revision>
  <dcterms:created xsi:type="dcterms:W3CDTF">2025-01-15T20:52:06Z</dcterms:created>
  <dcterms:modified xsi:type="dcterms:W3CDTF">2026-07-08T17:43:28Z</dcterms:modified>
</cp:coreProperties>
</file>