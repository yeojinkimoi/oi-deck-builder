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9695" r:id="rId2"/>
    <p:sldId id="9696" r:id="rId3"/>
    <p:sldId id="9686" r:id="rId4"/>
    <p:sldId id="9690" r:id="rId5"/>
    <p:sldId id="9687" r:id="rId6"/>
    <p:sldId id="9691" r:id="rId7"/>
    <p:sldId id="9693" r:id="rId8"/>
    <p:sldId id="9692" r:id="rId9"/>
    <p:sldId id="9689" r:id="rId10"/>
    <p:sldId id="9694" r:id="rId11"/>
  </p:sldIdLst>
  <p:sldSz cx="12192000" cy="6858000"/>
  <p:notesSz cx="6858000" cy="9144000"/>
  <p:embeddedFontLst>
    <p:embeddedFont>
      <p:font typeface="Lucida Bright" panose="02040602050505020304" pitchFamily="18" charset="0"/>
      <p:regular r:id="rId14"/>
      <p:bold r:id="rId15"/>
      <p:italic r:id="rId16"/>
      <p:boldItalic r:id="rId17"/>
    </p:embeddedFont>
    <p:embeddedFont>
      <p:font typeface="Lucida Sans" panose="020B0602030504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26365"/>
    <a:srgbClr val="000000"/>
    <a:srgbClr val="FAA523"/>
    <a:srgbClr val="29B6A4"/>
    <a:srgbClr val="262626"/>
    <a:srgbClr val="D9D9D9"/>
    <a:srgbClr val="B2B5B7"/>
    <a:srgbClr val="7F4892"/>
    <a:srgbClr val="19B7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31" autoAdjust="0"/>
    <p:restoredTop sz="66344" autoAdjust="0"/>
  </p:normalViewPr>
  <p:slideViewPr>
    <p:cSldViewPr snapToGrid="0">
      <p:cViewPr varScale="1">
        <p:scale>
          <a:sx n="70" d="100"/>
          <a:sy n="70" d="100"/>
        </p:scale>
        <p:origin x="2394" y="48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AFC86-27A9-9E95-2727-D9D4A8DB11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655AD-DDB4-9E33-5374-7073A775A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2DC63-E65A-424C-8CAA-1D619F56AE5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E5FC8-9B34-4F53-C3CC-7E34B4AF74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1F2B2-986D-63CB-1D64-E69F5426D9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4D987-604E-4356-9357-0E7343739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9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7B20E-7C29-400A-ACB4-EA33BE0918A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BCDB-D66B-4FB6-98F0-5DAE7FE58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7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background image by right-clicking the image &gt; Format Background &gt; Picture source &gt; Insert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BCDB-D66B-4FB6-98F0-5DAE7FE580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86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BCDB-D66B-4FB6-98F0-5DAE7FE580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74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Intr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4A8026D-1409-DDF3-BA57-7B0518BDC1FD}"/>
              </a:ext>
            </a:extLst>
          </p:cNvPr>
          <p:cNvSpPr/>
          <p:nvPr userDrawn="1"/>
        </p:nvSpPr>
        <p:spPr>
          <a:xfrm>
            <a:off x="2903220" y="4416316"/>
            <a:ext cx="9288780" cy="2215987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50" tIns="45718" rIns="91350" bIns="45718" rtlCol="0" anchor="ctr"/>
          <a:lstStyle/>
          <a:p>
            <a:pPr marL="0" marR="0" lvl="0" indent="0" algn="ct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C1C8C-8A15-6003-CC10-86C03FD41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7806" y="5499417"/>
            <a:ext cx="7531624" cy="767762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2" descr="Chetty, Friedman, and Hendren Launch Opportunity Insights | Opportunity  Insights">
            <a:extLst>
              <a:ext uri="{FF2B5EF4-FFF2-40B4-BE49-F238E27FC236}">
                <a16:creationId xmlns:a16="http://schemas.microsoft.com/office/drawing/2014/main" id="{87EDAE40-C311-7D4A-86B9-A801BBB1B9FA}"/>
              </a:ext>
            </a:extLst>
          </p:cNvPr>
          <p:cNvPicPr/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082" y="6218992"/>
            <a:ext cx="1968338" cy="34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EED02-CBB8-F4FF-F842-371491D4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970" y="4416315"/>
            <a:ext cx="10032460" cy="1083101"/>
          </a:xfrm>
          <a:prstGeom prst="rect">
            <a:avLst/>
          </a:prstGeom>
        </p:spPr>
        <p:txBody>
          <a:bodyPr anchor="b"/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287E356F-8C63-73F9-7168-432FB4BD7B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7806" y="6267179"/>
            <a:ext cx="7531624" cy="365125"/>
          </a:xfrm>
        </p:spPr>
        <p:txBody>
          <a:bodyPr>
            <a:noAutofit/>
          </a:bodyPr>
          <a:lstStyle>
            <a:lvl1pPr algn="r">
              <a:buNone/>
              <a:defRPr sz="1200" b="1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83003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-Theme: Title and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885194-2FED-DEDF-680B-2422726A2E4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E486B3F-3423-79BB-737B-789C144F8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  <p:pic>
        <p:nvPicPr>
          <p:cNvPr id="29" name="Picture 28" descr="A black and grey text&#10;&#10;Description automatically generated">
            <a:extLst>
              <a:ext uri="{FF2B5EF4-FFF2-40B4-BE49-F238E27FC236}">
                <a16:creationId xmlns:a16="http://schemas.microsoft.com/office/drawing/2014/main" id="{92FEF83D-11CA-9217-08E0-656D3BABBD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7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-Theme: Title and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A8713239-F501-723D-D01B-A99907ACA1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6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Title - No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337F9-9B78-B3A3-3F34-61AB23DCC0C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 descr="A black and grey text&#10;&#10;Description automatically generated">
            <a:extLst>
              <a:ext uri="{FF2B5EF4-FFF2-40B4-BE49-F238E27FC236}">
                <a16:creationId xmlns:a16="http://schemas.microsoft.com/office/drawing/2014/main" id="{A9ECF13D-850A-03D5-4AE1-873C1EC657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AD0F6157-D6B6-8B83-0365-9C13F43D14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33100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 Theme: Title - No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00D15EAF-C4E1-1773-9042-35DC00C98C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7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C5D21-4EDC-A414-72BF-71D388321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557" y="1825625"/>
            <a:ext cx="10937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3FA415-12F8-8B2B-BC11-F713C1AAD15C}"/>
              </a:ext>
            </a:extLst>
          </p:cNvPr>
          <p:cNvSpPr txBox="1">
            <a:spLocks/>
          </p:cNvSpPr>
          <p:nvPr userDrawn="1"/>
        </p:nvSpPr>
        <p:spPr>
          <a:xfrm>
            <a:off x="633556" y="375319"/>
            <a:ext cx="10937463" cy="8511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1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10" r:id="rId3"/>
    <p:sldLayoutId id="2147483660" r:id="rId4"/>
    <p:sldLayoutId id="214748371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AFB3C0E-6FDE-9DEB-81BA-4CB1B9253D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AF661F-3655-00F6-5A64-D4B4ED8B74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DB403-D10C-95C0-F79C-A03555DBBA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91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2A9DF-2014-2559-EDD5-4DE3A72B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077CA66-36D4-8D19-8910-CA6148D25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7806" y="5499417"/>
            <a:ext cx="7531624" cy="767762"/>
          </a:xfrm>
        </p:spPr>
        <p:txBody>
          <a:bodyPr/>
          <a:lstStyle/>
          <a:p>
            <a:r>
              <a:rPr lang="en-US" dirty="0"/>
              <a:t>Presenter Name</a:t>
            </a:r>
          </a:p>
          <a:p>
            <a:r>
              <a:rPr lang="en-US" dirty="0"/>
              <a:t>Harvard University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CCA68-F9B5-FB9D-6506-618397B19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970" y="4416315"/>
            <a:ext cx="10032460" cy="1083101"/>
          </a:xfrm>
        </p:spPr>
        <p:txBody>
          <a:bodyPr/>
          <a:lstStyle/>
          <a:p>
            <a:r>
              <a:rPr lang="en-US" dirty="0"/>
              <a:t>Example – Creating Opportunity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0EC51-BCB9-641E-E8E5-748653AFD2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7806" y="6267179"/>
            <a:ext cx="7531624" cy="365125"/>
          </a:xfrm>
        </p:spPr>
        <p:txBody>
          <a:bodyPr/>
          <a:lstStyle/>
          <a:p>
            <a:r>
              <a:rPr lang="en-US" dirty="0"/>
              <a:t>PRESENTATION NAME | DATE</a:t>
            </a:r>
          </a:p>
        </p:txBody>
      </p:sp>
    </p:spTree>
    <p:extLst>
      <p:ext uri="{BB962C8B-B14F-4D97-AF65-F5344CB8AC3E}">
        <p14:creationId xmlns:p14="http://schemas.microsoft.com/office/powerpoint/2010/main" val="27159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0B1B2-387C-6FFD-4C5C-FB344A94D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D2642-3884-7E97-8194-0643D48BA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rgbClr val="29B6A4"/>
              </a:buClr>
              <a:buFont typeface="Wingdings" panose="05000000000000000000" pitchFamily="2" charset="2"/>
              <a:buChar char="§"/>
            </a:pPr>
            <a:endParaRPr lang="en-US" spc="-5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557F10-D4F4-1EE3-BCAA-EF2CA2FC7C97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6C778A-933A-601F-4173-E2020955C9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4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09054-E502-6F6B-2AC5-CADFDE9EC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EE3D-7E90-13FB-A884-5CC1B1745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</a:t>
            </a:r>
            <a:r>
              <a:rPr lang="en-US" dirty="0">
                <a:solidFill>
                  <a:prstClr val="black"/>
                </a:solidFill>
                <a:latin typeface="Lucida Bright" panose="02040602050505020304" pitchFamily="18" charset="0"/>
                <a:cs typeface="Arial" pitchFamily="34" charset="0"/>
              </a:rPr>
              <a:t>The Geography of Upward Mobility in the United States</a:t>
            </a:r>
            <a:br>
              <a:rPr lang="en-US" dirty="0">
                <a:solidFill>
                  <a:prstClr val="black"/>
                </a:solidFill>
                <a:latin typeface="Lucida Bright" panose="02040602050505020304" pitchFamily="18" charset="0"/>
                <a:cs typeface="Arial" pitchFamily="34" charset="0"/>
              </a:rPr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CC7BAA0-4BA7-6E67-E3D8-CBCAE6FC9904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1268753" cy="138199"/>
          </a:xfrm>
        </p:spPr>
        <p:txBody>
          <a:bodyPr/>
          <a:lstStyle/>
          <a:p>
            <a:r>
              <a:rPr lang="en-US" dirty="0">
                <a:cs typeface="Arial" pitchFamily="34" charset="0"/>
              </a:rPr>
              <a:t>Average Household Income at Age 35 for Children Born in 1978 whose Parents Earned $27K (25th percentile)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F51460-1BC9-1D6A-9F01-0FA0D507B6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prstClr val="black"/>
                </a:solidFill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lang="nb-NO" dirty="0">
                <a:solidFill>
                  <a:prstClr val="black"/>
                </a:solidFill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Hendren, Kline, Saez (QJE 2014)</a:t>
            </a:r>
            <a:endParaRPr lang="en-US" dirty="0">
              <a:solidFill>
                <a:prstClr val="black"/>
              </a:solidFill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772D023-8482-234C-3FC8-5C1E9DA3A4A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6174" y="1047755"/>
            <a:ext cx="10134141" cy="6333838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9EFDA955-7CDC-B62B-C70C-CE7F8A176D23}"/>
              </a:ext>
            </a:extLst>
          </p:cNvPr>
          <p:cNvSpPr>
            <a:spLocks noChangeAspect="1"/>
          </p:cNvSpPr>
          <p:nvPr/>
        </p:nvSpPr>
        <p:spPr>
          <a:xfrm>
            <a:off x="8063996" y="4016999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392C93-1925-71B9-BAAC-3478763397B5}"/>
              </a:ext>
            </a:extLst>
          </p:cNvPr>
          <p:cNvSpPr>
            <a:spLocks noChangeAspect="1"/>
          </p:cNvSpPr>
          <p:nvPr/>
        </p:nvSpPr>
        <p:spPr>
          <a:xfrm>
            <a:off x="2317123" y="1879720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CC1C18C-BA25-7FDA-DAF9-8FA9B79F4EDB}"/>
              </a:ext>
            </a:extLst>
          </p:cNvPr>
          <p:cNvSpPr>
            <a:spLocks noChangeAspect="1"/>
          </p:cNvSpPr>
          <p:nvPr/>
        </p:nvSpPr>
        <p:spPr>
          <a:xfrm>
            <a:off x="5517652" y="5198509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44" tIns="45710" rIns="9104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ECDE66D-BC08-E55A-4C1F-A0478EA14EF3}"/>
              </a:ext>
            </a:extLst>
          </p:cNvPr>
          <p:cNvSpPr>
            <a:spLocks noChangeAspect="1"/>
          </p:cNvSpPr>
          <p:nvPr/>
        </p:nvSpPr>
        <p:spPr>
          <a:xfrm>
            <a:off x="7560625" y="3268203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604C230-55FB-4280-3D4D-D9651E165D09}"/>
              </a:ext>
            </a:extLst>
          </p:cNvPr>
          <p:cNvSpPr>
            <a:spLocks noChangeAspect="1"/>
          </p:cNvSpPr>
          <p:nvPr/>
        </p:nvSpPr>
        <p:spPr>
          <a:xfrm>
            <a:off x="8050029" y="3092822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44" tIns="45710" rIns="9104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0E0885-82EC-20A0-4178-128087D97532}"/>
              </a:ext>
            </a:extLst>
          </p:cNvPr>
          <p:cNvSpPr txBox="1"/>
          <p:nvPr/>
        </p:nvSpPr>
        <p:spPr>
          <a:xfrm>
            <a:off x="8599406" y="4814734"/>
            <a:ext cx="2050490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Charlotte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$26K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61D240-4C39-41FD-2A5C-1AFAFBC1D998}"/>
              </a:ext>
            </a:extLst>
          </p:cNvPr>
          <p:cNvSpPr txBox="1"/>
          <p:nvPr/>
        </p:nvSpPr>
        <p:spPr>
          <a:xfrm>
            <a:off x="1144476" y="1546181"/>
            <a:ext cx="1014737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Portland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$33K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FDED21-DAC1-6438-8285-C5106208FA31}"/>
              </a:ext>
            </a:extLst>
          </p:cNvPr>
          <p:cNvSpPr/>
          <p:nvPr/>
        </p:nvSpPr>
        <p:spPr>
          <a:xfrm>
            <a:off x="6584673" y="1403227"/>
            <a:ext cx="1285212" cy="553816"/>
          </a:xfrm>
          <a:prstGeom prst="rect">
            <a:avLst/>
          </a:prstGeom>
        </p:spPr>
        <p:txBody>
          <a:bodyPr wrap="square" lIns="121741" tIns="60870" rIns="121741" bIns="60870">
            <a:spAutoFit/>
          </a:bodyPr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Columbus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$28K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4822487-D426-4352-72EA-015253D0DCD0}"/>
              </a:ext>
            </a:extLst>
          </p:cNvPr>
          <p:cNvSpPr/>
          <p:nvPr/>
        </p:nvSpPr>
        <p:spPr>
          <a:xfrm>
            <a:off x="4592516" y="5891976"/>
            <a:ext cx="1813323" cy="553816"/>
          </a:xfrm>
          <a:prstGeom prst="rect">
            <a:avLst/>
          </a:prstGeom>
        </p:spPr>
        <p:txBody>
          <a:bodyPr wrap="square" lIns="121741" tIns="60870" rIns="121741" bIns="6087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Austin</a:t>
            </a:r>
          </a:p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$31K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DBBA642-8EFC-4812-FCFE-3DF30E867E47}"/>
              </a:ext>
            </a:extLst>
          </p:cNvPr>
          <p:cNvSpPr/>
          <p:nvPr/>
        </p:nvSpPr>
        <p:spPr>
          <a:xfrm>
            <a:off x="7851108" y="1448925"/>
            <a:ext cx="2634589" cy="553816"/>
          </a:xfrm>
          <a:prstGeom prst="rect">
            <a:avLst/>
          </a:prstGeom>
        </p:spPr>
        <p:txBody>
          <a:bodyPr wrap="square" lIns="121741" tIns="60870" rIns="121741" bIns="6087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Pittsburgh</a:t>
            </a:r>
          </a:p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$36K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CCCBF76-1CC9-12D3-CF72-62137CED8F43}"/>
              </a:ext>
            </a:extLst>
          </p:cNvPr>
          <p:cNvCxnSpPr>
            <a:cxnSpLocks/>
            <a:stCxn id="50" idx="0"/>
            <a:endCxn id="54" idx="2"/>
          </p:cNvCxnSpPr>
          <p:nvPr/>
        </p:nvCxnSpPr>
        <p:spPr>
          <a:xfrm flipH="1" flipV="1">
            <a:off x="7227279" y="1957043"/>
            <a:ext cx="386607" cy="1311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AF07001-D839-0267-ECA7-4BDA4DAB0250}"/>
              </a:ext>
            </a:extLst>
          </p:cNvPr>
          <p:cNvCxnSpPr>
            <a:cxnSpLocks/>
            <a:endCxn id="47" idx="5"/>
          </p:cNvCxnSpPr>
          <p:nvPr/>
        </p:nvCxnSpPr>
        <p:spPr>
          <a:xfrm flipH="1" flipV="1">
            <a:off x="8154917" y="4104691"/>
            <a:ext cx="498976" cy="7338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E798730-6BE7-A620-218B-6668B1AB2098}"/>
              </a:ext>
            </a:extLst>
          </p:cNvPr>
          <p:cNvGrpSpPr/>
          <p:nvPr/>
        </p:nvGrpSpPr>
        <p:grpSpPr>
          <a:xfrm>
            <a:off x="9066709" y="5345334"/>
            <a:ext cx="2665827" cy="489506"/>
            <a:chOff x="7718179" y="5175151"/>
            <a:chExt cx="4598889" cy="844461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4976CFB7-F5DB-6E0F-F0C6-E4EB67097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9750578" y="4033264"/>
              <a:ext cx="414041" cy="3558656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FAA50FF-E52B-77D7-B691-0C897A482363}"/>
                </a:ext>
              </a:extLst>
            </p:cNvPr>
            <p:cNvSpPr txBox="1"/>
            <p:nvPr/>
          </p:nvSpPr>
          <p:spPr>
            <a:xfrm>
              <a:off x="10870346" y="5186875"/>
              <a:ext cx="1446722" cy="530919"/>
            </a:xfrm>
            <a:prstGeom prst="rect">
              <a:avLst/>
            </a:prstGeom>
            <a:noFill/>
          </p:spPr>
          <p:txBody>
            <a:bodyPr wrap="square" lIns="91034" tIns="45710" rIns="91034" bIns="45710" rtlCol="0">
              <a:spAutoFit/>
            </a:bodyPr>
            <a:lstStyle/>
            <a:p>
              <a:pPr marL="0" marR="0" lvl="0" indent="0" algn="ctr" defTabSz="121869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Lato" panose="020F0502020204030203" pitchFamily="34" charset="0"/>
                  <a:cs typeface="Arial" pitchFamily="34" charset="0"/>
                </a:rPr>
                <a:t>&gt;$55k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D3851D4-48DC-E528-FE52-9134A87A3D95}"/>
                </a:ext>
              </a:extLst>
            </p:cNvPr>
            <p:cNvSpPr txBox="1"/>
            <p:nvPr/>
          </p:nvSpPr>
          <p:spPr>
            <a:xfrm>
              <a:off x="9306167" y="5186877"/>
              <a:ext cx="1230636" cy="530919"/>
            </a:xfrm>
            <a:prstGeom prst="rect">
              <a:avLst/>
            </a:prstGeom>
            <a:noFill/>
          </p:spPr>
          <p:txBody>
            <a:bodyPr wrap="square" lIns="91034" tIns="45710" rIns="91034" bIns="45710" rtlCol="0">
              <a:spAutoFit/>
            </a:bodyPr>
            <a:lstStyle/>
            <a:p>
              <a:pPr marL="0" marR="0" lvl="0" indent="0" algn="ctr" defTabSz="121869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Lato" panose="020F0502020204030203" pitchFamily="34" charset="0"/>
                  <a:cs typeface="Arial" pitchFamily="34" charset="0"/>
                </a:rPr>
                <a:t>$33k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5FDD63A-0DF1-07D1-5BD0-09683A79FC54}"/>
                </a:ext>
              </a:extLst>
            </p:cNvPr>
            <p:cNvSpPr txBox="1"/>
            <p:nvPr/>
          </p:nvSpPr>
          <p:spPr>
            <a:xfrm>
              <a:off x="7718179" y="5175151"/>
              <a:ext cx="1301391" cy="530919"/>
            </a:xfrm>
            <a:prstGeom prst="rect">
              <a:avLst/>
            </a:prstGeom>
            <a:noFill/>
          </p:spPr>
          <p:txBody>
            <a:bodyPr wrap="square" lIns="91034" tIns="45710" rIns="91034" bIns="45710" rtlCol="0">
              <a:spAutoFit/>
            </a:bodyPr>
            <a:lstStyle/>
            <a:p>
              <a:pPr marL="0" marR="0" lvl="0" indent="0" algn="ctr" defTabSz="121869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Lato" panose="020F0502020204030203" pitchFamily="34" charset="0"/>
                  <a:cs typeface="Arial" pitchFamily="34" charset="0"/>
                </a:rPr>
                <a:t>&lt;$20k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C9EDE4B7-5B25-613D-96AD-3B4B55D8EB56}"/>
              </a:ext>
            </a:extLst>
          </p:cNvPr>
          <p:cNvSpPr txBox="1"/>
          <p:nvPr/>
        </p:nvSpPr>
        <p:spPr>
          <a:xfrm>
            <a:off x="9054241" y="5885257"/>
            <a:ext cx="3062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Blue = More Upward Mobility</a:t>
            </a:r>
          </a:p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Red = Less Upward Mobility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41639AB-0D58-40AD-9FF9-D9A61E41F084}"/>
              </a:ext>
            </a:extLst>
          </p:cNvPr>
          <p:cNvCxnSpPr>
            <a:cxnSpLocks/>
            <a:stCxn id="51" idx="0"/>
          </p:cNvCxnSpPr>
          <p:nvPr/>
        </p:nvCxnSpPr>
        <p:spPr>
          <a:xfrm flipV="1">
            <a:off x="8103290" y="1955174"/>
            <a:ext cx="80482" cy="1137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3076F02-4AFA-FC92-99FA-24FE7BB2578D}"/>
              </a:ext>
            </a:extLst>
          </p:cNvPr>
          <p:cNvCxnSpPr>
            <a:cxnSpLocks/>
            <a:endCxn id="49" idx="3"/>
          </p:cNvCxnSpPr>
          <p:nvPr/>
        </p:nvCxnSpPr>
        <p:spPr>
          <a:xfrm flipV="1">
            <a:off x="4993338" y="5286201"/>
            <a:ext cx="539914" cy="695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E1501A47-3EB1-D565-BA3C-9731D730418A}"/>
              </a:ext>
            </a:extLst>
          </p:cNvPr>
          <p:cNvSpPr>
            <a:spLocks noChangeAspect="1"/>
          </p:cNvSpPr>
          <p:nvPr/>
        </p:nvSpPr>
        <p:spPr>
          <a:xfrm>
            <a:off x="8543021" y="3216617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DA947BB-D979-AFBF-3594-7DB40736F00D}"/>
              </a:ext>
            </a:extLst>
          </p:cNvPr>
          <p:cNvSpPr txBox="1"/>
          <p:nvPr/>
        </p:nvSpPr>
        <p:spPr>
          <a:xfrm>
            <a:off x="9206841" y="3806141"/>
            <a:ext cx="2050490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Baltimore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$28K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5163A5C-79E8-5A76-6792-48BB8EED15BA}"/>
              </a:ext>
            </a:extLst>
          </p:cNvPr>
          <p:cNvSpPr>
            <a:spLocks noChangeAspect="1"/>
          </p:cNvSpPr>
          <p:nvPr/>
        </p:nvSpPr>
        <p:spPr>
          <a:xfrm>
            <a:off x="2985159" y="3771618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AC4869E-C986-59A5-8894-5E0A3C787264}"/>
              </a:ext>
            </a:extLst>
          </p:cNvPr>
          <p:cNvSpPr/>
          <p:nvPr/>
        </p:nvSpPr>
        <p:spPr>
          <a:xfrm>
            <a:off x="445084" y="3299771"/>
            <a:ext cx="1645145" cy="523216"/>
          </a:xfrm>
          <a:prstGeom prst="rect">
            <a:avLst/>
          </a:prstGeom>
        </p:spPr>
        <p:txBody>
          <a:bodyPr wrap="square" lIns="91054" tIns="45718" rIns="91054" bIns="45718">
            <a:spAutoFit/>
          </a:bodyPr>
          <a:lstStyle/>
          <a:p>
            <a:pPr marL="0" marR="0" lvl="0" indent="0" algn="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Las Vegas</a:t>
            </a:r>
          </a:p>
          <a:p>
            <a:pPr marL="0" marR="0" lvl="0" indent="0" algn="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$30K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4DF556D-B057-A130-0D6D-D5ACE5DA15A5}"/>
              </a:ext>
            </a:extLst>
          </p:cNvPr>
          <p:cNvCxnSpPr>
            <a:cxnSpLocks/>
            <a:stCxn id="69" idx="2"/>
            <a:endCxn id="70" idx="3"/>
          </p:cNvCxnSpPr>
          <p:nvPr/>
        </p:nvCxnSpPr>
        <p:spPr>
          <a:xfrm flipH="1" flipV="1">
            <a:off x="2090229" y="3561379"/>
            <a:ext cx="894930" cy="261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CA2E1E2C-B43F-C2D6-AB4C-01F2EFC26FAC}"/>
              </a:ext>
            </a:extLst>
          </p:cNvPr>
          <p:cNvSpPr>
            <a:spLocks noChangeAspect="1"/>
          </p:cNvSpPr>
          <p:nvPr/>
        </p:nvSpPr>
        <p:spPr>
          <a:xfrm>
            <a:off x="6679635" y="5137952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44" tIns="45710" rIns="9104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62C8F18-BD2A-90D1-7314-391DAE4B18D2}"/>
              </a:ext>
            </a:extLst>
          </p:cNvPr>
          <p:cNvSpPr/>
          <p:nvPr/>
        </p:nvSpPr>
        <p:spPr>
          <a:xfrm>
            <a:off x="6760485" y="5464453"/>
            <a:ext cx="1813323" cy="553816"/>
          </a:xfrm>
          <a:prstGeom prst="rect">
            <a:avLst/>
          </a:prstGeom>
        </p:spPr>
        <p:txBody>
          <a:bodyPr wrap="square" lIns="121741" tIns="60870" rIns="121741" bIns="6087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Baton Rouge</a:t>
            </a:r>
          </a:p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$30K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919724F-8560-C9F7-E9FB-2DAED9F8658D}"/>
              </a:ext>
            </a:extLst>
          </p:cNvPr>
          <p:cNvCxnSpPr>
            <a:cxnSpLocks/>
            <a:endCxn id="72" idx="5"/>
          </p:cNvCxnSpPr>
          <p:nvPr/>
        </p:nvCxnSpPr>
        <p:spPr>
          <a:xfrm flipH="1" flipV="1">
            <a:off x="6770556" y="5225644"/>
            <a:ext cx="178000" cy="2912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FAF8A2C3-574F-F101-C40E-277BC45985E3}"/>
              </a:ext>
            </a:extLst>
          </p:cNvPr>
          <p:cNvSpPr>
            <a:spLocks noChangeAspect="1"/>
          </p:cNvSpPr>
          <p:nvPr/>
        </p:nvSpPr>
        <p:spPr>
          <a:xfrm>
            <a:off x="8939462" y="2716432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44" tIns="45710" rIns="9104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C07DBE8-8DF5-FF37-3FB6-D4129CE413EF}"/>
              </a:ext>
            </a:extLst>
          </p:cNvPr>
          <p:cNvSpPr txBox="1"/>
          <p:nvPr/>
        </p:nvSpPr>
        <p:spPr>
          <a:xfrm>
            <a:off x="9106972" y="2725525"/>
            <a:ext cx="2050490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Bridgeport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$33K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C9817FC-6CD5-7788-3354-F8190DFA4353}"/>
              </a:ext>
            </a:extLst>
          </p:cNvPr>
          <p:cNvSpPr/>
          <p:nvPr/>
        </p:nvSpPr>
        <p:spPr>
          <a:xfrm>
            <a:off x="5020123" y="1126319"/>
            <a:ext cx="1285212" cy="553816"/>
          </a:xfrm>
          <a:prstGeom prst="rect">
            <a:avLst/>
          </a:prstGeom>
        </p:spPr>
        <p:txBody>
          <a:bodyPr wrap="square" lIns="121741" tIns="60870" rIns="121741" bIns="60870">
            <a:spAutoFit/>
          </a:bodyPr>
          <a:lstStyle/>
          <a:p>
            <a:pPr marL="0" marR="0" lvl="0" indent="0" algn="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Dubuque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$45.5K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1425236-5F83-0B50-6693-A0F6117810F9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6042679" y="1680135"/>
            <a:ext cx="449119" cy="1171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E7D5037A-4D04-6164-5C4A-99EA54DBECF8}"/>
              </a:ext>
            </a:extLst>
          </p:cNvPr>
          <p:cNvSpPr>
            <a:spLocks noChangeAspect="1"/>
          </p:cNvSpPr>
          <p:nvPr/>
        </p:nvSpPr>
        <p:spPr>
          <a:xfrm>
            <a:off x="6438537" y="2851373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11844D5-55B5-9447-3E2D-206AC52C9BF8}"/>
              </a:ext>
            </a:extLst>
          </p:cNvPr>
          <p:cNvSpPr>
            <a:spLocks noChangeAspect="1"/>
          </p:cNvSpPr>
          <p:nvPr/>
        </p:nvSpPr>
        <p:spPr>
          <a:xfrm>
            <a:off x="8708086" y="3044694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5FBB692-9239-B562-13AF-19EF38271747}"/>
              </a:ext>
            </a:extLst>
          </p:cNvPr>
          <p:cNvCxnSpPr>
            <a:cxnSpLocks/>
          </p:cNvCxnSpPr>
          <p:nvPr/>
        </p:nvCxnSpPr>
        <p:spPr>
          <a:xfrm flipH="1" flipV="1">
            <a:off x="8774916" y="3126924"/>
            <a:ext cx="283899" cy="288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F9E8A8C3-5CD6-D313-DD67-1991851512A2}"/>
              </a:ext>
            </a:extLst>
          </p:cNvPr>
          <p:cNvSpPr txBox="1"/>
          <p:nvPr/>
        </p:nvSpPr>
        <p:spPr>
          <a:xfrm>
            <a:off x="9038176" y="3244308"/>
            <a:ext cx="2050490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Philadelphia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$31K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04F9BC9-4F9F-1A0A-8895-B96DAA58C85C}"/>
              </a:ext>
            </a:extLst>
          </p:cNvPr>
          <p:cNvCxnSpPr>
            <a:cxnSpLocks/>
          </p:cNvCxnSpPr>
          <p:nvPr/>
        </p:nvCxnSpPr>
        <p:spPr>
          <a:xfrm flipH="1" flipV="1">
            <a:off x="8597263" y="3317762"/>
            <a:ext cx="638849" cy="6488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4F3A26C2-5167-0608-05FB-768D9A529BCF}"/>
              </a:ext>
            </a:extLst>
          </p:cNvPr>
          <p:cNvSpPr>
            <a:spLocks noChangeAspect="1"/>
          </p:cNvSpPr>
          <p:nvPr/>
        </p:nvSpPr>
        <p:spPr>
          <a:xfrm>
            <a:off x="8130511" y="3913271"/>
            <a:ext cx="106521" cy="102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034" tIns="45710" rIns="91034" bIns="45710" rtlCol="0" anchor="ctr"/>
          <a:lstStyle/>
          <a:p>
            <a:pPr marL="0" marR="0" lvl="0" indent="0" algn="ctr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91E3355-F199-0CD7-06BA-CCA9C3F1DF62}"/>
              </a:ext>
            </a:extLst>
          </p:cNvPr>
          <p:cNvSpPr txBox="1"/>
          <p:nvPr/>
        </p:nvSpPr>
        <p:spPr>
          <a:xfrm>
            <a:off x="8671142" y="4309995"/>
            <a:ext cx="2050490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86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Winston-Salem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+mn-ea"/>
                <a:cs typeface="Arial" pitchFamily="34" charset="0"/>
              </a:rPr>
              <a:t>$27K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92C6E7A-B169-BC55-0E44-4BE6FFE2EA45}"/>
              </a:ext>
            </a:extLst>
          </p:cNvPr>
          <p:cNvCxnSpPr>
            <a:cxnSpLocks/>
            <a:endCxn id="84" idx="5"/>
          </p:cNvCxnSpPr>
          <p:nvPr/>
        </p:nvCxnSpPr>
        <p:spPr>
          <a:xfrm flipH="1" flipV="1">
            <a:off x="8221432" y="4000963"/>
            <a:ext cx="482085" cy="470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013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7AD0-15ED-25E1-F1E6-5B9C7FEF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112F6-A597-C2AC-B13E-080C402FB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rgbClr val="29B6A4"/>
              </a:buClr>
              <a:buFont typeface="Wingdings" panose="05000000000000000000" pitchFamily="2" charset="2"/>
              <a:buChar char="§"/>
            </a:pPr>
            <a:endParaRPr lang="en-US" spc="-5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543B3B3-3DC8-5FFC-E89F-8586AF1F4DA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1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1B384-C0A9-06C5-08FD-84656AE97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D0F6-4DD1-03CD-0650-2D00EDE6A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</a:t>
            </a:r>
            <a:r>
              <a:rPr lang="en-US" dirty="0">
                <a:solidFill>
                  <a:prstClr val="black"/>
                </a:solidFill>
                <a:latin typeface="Lucida Bright" panose="02040602050505020304" pitchFamily="18" charset="0"/>
                <a:cs typeface="Arial" pitchFamily="34" charset="0"/>
              </a:rPr>
              <a:t>Creating Moves to Opportunity Experiment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2D49ADE-F11E-EEAF-6A8A-8D72813D55C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dirty="0">
                <a:cs typeface="Arial" pitchFamily="34" charset="0"/>
              </a:rPr>
              <a:t>Seattle and King County, WA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219EC3D-1CEE-A161-4AB7-9822A6BB0FE8}"/>
              </a:ext>
            </a:extLst>
          </p:cNvPr>
          <p:cNvGrpSpPr/>
          <p:nvPr/>
        </p:nvGrpSpPr>
        <p:grpSpPr>
          <a:xfrm>
            <a:off x="655288" y="1711615"/>
            <a:ext cx="5513848" cy="2723224"/>
            <a:chOff x="3437938" y="1566880"/>
            <a:chExt cx="3810015" cy="2723224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F99B136F-CEFC-4E23-96E7-92323C38DA77}"/>
                </a:ext>
              </a:extLst>
            </p:cNvPr>
            <p:cNvSpPr txBox="1">
              <a:spLocks/>
            </p:cNvSpPr>
            <p:nvPr/>
          </p:nvSpPr>
          <p:spPr>
            <a:xfrm>
              <a:off x="3437938" y="1566880"/>
              <a:ext cx="3810015" cy="1196256"/>
            </a:xfrm>
            <a:prstGeom prst="rect">
              <a:avLst/>
            </a:prstGeom>
          </p:spPr>
          <p:txBody>
            <a:bodyPr vert="horz" lIns="91160" tIns="45718" rIns="91160" bIns="45718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Randomized trial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to test strategies to reduce barriers that voucher recipients face in moving to high-opportunity areas:</a:t>
              </a:r>
            </a:p>
            <a:p>
              <a:pPr marL="228600" marR="0" lvl="0" indent="-22860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Customized counseling</a:t>
              </a:r>
            </a:p>
            <a:p>
              <a:pPr marL="228600" marR="0" lvl="0" indent="-22860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Connections to landlords</a:t>
              </a:r>
            </a:p>
            <a:p>
              <a:pPr marL="228600" marR="0" lvl="0" indent="-228600" algn="l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anose="020B0604020202020204" pitchFamily="34" charset="0"/>
                </a:rPr>
                <a:t>Short-term financial assistance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E14EEFA-BF52-B72B-4EDE-D3A887279440}"/>
                </a:ext>
              </a:extLst>
            </p:cNvPr>
            <p:cNvSpPr/>
            <p:nvPr/>
          </p:nvSpPr>
          <p:spPr>
            <a:xfrm>
              <a:off x="4964360" y="3111705"/>
              <a:ext cx="1079953" cy="262073"/>
            </a:xfrm>
            <a:prstGeom prst="rect">
              <a:avLst/>
            </a:prstGeom>
            <a:solidFill>
              <a:srgbClr val="2AB6AC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2C284D-B23B-0C73-2FD3-74EA8C3C865F}"/>
                </a:ext>
              </a:extLst>
            </p:cNvPr>
            <p:cNvSpPr/>
            <p:nvPr/>
          </p:nvSpPr>
          <p:spPr>
            <a:xfrm>
              <a:off x="5263969" y="3521484"/>
              <a:ext cx="1001485" cy="292983"/>
            </a:xfrm>
            <a:prstGeom prst="rect">
              <a:avLst/>
            </a:prstGeom>
            <a:solidFill>
              <a:srgbClr val="2AB6AC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68CB7FD-8CB4-F334-F7CD-12FBD08B1A25}"/>
                </a:ext>
              </a:extLst>
            </p:cNvPr>
            <p:cNvSpPr/>
            <p:nvPr/>
          </p:nvSpPr>
          <p:spPr>
            <a:xfrm>
              <a:off x="4818503" y="3987207"/>
              <a:ext cx="1978750" cy="302897"/>
            </a:xfrm>
            <a:prstGeom prst="rect">
              <a:avLst/>
            </a:prstGeom>
            <a:solidFill>
              <a:srgbClr val="2AB6AC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0" name="Picture 4" descr="Creating Moves to Opportunity | Seattle Housing Authority">
            <a:extLst>
              <a:ext uri="{FF2B5EF4-FFF2-40B4-BE49-F238E27FC236}">
                <a16:creationId xmlns:a16="http://schemas.microsoft.com/office/drawing/2014/main" id="{5DAC390C-5F12-76B3-50E9-2B2F5E86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860" y="2561020"/>
            <a:ext cx="4297680" cy="135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C5F5AC-B7C9-A6F9-746F-6C58E0E8ACDC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355585" y="5530797"/>
            <a:ext cx="766813" cy="6832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132F6E-1A49-46FE-D6E8-5ECC199C4ED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7331446" y="5558734"/>
            <a:ext cx="1545180" cy="655277"/>
          </a:xfrm>
          <a:prstGeom prst="rect">
            <a:avLst/>
          </a:prstGeom>
        </p:spPr>
      </p:pic>
      <p:pic>
        <p:nvPicPr>
          <p:cNvPr id="13" name="Picture 12" descr="Chetty, Friedman, and Hendren Launch Opportunity Insights | Opportunity  Insights">
            <a:extLst>
              <a:ext uri="{FF2B5EF4-FFF2-40B4-BE49-F238E27FC236}">
                <a16:creationId xmlns:a16="http://schemas.microsoft.com/office/drawing/2014/main" id="{E2442493-0B6A-109B-7B6D-705E225A8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674" y="5859257"/>
            <a:ext cx="1227191" cy="21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D7ADAFEF-A882-3603-EB47-CCC3188E7E7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1914" y="5705755"/>
            <a:ext cx="959553" cy="50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81C84F-B898-E574-9605-5896B7325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rgbClr val="29B6A4"/>
              </a:buClr>
              <a:buFont typeface="Wingdings" panose="05000000000000000000" pitchFamily="2" charset="2"/>
              <a:buChar char="§"/>
            </a:pPr>
            <a:endParaRPr lang="en-US" spc="-5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03D0B4-3EDF-4D7D-37BB-108C50F6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3ADA-B944-26D1-0EAB-E7F83E07BD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86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E6AA33-9769-C433-16C1-D71BB2277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</a:t>
            </a:r>
            <a:r>
              <a:rPr lang="en-US" dirty="0">
                <a:solidFill>
                  <a:prstClr val="black"/>
                </a:solidFill>
                <a:latin typeface="Lucida Bright" panose="02040602050505020304" pitchFamily="18" charset="0"/>
                <a:cs typeface="Arial" pitchFamily="34" charset="0"/>
              </a:rPr>
              <a:t>Where Housing Choice Voucher Holders Live in Seattle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1F349-9A3E-F820-A8F0-17629A1F40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prstClr val="black"/>
                </a:solidFill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lang="nb-NO" dirty="0">
                <a:solidFill>
                  <a:prstClr val="black"/>
                </a:solidFill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Chetty, Friedman, Hendren, Jones, Porter (2018)</a:t>
            </a:r>
            <a:endParaRPr lang="en-US" dirty="0">
              <a:solidFill>
                <a:prstClr val="black"/>
              </a:solidFill>
              <a:latin typeface="Lucida Sans" panose="020B0602030504020204" pitchFamily="34" charset="0"/>
              <a:ea typeface="Lato" panose="020F0502020204030203" pitchFamily="34" charset="0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84590A-3485-9C4A-D09C-50A95E6910D9}"/>
              </a:ext>
            </a:extLst>
          </p:cNvPr>
          <p:cNvSpPr txBox="1"/>
          <p:nvPr/>
        </p:nvSpPr>
        <p:spPr>
          <a:xfrm>
            <a:off x="8075229" y="1054443"/>
            <a:ext cx="3038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25 most common tracts where voucher holders lived in 2015-17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11064A-45B2-8A7D-510A-C19425A5A18E}"/>
              </a:ext>
            </a:extLst>
          </p:cNvPr>
          <p:cNvSpPr/>
          <p:nvPr/>
        </p:nvSpPr>
        <p:spPr>
          <a:xfrm>
            <a:off x="7938070" y="1176092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FC3741-C0EB-EFAD-3D86-E8073B258F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60297" y="2778771"/>
            <a:ext cx="414041" cy="35586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9B3F6C-F26A-596F-8D00-70441A0C7C9B}"/>
              </a:ext>
            </a:extLst>
          </p:cNvPr>
          <p:cNvSpPr txBox="1"/>
          <p:nvPr/>
        </p:nvSpPr>
        <p:spPr>
          <a:xfrm>
            <a:off x="8510792" y="2772347"/>
            <a:ext cx="2209800" cy="369312"/>
          </a:xfrm>
          <a:prstGeom prst="rect">
            <a:avLst/>
          </a:prstGeom>
          <a:noFill/>
        </p:spPr>
        <p:txBody>
          <a:bodyPr wrap="square" lIns="90868" tIns="45710" rIns="90868" bIns="45710" rtlCol="0">
            <a:spAutoFit/>
          </a:bodyPr>
          <a:lstStyle/>
          <a:p>
            <a:pPr marL="0" marR="0" lvl="0" indent="0" algn="l" defTabSz="12156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&gt; 60 ($55k)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B2AB8-BAF0-640A-1D6F-C87834007718}"/>
              </a:ext>
            </a:extLst>
          </p:cNvPr>
          <p:cNvSpPr txBox="1"/>
          <p:nvPr/>
        </p:nvSpPr>
        <p:spPr>
          <a:xfrm>
            <a:off x="8542565" y="4377987"/>
            <a:ext cx="2209800" cy="369312"/>
          </a:xfrm>
          <a:prstGeom prst="rect">
            <a:avLst/>
          </a:prstGeom>
          <a:noFill/>
        </p:spPr>
        <p:txBody>
          <a:bodyPr wrap="square" lIns="90868" tIns="45710" rIns="90868" bIns="45710" rtlCol="0">
            <a:spAutoFit/>
          </a:bodyPr>
          <a:lstStyle/>
          <a:p>
            <a:pPr marL="0" marR="0" lvl="0" indent="0" algn="l" defTabSz="12156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48 ($39k)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B5B35-B6B2-78EC-9AA6-591ADA1B2F26}"/>
              </a:ext>
            </a:extLst>
          </p:cNvPr>
          <p:cNvSpPr txBox="1"/>
          <p:nvPr/>
        </p:nvSpPr>
        <p:spPr>
          <a:xfrm>
            <a:off x="8510792" y="5941353"/>
            <a:ext cx="2209800" cy="369312"/>
          </a:xfrm>
          <a:prstGeom prst="rect">
            <a:avLst/>
          </a:prstGeom>
          <a:noFill/>
        </p:spPr>
        <p:txBody>
          <a:bodyPr wrap="square" lIns="90868" tIns="45710" rIns="90868" bIns="45710" rtlCol="0">
            <a:spAutoFit/>
          </a:bodyPr>
          <a:lstStyle/>
          <a:p>
            <a:pPr marL="0" marR="0" lvl="0" indent="0" algn="l" defTabSz="12156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&lt; 30 ($20k)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B59017-57B6-6863-5A59-78425B84D4C9}"/>
              </a:ext>
            </a:extLst>
          </p:cNvPr>
          <p:cNvSpPr txBox="1"/>
          <p:nvPr/>
        </p:nvSpPr>
        <p:spPr>
          <a:xfrm>
            <a:off x="8103074" y="2134272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Percentile Rank in Adulthood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C259486-5FD1-F9BC-4F69-E3F573729AF9}"/>
              </a:ext>
            </a:extLst>
          </p:cNvPr>
          <p:cNvGrpSpPr/>
          <p:nvPr/>
        </p:nvGrpSpPr>
        <p:grpSpPr>
          <a:xfrm>
            <a:off x="2100966" y="1129804"/>
            <a:ext cx="5530094" cy="5207623"/>
            <a:chOff x="2100966" y="1129804"/>
            <a:chExt cx="5530094" cy="520762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4CF67F9-3CB0-3FFB-1C8D-950065B959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2236"/>
            <a:stretch/>
          </p:blipFill>
          <p:spPr>
            <a:xfrm>
              <a:off x="2100966" y="1129804"/>
              <a:ext cx="5530094" cy="5207623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F1FF8FE-E5BE-146F-BECC-8398DB56A58C}"/>
                </a:ext>
              </a:extLst>
            </p:cNvPr>
            <p:cNvSpPr/>
            <p:nvPr/>
          </p:nvSpPr>
          <p:spPr>
            <a:xfrm>
              <a:off x="3955032" y="1572968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65697C6-F863-C391-5677-40BF8B6F4AC0}"/>
                </a:ext>
              </a:extLst>
            </p:cNvPr>
            <p:cNvSpPr/>
            <p:nvPr/>
          </p:nvSpPr>
          <p:spPr>
            <a:xfrm>
              <a:off x="3859538" y="3493842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81C6D69-81D9-12D7-0F63-1AA43B44B43A}"/>
                </a:ext>
              </a:extLst>
            </p:cNvPr>
            <p:cNvSpPr/>
            <p:nvPr/>
          </p:nvSpPr>
          <p:spPr>
            <a:xfrm>
              <a:off x="4420170" y="3239842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E20AC63-B6EF-E5AE-9642-A4D2FE30A796}"/>
                </a:ext>
              </a:extLst>
            </p:cNvPr>
            <p:cNvSpPr/>
            <p:nvPr/>
          </p:nvSpPr>
          <p:spPr>
            <a:xfrm>
              <a:off x="3791945" y="3622725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9D86F93-E5A1-78E7-8704-31B9CE6ED192}"/>
                </a:ext>
              </a:extLst>
            </p:cNvPr>
            <p:cNvSpPr/>
            <p:nvPr/>
          </p:nvSpPr>
          <p:spPr>
            <a:xfrm>
              <a:off x="3892203" y="3625106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34B05A6-5B0E-862A-F733-5974B79E34F4}"/>
                </a:ext>
              </a:extLst>
            </p:cNvPr>
            <p:cNvSpPr/>
            <p:nvPr/>
          </p:nvSpPr>
          <p:spPr>
            <a:xfrm>
              <a:off x="3881091" y="3720123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22868EB-7AA2-4873-E34D-C6E083FB2E54}"/>
                </a:ext>
              </a:extLst>
            </p:cNvPr>
            <p:cNvSpPr/>
            <p:nvPr/>
          </p:nvSpPr>
          <p:spPr>
            <a:xfrm>
              <a:off x="3981349" y="3671508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107B23E-9D97-A254-BA96-4057F6643D76}"/>
                </a:ext>
              </a:extLst>
            </p:cNvPr>
            <p:cNvSpPr/>
            <p:nvPr/>
          </p:nvSpPr>
          <p:spPr>
            <a:xfrm>
              <a:off x="4481888" y="3524055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61173B6-92B3-A12F-AF76-568AF16BD09D}"/>
                </a:ext>
              </a:extLst>
            </p:cNvPr>
            <p:cNvSpPr/>
            <p:nvPr/>
          </p:nvSpPr>
          <p:spPr>
            <a:xfrm>
              <a:off x="4535986" y="3524055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B9C80A4-95C0-FFF5-2CB1-D58EAE723C05}"/>
                </a:ext>
              </a:extLst>
            </p:cNvPr>
            <p:cNvSpPr/>
            <p:nvPr/>
          </p:nvSpPr>
          <p:spPr>
            <a:xfrm>
              <a:off x="4235825" y="3849639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4063217-6006-DFB0-4B2F-B518CE55B421}"/>
                </a:ext>
              </a:extLst>
            </p:cNvPr>
            <p:cNvSpPr/>
            <p:nvPr/>
          </p:nvSpPr>
          <p:spPr>
            <a:xfrm>
              <a:off x="4550396" y="3694909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5A3684D-519F-DA5B-EB67-F616076B9418}"/>
                </a:ext>
              </a:extLst>
            </p:cNvPr>
            <p:cNvSpPr/>
            <p:nvPr/>
          </p:nvSpPr>
          <p:spPr>
            <a:xfrm>
              <a:off x="4653036" y="4026499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995AB70-E113-828F-47DF-DB9D883B10A3}"/>
                </a:ext>
              </a:extLst>
            </p:cNvPr>
            <p:cNvSpPr/>
            <p:nvPr/>
          </p:nvSpPr>
          <p:spPr>
            <a:xfrm>
              <a:off x="4799398" y="4083650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E3DB0D1-8D36-E976-F043-680CB50F86E0}"/>
                </a:ext>
              </a:extLst>
            </p:cNvPr>
            <p:cNvSpPr/>
            <p:nvPr/>
          </p:nvSpPr>
          <p:spPr>
            <a:xfrm>
              <a:off x="5401821" y="4559687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339F60C-4449-774B-3665-0AC50AD4E792}"/>
                </a:ext>
              </a:extLst>
            </p:cNvPr>
            <p:cNvSpPr/>
            <p:nvPr/>
          </p:nvSpPr>
          <p:spPr>
            <a:xfrm>
              <a:off x="4438109" y="4933122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8D0E527-981B-65BD-95EF-A5299CF51FAF}"/>
                </a:ext>
              </a:extLst>
            </p:cNvPr>
            <p:cNvSpPr/>
            <p:nvPr/>
          </p:nvSpPr>
          <p:spPr>
            <a:xfrm>
              <a:off x="4586115" y="5062924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417A672-5CA5-6057-154C-F539BDB79062}"/>
                </a:ext>
              </a:extLst>
            </p:cNvPr>
            <p:cNvSpPr/>
            <p:nvPr/>
          </p:nvSpPr>
          <p:spPr>
            <a:xfrm>
              <a:off x="4656211" y="5080873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317B167-1F1C-8546-E492-B0F8F7A6C05C}"/>
                </a:ext>
              </a:extLst>
            </p:cNvPr>
            <p:cNvSpPr/>
            <p:nvPr/>
          </p:nvSpPr>
          <p:spPr>
            <a:xfrm>
              <a:off x="4799398" y="5101429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7E05571-F44D-BCC8-E1B8-BC2E439CC29B}"/>
                </a:ext>
              </a:extLst>
            </p:cNvPr>
            <p:cNvSpPr/>
            <p:nvPr/>
          </p:nvSpPr>
          <p:spPr>
            <a:xfrm>
              <a:off x="5060841" y="5038480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FC6BE3B-4DD5-C986-4719-134AAFD9DACA}"/>
                </a:ext>
              </a:extLst>
            </p:cNvPr>
            <p:cNvSpPr/>
            <p:nvPr/>
          </p:nvSpPr>
          <p:spPr>
            <a:xfrm>
              <a:off x="5036992" y="5178356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F21A40E-27CA-7830-89B3-88FD4C1B1199}"/>
                </a:ext>
              </a:extLst>
            </p:cNvPr>
            <p:cNvSpPr/>
            <p:nvPr/>
          </p:nvSpPr>
          <p:spPr>
            <a:xfrm>
              <a:off x="4280398" y="5464022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4DBD99C-78E3-9868-761C-22FAF82BF530}"/>
                </a:ext>
              </a:extLst>
            </p:cNvPr>
            <p:cNvSpPr/>
            <p:nvPr/>
          </p:nvSpPr>
          <p:spPr>
            <a:xfrm>
              <a:off x="4141917" y="5734546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3945D09-4AFF-E6CE-2560-BB2A3B9D623B}"/>
                </a:ext>
              </a:extLst>
            </p:cNvPr>
            <p:cNvSpPr/>
            <p:nvPr/>
          </p:nvSpPr>
          <p:spPr>
            <a:xfrm>
              <a:off x="4242175" y="5953942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7CECB46-A9D5-F792-B578-0B374A743989}"/>
                </a:ext>
              </a:extLst>
            </p:cNvPr>
            <p:cNvSpPr/>
            <p:nvPr/>
          </p:nvSpPr>
          <p:spPr>
            <a:xfrm>
              <a:off x="4428053" y="6057294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9D83A8F-26C6-9D7D-A684-1DEF825C5977}"/>
                </a:ext>
              </a:extLst>
            </p:cNvPr>
            <p:cNvSpPr/>
            <p:nvPr/>
          </p:nvSpPr>
          <p:spPr>
            <a:xfrm>
              <a:off x="5139213" y="5731371"/>
              <a:ext cx="118872" cy="11887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797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8F962A-1E78-519E-4E8D-5EBB8DE7D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rgbClr val="29B6A4"/>
              </a:buClr>
              <a:buFont typeface="Wingdings" panose="05000000000000000000" pitchFamily="2" charset="2"/>
              <a:buChar char="§"/>
            </a:pPr>
            <a:endParaRPr lang="en-US" spc="-5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4A5B61-1C08-51CF-CAEF-BE6086BC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58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A9A7-D9B5-9F9B-BE33-CB8E3827A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64BEFA-092B-6CC1-3DF3-0D9F1A65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</a:t>
            </a:r>
            <a:r>
              <a:rPr lang="en-US" dirty="0">
                <a:solidFill>
                  <a:srgbClr val="262626"/>
                </a:solidFill>
                <a:latin typeface="Lucida Bright" panose="02040602050505020304" pitchFamily="18" charset="0"/>
                <a:cs typeface="Arial" pitchFamily="34" charset="0"/>
              </a:rPr>
              <a:t>Three Policy Approaches to Increasing Upward Mobility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76B532-AB54-AF4E-16F9-7E813C561CC2}"/>
              </a:ext>
            </a:extLst>
          </p:cNvPr>
          <p:cNvSpPr/>
          <p:nvPr/>
        </p:nvSpPr>
        <p:spPr>
          <a:xfrm rot="5400000">
            <a:off x="3952423" y="2596443"/>
            <a:ext cx="4140800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78E31F-7E65-80C1-D5CD-933FA72C19D9}"/>
              </a:ext>
            </a:extLst>
          </p:cNvPr>
          <p:cNvSpPr/>
          <p:nvPr/>
        </p:nvSpPr>
        <p:spPr>
          <a:xfrm rot="5400000">
            <a:off x="7158620" y="2596444"/>
            <a:ext cx="4140801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3D5464-D097-977E-BC2D-CCA17EC321D3}"/>
              </a:ext>
            </a:extLst>
          </p:cNvPr>
          <p:cNvSpPr/>
          <p:nvPr/>
        </p:nvSpPr>
        <p:spPr>
          <a:xfrm rot="5400000">
            <a:off x="695553" y="2596444"/>
            <a:ext cx="4140801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5E5F87-C849-8EC7-B868-DE5F7A02015E}"/>
              </a:ext>
            </a:extLst>
          </p:cNvPr>
          <p:cNvSpPr/>
          <p:nvPr/>
        </p:nvSpPr>
        <p:spPr>
          <a:xfrm>
            <a:off x="5039915" y="1870537"/>
            <a:ext cx="19658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Place-Based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Investments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626365"/>
              </a:solidFill>
              <a:effectLst/>
              <a:uLnTx/>
              <a:uFillTx/>
              <a:latin typeface="Lucida Bright" panose="02040602050505020304" pitchFamily="18" charset="0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854160-9D4A-2972-9620-38AC14CB06A1}"/>
              </a:ext>
            </a:extLst>
          </p:cNvPr>
          <p:cNvSpPr/>
          <p:nvPr/>
        </p:nvSpPr>
        <p:spPr>
          <a:xfrm>
            <a:off x="1833289" y="1870537"/>
            <a:ext cx="18653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Reducing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Segregation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9DE9C-8396-1F8F-B058-2B3DA488AEF7}"/>
              </a:ext>
            </a:extLst>
          </p:cNvPr>
          <p:cNvSpPr/>
          <p:nvPr/>
        </p:nvSpPr>
        <p:spPr>
          <a:xfrm>
            <a:off x="8001144" y="1870537"/>
            <a:ext cx="24799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Higher Education &amp; Workforce Training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FE7F717-48E4-1351-76AB-21AE7F3D7C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6" r="16818" b="50000"/>
          <a:stretch/>
        </p:blipFill>
        <p:spPr>
          <a:xfrm>
            <a:off x="1939612" y="2987992"/>
            <a:ext cx="1652682" cy="116471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69241F5-367F-94FD-3314-C9FDBD98B127}"/>
              </a:ext>
            </a:extLst>
          </p:cNvPr>
          <p:cNvGrpSpPr/>
          <p:nvPr/>
        </p:nvGrpSpPr>
        <p:grpSpPr>
          <a:xfrm>
            <a:off x="5214899" y="2660290"/>
            <a:ext cx="1615846" cy="1925186"/>
            <a:chOff x="4997274" y="1965072"/>
            <a:chExt cx="2457406" cy="292785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7206F09-D98A-1747-0628-A165F800C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830" b="93951" l="9910" r="92568">
                          <a14:foregroundMark x1="39189" y1="51229" x2="45270" y2="32514"/>
                          <a14:foregroundMark x1="45270" y1="32514" x2="55631" y2="52741"/>
                          <a14:foregroundMark x1="55631" y1="52741" x2="48874" y2="35350"/>
                          <a14:foregroundMark x1="48874" y1="35350" x2="45721" y2="48771"/>
                          <a14:foregroundMark x1="45721" y1="48771" x2="52027" y2="58412"/>
                          <a14:foregroundMark x1="52027" y1="58412" x2="57883" y2="58223"/>
                          <a14:foregroundMark x1="92568" y1="61248" x2="92568" y2="61248"/>
                          <a14:foregroundMark x1="45270" y1="32703" x2="45495" y2="19660"/>
                          <a14:foregroundMark x1="45495" y1="19660" x2="45495" y2="19282"/>
                          <a14:foregroundMark x1="44144" y1="16257" x2="39189" y2="12854"/>
                          <a14:foregroundMark x1="38514" y1="12854" x2="42117" y2="25142"/>
                          <a14:foregroundMark x1="42117" y1="25142" x2="55180" y2="27599"/>
                          <a14:foregroundMark x1="55180" y1="27599" x2="55856" y2="38374"/>
                          <a14:foregroundMark x1="55856" y1="38374" x2="60360" y2="47826"/>
                          <a14:foregroundMark x1="60360" y1="47826" x2="70946" y2="53686"/>
                          <a14:foregroundMark x1="70946" y1="53686" x2="76802" y2="62004"/>
                          <a14:foregroundMark x1="76802" y1="62004" x2="77477" y2="73724"/>
                          <a14:foregroundMark x1="77477" y1="73724" x2="65541" y2="75047"/>
                          <a14:foregroundMark x1="65541" y1="75047" x2="53153" y2="52174"/>
                          <a14:foregroundMark x1="53153" y1="52174" x2="30180" y2="45369"/>
                          <a14:foregroundMark x1="30180" y1="45369" x2="23198" y2="56522"/>
                          <a14:foregroundMark x1="23198" y1="56522" x2="30856" y2="65406"/>
                          <a14:foregroundMark x1="30856" y1="65406" x2="42117" y2="65784"/>
                          <a14:foregroundMark x1="42117" y1="65784" x2="44820" y2="66730"/>
                          <a14:foregroundMark x1="30631" y1="47259" x2="42568" y2="53875"/>
                          <a14:foregroundMark x1="42568" y1="53875" x2="44144" y2="64272"/>
                          <a14:foregroundMark x1="44144" y1="64272" x2="33784" y2="58979"/>
                          <a14:foregroundMark x1="33784" y1="58979" x2="46622" y2="22684"/>
                          <a14:foregroundMark x1="46622" y1="22684" x2="46171" y2="12476"/>
                          <a14:foregroundMark x1="46171" y1="12476" x2="35135" y2="19093"/>
                          <a14:foregroundMark x1="35135" y1="19093" x2="31306" y2="28355"/>
                          <a14:foregroundMark x1="31306" y1="28355" x2="34685" y2="29679"/>
                          <a14:foregroundMark x1="31532" y1="38563" x2="31982" y2="37807"/>
                          <a14:foregroundMark x1="35586" y1="34972" x2="33559" y2="36106"/>
                          <a14:foregroundMark x1="29505" y1="31002" x2="41892" y2="31569"/>
                          <a14:foregroundMark x1="41892" y1="31569" x2="46171" y2="32703"/>
                          <a14:foregroundMark x1="42793" y1="36862" x2="31306" y2="38752"/>
                          <a14:foregroundMark x1="31306" y1="38752" x2="24324" y2="47448"/>
                          <a14:foregroundMark x1="24324" y1="47448" x2="24550" y2="59924"/>
                          <a14:foregroundMark x1="24550" y1="59924" x2="28829" y2="69943"/>
                          <a14:foregroundMark x1="28829" y1="69943" x2="20946" y2="77316"/>
                          <a14:foregroundMark x1="20946" y1="77316" x2="41441" y2="74480"/>
                          <a14:foregroundMark x1="41441" y1="74480" x2="54730" y2="77127"/>
                          <a14:foregroundMark x1="54730" y1="77127" x2="72297" y2="70321"/>
                          <a14:foregroundMark x1="72297" y1="70321" x2="81532" y2="60113"/>
                          <a14:foregroundMark x1="81532" y1="60113" x2="57432" y2="30813"/>
                          <a14:foregroundMark x1="56306" y1="30057" x2="36486" y2="11909"/>
                          <a14:foregroundMark x1="36486" y1="11909" x2="32883" y2="15123"/>
                          <a14:foregroundMark x1="76577" y1="66352" x2="87387" y2="63138"/>
                          <a14:foregroundMark x1="87387" y1="63138" x2="87387" y2="62382"/>
                          <a14:foregroundMark x1="86712" y1="58790" x2="88514" y2="59546"/>
                          <a14:foregroundMark x1="89865" y1="59924" x2="63739" y2="47637"/>
                          <a14:foregroundMark x1="63739" y1="47637" x2="52027" y2="57845"/>
                          <a14:foregroundMark x1="52027" y1="57845" x2="44369" y2="79962"/>
                          <a14:foregroundMark x1="44369" y1="79962" x2="47523" y2="90548"/>
                          <a14:foregroundMark x1="47523" y1="90548" x2="62162" y2="84310"/>
                          <a14:foregroundMark x1="62162" y1="84310" x2="72072" y2="76749"/>
                          <a14:foregroundMark x1="72072" y1="76749" x2="73874" y2="74291"/>
                          <a14:foregroundMark x1="28604" y1="72779" x2="20045" y2="72968"/>
                          <a14:foregroundMark x1="25225" y1="41399" x2="25225" y2="40643"/>
                          <a14:foregroundMark x1="48649" y1="93573" x2="46847" y2="93951"/>
                          <a14:foregroundMark x1="35360" y1="76560" x2="38288" y2="81096"/>
                          <a14:backgroundMark x1="14189" y1="64839" x2="16216" y2="62382"/>
                          <a14:backgroundMark x1="86486" y1="42344" x2="85135" y2="50662"/>
                          <a14:backgroundMark x1="56532" y1="96786" x2="87387" y2="75992"/>
                          <a14:backgroundMark x1="34234" y1="84499" x2="21171" y2="87902"/>
                          <a14:backgroundMark x1="21171" y1="87902" x2="13739" y2="95652"/>
                          <a14:backgroundMark x1="13739" y1="95652" x2="13739" y2="95652"/>
                          <a14:backgroundMark x1="58559" y1="90359" x2="57207" y2="93951"/>
                          <a14:backgroundMark x1="29955" y1="81285" x2="29955" y2="8128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997274" y="1965072"/>
              <a:ext cx="2457406" cy="2927855"/>
            </a:xfrm>
            <a:prstGeom prst="rect">
              <a:avLst/>
            </a:prstGeom>
          </p:spPr>
        </p:pic>
        <p:pic>
          <p:nvPicPr>
            <p:cNvPr id="29" name="Graphic 28" descr="Marker">
              <a:extLst>
                <a:ext uri="{FF2B5EF4-FFF2-40B4-BE49-F238E27FC236}">
                  <a16:creationId xmlns:a16="http://schemas.microsoft.com/office/drawing/2014/main" id="{C8ABD0C1-4629-A52F-FB4A-A372FA46E502}"/>
                </a:ext>
              </a:extLst>
            </p:cNvPr>
            <p:cNvPicPr>
              <a:picLocks noChangeAspect="1"/>
            </p:cNvPicPr>
            <p:nvPr/>
          </p:nvPicPr>
          <p:blipFill>
            <a:blip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526233">
              <a:off x="5767258" y="2212413"/>
              <a:ext cx="1295057" cy="1295057"/>
            </a:xfrm>
            <a:prstGeom prst="rect">
              <a:avLst/>
            </a:prstGeom>
          </p:spPr>
        </p:pic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C126F1-61B2-D0EA-8735-834B423D3C75}"/>
              </a:ext>
            </a:extLst>
          </p:cNvPr>
          <p:cNvCxnSpPr>
            <a:cxnSpLocks/>
          </p:cNvCxnSpPr>
          <p:nvPr/>
        </p:nvCxnSpPr>
        <p:spPr>
          <a:xfrm>
            <a:off x="7615411" y="4398957"/>
            <a:ext cx="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6F15D2D-FF40-6872-839D-E7339EFFFEA8}"/>
              </a:ext>
            </a:extLst>
          </p:cNvPr>
          <p:cNvSpPr/>
          <p:nvPr/>
        </p:nvSpPr>
        <p:spPr>
          <a:xfrm>
            <a:off x="1829429" y="4741389"/>
            <a:ext cx="197027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Help Low-Income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Families Move to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High-Opportunity Areas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659EBC-A613-080A-BB0D-D316AC743844}"/>
              </a:ext>
            </a:extLst>
          </p:cNvPr>
          <p:cNvSpPr/>
          <p:nvPr/>
        </p:nvSpPr>
        <p:spPr>
          <a:xfrm>
            <a:off x="5142989" y="4741389"/>
            <a:ext cx="185688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Increase Upward Mobility in Low-Opportunity Areas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73E5BC-157F-3F0F-DE34-2DF59FB1935B}"/>
              </a:ext>
            </a:extLst>
          </p:cNvPr>
          <p:cNvSpPr/>
          <p:nvPr/>
        </p:nvSpPr>
        <p:spPr>
          <a:xfrm>
            <a:off x="8186073" y="4741389"/>
            <a:ext cx="218311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Amplify Impacts of Colleges and Training Programs on Mobility</a:t>
            </a:r>
          </a:p>
        </p:txBody>
      </p:sp>
      <p:pic>
        <p:nvPicPr>
          <p:cNvPr id="34" name="Picture 33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CF476D86-F776-CB2F-7F53-283A583ABCE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530" y="3248704"/>
            <a:ext cx="1044979" cy="105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54070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ubtitle">
      <a:majorFont>
        <a:latin typeface="Lucida Bright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</TotalTime>
  <Words>267</Words>
  <Application>Microsoft Office PowerPoint</Application>
  <PresentationFormat>Widescreen</PresentationFormat>
  <Paragraphs>55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Wingdings</vt:lpstr>
      <vt:lpstr>Calibri</vt:lpstr>
      <vt:lpstr>Lucida Sans</vt:lpstr>
      <vt:lpstr>Lucida Bright</vt:lpstr>
      <vt:lpstr>Aptos</vt:lpstr>
      <vt:lpstr>Master</vt:lpstr>
      <vt:lpstr>PowerPoint Presentation</vt:lpstr>
      <vt:lpstr>Example – Creating Opportunity</vt:lpstr>
      <vt:lpstr>PowerPoint Presentation</vt:lpstr>
      <vt:lpstr>Example - The Geography of Upward Mobility in the United States </vt:lpstr>
      <vt:lpstr>PowerPoint Presentation</vt:lpstr>
      <vt:lpstr>Example - Creating Moves to Opportunity Experiment</vt:lpstr>
      <vt:lpstr>PowerPoint Presentation</vt:lpstr>
      <vt:lpstr>Example - Where Housing Choice Voucher Holders Live in Seattle</vt:lpstr>
      <vt:lpstr>PowerPoint Presentation</vt:lpstr>
      <vt:lpstr>Example - Three Policy Approaches to Increasing Upward Mobility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Leff, Emily C</dc:creator>
  <cp:lastModifiedBy>Leff, Emily C</cp:lastModifiedBy>
  <cp:revision>51</cp:revision>
  <dcterms:created xsi:type="dcterms:W3CDTF">2025-01-15T20:52:06Z</dcterms:created>
  <dcterms:modified xsi:type="dcterms:W3CDTF">2026-07-08T17:43:28Z</dcterms:modified>
</cp:coreProperties>
</file>