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_0.png"/><Relationship Id="rId2" Type="http://schemas.openxmlformats.org/officeDocument/2006/relationships/image" Target="../media/oi_gen_s1_1.svg"/><Relationship Id="rId3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_2.png"/><Relationship Id="rId2" Type="http://schemas.openxmlformats.org/officeDocument/2006/relationships/image" Target="../media/oi_gen_s2_3.svg"/><Relationship Id="rId3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_4.png"/><Relationship Id="rId2" Type="http://schemas.openxmlformats.org/officeDocument/2006/relationships/image" Target="../media/oi_gen_s3_5.svg"/><Relationship Id="rId3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_6.png"/><Relationship Id="rId2" Type="http://schemas.openxmlformats.org/officeDocument/2006/relationships/image" Target="../media/oi_gen_s4_7.svg"/><Relationship Id="rId3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5_8.png"/><Relationship Id="rId2" Type="http://schemas.openxmlformats.org/officeDocument/2006/relationships/image" Target="../media/oi_gen_s5_9.svg"/><Relationship Id="rId3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6_10.png"/><Relationship Id="rId2" Type="http://schemas.openxmlformats.org/officeDocument/2006/relationships/image" Target="../media/oi_gen_s6_11.svg"/><Relationship Id="rId3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7_12.png"/><Relationship Id="rId2" Type="http://schemas.openxmlformats.org/officeDocument/2006/relationships/image" Target="../media/oi_gen_s7_13.svg"/><Relationship Id="rId3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8_14.png"/><Relationship Id="rId2" Type="http://schemas.openxmlformats.org/officeDocument/2006/relationships/image" Target="../media/oi_gen_s8_15.svg"/><Relationship Id="rId3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9_16.png"/><Relationship Id="rId2" Type="http://schemas.openxmlformats.org/officeDocument/2006/relationships/image" Target="../media/oi_gen_s9_17.svg"/><Relationship Id="rId3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0_18.png"/><Relationship Id="rId2" Type="http://schemas.openxmlformats.org/officeDocument/2006/relationships/image" Target="../media/oi_gen_s10_19.svg"/><Relationship Id="rId3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1_20.png"/><Relationship Id="rId2" Type="http://schemas.openxmlformats.org/officeDocument/2006/relationships/image" Target="../media/oi_gen_s11_21.svg"/><Relationship Id="rId3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2_22.png"/><Relationship Id="rId2" Type="http://schemas.openxmlformats.org/officeDocument/2006/relationships/image" Target="../media/oi_gen_s12_23.svg"/><Relationship Id="rId3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3_24.png"/><Relationship Id="rId2" Type="http://schemas.openxmlformats.org/officeDocument/2006/relationships/image" Target="../media/oi_gen_s13_25.svg"/><Relationship Id="rId3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4_26.png"/><Relationship Id="rId2" Type="http://schemas.openxmlformats.org/officeDocument/2006/relationships/image" Target="../media/oi_gen_s14_27.svg"/><Relationship Id="rId3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5_28.png"/><Relationship Id="rId2" Type="http://schemas.openxmlformats.org/officeDocument/2006/relationships/image" Target="../media/oi_gen_s15_29.svg"/><Relationship Id="rId3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6_30.png"/><Relationship Id="rId2" Type="http://schemas.openxmlformats.org/officeDocument/2006/relationships/image" Target="../media/oi_gen_s16_31.svg"/><Relationship Id="rId3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7_32.png"/><Relationship Id="rId2" Type="http://schemas.openxmlformats.org/officeDocument/2006/relationships/image" Target="../media/oi_gen_s17_33.svg"/><Relationship Id="rId3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8_34.png"/><Relationship Id="rId2" Type="http://schemas.openxmlformats.org/officeDocument/2006/relationships/image" Target="../media/oi_gen_s18_35.svg"/><Relationship Id="rId3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9_36.png"/><Relationship Id="rId2" Type="http://schemas.openxmlformats.org/officeDocument/2006/relationships/image" Target="../media/oi_gen_s19_37.svg"/><Relationship Id="rId3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0_38.png"/><Relationship Id="rId2" Type="http://schemas.openxmlformats.org/officeDocument/2006/relationships/image" Target="../media/oi_gen_s20_39.svg"/><Relationship Id="rId3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1_40.png"/><Relationship Id="rId2" Type="http://schemas.openxmlformats.org/officeDocument/2006/relationships/image" Target="../media/oi_gen_s21_41.svg"/><Relationship Id="rId3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2_42.png"/><Relationship Id="rId2" Type="http://schemas.openxmlformats.org/officeDocument/2006/relationships/image" Target="../media/oi_gen_s22_43.svg"/><Relationship Id="rId3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3_44.png"/><Relationship Id="rId2" Type="http://schemas.openxmlformats.org/officeDocument/2006/relationships/image" Target="../media/oi_gen_s23_45.svg"/><Relationship Id="rId3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4_46.png"/><Relationship Id="rId2" Type="http://schemas.openxmlformats.org/officeDocument/2006/relationships/image" Target="../media/oi_gen_s24_47.svg"/><Relationship Id="rId3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5_48.png"/><Relationship Id="rId2" Type="http://schemas.openxmlformats.org/officeDocument/2006/relationships/image" Target="../media/oi_gen_s25_49.sv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How SAT Scores Affect Admission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Raw Relationship Across All Applicants</a:t>
            </a:r>
            <a:endParaRPr lang="en-US" sz="1600" dirty="0"/>
          </a:p>
        </p:txBody>
      </p:sp>
      <p:pic>
        <p:nvPicPr>
          <p:cNvPr id="4" name="Image 0" descr="C:\Users\realj\Documents\20260830_figs\figures\fig1a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How SAT Scores Affect Admission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Restricting to Second-Round Applicants</a:t>
            </a:r>
            <a:endParaRPr lang="en-US" sz="1600" dirty="0"/>
          </a:p>
        </p:txBody>
      </p:sp>
      <p:pic>
        <p:nvPicPr>
          <p:cNvPr id="4" name="Image 0" descr="C:\Users\realj\Documents\20260830_figs\figures\fig1a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How SAT Scores Affect Admission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Between-Applicant Relationship</a:t>
            </a:r>
            <a:endParaRPr lang="en-US" sz="1600" dirty="0"/>
          </a:p>
        </p:txBody>
      </p:sp>
      <p:pic>
        <p:nvPicPr>
          <p:cNvPr id="4" name="Image 0" descr="C:\Users\realj\Documents\20260830_figs\figures\fig1a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How SAT Scores Affect Admission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Within-Applicant Causal Effect</a:t>
            </a:r>
            <a:endParaRPr lang="en-US" sz="1600" dirty="0"/>
          </a:p>
        </p:txBody>
      </p:sp>
      <p:pic>
        <p:nvPicPr>
          <p:cNvPr id="4" name="Image 0" descr="C:\Users\realj\Documents\20260830_figs\figures\fig1a_f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SAT Effect Is Nonlinear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Average Within-Applicant Effect</a:t>
            </a:r>
            <a:endParaRPr lang="en-US" sz="1600" dirty="0"/>
          </a:p>
        </p:txBody>
      </p:sp>
      <p:pic>
        <p:nvPicPr>
          <p:cNvPr id="4" name="Image 0" descr="C:\Users\realj\Documents\20260830_figs\figures\fig1b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SAT Effect Is Nonlinear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Flexible Estimates by SAT Sextile</a:t>
            </a:r>
            <a:endParaRPr lang="en-US" sz="1600" dirty="0"/>
          </a:p>
        </p:txBody>
      </p:sp>
      <p:pic>
        <p:nvPicPr>
          <p:cNvPr id="4" name="Image 0" descr="C:\Users\realj\Documents\20260830_figs\figures\fig1b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SAT Effect Is Nonlinear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Separate Slopes by SAT Tercile</a:t>
            </a:r>
            <a:endParaRPr lang="en-US" sz="1600" dirty="0"/>
          </a:p>
        </p:txBody>
      </p:sp>
      <p:pic>
        <p:nvPicPr>
          <p:cNvPr id="4" name="Image 0" descr="C:\Users\realj\Documents\20260830_figs\figures\fig1b_f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SAT Effects Are Similar by Disadvantage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Within-Applicant Effects for Disadvantaged and Other Applicants</a:t>
            </a:r>
            <a:endParaRPr lang="en-US" sz="1600" dirty="0"/>
          </a:p>
        </p:txBody>
      </p:sp>
      <p:pic>
        <p:nvPicPr>
          <p:cNvPr id="4" name="Image 0" descr="C:\Users\realj\Documents\20260830_figs\figures\fig1c_f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SAT Scores Reinforce Strong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Larger Effects for Applicants with Strong Non-Test Credentials</a:t>
            </a:r>
            <a:endParaRPr lang="en-US" sz="1600" dirty="0"/>
          </a:p>
        </p:txBody>
      </p:sp>
      <p:pic>
        <p:nvPicPr>
          <p:cNvPr id="4" name="Image 0" descr="C:\Users\realj\Documents\20260830_figs\figures\fig1d_fina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Causal Effect of SAT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Summary of Figure 1</a:t>
            </a:r>
            <a:endParaRPr lang="en-US" sz="1600" dirty="0"/>
          </a:p>
        </p:txBody>
      </p:sp>
      <p:pic>
        <p:nvPicPr>
          <p:cNvPr id="4" name="Image 0" descr="C:\Users\realj\Documents\20260830_figs\figures\fig1_combin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When Does Withholding a Score Help?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Overall Effect of Omitting an SAT Score</a:t>
            </a:r>
            <a:endParaRPr lang="en-US" sz="1600" dirty="0"/>
          </a:p>
        </p:txBody>
      </p:sp>
      <p:pic>
        <p:nvPicPr>
          <p:cNvPr id="4" name="Image 0" descr="C:\Users\realj\Documents\20260830_figs\figures\fig3a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When Does Withholding a Score Help?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Overall SAT Threshold Is About 1433</a:t>
            </a:r>
            <a:endParaRPr lang="en-US" sz="1600" dirty="0"/>
          </a:p>
        </p:txBody>
      </p:sp>
      <p:pic>
        <p:nvPicPr>
          <p:cNvPr id="4" name="Image 0" descr="C:\Users\realj\Documents\20260830_figs\figures\fig3a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When Does Withholding a Score Help?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Effects by Applicant Disadvantage</a:t>
            </a:r>
            <a:endParaRPr lang="en-US" sz="1600" dirty="0"/>
          </a:p>
        </p:txBody>
      </p:sp>
      <p:pic>
        <p:nvPicPr>
          <p:cNvPr id="4" name="Image 0" descr="C:\Users\realj\Documents\20260830_figs\figures\fig3a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When Does Withholding a Score Help?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Group-Specific SAT Thresholds</a:t>
            </a:r>
            <a:endParaRPr lang="en-US" sz="1600" dirty="0"/>
          </a:p>
        </p:txBody>
      </p:sp>
      <p:pic>
        <p:nvPicPr>
          <p:cNvPr id="4" name="Image 0" descr="C:\Users\realj\Documents\20260830_figs\figures\fig3a_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What Drives Predicted Admission?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Variance Decomposition; Covariance Omitted from Display</a:t>
            </a:r>
            <a:endParaRPr lang="en-US" sz="1600" dirty="0"/>
          </a:p>
        </p:txBody>
      </p:sp>
      <p:pic>
        <p:nvPicPr>
          <p:cNvPr id="4" name="Image 0" descr="C:\Users\realj\Documents\20260830_figs\figures\bar1_wocov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What Drives Predicted Admission?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Adding 95% Confidence Intervals</a:t>
            </a:r>
            <a:endParaRPr lang="en-US" sz="1600" dirty="0"/>
          </a:p>
        </p:txBody>
      </p:sp>
      <p:pic>
        <p:nvPicPr>
          <p:cNvPr id="4" name="Image 0" descr="C:\Users\realj\Documents\20260830_figs\figures\bar1_wocov_wc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Which Ratings Do SAT Scores Change?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Overall Rating</a:t>
            </a:r>
            <a:endParaRPr lang="en-US" sz="1600" dirty="0"/>
          </a:p>
        </p:txBody>
      </p:sp>
      <p:pic>
        <p:nvPicPr>
          <p:cNvPr id="4" name="Image 0" descr="C:\Users\realj\Documents\20260830_figs\figures\bar2_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Which Ratings Do SAT Scores Change?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Adding the Academic Rating</a:t>
            </a:r>
            <a:endParaRPr lang="en-US" sz="1600" dirty="0"/>
          </a:p>
        </p:txBody>
      </p:sp>
      <p:pic>
        <p:nvPicPr>
          <p:cNvPr id="4" name="Image 0" descr="C:\Users\realj\Documents\20260830_figs\figures\bar2_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Which Ratings Do SAT Scores Change?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Adding the Non-Academic Rating</a:t>
            </a:r>
            <a:endParaRPr lang="en-US" sz="1600" dirty="0"/>
          </a:p>
        </p:txBody>
      </p:sp>
      <p:pic>
        <p:nvPicPr>
          <p:cNvPr id="4" name="Image 0" descr="C:\Users\realj\Documents\20260830_figs\figures\bar2_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Which Ratings Do SAT Scores Change?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 Non-Academic Halo Effect; 95% Confidence Intervals</a:t>
            </a:r>
            <a:endParaRPr lang="en-US" sz="1600" dirty="0"/>
          </a:p>
        </p:txBody>
      </p:sp>
      <p:pic>
        <p:nvPicPr>
          <p:cNvPr id="4" name="Image 0" descr="C:\Users\realj\Documents\20260830_figs\figures\bar2_wc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Testing Regime Changes Little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Test-Optional versus Test-Mandatory Evaluation</a:t>
            </a:r>
            <a:endParaRPr lang="en-US" sz="1600" dirty="0"/>
          </a:p>
        </p:txBody>
      </p:sp>
      <p:pic>
        <p:nvPicPr>
          <p:cNvPr id="4" name="Image 0" descr="C:\Users\realj\Documents\20260830_figs\figures\bar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Testing Regime Changes Little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Adding 95% Confidence Intervals</a:t>
            </a:r>
            <a:endParaRPr lang="en-US" sz="1600" dirty="0"/>
          </a:p>
        </p:txBody>
      </p:sp>
      <p:pic>
        <p:nvPicPr>
          <p:cNvPr id="4" name="Image 0" descr="C:\Users\realj\Documents\20260830_figs\figures\bar3_wc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Readers Agree Most on Academics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Inter-Reader Reliability Across Evaluation Measures</a:t>
            </a:r>
            <a:endParaRPr lang="en-US" sz="1600" dirty="0"/>
          </a:p>
        </p:txBody>
      </p:sp>
      <p:pic>
        <p:nvPicPr>
          <p:cNvPr id="4" name="Image 0" descr="C:\Users\realj\Documents\20260830_figs\figures\bar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Full Variance Decomposition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Including the Covariance Component</a:t>
            </a:r>
            <a:endParaRPr lang="en-US" sz="1600" dirty="0"/>
          </a:p>
        </p:txBody>
      </p:sp>
      <p:pic>
        <p:nvPicPr>
          <p:cNvPr id="4" name="Image 0" descr="C:\Users\realj\Documents\20260830_figs\figures\bar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Full Variance Decomposition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Including Covariance and 95% Confidence Intervals</a:t>
            </a:r>
            <a:endParaRPr lang="en-US" sz="1600" dirty="0"/>
          </a:p>
        </p:txBody>
      </p:sp>
      <p:pic>
        <p:nvPicPr>
          <p:cNvPr id="4" name="Image 0" descr="C:\Users\realj\Documents\20260830_figs\figures\bar1_wc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