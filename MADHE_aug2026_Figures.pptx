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</p:sldIdLst>
  <p:sldSz cx="12192000" cy="6858000"/>
  <p:notesSz cx="6858000" cy="91440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  <p:embeddedFont>
      <p:font typeface="Lucida Sans" panose="020B0602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6365"/>
    <a:srgbClr val="000000"/>
    <a:srgbClr val="FAA523"/>
    <a:srgbClr val="29B6A4"/>
    <a:srgbClr val="262626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9" Type="http://schemas.openxmlformats.org/officeDocument/2006/relationships/font" Target="fonts/font6.fntdata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57" Type="http://schemas.openxmlformats.org/officeDocument/2006/relationships/slide" Target="slides/slide32.xml"/><Relationship Id="rId58" Type="http://schemas.openxmlformats.org/officeDocument/2006/relationships/slide" Target="slides/slide33.xml"/><Relationship Id="rId59" Type="http://schemas.openxmlformats.org/officeDocument/2006/relationships/slide" Target="slides/slide34.xml"/><Relationship Id="rId60" Type="http://schemas.openxmlformats.org/officeDocument/2006/relationships/slide" Target="slides/slide35.xml"/><Relationship Id="rId61" Type="http://schemas.openxmlformats.org/officeDocument/2006/relationships/slide" Target="slides/slide36.xml"/><Relationship Id="rId62" Type="http://schemas.openxmlformats.org/officeDocument/2006/relationships/slide" Target="slides/slide37.xml"/><Relationship Id="rId63" Type="http://schemas.openxmlformats.org/officeDocument/2006/relationships/slide" Target="slides/slide38.xml"/><Relationship Id="rId64" Type="http://schemas.openxmlformats.org/officeDocument/2006/relationships/slide" Target="slides/slide39.xml"/><Relationship Id="rId65" Type="http://schemas.openxmlformats.org/officeDocument/2006/relationships/slide" Target="slides/slide40.xml"/><Relationship Id="rId66" Type="http://schemas.openxmlformats.org/officeDocument/2006/relationships/slide" Target="slides/slide41.xml"/><Relationship Id="rId67" Type="http://schemas.openxmlformats.org/officeDocument/2006/relationships/slide" Target="slides/slide42.xml"/><Relationship Id="rId68" Type="http://schemas.openxmlformats.org/officeDocument/2006/relationships/slide" Target="slides/slide43.xml"/><Relationship Id="rId69" Type="http://schemas.openxmlformats.org/officeDocument/2006/relationships/slide" Target="slides/slide44.xml"/><Relationship Id="rId70" Type="http://schemas.openxmlformats.org/officeDocument/2006/relationships/slide" Target="slides/slide45.xml"/><Relationship Id="rId71" Type="http://schemas.openxmlformats.org/officeDocument/2006/relationships/slide" Target="slides/slide46.xml"/><Relationship Id="rId72" Type="http://schemas.openxmlformats.org/officeDocument/2006/relationships/slide" Target="slides/slide47.xml"/><Relationship Id="rId73" Type="http://schemas.openxmlformats.org/officeDocument/2006/relationships/slide" Target="slides/slide48.xml"/><Relationship Id="rId74" Type="http://schemas.openxmlformats.org/officeDocument/2006/relationships/slide" Target="slides/slide4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3003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33100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1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0" r:id="rId3"/>
    <p:sldLayoutId id="2147483660" r:id="rId4"/>
    <p:sldLayoutId id="214748371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_0.png"/><Relationship Id="rId2" Type="http://schemas.openxmlformats.org/officeDocument/2006/relationships/image" Target="../media/oi_gen_s1_1.svg"/><Relationship Id="rId3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_2.png"/><Relationship Id="rId2" Type="http://schemas.openxmlformats.org/officeDocument/2006/relationships/image" Target="../media/oi_gen_s2_3.svg"/><Relationship Id="rId3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_4.png"/><Relationship Id="rId2" Type="http://schemas.openxmlformats.org/officeDocument/2006/relationships/image" Target="../media/oi_gen_s3_5.svg"/><Relationship Id="rId3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_6.png"/><Relationship Id="rId2" Type="http://schemas.openxmlformats.org/officeDocument/2006/relationships/image" Target="../media/oi_gen_s4_7.svg"/><Relationship Id="rId3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5_8.png"/><Relationship Id="rId2" Type="http://schemas.openxmlformats.org/officeDocument/2006/relationships/image" Target="../media/oi_gen_s5_9.svg"/><Relationship Id="rId3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6_10.png"/><Relationship Id="rId2" Type="http://schemas.openxmlformats.org/officeDocument/2006/relationships/image" Target="../media/oi_gen_s6_11.svg"/><Relationship Id="rId3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7_12.png"/><Relationship Id="rId2" Type="http://schemas.openxmlformats.org/officeDocument/2006/relationships/image" Target="../media/oi_gen_s7_13.svg"/><Relationship Id="rId3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8_14.png"/><Relationship Id="rId2" Type="http://schemas.openxmlformats.org/officeDocument/2006/relationships/image" Target="../media/oi_gen_s8_15.svg"/><Relationship Id="rId3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9_16.png"/><Relationship Id="rId2" Type="http://schemas.openxmlformats.org/officeDocument/2006/relationships/image" Target="../media/oi_gen_s9_17.svg"/><Relationship Id="rId3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0_18.png"/><Relationship Id="rId2" Type="http://schemas.openxmlformats.org/officeDocument/2006/relationships/image" Target="../media/oi_gen_s10_19.svg"/><Relationship Id="rId3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1_20.png"/><Relationship Id="rId2" Type="http://schemas.openxmlformats.org/officeDocument/2006/relationships/image" Target="../media/oi_gen_s11_21.svg"/><Relationship Id="rId3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2_22.png"/><Relationship Id="rId2" Type="http://schemas.openxmlformats.org/officeDocument/2006/relationships/image" Target="../media/oi_gen_s12_23.svg"/><Relationship Id="rId3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3_24.png"/><Relationship Id="rId2" Type="http://schemas.openxmlformats.org/officeDocument/2006/relationships/image" Target="../media/oi_gen_s13_25.svg"/><Relationship Id="rId3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4_26.png"/><Relationship Id="rId2" Type="http://schemas.openxmlformats.org/officeDocument/2006/relationships/image" Target="../media/oi_gen_s14_27.svg"/><Relationship Id="rId3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5_28.png"/><Relationship Id="rId2" Type="http://schemas.openxmlformats.org/officeDocument/2006/relationships/image" Target="../media/oi_gen_s15_29.svg"/><Relationship Id="rId3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6_30.png"/><Relationship Id="rId2" Type="http://schemas.openxmlformats.org/officeDocument/2006/relationships/image" Target="../media/oi_gen_s16_31.svg"/><Relationship Id="rId3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7_32.png"/><Relationship Id="rId2" Type="http://schemas.openxmlformats.org/officeDocument/2006/relationships/image" Target="../media/oi_gen_s17_33.svg"/><Relationship Id="rId3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8_34.png"/><Relationship Id="rId2" Type="http://schemas.openxmlformats.org/officeDocument/2006/relationships/image" Target="../media/oi_gen_s18_35.svg"/><Relationship Id="rId3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9_36.png"/><Relationship Id="rId2" Type="http://schemas.openxmlformats.org/officeDocument/2006/relationships/image" Target="../media/oi_gen_s19_37.svg"/><Relationship Id="rId3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0_38.png"/><Relationship Id="rId2" Type="http://schemas.openxmlformats.org/officeDocument/2006/relationships/image" Target="../media/oi_gen_s20_39.svg"/><Relationship Id="rId3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1_40.png"/><Relationship Id="rId2" Type="http://schemas.openxmlformats.org/officeDocument/2006/relationships/image" Target="../media/oi_gen_s21_41.svg"/><Relationship Id="rId3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2_42.png"/><Relationship Id="rId2" Type="http://schemas.openxmlformats.org/officeDocument/2006/relationships/image" Target="../media/oi_gen_s22_43.svg"/><Relationship Id="rId3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3_44.png"/><Relationship Id="rId2" Type="http://schemas.openxmlformats.org/officeDocument/2006/relationships/image" Target="../media/oi_gen_s23_45.svg"/><Relationship Id="rId3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4_46.png"/><Relationship Id="rId2" Type="http://schemas.openxmlformats.org/officeDocument/2006/relationships/image" Target="../media/oi_gen_s24_47.svg"/><Relationship Id="rId3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5_48.png"/><Relationship Id="rId2" Type="http://schemas.openxmlformats.org/officeDocument/2006/relationships/image" Target="../media/oi_gen_s25_49.svg"/><Relationship Id="rId3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6_50.png"/><Relationship Id="rId2" Type="http://schemas.openxmlformats.org/officeDocument/2006/relationships/image" Target="../media/oi_gen_s26_51.svg"/><Relationship Id="rId3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7_52.png"/><Relationship Id="rId2" Type="http://schemas.openxmlformats.org/officeDocument/2006/relationships/image" Target="../media/oi_gen_s27_53.svg"/><Relationship Id="rId3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8_54.png"/><Relationship Id="rId2" Type="http://schemas.openxmlformats.org/officeDocument/2006/relationships/image" Target="../media/oi_gen_s28_55.svg"/><Relationship Id="rId3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9_56.png"/><Relationship Id="rId2" Type="http://schemas.openxmlformats.org/officeDocument/2006/relationships/image" Target="../media/oi_gen_s29_57.svg"/><Relationship Id="rId3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0_58.png"/><Relationship Id="rId2" Type="http://schemas.openxmlformats.org/officeDocument/2006/relationships/image" Target="../media/oi_gen_s30_59.svg"/><Relationship Id="rId3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1_60.png"/><Relationship Id="rId2" Type="http://schemas.openxmlformats.org/officeDocument/2006/relationships/image" Target="../media/oi_gen_s31_61.svg"/><Relationship Id="rId3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2_62.png"/><Relationship Id="rId2" Type="http://schemas.openxmlformats.org/officeDocument/2006/relationships/image" Target="../media/oi_gen_s32_63.svg"/><Relationship Id="rId3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3_64.png"/><Relationship Id="rId2" Type="http://schemas.openxmlformats.org/officeDocument/2006/relationships/image" Target="../media/oi_gen_s33_65.svg"/><Relationship Id="rId3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4_66.png"/><Relationship Id="rId2" Type="http://schemas.openxmlformats.org/officeDocument/2006/relationships/image" Target="../media/oi_gen_s34_67.svg"/><Relationship Id="rId3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5_68.png"/><Relationship Id="rId2" Type="http://schemas.openxmlformats.org/officeDocument/2006/relationships/image" Target="../media/oi_gen_s35_69.svg"/><Relationship Id="rId3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6_70.png"/><Relationship Id="rId2" Type="http://schemas.openxmlformats.org/officeDocument/2006/relationships/image" Target="../media/oi_gen_s36_71.svg"/><Relationship Id="rId3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7_72.png"/><Relationship Id="rId2" Type="http://schemas.openxmlformats.org/officeDocument/2006/relationships/image" Target="../media/oi_gen_s37_73.svg"/><Relationship Id="rId3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8_74.png"/><Relationship Id="rId2" Type="http://schemas.openxmlformats.org/officeDocument/2006/relationships/image" Target="../media/oi_gen_s38_75.svg"/><Relationship Id="rId3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9_76.png"/><Relationship Id="rId2" Type="http://schemas.openxmlformats.org/officeDocument/2006/relationships/image" Target="../media/oi_gen_s39_77.svg"/><Relationship Id="rId3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0_78.png"/><Relationship Id="rId2" Type="http://schemas.openxmlformats.org/officeDocument/2006/relationships/image" Target="../media/oi_gen_s40_79.svg"/><Relationship Id="rId3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1_80.png"/><Relationship Id="rId2" Type="http://schemas.openxmlformats.org/officeDocument/2006/relationships/image" Target="../media/oi_gen_s41_81.svg"/><Relationship Id="rId3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2_82.png"/><Relationship Id="rId2" Type="http://schemas.openxmlformats.org/officeDocument/2006/relationships/image" Target="../media/oi_gen_s42_83.svg"/><Relationship Id="rId3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3_84.png"/><Relationship Id="rId2" Type="http://schemas.openxmlformats.org/officeDocument/2006/relationships/image" Target="../media/oi_gen_s43_85.svg"/><Relationship Id="rId3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4_86.png"/><Relationship Id="rId2" Type="http://schemas.openxmlformats.org/officeDocument/2006/relationships/image" Target="../media/oi_gen_s44_87.svg"/><Relationship Id="rId3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5_88.png"/><Relationship Id="rId2" Type="http://schemas.openxmlformats.org/officeDocument/2006/relationships/image" Target="../media/oi_gen_s45_89.svg"/><Relationship Id="rId3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6_90.png"/><Relationship Id="rId2" Type="http://schemas.openxmlformats.org/officeDocument/2006/relationships/image" Target="../media/oi_gen_s46_91.svg"/><Relationship Id="rId3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7_92.png"/><Relationship Id="rId2" Type="http://schemas.openxmlformats.org/officeDocument/2006/relationships/image" Target="../media/oi_gen_s47_93.svg"/><Relationship Id="rId3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8_94.png"/><Relationship Id="rId2" Type="http://schemas.openxmlformats.org/officeDocument/2006/relationships/image" Target="../media/oi_gen_s48_95.svg"/><Relationship Id="rId3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9_96.png"/><Relationship Id="rId2" Type="http://schemas.openxmlformats.org/officeDocument/2006/relationships/image" Target="../media/oi_gen_s49_97.svg"/><Relationship Id="rId3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Earnings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Levels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Earnings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Levels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Earnings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Levels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Earnings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Levels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Earnings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Levels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umass_program_va_estimate_noncomp_animation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umass_program_va_estimate_noncomp_animation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umass_program_va_estimate_noncomp_animation_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tate_program_va_estimate_noncomp_animation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tate_program_va_estimate_noncomp_animation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tate_program_va_estimate_noncomp_animation_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8 Years After Entry;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lvl_scorecard_womaritime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8 Years After Entry;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lvl_scorecard_womaritime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8 Years After Entry;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lvl_scorecard_womaritime_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8 Years After Entry;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lvl_scorecard_womaritime_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Context-Adjusted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Carnegie Earnings Benchmark Adjusted for Student Demographics and Geography;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lvl_carnegie_earningscontext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Context-Adjusted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Carnegie Earnings Benchmark Adjusted for Student Demographics and Geography;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lvl_carnegie_earningscontext_womaritime_45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Context-Adjusted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Carnegie Earnings Benchmark Adjusted for Student Demographics and Geography;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lvl_carnegie_earningscontext_wlbl_womaritime_45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Context-Adjusted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Carnegie Earnings Benchmark Adjusted for Student Demographics and Geography;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lvl_carnegie_earningscontext_wstat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Institution-Field Program;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womaritime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Institution-Field Program;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womaritime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Institution-Field Program;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womaritime_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Institution-Field Program;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womaritime_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Health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1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Education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2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CS &amp; Engineering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3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Business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4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Science &amp; Math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5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Social Sciences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6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Arts &amp; Humanities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7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Other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8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All Fields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lvl_scorecard_byfield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Zooming In on Health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health_va_estimate_noncomp_lvl_score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Zooming In on Health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health_va_estimate_noncomp_lvl_scorecard_45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Zooming In on Health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health_va_estimate_noncomp_lvl_scorecard_wlbl_45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Zooming In on Health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health_va_estimate_noncomp_lvl_scorecard_wsta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Amherst Program-Level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amherst_va_estimate_noncomp_lvl_score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Amherst Program-Level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amherst_va_estimate_noncomp_lvl_scorecard_wsta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Amherst Program-Level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Programs Colored by Field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amherst_va_estimate_noncomp_lvl_byfield_score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Amherst Program-Level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Programs Colored by Field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amherst_va_estimate_noncomp_lvl_byfield_scorecard_wsta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Field-Level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Institutions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scorecard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Field-Level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Institutions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byfield_scorecard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Field-Level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Institutions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byfield_scorecard_wstat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Field-Level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UMass Institutions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scorecard_umass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Field-Level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UMass Institutions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byfield_scorecard_umass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Field-Level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UMass Institutions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byfield_scorecard_umass_wstat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Field-Level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State Universities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scorecard_state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Field-Level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State Universities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byfield_scorecard_state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Field-Level 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State Universities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lvl_byfield_scorecard_state_wstat_womari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267</Words>
  <Application>Microsoft Office PowerPoint</Application>
  <PresentationFormat>Widescreen</PresentationFormat>
  <Paragraphs>55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Wingdings</vt:lpstr>
      <vt:lpstr>Calibri</vt:lpstr>
      <vt:lpstr>Lucida Sans</vt:lpstr>
      <vt:lpstr>Lucida Bright</vt:lpstr>
      <vt:lpstr>Aptos</vt:lpstr>
      <vt:lpstr>Master</vt:lpstr>
      <vt:lpstr>PowerPoint Presentation</vt:lpstr>
      <vt:lpstr>Example – Creating Opportunity</vt:lpstr>
      <vt:lpstr>PowerPoint Presentation</vt:lpstr>
      <vt:lpstr>Example - The Geography of Upward Mobility in the United States </vt:lpstr>
      <vt:lpstr>PowerPoint Presentation</vt:lpstr>
      <vt:lpstr>Example - Creating Moves to Opportunity Experiment</vt:lpstr>
      <vt:lpstr>PowerPoint Presentation</vt:lpstr>
      <vt:lpstr>Example - Where Housing Choice Voucher Holders Live in Seattle</vt:lpstr>
      <vt:lpstr>PowerPoint Presentation</vt:lpstr>
      <vt:lpstr>Example - Three Policy Approaches to Increasing Upward Mobility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Leff, Emily C</cp:lastModifiedBy>
  <cp:revision>51</cp:revision>
  <dcterms:created xsi:type="dcterms:W3CDTF">2025-01-15T20:52:06Z</dcterms:created>
  <dcterms:modified xsi:type="dcterms:W3CDTF">2026-07-08T17:43:28Z</dcterms:modified>
</cp:coreProperties>
</file>