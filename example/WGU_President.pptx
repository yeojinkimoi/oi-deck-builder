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4632" y="2057400"/>
            <a:ext cx="1108252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The Impacts of WGU Programs on Students’ Earnings</a:t>
            </a:r>
            <a:endParaRPr lang="en-US" sz="3200" dirty="0"/>
          </a:p>
          <a:p>
            <a:pPr algn="r"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Preliminary Estimates Using Matched Comparison Groups</a:t>
            </a:r>
            <a:endParaRPr lang="en-US" sz="3200" dirty="0"/>
          </a:p>
          <a:p>
            <a:pPr algn="r" indent="0" marL="0">
              <a:buNone/>
            </a:pPr>
            <a:endParaRPr lang="en-US" sz="3200" dirty="0"/>
          </a:p>
          <a:p>
            <a:pPr algn="r" indent="0" marL="0">
              <a:buNone/>
            </a:pPr>
            <a:endParaRPr lang="en-US" sz="3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February 2026</a:t>
            </a:r>
            <a:endParaRPr lang="en-US" sz="3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PRELIMINARY DATA -- DO NOT CITE</a:t>
            </a:r>
            <a:endParaRPr lang="en-US" sz="3200" dirty="0"/>
          </a:p>
        </p:txBody>
      </p:sp>
      <p:pic>
        <p:nvPicPr>
          <p:cNvPr id="3" name="Image 0" descr="C:\Users\realj\Documents\oi-slide\oi_logo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6217920"/>
            <a:ext cx="1965960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Data Sources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837" y="1335024"/>
            <a:ext cx="11221334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WGU enrollment records linked to Census+tax data covering full U.S. population (including tax filers and non-filers)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 of WGU enrollees successfully linked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WGU graduates, withdrawers, and certificates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sample: 262,000 WGU enrollees from 2013-18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observed from 2008-2023 in tax records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outcome: earnings reported on W-2 forms, measured in real 2021 dollars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those not working as 0s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Excludes self-employment income (can be incorporated later)</a:t>
            </a:r>
            <a:endParaRPr lang="en-US" sz="2200" dirty="0"/>
          </a:p>
        </p:txBody>
      </p:sp>
      <p:pic>
        <p:nvPicPr>
          <p:cNvPr id="5" name="Image 0" descr="C:\Users\realj\Documents\oi-slide\o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Identifying Matched Controls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837" y="1335024"/>
            <a:ext cx="11221334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WGU enrollee, identify matched controls based on: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Pre-enrollment earnings trajectory: W-2 earnings in the three years prior to enrollment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Age, sex, and county of residence in year of enrollment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compare average earnings of WGU enrollees to those of matched controls pre vs. post enrollment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WGU enrollee has 350 matched controls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of matched control group enrolls in other non-WGU degree programs at the same time</a:t>
            </a:r>
            <a:endParaRPr lang="en-US" sz="2200" dirty="0"/>
          </a:p>
        </p:txBody>
      </p:sp>
      <p:pic>
        <p:nvPicPr>
          <p:cNvPr id="5" name="Image 0" descr="C:\Users\realj\Documents\oi-slide\o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WGU Program Categories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Programs Grouped into Eight Degree-Sectors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3837" y="1371600"/>
          <a:ext cx="11218499" cy="914400"/>
        </p:xfrm>
        <a:graphic>
          <a:graphicData uri="http://schemas.openxmlformats.org/drawingml/2006/table">
            <a:tbl>
              <a:tblPr/>
              <a:tblGrid>
                <a:gridCol w="1852026"/>
                <a:gridCol w="2091141"/>
                <a:gridCol w="3485236"/>
                <a:gridCol w="1895003"/>
                <a:gridCol w="1895003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Degree Level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Program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Example Program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Number of Students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Graduation Rate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Bachelor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Education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BA, Interdisciplinary Studies (K-8)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31,000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53%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Bachelor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Health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BS, Nursing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54,000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75%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Bachelor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Business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BS, Business Management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65,000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46%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Bachelor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Technology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BS, Information Technology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29,000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46%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Master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Education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MS, Curriculum and Instruction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22,000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81%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Master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Health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MS, Nursing Education (BSN-MSN)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25,000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67%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Master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Business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MBA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32,000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67%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Master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Technology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MS, Cybersecurity and Information Assurance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5,000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59%</a:t>
                      </a:r>
                      <a:endParaRPr lang="en-US" sz="16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13837" y="6139007"/>
            <a:ext cx="1121849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Programs aggregated from individual WGU degree programs into 8 groups by degree level and field of study.</a:t>
            </a:r>
            <a:endParaRPr lang="en-US" sz="1400" dirty="0"/>
          </a:p>
        </p:txBody>
      </p:sp>
      <p:pic>
        <p:nvPicPr>
          <p:cNvPr id="6" name="Image 0" descr="C:\Users\realj\Documents\oi-slide\o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2 Years After Entry vs. Matched Controls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pic>
        <p:nvPicPr>
          <p:cNvPr id="4" name="Image 0" descr="C:\Users\realj\Documents\oi-slide\example\.pptx_cache\slide1_BaEd_bin2_grad_treat_on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1638" y="1188720"/>
            <a:ext cx="9744761" cy="5733288"/>
          </a:xfrm>
          <a:prstGeom prst="rect">
            <a:avLst/>
          </a:prstGeom>
        </p:spPr>
      </p:pic>
      <p:pic>
        <p:nvPicPr>
          <p:cNvPr id="5" name="Image 1" descr="C:\Users\realj\Documents\oi-slide\o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2 Years After Entry vs. Matched Controls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pic>
        <p:nvPicPr>
          <p:cNvPr id="4" name="Image 0" descr="C:\Users\realj\Documents\oi-slide\example\.pptx_cache\slide1_BaEd_bin2_grad_b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1638" y="1188720"/>
            <a:ext cx="9744761" cy="5733288"/>
          </a:xfrm>
          <a:prstGeom prst="rect">
            <a:avLst/>
          </a:prstGeom>
        </p:spPr>
      </p:pic>
      <p:pic>
        <p:nvPicPr>
          <p:cNvPr id="5" name="Image 1" descr="C:\Users\realj\Documents\oi-slide\o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2 Years After Entry vs. Matched Controls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pic>
        <p:nvPicPr>
          <p:cNvPr id="4" name="Image 0" descr="C:\Users\realj\Documents\oi-slide\example\.pptx_cache\slide1_BaEd_bin2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1638" y="1188720"/>
            <a:ext cx="9744761" cy="5733288"/>
          </a:xfrm>
          <a:prstGeom prst="rect">
            <a:avLst/>
          </a:prstGeom>
        </p:spPr>
      </p:pic>
      <p:pic>
        <p:nvPicPr>
          <p:cNvPr id="5" name="Image 1" descr="C:\Users\realj\Documents\oi-slide\o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Graduates or Withdraw 2 Years After Entry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2_BaEd_bin2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2_BaEd_bin2_wd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Graduates or Withdraw 3 or 4 Years After Entry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4173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3_BaEd_grad_bin3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" y="1618488"/>
            <a:ext cx="435163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4173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3_BaEd_wd_bin3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899" y="1618488"/>
            <a:ext cx="4351630" cy="2560320"/>
          </a:xfrm>
          <a:prstGeom prst="rect">
            <a:avLst/>
          </a:prstGeom>
        </p:spPr>
      </p:pic>
      <p:pic>
        <p:nvPicPr>
          <p:cNvPr id="8" name="Image 2" descr="C:\Users\realj\Documents\oi-slide\example\.pptx_cache\slide3_BaEd_grad_bin4_del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" y="4178808"/>
            <a:ext cx="4351630" cy="2560320"/>
          </a:xfrm>
          <a:prstGeom prst="rect">
            <a:avLst/>
          </a:prstGeom>
        </p:spPr>
      </p:pic>
      <p:pic>
        <p:nvPicPr>
          <p:cNvPr id="9" name="Image 3" descr="C:\Users\realj\Documents\oi-slide\example\.pptx_cache\slide3_BaEd_wd_bin4_del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899" y="4178808"/>
            <a:ext cx="4351630" cy="2560320"/>
          </a:xfrm>
          <a:prstGeom prst="rect">
            <a:avLst/>
          </a:prstGeom>
        </p:spPr>
      </p:pic>
      <p:pic>
        <p:nvPicPr>
          <p:cNvPr id="10" name="Image 4" descr="C:\Users\realj\Documents\oi-slide\oi_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Baseline Model vs. Comparison to People who Enroll in Other Higher Education Institutions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Comparison to All Matched Individuals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4_BaEd_bin3_baseline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Comparison to Other Higher Education Enrollees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4_BaEd_bin3_1098t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Business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3 Years After Entry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5_BaBu_bin3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5_BaBu_bin3_wd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Technology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3 Years After Entry, Withdraw w/Certificate, or Withdraw w/o Certificate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70098" y="1417320"/>
            <a:ext cx="604875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6_BaTe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4158" y="1618488"/>
            <a:ext cx="4180637" cy="24597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" y="4078224"/>
            <a:ext cx="604875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 w/ Certificate</a:t>
            </a:r>
            <a:endParaRPr lang="en-US" sz="1400" dirty="0"/>
          </a:p>
        </p:txBody>
      </p:sp>
      <p:pic>
        <p:nvPicPr>
          <p:cNvPr id="7" name="Image 1" descr="C:\Users\realj\Documents\oi-slide\example\.pptx_cache\slide6_BaTe_wd_somecert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322" y="4279392"/>
            <a:ext cx="4180637" cy="24597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094476" y="4078224"/>
            <a:ext cx="604875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 w/o Certificate</a:t>
            </a:r>
            <a:endParaRPr lang="en-US" sz="1400" dirty="0"/>
          </a:p>
        </p:txBody>
      </p:sp>
      <p:pic>
        <p:nvPicPr>
          <p:cNvPr id="9" name="Image 2" descr="C:\Users\realj\Documents\oi-slide\example\.pptx_cache\slide6_BaTe_wd_nocert_del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078" y="4279392"/>
            <a:ext cx="4180637" cy="2459736"/>
          </a:xfrm>
          <a:prstGeom prst="rect">
            <a:avLst/>
          </a:prstGeom>
        </p:spPr>
      </p:pic>
      <p:pic>
        <p:nvPicPr>
          <p:cNvPr id="10" name="Image 3" descr="C:\Users\realj\Documents\oi-slide\oi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Health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2 Years After Entry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7_BaHe_bin2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7_BaHe_bin2_wd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Master of Education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2 Years After Entry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8_MaEd_bin2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8_MaEd_bin2_wd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Master of Business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2 Years After Entry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9_MaBu_bin2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9_MaBu_bin2_wd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Master of Technology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2 Years After Entry or Withdraw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10_MaTe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10_MaTe_wd_nocert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Master of Health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2 Years After Entry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.pptx_cache\slide11_MaHe_bin2_grad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.pptx_cache\slide11_MaHe_bin2_wd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WGU Programs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Treatment Effects on W-2 Wages 5 Years After Enrollment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pic>
        <p:nvPicPr>
          <p:cNvPr id="4" name="Image 0" descr="C:\Users\realj\Documents\oi-slide\example\.pptx_cache\slide12a_barplot_gra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7846" y="1188720"/>
            <a:ext cx="9173261" cy="5733288"/>
          </a:xfrm>
          <a:prstGeom prst="rect">
            <a:avLst/>
          </a:prstGeom>
        </p:spPr>
      </p:pic>
      <p:pic>
        <p:nvPicPr>
          <p:cNvPr id="5" name="Image 1" descr="C:\Users\realj\Documents\oi-slide\o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WGU Programs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Treatment Effects on W-2 Wages 5 Years After Enrollment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pic>
        <p:nvPicPr>
          <p:cNvPr id="4" name="Image 0" descr="C:\Users\realj\Documents\oi-slide\example\.pptx_cache\slide12b_barplot_grads_w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7846" y="1188720"/>
            <a:ext cx="9173261" cy="5733288"/>
          </a:xfrm>
          <a:prstGeom prst="rect">
            <a:avLst/>
          </a:prstGeom>
        </p:spPr>
      </p:pic>
      <p:pic>
        <p:nvPicPr>
          <p:cNvPr id="5" name="Image 1" descr="C:\Users\realj\Documents\oi-slide\o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Placebo Test: Matching on Wages 3-5 Years Prior to Enrollment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Bachelor of Education &amp; Bachelor of Health vs. Matched Controls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Bachelor of Education</a:t>
            </a:r>
            <a:endParaRPr lang="en-US" sz="1400" dirty="0"/>
          </a:p>
        </p:txBody>
      </p:sp>
      <p:pic>
        <p:nvPicPr>
          <p:cNvPr id="5" name="Image 0" descr="C:\Users\realj\Documents\oi-slide\example\.pptx_cache\slide_BaEd_bin3_26_del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" y="2075688"/>
            <a:ext cx="6003036" cy="3531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0196" y="1874520"/>
            <a:ext cx="6003036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Bachelor of Health</a:t>
            </a:r>
            <a:endParaRPr lang="en-US" sz="1400" dirty="0"/>
          </a:p>
        </p:txBody>
      </p:sp>
      <p:pic>
        <p:nvPicPr>
          <p:cNvPr id="7" name="Image 1" descr="C:\Users\realj\Documents\oi-slide\example\.pptx_cache\slide_BaHe_bin2_26_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196" y="2075688"/>
            <a:ext cx="6003036" cy="3531413"/>
          </a:xfrm>
          <a:prstGeom prst="rect">
            <a:avLst/>
          </a:prstGeom>
        </p:spPr>
      </p:pic>
      <p:pic>
        <p:nvPicPr>
          <p:cNvPr id="8" name="Image 2" descr="C:\Users\realj\Documents\oi-slide\o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WGU Programs on Earnings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Treatment Effects on W-2 Wages 5 Years After Enrollment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pic>
        <p:nvPicPr>
          <p:cNvPr id="4" name="Image 0" descr="C:\Users\realj\Documents\oi-slide\example\.pptx_cache\slide12c_barplot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7846" y="1188720"/>
            <a:ext cx="9173261" cy="5733288"/>
          </a:xfrm>
          <a:prstGeom prst="rect">
            <a:avLst/>
          </a:prstGeom>
        </p:spPr>
      </p:pic>
      <p:pic>
        <p:nvPicPr>
          <p:cNvPr id="5" name="Image 1" descr="C:\Users\realj\Documents\oi-slide\o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Withdrawal Effects vs. Placebo Tests</a:t>
            </a:r>
            <a:endParaRPr lang="en-US" sz="2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Treatment Effects on 5-Year Wages by Program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pic>
        <p:nvPicPr>
          <p:cNvPr id="4" name="Image 0" descr="C:\Users\realj\Documents\oi-slide\example\.pptx_cache\slide14_scatter_wd_vs_placeb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7846" y="1188720"/>
            <a:ext cx="9173261" cy="5733288"/>
          </a:xfrm>
          <a:prstGeom prst="rect">
            <a:avLst/>
          </a:prstGeom>
        </p:spPr>
      </p:pic>
      <p:pic>
        <p:nvPicPr>
          <p:cNvPr id="5" name="Image 1" descr="C:\Users\realj\Documents\oi-slide\o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74904"/>
            <a:ext cx="11219688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Next Steps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21792" y="1051560"/>
            <a:ext cx="1911096" cy="0"/>
          </a:xfrm>
          <a:prstGeom prst="line">
            <a:avLst/>
          </a:prstGeom>
          <a:noFill/>
          <a:ln w="12700">
            <a:solidFill>
              <a:srgbClr val="29B6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837" y="1335024"/>
            <a:ext cx="11221334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matched control vector that eliminates selection problem in certain programs (e.g., healthcare)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alternative estimators against quasi-experimental designs where variation in WGU enrollment is not driven by individual selection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of WGU programs in certain states/firms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cutoffs, targeting, or ads to certain subgroups/areas</a:t>
            </a:r>
            <a:endParaRPr lang="en-US" sz="2200" dirty="0"/>
          </a:p>
        </p:txBody>
      </p:sp>
      <p:pic>
        <p:nvPicPr>
          <p:cNvPr id="5" name="Image 0" descr="C:\Users\realj\Documents\oi-slide\o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32336" y="6483096"/>
            <a:ext cx="320040" cy="301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Opportunity Insights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Opportunity Insights</dc:creator>
  <cp:lastModifiedBy>Opportunity Insights</cp:lastModifiedBy>
  <cp:revision>1</cp:revision>
  <dcterms:created xsi:type="dcterms:W3CDTF">2026-04-02T10:20:42Z</dcterms:created>
  <dcterms:modified xsi:type="dcterms:W3CDTF">2026-04-02T10:20:42Z</dcterms:modified>
</cp:coreProperties>
</file>