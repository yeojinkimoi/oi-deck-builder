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9" Type="http://schemas.openxmlformats.org/officeDocument/2006/relationships/font" Target="fonts/font6.fntdata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5_0.png"/><Relationship Id="rId2" Type="http://schemas.openxmlformats.org/officeDocument/2006/relationships/image" Target="../media/oi_gen_s5_1.svg"/><Relationship Id="rId3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6_2.png"/><Relationship Id="rId2" Type="http://schemas.openxmlformats.org/officeDocument/2006/relationships/image" Target="../media/oi_gen_s6_3.svg"/><Relationship Id="rId3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7_4.png"/><Relationship Id="rId2" Type="http://schemas.openxmlformats.org/officeDocument/2006/relationships/image" Target="../media/oi_gen_s7_5.svg"/><Relationship Id="rId3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8_6.png"/><Relationship Id="rId2" Type="http://schemas.openxmlformats.org/officeDocument/2006/relationships/image" Target="../media/oi_gen_s8_7.svg"/><Relationship Id="rId3" Type="http://schemas.openxmlformats.org/officeDocument/2006/relationships/image" Target="../media/oi_gen_s8_8.png"/><Relationship Id="rId4" Type="http://schemas.openxmlformats.org/officeDocument/2006/relationships/image" Target="../media/oi_gen_s8_9.svg"/><Relationship Id="rId5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9_10.png"/><Relationship Id="rId2" Type="http://schemas.openxmlformats.org/officeDocument/2006/relationships/image" Target="../media/oi_gen_s9_11.svg"/><Relationship Id="rId3" Type="http://schemas.openxmlformats.org/officeDocument/2006/relationships/image" Target="../media/oi_gen_s9_12.png"/><Relationship Id="rId4" Type="http://schemas.openxmlformats.org/officeDocument/2006/relationships/image" Target="../media/oi_gen_s9_13.svg"/><Relationship Id="rId5" Type="http://schemas.openxmlformats.org/officeDocument/2006/relationships/image" Target="../media/oi_gen_s9_14.png"/><Relationship Id="rId6" Type="http://schemas.openxmlformats.org/officeDocument/2006/relationships/image" Target="../media/oi_gen_s9_15.svg"/><Relationship Id="rId7" Type="http://schemas.openxmlformats.org/officeDocument/2006/relationships/image" Target="../media/oi_gen_s9_16.png"/><Relationship Id="rId8" Type="http://schemas.openxmlformats.org/officeDocument/2006/relationships/image" Target="../media/oi_gen_s9_17.svg"/><Relationship Id="rId9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0_18.png"/><Relationship Id="rId2" Type="http://schemas.openxmlformats.org/officeDocument/2006/relationships/image" Target="../media/oi_gen_s10_19.svg"/><Relationship Id="rId3" Type="http://schemas.openxmlformats.org/officeDocument/2006/relationships/image" Target="../media/oi_gen_s10_20.png"/><Relationship Id="rId4" Type="http://schemas.openxmlformats.org/officeDocument/2006/relationships/image" Target="../media/oi_gen_s10_21.svg"/><Relationship Id="rId5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1_22.png"/><Relationship Id="rId2" Type="http://schemas.openxmlformats.org/officeDocument/2006/relationships/image" Target="../media/oi_gen_s11_23.svg"/><Relationship Id="rId3" Type="http://schemas.openxmlformats.org/officeDocument/2006/relationships/image" Target="../media/oi_gen_s11_24.png"/><Relationship Id="rId4" Type="http://schemas.openxmlformats.org/officeDocument/2006/relationships/image" Target="../media/oi_gen_s11_25.svg"/><Relationship Id="rId5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2_26.png"/><Relationship Id="rId2" Type="http://schemas.openxmlformats.org/officeDocument/2006/relationships/image" Target="../media/oi_gen_s12_27.svg"/><Relationship Id="rId3" Type="http://schemas.openxmlformats.org/officeDocument/2006/relationships/image" Target="../media/oi_gen_s12_28.png"/><Relationship Id="rId4" Type="http://schemas.openxmlformats.org/officeDocument/2006/relationships/image" Target="../media/oi_gen_s12_29.svg"/><Relationship Id="rId5" Type="http://schemas.openxmlformats.org/officeDocument/2006/relationships/image" Target="../media/oi_gen_s12_30.png"/><Relationship Id="rId6" Type="http://schemas.openxmlformats.org/officeDocument/2006/relationships/image" Target="../media/oi_gen_s12_31.svg"/><Relationship Id="rId7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3_32.png"/><Relationship Id="rId2" Type="http://schemas.openxmlformats.org/officeDocument/2006/relationships/image" Target="../media/oi_gen_s13_33.svg"/><Relationship Id="rId3" Type="http://schemas.openxmlformats.org/officeDocument/2006/relationships/image" Target="../media/oi_gen_s13_34.png"/><Relationship Id="rId4" Type="http://schemas.openxmlformats.org/officeDocument/2006/relationships/image" Target="../media/oi_gen_s13_35.svg"/><Relationship Id="rId5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4_36.png"/><Relationship Id="rId2" Type="http://schemas.openxmlformats.org/officeDocument/2006/relationships/image" Target="../media/oi_gen_s14_37.svg"/><Relationship Id="rId3" Type="http://schemas.openxmlformats.org/officeDocument/2006/relationships/image" Target="../media/oi_gen_s14_38.png"/><Relationship Id="rId4" Type="http://schemas.openxmlformats.org/officeDocument/2006/relationships/image" Target="../media/oi_gen_s14_39.svg"/><Relationship Id="rId5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5_40.png"/><Relationship Id="rId2" Type="http://schemas.openxmlformats.org/officeDocument/2006/relationships/image" Target="../media/oi_gen_s15_41.svg"/><Relationship Id="rId3" Type="http://schemas.openxmlformats.org/officeDocument/2006/relationships/image" Target="../media/oi_gen_s15_42.png"/><Relationship Id="rId4" Type="http://schemas.openxmlformats.org/officeDocument/2006/relationships/image" Target="../media/oi_gen_s15_43.svg"/><Relationship Id="rId5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6_44.png"/><Relationship Id="rId2" Type="http://schemas.openxmlformats.org/officeDocument/2006/relationships/image" Target="../media/oi_gen_s16_45.svg"/><Relationship Id="rId3" Type="http://schemas.openxmlformats.org/officeDocument/2006/relationships/image" Target="../media/oi_gen_s16_46.png"/><Relationship Id="rId4" Type="http://schemas.openxmlformats.org/officeDocument/2006/relationships/image" Target="../media/oi_gen_s16_47.svg"/><Relationship Id="rId5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7_48.png"/><Relationship Id="rId2" Type="http://schemas.openxmlformats.org/officeDocument/2006/relationships/image" Target="../media/oi_gen_s17_49.svg"/><Relationship Id="rId3" Type="http://schemas.openxmlformats.org/officeDocument/2006/relationships/image" Target="../media/oi_gen_s17_50.png"/><Relationship Id="rId4" Type="http://schemas.openxmlformats.org/officeDocument/2006/relationships/image" Target="../media/oi_gen_s17_51.svg"/><Relationship Id="rId5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8_52.png"/><Relationship Id="rId2" Type="http://schemas.openxmlformats.org/officeDocument/2006/relationships/image" Target="../media/oi_gen_s18_53.svg"/><Relationship Id="rId3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9_54.png"/><Relationship Id="rId2" Type="http://schemas.openxmlformats.org/officeDocument/2006/relationships/image" Target="../media/oi_gen_s19_55.svg"/><Relationship Id="rId3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0_56.png"/><Relationship Id="rId2" Type="http://schemas.openxmlformats.org/officeDocument/2006/relationships/image" Target="../media/oi_gen_s20_57.svg"/><Relationship Id="rId3" Type="http://schemas.openxmlformats.org/officeDocument/2006/relationships/image" Target="../media/oi_gen_s20_58.png"/><Relationship Id="rId4" Type="http://schemas.openxmlformats.org/officeDocument/2006/relationships/image" Target="../media/oi_gen_s20_59.svg"/><Relationship Id="rId5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1_60.png"/><Relationship Id="rId2" Type="http://schemas.openxmlformats.org/officeDocument/2006/relationships/image" Target="../media/oi_gen_s21_61.svg"/><Relationship Id="rId3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22_62.png"/><Relationship Id="rId2" Type="http://schemas.openxmlformats.org/officeDocument/2006/relationships/image" Target="../media/oi_gen_s22_63.svg"/><Relationship Id="rId3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7106" y="4517136"/>
            <a:ext cx="1003279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The Impacts of WGU Programs on Students' Earnings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37990" y="5504688"/>
            <a:ext cx="75319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Preliminary Estimates Using Matched Comparison Groups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37990" y="5998464"/>
            <a:ext cx="7531913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February 2026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PRELIMINARY DATA -- DO NOT CITE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WGU enrollment records linked to Census+tax data covering full U.S. population (including tax filers and non-filers)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 of WGU enrollees successfully linked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WGU graduates, withdrawers, and certificates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sample: 262,000 WGU enrollees from 2013-18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observed from 2008-2023 in tax records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outcome: earnings reported on W-2 forms, measured in real 2021 dollars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those not working as 0s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self-employment income (can be incorporated later)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Identifying Matched Controls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WGU enrollee, identify matched controls based on: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Pre-enrollment earnings trajectory: W-2 earnings in the three years prior to enrollment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sex, and county of residence in year of enrollment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compare average earnings of WGU enrollees to those of matched controls pre vs. post enrollment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WGU enrollee has 350 matched controls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of matched control group enrolls in other non-WGU degree programs at the same time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WGU Program Categories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Programs Grouped into Eight Degree-Sectors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5838" y="1371600"/>
          <a:ext cx="1093713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411480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Degree Level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Program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Example Program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Number of Students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Graduation Rate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Bachelor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Education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BA, Interdisciplinary Studies (K-8)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31,000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53%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Bachelor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Health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BS, Nursing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54,000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75%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Bachelor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Business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BS, Business Management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65,000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46%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Bachelor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Technology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BS, Information Technology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29,000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46%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Master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Education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MS, Curriculum and Instruction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22,000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81%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Master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Health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MS, Nursing Education (BSN-MSN)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25,000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67%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Master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Business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MBA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32,000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67%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Master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Technology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MS, Cybersecurity and Information Assurance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5,000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59%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5838" y="6139007"/>
            <a:ext cx="1093713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Programs aggregated from individual WGU degree programs into 8 groups by degree level and field of study.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Education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2 Years After Entry vs. Matched Controls</a:t>
            </a:r>
            <a:endParaRPr lang="en-US" sz="1600" dirty="0"/>
          </a:p>
        </p:txBody>
      </p:sp>
      <p:pic>
        <p:nvPicPr>
          <p:cNvPr id="4" name="Image 0" descr="C:\Users\realj\Documents\oi-slide\example\figures\slide1_BaEd_bin2_grad_treat_onl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829" y="1083564"/>
            <a:ext cx="9435694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Education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2 Years After Entry vs. Matched Controls</a:t>
            </a:r>
            <a:endParaRPr lang="en-US" sz="1600" dirty="0"/>
          </a:p>
        </p:txBody>
      </p:sp>
      <p:pic>
        <p:nvPicPr>
          <p:cNvPr id="4" name="Image 0" descr="C:\Users\realj\Documents\oi-slide\example\figures\slide1_BaEd_bin2_grad_bot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829" y="1083564"/>
            <a:ext cx="9435694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Education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2 Years After Entry vs. Matched Controls</a:t>
            </a:r>
            <a:endParaRPr lang="en-US" sz="1600" dirty="0"/>
          </a:p>
        </p:txBody>
      </p:sp>
      <p:pic>
        <p:nvPicPr>
          <p:cNvPr id="4" name="Image 0" descr="C:\Users\realj\Documents\oi-slide\example\figures\slide1_BaEd_bin2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829" y="1083564"/>
            <a:ext cx="9435694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Education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Graduates or Withdraw 2 Years After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2_BaEd_bin2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2_BaEd_bin2_wd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Education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Graduates or Withdraw 3 or 4 Years After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4081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3_BaEd_grad_bin3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9362" y="1609344"/>
            <a:ext cx="3895344" cy="22914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4081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3_BaEd_wd_bin3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4109" y="1609344"/>
            <a:ext cx="3895344" cy="2291486"/>
          </a:xfrm>
          <a:prstGeom prst="rect">
            <a:avLst/>
          </a:prstGeom>
        </p:spPr>
      </p:pic>
      <p:pic>
        <p:nvPicPr>
          <p:cNvPr id="8" name="Image 2" descr="C:\Users\realj\Documents\oi-slide\example\figures\slide3_BaEd_grad_bin4_delta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9362" y="3900830"/>
            <a:ext cx="3895344" cy="2291486"/>
          </a:xfrm>
          <a:prstGeom prst="rect">
            <a:avLst/>
          </a:prstGeom>
        </p:spPr>
      </p:pic>
      <p:pic>
        <p:nvPicPr>
          <p:cNvPr id="9" name="Image 3" descr="C:\Users\realj\Documents\oi-slide\example\figures\slide3_BaEd_wd_bin4_delta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14109" y="3900830"/>
            <a:ext cx="3895344" cy="22914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Education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Baseline Model vs. Comparison to People who Enroll in Other Higher Education Institutions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Comparison to All Matched Individuals</a:t>
            </a:r>
            <a:endParaRPr lang="en-US" sz="1400" dirty="0"/>
          </a:p>
        </p:txBody>
      </p:sp>
      <p:pic>
        <p:nvPicPr>
          <p:cNvPr id="5" name="Image 0" descr="C:\Users\realj\Documents\oi-slide\example\figures\slide4_BaEd_bin3_baseline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Comparison to Other Higher Education Enrollees</a:t>
            </a:r>
            <a:endParaRPr lang="en-US" sz="1400" dirty="0"/>
          </a:p>
        </p:txBody>
      </p:sp>
      <p:pic>
        <p:nvPicPr>
          <p:cNvPr id="7" name="Image 1" descr="C:\Users\realj\Documents\oi-slide\example\figures\slide4_BaEd_bin3_1098t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Business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or Withdraw 3 Years After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5_BaBu_bin3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5_BaBu_bin3_wd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Technology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3 Years After Entry, Withdraw w/Certificate, or Withdraw w/o Certificate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0123" y="1408176"/>
            <a:ext cx="546856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6_BaTe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42232" y="1609344"/>
            <a:ext cx="3724351" cy="21909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5838" y="3800246"/>
            <a:ext cx="546856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 w/ Certificate</a:t>
            </a:r>
            <a:endParaRPr lang="en-US" sz="1400" dirty="0"/>
          </a:p>
        </p:txBody>
      </p:sp>
      <p:pic>
        <p:nvPicPr>
          <p:cNvPr id="7" name="Image 1" descr="C:\Users\realj\Documents\oi-slide\example\figures\slide6_BaTe_wd_somecert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8176" y="4001414"/>
            <a:ext cx="3724351" cy="21909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04408" y="3800246"/>
            <a:ext cx="546856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 w/o Certificate</a:t>
            </a:r>
            <a:endParaRPr lang="en-US" sz="1400" dirty="0"/>
          </a:p>
        </p:txBody>
      </p:sp>
      <p:pic>
        <p:nvPicPr>
          <p:cNvPr id="9" name="Image 2" descr="C:\Users\realj\Documents\oi-slide\example\figures\slide6_BaTe_wd_nocert_delta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6288" y="4001414"/>
            <a:ext cx="3724351" cy="21909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Bachelor of Health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or Withdraw 2 Years After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7_BaHe_bin2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7_BaHe_bin2_wd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Master of Education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or Withdraw 2 Years After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8_MaEd_bin2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8_MaEd_bin2_wd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Master of Business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or Withdraw 2 Years After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9_MaBu_bin2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9_MaBu_bin2_wd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Master of Technology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2 Years After Entry or Withdraw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10_MaTe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10_MaTe_wd_nocert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Master of Health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WGU Enrollees who Graduate or Withdraw 2 Years After Entry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Graduates</a:t>
            </a:r>
            <a:endParaRPr lang="en-US" sz="1400" dirty="0"/>
          </a:p>
        </p:txBody>
      </p:sp>
      <p:pic>
        <p:nvPicPr>
          <p:cNvPr id="5" name="Image 0" descr="C:\Users\realj\Documents\oi-slide\example\figures\slide11_MaHe_bin2_grad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Withdrawers</a:t>
            </a:r>
            <a:endParaRPr lang="en-US" sz="1400" dirty="0"/>
          </a:p>
        </p:txBody>
      </p:sp>
      <p:pic>
        <p:nvPicPr>
          <p:cNvPr id="7" name="Image 1" descr="C:\Users\realj\Documents\oi-slide\example\figures\slide11_MaHe_bin2_wd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WGU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Treatment Effects on W-2 Wages 5 Years After Enrollment</a:t>
            </a:r>
            <a:endParaRPr lang="en-US" sz="1600" dirty="0"/>
          </a:p>
        </p:txBody>
      </p:sp>
      <p:pic>
        <p:nvPicPr>
          <p:cNvPr id="4" name="Image 0" descr="C:\Users\realj\Documents\oi-slide\example\figures\slide12a_barplot_grad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WGU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Treatment Effects on W-2 Wages 5 Years After Enrollment</a:t>
            </a:r>
            <a:endParaRPr lang="en-US" sz="1600" dirty="0"/>
          </a:p>
        </p:txBody>
      </p:sp>
      <p:pic>
        <p:nvPicPr>
          <p:cNvPr id="4" name="Image 0" descr="C:\Users\realj\Documents\oi-slide\example\figures\slide12b_barplot_grads_w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Placebo Test: Matching on Wages 3-5 Years Prior to Enrollment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Bachelor of Education &amp; Bachelor of Health vs. Matched Controls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83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Bachelor of Education</a:t>
            </a:r>
            <a:endParaRPr lang="en-US" sz="1400" dirty="0"/>
          </a:p>
        </p:txBody>
      </p:sp>
      <p:pic>
        <p:nvPicPr>
          <p:cNvPr id="5" name="Image 0" descr="C:\Users\realj\Documents\oi-slide\example\figures\slide_BaEd_bin3_26_del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838" y="2066544"/>
            <a:ext cx="5423306" cy="3190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8" y="1865376"/>
            <a:ext cx="5422849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Bachelor of Health</a:t>
            </a:r>
            <a:endParaRPr lang="en-US" sz="1400" dirty="0"/>
          </a:p>
        </p:txBody>
      </p:sp>
      <p:pic>
        <p:nvPicPr>
          <p:cNvPr id="7" name="Image 1" descr="C:\Users\realj\Documents\oi-slide\example\figures\slide_BaHe_bin2_26_delt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585" y="2066544"/>
            <a:ext cx="5423306" cy="31903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WGU Programs on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Treatment Effects on W-2 Wages 5 Years After Enrollment</a:t>
            </a:r>
            <a:endParaRPr lang="en-US" sz="1600" dirty="0"/>
          </a:p>
        </p:txBody>
      </p:sp>
      <p:pic>
        <p:nvPicPr>
          <p:cNvPr id="4" name="Image 0" descr="C:\Users\realj\Documents\oi-slide\example\figures\slide12c_barplot_al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Withdrawal Effects vs. Placebo Tests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Treatment Effects on 5-Year Wages by Program</a:t>
            </a:r>
            <a:endParaRPr lang="en-US" sz="1600" dirty="0"/>
          </a:p>
        </p:txBody>
      </p:sp>
      <p:pic>
        <p:nvPicPr>
          <p:cNvPr id="4" name="Image 0" descr="C:\Users\realj\Documents\oi-slide\example\figures\slide14_scatter_wd_vs_placeb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1892" y="1083564"/>
            <a:ext cx="8880653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Next Steps and Discussion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matched control vector that eliminates selection problem in certain programs (e.g., healthcare)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alternative estimators against quasi-experimental designs where variation in WGU enrollment is not driven by individual selection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of WGU programs in certain states/firms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cutoffs, targeting, or ads to certain subgroups/areas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