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6"/>
    <p:sldId id="257" r:id="rId27"/>
    <p:sldId id="258" r:id="rId28"/>
    <p:sldId id="259" r:id="rId29"/>
    <p:sldId id="260" r:id="rId30"/>
    <p:sldId id="261" r:id="rId31"/>
    <p:sldId id="262" r:id="rId32"/>
    <p:sldId id="263" r:id="rId33"/>
    <p:sldId id="264" r:id="rId34"/>
    <p:sldId id="265" r:id="rId35"/>
    <p:sldId id="266" r:id="rId36"/>
    <p:sldId id="267" r:id="rId37"/>
    <p:sldId id="268" r:id="rId38"/>
    <p:sldId id="269" r:id="rId39"/>
    <p:sldId id="270" r:id="rId40"/>
    <p:sldId id="271" r:id="rId41"/>
    <p:sldId id="272" r:id="rId42"/>
    <p:sldId id="273" r:id="rId43"/>
    <p:sldId id="274" r:id="rId44"/>
    <p:sldId id="275" r:id="rId45"/>
    <p:sldId id="276" r:id="rId46"/>
    <p:sldId id="277" r:id="rId47"/>
    <p:sldId id="278" r:id="rId48"/>
  </p:sldIdLst>
  <p:sldSz cx="12192000" cy="6858000"/>
  <p:notesSz cx="6858000" cy="9144000"/>
  <p:embeddedFontLst>
    <p:embeddedFont>
      <p:font typeface="Lucida Bright" panose="02040602050505020304" pitchFamily="18" charset="0"/>
      <p:regular r:id="rId14"/>
      <p:bold r:id="rId15"/>
      <p:italic r:id="rId16"/>
      <p:boldItalic r:id="rId17"/>
    </p:embeddedFont>
    <p:embeddedFont>
      <p:font typeface="Lucida Sans" panose="020B0602030504020204" pitchFamily="34" charset="0"/>
      <p:regular r:id="rId18"/>
      <p:bold r:id="rId19"/>
      <p:italic r:id="rId20"/>
      <p:boldItalic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626365"/>
    <a:srgbClr val="000000"/>
    <a:srgbClr val="FAA523"/>
    <a:srgbClr val="29B6A4"/>
    <a:srgbClr val="262626"/>
    <a:srgbClr val="D9D9D9"/>
    <a:srgbClr val="B2B5B7"/>
    <a:srgbClr val="7F4892"/>
    <a:srgbClr val="19B7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31" autoAdjust="0"/>
    <p:restoredTop sz="66344" autoAdjust="0"/>
  </p:normalViewPr>
  <p:slideViewPr>
    <p:cSldViewPr snapToGrid="0">
      <p:cViewPr varScale="1">
        <p:scale>
          <a:sx n="70" d="100"/>
          <a:sy n="70" d="100"/>
        </p:scale>
        <p:origin x="2394" y="48"/>
      </p:cViewPr>
      <p:guideLst/>
    </p:cSldViewPr>
  </p:slideViewPr>
  <p:outlineViewPr>
    <p:cViewPr>
      <p:scale>
        <a:sx n="100" d="100"/>
        <a:sy n="100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handoutMaster" Target="handoutMasters/handoutMaster1.xml"/><Relationship Id="rId18" Type="http://schemas.openxmlformats.org/officeDocument/2006/relationships/font" Target="fonts/font5.fntdata"/><Relationship Id="rId21" Type="http://schemas.openxmlformats.org/officeDocument/2006/relationships/font" Target="fonts/font8.fntdata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24" Type="http://schemas.openxmlformats.org/officeDocument/2006/relationships/theme" Target="theme/theme1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9" Type="http://schemas.openxmlformats.org/officeDocument/2006/relationships/font" Target="fonts/font6.fntdata"/><Relationship Id="rId14" Type="http://schemas.openxmlformats.org/officeDocument/2006/relationships/font" Target="fonts/font1.fntdata"/><Relationship Id="rId22" Type="http://schemas.openxmlformats.org/officeDocument/2006/relationships/presProps" Target="presProps.xml"/><Relationship Id="rId26" Type="http://schemas.openxmlformats.org/officeDocument/2006/relationships/slide" Target="slides/slide1.xml"/><Relationship Id="rId27" Type="http://schemas.openxmlformats.org/officeDocument/2006/relationships/slide" Target="slides/slide2.xml"/><Relationship Id="rId28" Type="http://schemas.openxmlformats.org/officeDocument/2006/relationships/slide" Target="slides/slide3.xml"/><Relationship Id="rId29" Type="http://schemas.openxmlformats.org/officeDocument/2006/relationships/slide" Target="slides/slide4.xml"/><Relationship Id="rId30" Type="http://schemas.openxmlformats.org/officeDocument/2006/relationships/slide" Target="slides/slide5.xml"/><Relationship Id="rId31" Type="http://schemas.openxmlformats.org/officeDocument/2006/relationships/slide" Target="slides/slide6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37" Type="http://schemas.openxmlformats.org/officeDocument/2006/relationships/slide" Target="slides/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0" Type="http://schemas.openxmlformats.org/officeDocument/2006/relationships/slide" Target="slides/slide15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slide" Target="slides/slide19.xml"/><Relationship Id="rId45" Type="http://schemas.openxmlformats.org/officeDocument/2006/relationships/slide" Target="slides/slide20.xml"/><Relationship Id="rId46" Type="http://schemas.openxmlformats.org/officeDocument/2006/relationships/slide" Target="slides/slide21.xml"/><Relationship Id="rId47" Type="http://schemas.openxmlformats.org/officeDocument/2006/relationships/slide" Target="slides/slide22.xml"/><Relationship Id="rId48" Type="http://schemas.openxmlformats.org/officeDocument/2006/relationships/slide" Target="slides/slide2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6AFC86-27A9-9E95-2727-D9D4A8DB11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7655AD-DDB4-9E33-5374-7073A775A22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32DC63-E65A-424C-8CAA-1D619F56AE50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6E5FC8-9B34-4F53-C3CC-7E34B4AF746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21F2B2-986D-63CB-1D64-E69F5426D9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E4D987-604E-4356-9357-0E7343739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196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B7B20E-7C29-400A-ACB4-EA33BE0918AC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75BCDB-D66B-4FB6-98F0-5DAE7FE580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771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I Theme: Intr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4A8026D-1409-DDF3-BA57-7B0518BDC1FD}"/>
              </a:ext>
            </a:extLst>
          </p:cNvPr>
          <p:cNvSpPr/>
          <p:nvPr userDrawn="1"/>
        </p:nvSpPr>
        <p:spPr>
          <a:xfrm>
            <a:off x="2903220" y="4416316"/>
            <a:ext cx="9288780" cy="2215987"/>
          </a:xfrm>
          <a:prstGeom prst="rect">
            <a:avLst/>
          </a:prstGeom>
          <a:solidFill>
            <a:srgbClr val="FFFFFF">
              <a:alpha val="85098"/>
            </a:srgb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91350" tIns="45718" rIns="91350" bIns="45718" rtlCol="0" anchor="ctr"/>
          <a:lstStyle/>
          <a:p>
            <a:pPr marL="0" marR="0" lvl="0" indent="0" algn="ctr" defTabSz="9133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BC1C8C-8A15-6003-CC10-86C03FD412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37806" y="5499417"/>
            <a:ext cx="7531624" cy="767762"/>
          </a:xfrm>
        </p:spPr>
        <p:txBody>
          <a:bodyPr>
            <a:no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4" name="Picture 2" descr="Chetty, Friedman, and Hendren Launch Opportunity Insights | Opportunity  Insights">
            <a:extLst>
              <a:ext uri="{FF2B5EF4-FFF2-40B4-BE49-F238E27FC236}">
                <a16:creationId xmlns:a16="http://schemas.microsoft.com/office/drawing/2014/main" id="{87EDAE40-C311-7D4A-86B9-A801BBB1B9FA}"/>
              </a:ext>
            </a:extLst>
          </p:cNvPr>
          <p:cNvPicPr/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3082" y="6218992"/>
            <a:ext cx="1968338" cy="342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5EED02-CBB8-F4FF-F842-371491D42F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6970" y="4416315"/>
            <a:ext cx="10032460" cy="1083101"/>
          </a:xfrm>
          <a:prstGeom prst="rect">
            <a:avLst/>
          </a:prstGeom>
        </p:spPr>
        <p:txBody>
          <a:bodyPr anchor="b"/>
          <a:lstStyle>
            <a:lvl1pPr algn="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24">
            <a:extLst>
              <a:ext uri="{FF2B5EF4-FFF2-40B4-BE49-F238E27FC236}">
                <a16:creationId xmlns:a16="http://schemas.microsoft.com/office/drawing/2014/main" id="{287E356F-8C63-73F9-7168-432FB4BD7BA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37806" y="6267179"/>
            <a:ext cx="7531624" cy="365125"/>
          </a:xfrm>
        </p:spPr>
        <p:txBody>
          <a:bodyPr>
            <a:noAutofit/>
          </a:bodyPr>
          <a:lstStyle>
            <a:lvl1pPr algn="r">
              <a:buNone/>
              <a:defRPr sz="1200" b="1"/>
            </a:lvl1pPr>
          </a:lstStyle>
          <a:p>
            <a:pPr lvl="0"/>
            <a:r>
              <a:rPr lang="en-US" dirty="0"/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2830033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I-Theme: Title and Subtitle with Sourc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C0EBB-5295-6483-AFAC-33081E089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913" y="365271"/>
            <a:ext cx="10937463" cy="365121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CAB9E-3347-0F44-534F-292BBA4D54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490" y="1177798"/>
            <a:ext cx="10937462" cy="50149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4B4EBE-AF72-4F2B-A861-943B0687A8DC}"/>
              </a:ext>
            </a:extLst>
          </p:cNvPr>
          <p:cNvCxnSpPr>
            <a:cxnSpLocks/>
          </p:cNvCxnSpPr>
          <p:nvPr userDrawn="1"/>
        </p:nvCxnSpPr>
        <p:spPr>
          <a:xfrm>
            <a:off x="620980" y="1000920"/>
            <a:ext cx="1913229" cy="0"/>
          </a:xfrm>
          <a:prstGeom prst="line">
            <a:avLst/>
          </a:prstGeom>
          <a:ln w="6350">
            <a:solidFill>
              <a:srgbClr val="29B6A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885194-2FED-DEDF-680B-2422726A2E49}"/>
              </a:ext>
            </a:extLst>
          </p:cNvPr>
          <p:cNvCxnSpPr>
            <a:cxnSpLocks/>
          </p:cNvCxnSpPr>
          <p:nvPr userDrawn="1"/>
        </p:nvCxnSpPr>
        <p:spPr>
          <a:xfrm>
            <a:off x="620980" y="6483107"/>
            <a:ext cx="1095364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Subtitle 2">
            <a:extLst>
              <a:ext uri="{FF2B5EF4-FFF2-40B4-BE49-F238E27FC236}">
                <a16:creationId xmlns:a16="http://schemas.microsoft.com/office/drawing/2014/main" id="{94A791F6-9DA5-91C1-6AA5-29406DF11AEF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522913" y="719713"/>
            <a:ext cx="10950039" cy="260907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rgbClr val="626365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E486B3F-3423-79BB-737B-789C144F838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5490" y="6512596"/>
            <a:ext cx="10937875" cy="365125"/>
          </a:xfrm>
        </p:spPr>
        <p:txBody>
          <a:bodyPr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Click</a:t>
            </a:r>
          </a:p>
        </p:txBody>
      </p:sp>
      <p:pic>
        <p:nvPicPr>
          <p:cNvPr id="29" name="Picture 28" descr="A black and grey text&#10;&#10;Description automatically generated">
            <a:extLst>
              <a:ext uri="{FF2B5EF4-FFF2-40B4-BE49-F238E27FC236}">
                <a16:creationId xmlns:a16="http://schemas.microsoft.com/office/drawing/2014/main" id="{92FEF83D-11CA-9217-08E0-656D3BABBD5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947"/>
          <a:stretch/>
        </p:blipFill>
        <p:spPr>
          <a:xfrm>
            <a:off x="11835183" y="6480880"/>
            <a:ext cx="315482" cy="30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274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I-Theme: Title and Subtitle, no Sourc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C0EBB-5295-6483-AFAC-33081E089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913" y="365271"/>
            <a:ext cx="10937463" cy="365121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CAB9E-3347-0F44-534F-292BBA4D54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490" y="1177798"/>
            <a:ext cx="10937462" cy="50149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4B4EBE-AF72-4F2B-A861-943B0687A8DC}"/>
              </a:ext>
            </a:extLst>
          </p:cNvPr>
          <p:cNvCxnSpPr>
            <a:cxnSpLocks/>
          </p:cNvCxnSpPr>
          <p:nvPr userDrawn="1"/>
        </p:nvCxnSpPr>
        <p:spPr>
          <a:xfrm>
            <a:off x="620980" y="1000920"/>
            <a:ext cx="1913229" cy="0"/>
          </a:xfrm>
          <a:prstGeom prst="line">
            <a:avLst/>
          </a:prstGeom>
          <a:ln w="6350">
            <a:solidFill>
              <a:srgbClr val="29B6A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Subtitle 2">
            <a:extLst>
              <a:ext uri="{FF2B5EF4-FFF2-40B4-BE49-F238E27FC236}">
                <a16:creationId xmlns:a16="http://schemas.microsoft.com/office/drawing/2014/main" id="{94A791F6-9DA5-91C1-6AA5-29406DF11AEF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522913" y="719713"/>
            <a:ext cx="10950039" cy="260907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rgbClr val="626365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4" name="Picture 3" descr="A black and grey text&#10;&#10;Description automatically generated">
            <a:extLst>
              <a:ext uri="{FF2B5EF4-FFF2-40B4-BE49-F238E27FC236}">
                <a16:creationId xmlns:a16="http://schemas.microsoft.com/office/drawing/2014/main" id="{A8713239-F501-723D-D01B-A99907ACA1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947"/>
          <a:stretch/>
        </p:blipFill>
        <p:spPr>
          <a:xfrm>
            <a:off x="11835183" y="6480880"/>
            <a:ext cx="315482" cy="30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3868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I Theme: Title - No Subtitle with Sourc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CAB9E-3347-0F44-534F-292BBA4D54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1AF2DE-EC0A-F096-CF43-D7121547010B}"/>
              </a:ext>
            </a:extLst>
          </p:cNvPr>
          <p:cNvCxnSpPr>
            <a:cxnSpLocks/>
          </p:cNvCxnSpPr>
          <p:nvPr userDrawn="1"/>
        </p:nvCxnSpPr>
        <p:spPr>
          <a:xfrm>
            <a:off x="620980" y="835820"/>
            <a:ext cx="1913229" cy="0"/>
          </a:xfrm>
          <a:prstGeom prst="line">
            <a:avLst/>
          </a:prstGeom>
          <a:ln w="6350">
            <a:solidFill>
              <a:srgbClr val="29B6A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337F9-9B78-B3A3-3F34-61AB23DCC0C9}"/>
              </a:ext>
            </a:extLst>
          </p:cNvPr>
          <p:cNvCxnSpPr>
            <a:cxnSpLocks/>
          </p:cNvCxnSpPr>
          <p:nvPr userDrawn="1"/>
        </p:nvCxnSpPr>
        <p:spPr>
          <a:xfrm>
            <a:off x="620980" y="6483107"/>
            <a:ext cx="1095364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9118330A-FAC3-DA52-0B67-083405089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913" y="365271"/>
            <a:ext cx="10937463" cy="365121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1" name="Picture 10" descr="A black and grey text&#10;&#10;Description automatically generated">
            <a:extLst>
              <a:ext uri="{FF2B5EF4-FFF2-40B4-BE49-F238E27FC236}">
                <a16:creationId xmlns:a16="http://schemas.microsoft.com/office/drawing/2014/main" id="{A9ECF13D-850A-03D5-4AE1-873C1EC6577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947"/>
          <a:stretch/>
        </p:blipFill>
        <p:spPr>
          <a:xfrm>
            <a:off x="11835183" y="6480880"/>
            <a:ext cx="315482" cy="304226"/>
          </a:xfrm>
          <a:prstGeom prst="rect">
            <a:avLst/>
          </a:prstGeom>
        </p:spPr>
      </p:pic>
      <p:sp>
        <p:nvSpPr>
          <p:cNvPr id="2" name="Text Placeholder 24">
            <a:extLst>
              <a:ext uri="{FF2B5EF4-FFF2-40B4-BE49-F238E27FC236}">
                <a16:creationId xmlns:a16="http://schemas.microsoft.com/office/drawing/2014/main" id="{AD0F6157-D6B6-8B83-0365-9C13F43D14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5490" y="6512596"/>
            <a:ext cx="10937875" cy="365125"/>
          </a:xfrm>
        </p:spPr>
        <p:txBody>
          <a:bodyPr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2331006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I Theme: Title - No Subtitle, no Sourc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CAB9E-3347-0F44-534F-292BBA4D54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1AF2DE-EC0A-F096-CF43-D7121547010B}"/>
              </a:ext>
            </a:extLst>
          </p:cNvPr>
          <p:cNvCxnSpPr>
            <a:cxnSpLocks/>
          </p:cNvCxnSpPr>
          <p:nvPr userDrawn="1"/>
        </p:nvCxnSpPr>
        <p:spPr>
          <a:xfrm>
            <a:off x="620980" y="835820"/>
            <a:ext cx="1913229" cy="0"/>
          </a:xfrm>
          <a:prstGeom prst="line">
            <a:avLst/>
          </a:prstGeom>
          <a:ln w="6350">
            <a:solidFill>
              <a:srgbClr val="29B6A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9118330A-FAC3-DA52-0B67-083405089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913" y="365271"/>
            <a:ext cx="10937463" cy="365121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" name="Picture 1" descr="A black and grey text&#10;&#10;Description automatically generated">
            <a:extLst>
              <a:ext uri="{FF2B5EF4-FFF2-40B4-BE49-F238E27FC236}">
                <a16:creationId xmlns:a16="http://schemas.microsoft.com/office/drawing/2014/main" id="{00D15EAF-C4E1-1773-9042-35DC00C98C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947"/>
          <a:stretch/>
        </p:blipFill>
        <p:spPr>
          <a:xfrm>
            <a:off x="11835183" y="6480880"/>
            <a:ext cx="315482" cy="30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871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0C5D21-4EDC-A414-72BF-71D388321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3557" y="1825625"/>
            <a:ext cx="109374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73FA415-12F8-8B2B-BC11-F713C1AAD15C}"/>
              </a:ext>
            </a:extLst>
          </p:cNvPr>
          <p:cNvSpPr txBox="1">
            <a:spLocks/>
          </p:cNvSpPr>
          <p:nvPr userDrawn="1"/>
        </p:nvSpPr>
        <p:spPr>
          <a:xfrm>
            <a:off x="633556" y="375319"/>
            <a:ext cx="10937463" cy="85111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0318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10" r:id="rId3"/>
    <p:sldLayoutId id="2147483660" r:id="rId4"/>
    <p:sldLayoutId id="214748371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5_0.png"/><Relationship Id="rId2" Type="http://schemas.openxmlformats.org/officeDocument/2006/relationships/image" Target="../media/oi_gen_s5_1.svg"/><Relationship Id="rId3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6_2.png"/><Relationship Id="rId2" Type="http://schemas.openxmlformats.org/officeDocument/2006/relationships/image" Target="../media/oi_gen_s6_3.svg"/><Relationship Id="rId3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7_4.png"/><Relationship Id="rId2" Type="http://schemas.openxmlformats.org/officeDocument/2006/relationships/image" Target="../media/oi_gen_s7_5.svg"/><Relationship Id="rId3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8_6.png"/><Relationship Id="rId2" Type="http://schemas.openxmlformats.org/officeDocument/2006/relationships/image" Target="../media/oi_gen_s8_7.svg"/><Relationship Id="rId3" Type="http://schemas.openxmlformats.org/officeDocument/2006/relationships/image" Target="../media/oi_gen_s8_8.png"/><Relationship Id="rId4" Type="http://schemas.openxmlformats.org/officeDocument/2006/relationships/image" Target="../media/oi_gen_s8_9.svg"/><Relationship Id="rId5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9_10.png"/><Relationship Id="rId2" Type="http://schemas.openxmlformats.org/officeDocument/2006/relationships/image" Target="../media/oi_gen_s9_11.svg"/><Relationship Id="rId3" Type="http://schemas.openxmlformats.org/officeDocument/2006/relationships/image" Target="../media/oi_gen_s9_12.png"/><Relationship Id="rId4" Type="http://schemas.openxmlformats.org/officeDocument/2006/relationships/image" Target="../media/oi_gen_s9_13.svg"/><Relationship Id="rId5" Type="http://schemas.openxmlformats.org/officeDocument/2006/relationships/image" Target="../media/oi_gen_s9_14.png"/><Relationship Id="rId6" Type="http://schemas.openxmlformats.org/officeDocument/2006/relationships/image" Target="../media/oi_gen_s9_15.svg"/><Relationship Id="rId7" Type="http://schemas.openxmlformats.org/officeDocument/2006/relationships/image" Target="../media/oi_gen_s9_16.png"/><Relationship Id="rId8" Type="http://schemas.openxmlformats.org/officeDocument/2006/relationships/image" Target="../media/oi_gen_s9_17.svg"/><Relationship Id="rId9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10_18.png"/><Relationship Id="rId2" Type="http://schemas.openxmlformats.org/officeDocument/2006/relationships/image" Target="../media/oi_gen_s10_19.svg"/><Relationship Id="rId3" Type="http://schemas.openxmlformats.org/officeDocument/2006/relationships/image" Target="../media/oi_gen_s10_20.png"/><Relationship Id="rId4" Type="http://schemas.openxmlformats.org/officeDocument/2006/relationships/image" Target="../media/oi_gen_s10_21.svg"/><Relationship Id="rId5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11_22.png"/><Relationship Id="rId2" Type="http://schemas.openxmlformats.org/officeDocument/2006/relationships/image" Target="../media/oi_gen_s11_23.svg"/><Relationship Id="rId3" Type="http://schemas.openxmlformats.org/officeDocument/2006/relationships/image" Target="../media/oi_gen_s11_24.png"/><Relationship Id="rId4" Type="http://schemas.openxmlformats.org/officeDocument/2006/relationships/image" Target="../media/oi_gen_s11_25.svg"/><Relationship Id="rId5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12_26.png"/><Relationship Id="rId2" Type="http://schemas.openxmlformats.org/officeDocument/2006/relationships/image" Target="../media/oi_gen_s12_27.svg"/><Relationship Id="rId3" Type="http://schemas.openxmlformats.org/officeDocument/2006/relationships/image" Target="../media/oi_gen_s12_28.png"/><Relationship Id="rId4" Type="http://schemas.openxmlformats.org/officeDocument/2006/relationships/image" Target="../media/oi_gen_s12_29.svg"/><Relationship Id="rId5" Type="http://schemas.openxmlformats.org/officeDocument/2006/relationships/image" Target="../media/oi_gen_s12_30.png"/><Relationship Id="rId6" Type="http://schemas.openxmlformats.org/officeDocument/2006/relationships/image" Target="../media/oi_gen_s12_31.svg"/><Relationship Id="rId7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13_32.png"/><Relationship Id="rId2" Type="http://schemas.openxmlformats.org/officeDocument/2006/relationships/image" Target="../media/oi_gen_s13_33.svg"/><Relationship Id="rId3" Type="http://schemas.openxmlformats.org/officeDocument/2006/relationships/image" Target="../media/oi_gen_s13_34.png"/><Relationship Id="rId4" Type="http://schemas.openxmlformats.org/officeDocument/2006/relationships/image" Target="../media/oi_gen_s13_35.svg"/><Relationship Id="rId5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14_36.png"/><Relationship Id="rId2" Type="http://schemas.openxmlformats.org/officeDocument/2006/relationships/image" Target="../media/oi_gen_s14_37.svg"/><Relationship Id="rId3" Type="http://schemas.openxmlformats.org/officeDocument/2006/relationships/image" Target="../media/oi_gen_s14_38.png"/><Relationship Id="rId4" Type="http://schemas.openxmlformats.org/officeDocument/2006/relationships/image" Target="../media/oi_gen_s14_39.svg"/><Relationship Id="rId5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15_40.png"/><Relationship Id="rId2" Type="http://schemas.openxmlformats.org/officeDocument/2006/relationships/image" Target="../media/oi_gen_s15_41.svg"/><Relationship Id="rId3" Type="http://schemas.openxmlformats.org/officeDocument/2006/relationships/image" Target="../media/oi_gen_s15_42.png"/><Relationship Id="rId4" Type="http://schemas.openxmlformats.org/officeDocument/2006/relationships/image" Target="../media/oi_gen_s15_43.svg"/><Relationship Id="rId5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16_44.png"/><Relationship Id="rId2" Type="http://schemas.openxmlformats.org/officeDocument/2006/relationships/image" Target="../media/oi_gen_s16_45.svg"/><Relationship Id="rId3" Type="http://schemas.openxmlformats.org/officeDocument/2006/relationships/image" Target="../media/oi_gen_s16_46.png"/><Relationship Id="rId4" Type="http://schemas.openxmlformats.org/officeDocument/2006/relationships/image" Target="../media/oi_gen_s16_47.svg"/><Relationship Id="rId5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17_48.png"/><Relationship Id="rId2" Type="http://schemas.openxmlformats.org/officeDocument/2006/relationships/image" Target="../media/oi_gen_s17_49.svg"/><Relationship Id="rId3" Type="http://schemas.openxmlformats.org/officeDocument/2006/relationships/image" Target="../media/oi_gen_s17_50.png"/><Relationship Id="rId4" Type="http://schemas.openxmlformats.org/officeDocument/2006/relationships/image" Target="../media/oi_gen_s17_51.svg"/><Relationship Id="rId5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18_52.png"/><Relationship Id="rId2" Type="http://schemas.openxmlformats.org/officeDocument/2006/relationships/image" Target="../media/oi_gen_s18_53.svg"/><Relationship Id="rId3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19_54.png"/><Relationship Id="rId2" Type="http://schemas.openxmlformats.org/officeDocument/2006/relationships/image" Target="../media/oi_gen_s19_55.svg"/><Relationship Id="rId3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20_56.png"/><Relationship Id="rId2" Type="http://schemas.openxmlformats.org/officeDocument/2006/relationships/image" Target="../media/oi_gen_s20_57.svg"/><Relationship Id="rId3" Type="http://schemas.openxmlformats.org/officeDocument/2006/relationships/image" Target="../media/oi_gen_s20_58.png"/><Relationship Id="rId4" Type="http://schemas.openxmlformats.org/officeDocument/2006/relationships/image" Target="../media/oi_gen_s20_59.svg"/><Relationship Id="rId5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21_60.png"/><Relationship Id="rId2" Type="http://schemas.openxmlformats.org/officeDocument/2006/relationships/image" Target="../media/oi_gen_s21_61.svg"/><Relationship Id="rId3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oi_gen_s22_62.png"/><Relationship Id="rId2" Type="http://schemas.openxmlformats.org/officeDocument/2006/relationships/image" Target="../media/oi_gen_s22_63.svg"/><Relationship Id="rId3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37106" y="4517136"/>
            <a:ext cx="10032797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The Impacts of WGU Programs on Students' Earnings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37990" y="5504688"/>
            <a:ext cx="7531913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00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Preliminary Estimates Using Matched Comparison Groups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037990" y="5998464"/>
            <a:ext cx="7531913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February 2026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PRELIMINARY DATA -- DO NOT CITE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Data Sources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5838" y="1335024"/>
            <a:ext cx="10937138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 WGU enrollment records linked to Census+tax data covering full U.S. population (including tax filers and non-filers)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 of WGU enrollees successfully linked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 WGU graduates, withdrawers, and certificates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sample: 262,000 WGU enrollees from 2013-18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Earnings observed from 2008-2023 in tax records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outcome: earnings reported on W-2 forms, measured in real 2021 dollars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 those not working as 0s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Excludes self-employment income (can be incorporated later)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Identifying Matched Controls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5838" y="1335024"/>
            <a:ext cx="10937138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WGU enrollee, identify matched controls based on: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Pre-enrollment earnings trajectory: W-2 earnings in the three years prior to enrollment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Age, sex, and county of residence in year of enrollment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compare average earnings of WGU enrollees to those of matched controls pre vs. post enrollment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WGU enrollee has 350 matched controls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 of matched control group enrolls in other non-WGU degree programs at the same time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WGU Program Categories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Programs Grouped into Eight Degree-Sectors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5838" y="1371600"/>
          <a:ext cx="10937138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463040"/>
                <a:gridCol w="4114800"/>
                <a:gridCol w="2011680"/>
                <a:gridCol w="2011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Degree Level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B6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Program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B6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Example Program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B6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Number of Students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B6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Graduation Rate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B6A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Bachelor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Education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BA, Interdisciplinary Studies (K-8)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31,000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53%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Bachelor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Health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BS, Nursing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54,000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75%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Bachelor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Business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BS, Business Management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65,000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46%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Bachelor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Technology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BS, Information Technology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29,000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46%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Master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Education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MS, Curriculum and Instruction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22,000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81%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Master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Health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MS, Nursing Education (BSN-MSN)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25,000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67%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Master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Business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MBA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32,000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67%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Master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Technology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MS, Cybersecurity and Information Assurance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5,000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626"/>
                          </a:solidFill>
                          <a:latin typeface="Lucida Sans" pitchFamily="34" charset="0"/>
                          <a:ea typeface="Lucida Sans" pitchFamily="34" charset="-122"/>
                          <a:cs typeface="Lucida Sans" pitchFamily="34" charset="-120"/>
                        </a:rPr>
                        <a:t>59%</a:t>
                      </a:r>
                      <a:endParaRPr lang="en-US" sz="1300" dirty="0">
                        <a:latin typeface="Lucida Sans" charset="0"/>
                        <a:ea typeface="Lucida Sans" charset="0"/>
                        <a:cs typeface="Lucid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35838" y="6139007"/>
            <a:ext cx="1093713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Programs aggregated from individual WGU degree programs into 8 groups by degree level and field of study.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Bachelor of Education on Earnings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2 Years After Entry vs. Matched Controls</a:t>
            </a:r>
            <a:endParaRPr lang="en-US" sz="1600" dirty="0"/>
          </a:p>
        </p:txBody>
      </p:sp>
      <p:pic>
        <p:nvPicPr>
          <p:cNvPr id="4" name="Image 0" descr="C:\Users\realj\Documents\oi-slide\example\figures\slide1_BaEd_bin2_grad_treat_only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78001" y="1083564"/>
            <a:ext cx="9435694" cy="55504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Bachelor of Education on Earnings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2 Years After Entry vs. Matched Controls</a:t>
            </a:r>
            <a:endParaRPr lang="en-US" sz="1600" dirty="0"/>
          </a:p>
        </p:txBody>
      </p:sp>
      <p:pic>
        <p:nvPicPr>
          <p:cNvPr id="4" name="Image 0" descr="C:\Users\realj\Documents\oi-slide\example\figures\slide1_BaEd_bin2_grad_both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78001" y="1083564"/>
            <a:ext cx="9435694" cy="55504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Bachelor of Education on Earnings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2 Years After Entry vs. Matched Controls</a:t>
            </a:r>
            <a:endParaRPr lang="en-US" sz="1600" dirty="0"/>
          </a:p>
        </p:txBody>
      </p:sp>
      <p:pic>
        <p:nvPicPr>
          <p:cNvPr id="4" name="Image 0" descr="C:\Users\realj\Documents\oi-slide\example\figures\slide1_BaEd_bin2_grad_del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78001" y="1083564"/>
            <a:ext cx="9435694" cy="55504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Bachelor of Education on Earnings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Graduates or Withdraw 2 Years After Entry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20878" y="18653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Graduates</a:t>
            </a:r>
            <a:endParaRPr lang="en-US" sz="1400" dirty="0"/>
          </a:p>
        </p:txBody>
      </p:sp>
      <p:pic>
        <p:nvPicPr>
          <p:cNvPr id="5" name="Image 0" descr="C:\Users\realj\Documents\oi-slide\example\figures\slide2_BaEd_bin2_grad_del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0878" y="2066544"/>
            <a:ext cx="5429707" cy="31939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1568" y="18653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</a:t>
            </a:r>
            <a:endParaRPr lang="en-US" sz="1400" dirty="0"/>
          </a:p>
        </p:txBody>
      </p:sp>
      <p:pic>
        <p:nvPicPr>
          <p:cNvPr id="7" name="Image 1" descr="C:\Users\realj\Documents\oi-slide\example\figures\slide2_BaEd_bin2_wd_delta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42025" y="2066544"/>
            <a:ext cx="5429707" cy="319399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Bachelor of Education on Earnings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Graduates or Withdraw 3 or 4 Years After Entry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20878" y="14081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Graduates</a:t>
            </a:r>
            <a:endParaRPr lang="en-US" sz="1400" dirty="0"/>
          </a:p>
        </p:txBody>
      </p:sp>
      <p:pic>
        <p:nvPicPr>
          <p:cNvPr id="5" name="Image 0" descr="C:\Users\realj\Documents\oi-slide\example\figures\slide3_BaEd_grad_bin3_del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88059" y="1609344"/>
            <a:ext cx="3895344" cy="22914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1568" y="14081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</a:t>
            </a:r>
            <a:endParaRPr lang="en-US" sz="1400" dirty="0"/>
          </a:p>
        </p:txBody>
      </p:sp>
      <p:pic>
        <p:nvPicPr>
          <p:cNvPr id="7" name="Image 1" descr="C:\Users\realj\Documents\oi-slide\example\figures\slide3_BaEd_wd_bin3_delta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08292" y="1609344"/>
            <a:ext cx="3895344" cy="2291486"/>
          </a:xfrm>
          <a:prstGeom prst="rect">
            <a:avLst/>
          </a:prstGeom>
        </p:spPr>
      </p:pic>
      <p:pic>
        <p:nvPicPr>
          <p:cNvPr id="8" name="Image 2" descr="C:\Users\realj\Documents\oi-slide\example\figures\slide3_BaEd_grad_bin4_delta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88059" y="3900830"/>
            <a:ext cx="3895344" cy="2291486"/>
          </a:xfrm>
          <a:prstGeom prst="rect">
            <a:avLst/>
          </a:prstGeom>
        </p:spPr>
      </p:pic>
      <p:pic>
        <p:nvPicPr>
          <p:cNvPr id="9" name="Image 3" descr="C:\Users\realj\Documents\oi-slide\example\figures\slide3_BaEd_wd_bin4_delta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08292" y="3900830"/>
            <a:ext cx="3895344" cy="229148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Bachelor of Education on Earnings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Baseline Model vs. Comparison to People who Enroll in Other Higher Education Institutions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20878" y="18653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Comparison to All Matched Individuals</a:t>
            </a:r>
            <a:endParaRPr lang="en-US" sz="1400" dirty="0"/>
          </a:p>
        </p:txBody>
      </p:sp>
      <p:pic>
        <p:nvPicPr>
          <p:cNvPr id="5" name="Image 0" descr="C:\Users\realj\Documents\oi-slide\example\figures\slide4_BaEd_bin3_baseline_del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0878" y="2066544"/>
            <a:ext cx="5429707" cy="31939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1568" y="18653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Comparison to Other Higher Education Enrollees</a:t>
            </a:r>
            <a:endParaRPr lang="en-US" sz="1400" dirty="0"/>
          </a:p>
        </p:txBody>
      </p:sp>
      <p:pic>
        <p:nvPicPr>
          <p:cNvPr id="7" name="Image 1" descr="C:\Users\realj\Documents\oi-slide\example\figures\slide4_BaEd_bin3_1098t_delta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42025" y="2066544"/>
            <a:ext cx="5429707" cy="319399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Bachelor of Business on Earnings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or Withdraw 3 Years After Entry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20878" y="18653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Graduates</a:t>
            </a:r>
            <a:endParaRPr lang="en-US" sz="1400" dirty="0"/>
          </a:p>
        </p:txBody>
      </p:sp>
      <p:pic>
        <p:nvPicPr>
          <p:cNvPr id="5" name="Image 0" descr="C:\Users\realj\Documents\oi-slide\example\figures\slide5_BaBu_bin3_grad_del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0878" y="2066544"/>
            <a:ext cx="5429707" cy="31939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1568" y="18653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</a:t>
            </a:r>
            <a:endParaRPr lang="en-US" sz="1400" dirty="0"/>
          </a:p>
        </p:txBody>
      </p:sp>
      <p:pic>
        <p:nvPicPr>
          <p:cNvPr id="7" name="Image 1" descr="C:\Users\realj\Documents\oi-slide\example\figures\slide5_BaBu_bin3_wd_delta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42025" y="2066544"/>
            <a:ext cx="5429707" cy="319399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Bachelor of Technology on Earnings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3 Years After Entry, Withdraw w/Certificate, or Withdraw w/o Certificate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358363" y="1408176"/>
            <a:ext cx="547497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Graduates</a:t>
            </a:r>
            <a:endParaRPr lang="en-US" sz="1400" dirty="0"/>
          </a:p>
        </p:txBody>
      </p:sp>
      <p:pic>
        <p:nvPicPr>
          <p:cNvPr id="5" name="Image 0" descr="C:\Users\realj\Documents\oi-slide\example\figures\slide6_BaTe_grad_del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33672" y="1609344"/>
            <a:ext cx="3724351" cy="21909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0878" y="3800246"/>
            <a:ext cx="547497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 w/ Certificate</a:t>
            </a:r>
            <a:endParaRPr lang="en-US" sz="1400" dirty="0"/>
          </a:p>
        </p:txBody>
      </p:sp>
      <p:pic>
        <p:nvPicPr>
          <p:cNvPr id="7" name="Image 1" descr="C:\Users\realj\Documents\oi-slide\example\figures\slide6_BaTe_wd_somecert_delta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95958" y="4001414"/>
            <a:ext cx="3724351" cy="21909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095848" y="3800246"/>
            <a:ext cx="547497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 w/o Certificate</a:t>
            </a:r>
            <a:endParaRPr lang="en-US" sz="1400" dirty="0"/>
          </a:p>
        </p:txBody>
      </p:sp>
      <p:pic>
        <p:nvPicPr>
          <p:cNvPr id="9" name="Image 2" descr="C:\Users\realj\Documents\oi-slide\example\figures\slide6_BaTe_wd_nocert_delta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71386" y="4001414"/>
            <a:ext cx="3724351" cy="21909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Bachelor of Health on Earnings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or Withdraw 2 Years After Entry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20878" y="18653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Graduates</a:t>
            </a:r>
            <a:endParaRPr lang="en-US" sz="1400" dirty="0"/>
          </a:p>
        </p:txBody>
      </p:sp>
      <p:pic>
        <p:nvPicPr>
          <p:cNvPr id="5" name="Image 0" descr="C:\Users\realj\Documents\oi-slide\example\figures\slide7_BaHe_bin2_grad_del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0878" y="2066544"/>
            <a:ext cx="5429707" cy="31939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1568" y="18653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</a:t>
            </a:r>
            <a:endParaRPr lang="en-US" sz="1400" dirty="0"/>
          </a:p>
        </p:txBody>
      </p:sp>
      <p:pic>
        <p:nvPicPr>
          <p:cNvPr id="7" name="Image 1" descr="C:\Users\realj\Documents\oi-slide\example\figures\slide7_BaHe_bin2_wd_delta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42025" y="2066544"/>
            <a:ext cx="5429707" cy="319399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Master of Education on Earnings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or Withdraw 2 Years After Entry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20878" y="18653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Graduates</a:t>
            </a:r>
            <a:endParaRPr lang="en-US" sz="1400" dirty="0"/>
          </a:p>
        </p:txBody>
      </p:sp>
      <p:pic>
        <p:nvPicPr>
          <p:cNvPr id="5" name="Image 0" descr="C:\Users\realj\Documents\oi-slide\example\figures\slide8_MaEd_bin2_grad_del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0878" y="2066544"/>
            <a:ext cx="5429707" cy="31939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1568" y="18653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</a:t>
            </a:r>
            <a:endParaRPr lang="en-US" sz="1400" dirty="0"/>
          </a:p>
        </p:txBody>
      </p:sp>
      <p:pic>
        <p:nvPicPr>
          <p:cNvPr id="7" name="Image 1" descr="C:\Users\realj\Documents\oi-slide\example\figures\slide8_MaEd_bin2_wd_delta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42025" y="2066544"/>
            <a:ext cx="5429707" cy="319399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Master of Business on Earnings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or Withdraw 2 Years After Entry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20878" y="18653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Graduates</a:t>
            </a:r>
            <a:endParaRPr lang="en-US" sz="1400" dirty="0"/>
          </a:p>
        </p:txBody>
      </p:sp>
      <p:pic>
        <p:nvPicPr>
          <p:cNvPr id="5" name="Image 0" descr="C:\Users\realj\Documents\oi-slide\example\figures\slide9_MaBu_bin2_grad_del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0878" y="2066544"/>
            <a:ext cx="5429707" cy="31939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1568" y="18653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</a:t>
            </a:r>
            <a:endParaRPr lang="en-US" sz="1400" dirty="0"/>
          </a:p>
        </p:txBody>
      </p:sp>
      <p:pic>
        <p:nvPicPr>
          <p:cNvPr id="7" name="Image 1" descr="C:\Users\realj\Documents\oi-slide\example\figures\slide9_MaBu_bin2_wd_delta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42025" y="2066544"/>
            <a:ext cx="5429707" cy="319399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Master of Technology on Earnings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2 Years After Entry or Withdraw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20878" y="18653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Graduates</a:t>
            </a:r>
            <a:endParaRPr lang="en-US" sz="1400" dirty="0"/>
          </a:p>
        </p:txBody>
      </p:sp>
      <p:pic>
        <p:nvPicPr>
          <p:cNvPr id="5" name="Image 0" descr="C:\Users\realj\Documents\oi-slide\example\figures\slide10_MaTe_grad_del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0878" y="2066544"/>
            <a:ext cx="5429707" cy="31939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1568" y="18653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</a:t>
            </a:r>
            <a:endParaRPr lang="en-US" sz="1400" dirty="0"/>
          </a:p>
        </p:txBody>
      </p:sp>
      <p:pic>
        <p:nvPicPr>
          <p:cNvPr id="7" name="Image 1" descr="C:\Users\realj\Documents\oi-slide\example\figures\slide10_MaTe_wd_nocert_delta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42025" y="2066544"/>
            <a:ext cx="5429707" cy="319399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Master of Health on Earnings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WGU Enrollees who Graduate or Withdraw 2 Years After Entry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20878" y="18653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Graduates</a:t>
            </a:r>
            <a:endParaRPr lang="en-US" sz="1400" dirty="0"/>
          </a:p>
        </p:txBody>
      </p:sp>
      <p:pic>
        <p:nvPicPr>
          <p:cNvPr id="5" name="Image 0" descr="C:\Users\realj\Documents\oi-slide\example\figures\slide11_MaHe_bin2_grad_del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0878" y="2066544"/>
            <a:ext cx="5429707" cy="31939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1568" y="18653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Withdrawers</a:t>
            </a:r>
            <a:endParaRPr lang="en-US" sz="1400" dirty="0"/>
          </a:p>
        </p:txBody>
      </p:sp>
      <p:pic>
        <p:nvPicPr>
          <p:cNvPr id="7" name="Image 1" descr="C:\Users\realj\Documents\oi-slide\example\figures\slide11_MaHe_bin2_wd_delta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42025" y="2066544"/>
            <a:ext cx="5429707" cy="319399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WGU Programs on Earnings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Treatment Effects on W-2 Wages 5 Years After Enrollment</a:t>
            </a:r>
            <a:endParaRPr lang="en-US" sz="1600" dirty="0"/>
          </a:p>
        </p:txBody>
      </p:sp>
      <p:pic>
        <p:nvPicPr>
          <p:cNvPr id="4" name="Image 0" descr="C:\Users\realj\Documents\oi-slide\example\figures\slide12a_barplot_grads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55064" y="1083564"/>
            <a:ext cx="8880653" cy="555040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WGU Programs on Earnings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Treatment Effects on W-2 Wages 5 Years After Enrollment</a:t>
            </a:r>
            <a:endParaRPr lang="en-US" sz="1600" dirty="0"/>
          </a:p>
        </p:txBody>
      </p:sp>
      <p:pic>
        <p:nvPicPr>
          <p:cNvPr id="4" name="Image 0" descr="C:\Users\realj\Documents\oi-slide\example\figures\slide12b_barplot_grads_wd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55064" y="1083564"/>
            <a:ext cx="8880653" cy="555040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Placebo Test: Matching on Wages 3-5 Years Prior to Enrollment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Bachelor of Education &amp; Bachelor of Health vs. Matched Controls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20878" y="18653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Bachelor of Education</a:t>
            </a:r>
            <a:endParaRPr lang="en-US" sz="1400" dirty="0"/>
          </a:p>
        </p:txBody>
      </p:sp>
      <p:pic>
        <p:nvPicPr>
          <p:cNvPr id="5" name="Image 0" descr="C:\Users\realj\Documents\oi-slide\example\figures\slide_BaEd_bin3_26_del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0878" y="2066544"/>
            <a:ext cx="5429707" cy="31939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41568" y="1865376"/>
            <a:ext cx="5429250" cy="2011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Bachelor of Health</a:t>
            </a:r>
            <a:endParaRPr lang="en-US" sz="1400" dirty="0"/>
          </a:p>
        </p:txBody>
      </p:sp>
      <p:pic>
        <p:nvPicPr>
          <p:cNvPr id="7" name="Image 1" descr="C:\Users\realj\Documents\oi-slide\example\figures\slide_BaHe_bin2_26_delta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42025" y="2066544"/>
            <a:ext cx="5429707" cy="319399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Impact of WGU Programs on Earnings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Treatment Effects on W-2 Wages 5 Years After Enrollment</a:t>
            </a:r>
            <a:endParaRPr lang="en-US" sz="1600" dirty="0"/>
          </a:p>
        </p:txBody>
      </p:sp>
      <p:pic>
        <p:nvPicPr>
          <p:cNvPr id="4" name="Image 0" descr="C:\Users\realj\Documents\oi-slide\example\figures\slide12c_barplot_all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55064" y="1083564"/>
            <a:ext cx="8880653" cy="555040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Withdrawal Effects vs. Placebo Tests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3037" y="719633"/>
            <a:ext cx="10949940" cy="260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626365"/>
                </a:solidFill>
                <a:latin typeface="Lucida Sans" pitchFamily="34" charset="0"/>
                <a:ea typeface="Lucida Sans" pitchFamily="34" charset="-122"/>
                <a:cs typeface="Lucida Sans" pitchFamily="34" charset="-120"/>
              </a:rPr>
              <a:t>Treatment Effects on 5-Year Wages by Program</a:t>
            </a:r>
            <a:endParaRPr lang="en-US" sz="1600" dirty="0"/>
          </a:p>
        </p:txBody>
      </p:sp>
      <p:pic>
        <p:nvPicPr>
          <p:cNvPr id="4" name="Image 0" descr="C:\Users\realj\Documents\oi-slide\example\figures\slide14_scatter_wd_vs_placeb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55064" y="1083564"/>
            <a:ext cx="8880653" cy="555040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037" y="364846"/>
            <a:ext cx="10937138" cy="3648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262626"/>
                </a:solidFill>
                <a:latin typeface="Lucida Bright" pitchFamily="34" charset="0"/>
                <a:ea typeface="Lucida Bright" pitchFamily="34" charset="-122"/>
                <a:cs typeface="Lucida Bright" pitchFamily="34" charset="-120"/>
              </a:rPr>
              <a:t>Next Steps and Discussion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5838" y="1335024"/>
            <a:ext cx="10937138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matched control vector that eliminates selection problem in certain programs (e.g., healthcare)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Char char="​"/>
            </a:pPr>
            <a:r>
              <a:rPr lang="en-US" sz="22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alternative estimators against quasi-experimental designs where variation in WGU enrollment is not driven by individual selection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Rollout of WGU programs in certain states/firms</a:t>
            </a:r>
            <a:endParaRPr lang="en-US" sz="2200" dirty="0"/>
          </a:p>
          <a:p>
            <a:pPr lvl="1" marL="685800" indent="-342900">
              <a:spcAft>
                <a:spcPts val="400"/>
              </a:spcAft>
              <a:buSzPct val="100000"/>
              <a:buChar char="​"/>
            </a:pPr>
            <a:r>
              <a:rPr lang="en-US" sz="1800" dirty="0">
                <a:solidFill>
                  <a:srgbClr val="29B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Eligibility cutoffs, targeting, or ads to certain subgroups/areas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ster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Subtitle">
      <a:majorFont>
        <a:latin typeface="Lucida Bright"/>
        <a:ea typeface=""/>
        <a:cs typeface=""/>
      </a:majorFont>
      <a:minorFont>
        <a:latin typeface="Lucid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2115</TotalTime>
  <Words>267</Words>
  <Application>Microsoft Office PowerPoint</Application>
  <PresentationFormat>Widescreen</PresentationFormat>
  <Paragraphs>55</Paragraphs>
  <Slides>23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Wingdings</vt:lpstr>
      <vt:lpstr>Calibri</vt:lpstr>
      <vt:lpstr>Lucida Sans</vt:lpstr>
      <vt:lpstr>Lucida Bright</vt:lpstr>
      <vt:lpstr>Aptos</vt:lpstr>
      <vt:lpstr>Master</vt:lpstr>
      <vt:lpstr>PowerPoint Presentation</vt:lpstr>
      <vt:lpstr>Example – Creating Opportunity</vt:lpstr>
      <vt:lpstr>PowerPoint Presentation</vt:lpstr>
      <vt:lpstr>Example - The Geography of Upward Mobility in the United States </vt:lpstr>
      <vt:lpstr>PowerPoint Presentation</vt:lpstr>
      <vt:lpstr>Example - Creating Moves to Opportunity Experiment</vt:lpstr>
      <vt:lpstr>PowerPoint Presentation</vt:lpstr>
      <vt:lpstr>Example - Where Housing Choice Voucher Holders Live in Seattle</vt:lpstr>
      <vt:lpstr>PowerPoint Presentation</vt:lpstr>
      <vt:lpstr>Example - Three Policy Approaches to Increasing Upward Mobility</vt:lpstr>
    </vt:vector>
  </TitlesOfParts>
  <Company>Harvard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Leff, Emily C</dc:creator>
  <cp:lastModifiedBy>Leff, Emily C</cp:lastModifiedBy>
  <cp:revision>51</cp:revision>
  <dcterms:created xsi:type="dcterms:W3CDTF">2025-01-15T20:52:06Z</dcterms:created>
  <dcterms:modified xsi:type="dcterms:W3CDTF">2026-07-08T17:43:28Z</dcterms:modified>
</cp:coreProperties>
</file>