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6"/>
    <p:sldId id="257" r:id="rId27"/>
    <p:sldId id="258" r:id="rId28"/>
    <p:sldId id="259" r:id="rId29"/>
    <p:sldId id="260" r:id="rId30"/>
  </p:sldIdLst>
  <p:sldSz cx="12192000" cy="6858000"/>
  <p:notesSz cx="6858000" cy="9144000"/>
  <p:embeddedFontLst>
    <p:embeddedFont>
      <p:font typeface="Lucida Bright" panose="02040602050505020304" pitchFamily="18" charset="0"/>
      <p:regular r:id="rId14"/>
      <p:bold r:id="rId15"/>
      <p:italic r:id="rId16"/>
      <p:boldItalic r:id="rId17"/>
    </p:embeddedFont>
    <p:embeddedFont>
      <p:font typeface="Lucida Sans" panose="020B0602030504020204" pitchFamily="3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626365"/>
    <a:srgbClr val="000000"/>
    <a:srgbClr val="FAA523"/>
    <a:srgbClr val="29B6A4"/>
    <a:srgbClr val="262626"/>
    <a:srgbClr val="D9D9D9"/>
    <a:srgbClr val="B2B5B7"/>
    <a:srgbClr val="7F4892"/>
    <a:srgbClr val="19B7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31" autoAdjust="0"/>
    <p:restoredTop sz="66344" autoAdjust="0"/>
  </p:normalViewPr>
  <p:slideViewPr>
    <p:cSldViewPr snapToGrid="0">
      <p:cViewPr varScale="1">
        <p:scale>
          <a:sx n="70" d="100"/>
          <a:sy n="70" d="100"/>
        </p:scale>
        <p:origin x="2394" y="48"/>
      </p:cViewPr>
      <p:guideLst/>
    </p:cSldViewPr>
  </p:slideViewPr>
  <p:outlineViewPr>
    <p:cViewPr>
      <p:scale>
        <a:sx n="100" d="100"/>
        <a:sy n="100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21" Type="http://schemas.openxmlformats.org/officeDocument/2006/relationships/font" Target="fonts/font8.fntdata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24" Type="http://schemas.openxmlformats.org/officeDocument/2006/relationships/theme" Target="theme/theme1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9" Type="http://schemas.openxmlformats.org/officeDocument/2006/relationships/font" Target="fonts/font6.fntdata"/><Relationship Id="rId14" Type="http://schemas.openxmlformats.org/officeDocument/2006/relationships/font" Target="fonts/font1.fntdata"/><Relationship Id="rId22" Type="http://schemas.openxmlformats.org/officeDocument/2006/relationships/presProps" Target="presProps.xml"/><Relationship Id="rId26" Type="http://schemas.openxmlformats.org/officeDocument/2006/relationships/slide" Target="slides/slide1.xml"/><Relationship Id="rId27" Type="http://schemas.openxmlformats.org/officeDocument/2006/relationships/slide" Target="slides/slide2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6AFC86-27A9-9E95-2727-D9D4A8DB11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7655AD-DDB4-9E33-5374-7073A775A22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32DC63-E65A-424C-8CAA-1D619F56AE50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6E5FC8-9B34-4F53-C3CC-7E34B4AF746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21F2B2-986D-63CB-1D64-E69F5426D9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E4D987-604E-4356-9357-0E7343739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196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7B20E-7C29-400A-ACB4-EA33BE0918AC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75BCDB-D66B-4FB6-98F0-5DAE7FE58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71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I Theme: Intr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4A8026D-1409-DDF3-BA57-7B0518BDC1FD}"/>
              </a:ext>
            </a:extLst>
          </p:cNvPr>
          <p:cNvSpPr/>
          <p:nvPr userDrawn="1"/>
        </p:nvSpPr>
        <p:spPr>
          <a:xfrm>
            <a:off x="2903220" y="4416316"/>
            <a:ext cx="9288780" cy="2215987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350" tIns="45718" rIns="91350" bIns="45718" rtlCol="0" anchor="ctr"/>
          <a:lstStyle/>
          <a:p>
            <a:pPr marL="0" marR="0" lvl="0" indent="0" algn="ctr" defTabSz="913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BC1C8C-8A15-6003-CC10-86C03FD41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37806" y="5499417"/>
            <a:ext cx="7531624" cy="767762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Picture 2" descr="Chetty, Friedman, and Hendren Launch Opportunity Insights | Opportunity  Insights">
            <a:extLst>
              <a:ext uri="{FF2B5EF4-FFF2-40B4-BE49-F238E27FC236}">
                <a16:creationId xmlns:a16="http://schemas.microsoft.com/office/drawing/2014/main" id="{87EDAE40-C311-7D4A-86B9-A801BBB1B9FA}"/>
              </a:ext>
            </a:extLst>
          </p:cNvPr>
          <p:cNvPicPr/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3082" y="6218992"/>
            <a:ext cx="1968338" cy="342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5EED02-CBB8-F4FF-F842-371491D42F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6970" y="4416315"/>
            <a:ext cx="10032460" cy="1083101"/>
          </a:xfrm>
          <a:prstGeom prst="rect">
            <a:avLst/>
          </a:prstGeom>
        </p:spPr>
        <p:txBody>
          <a:bodyPr anchor="b"/>
          <a:lstStyle>
            <a:lvl1pPr algn="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24">
            <a:extLst>
              <a:ext uri="{FF2B5EF4-FFF2-40B4-BE49-F238E27FC236}">
                <a16:creationId xmlns:a16="http://schemas.microsoft.com/office/drawing/2014/main" id="{287E356F-8C63-73F9-7168-432FB4BD7B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37806" y="6267179"/>
            <a:ext cx="7531624" cy="365125"/>
          </a:xfrm>
        </p:spPr>
        <p:txBody>
          <a:bodyPr>
            <a:noAutofit/>
          </a:bodyPr>
          <a:lstStyle>
            <a:lvl1pPr algn="r">
              <a:buNone/>
              <a:defRPr sz="1200" b="1"/>
            </a:lvl1pPr>
          </a:lstStyle>
          <a:p>
            <a:pPr lvl="0"/>
            <a:r>
              <a:rPr lang="en-US" dirty="0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2830033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I-Theme: Title and Subtitle with Sourc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0EBB-5295-6483-AFAC-33081E089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13" y="365271"/>
            <a:ext cx="10937463" cy="365121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CAB9E-3347-0F44-534F-292BBA4D5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490" y="1177798"/>
            <a:ext cx="10937462" cy="50149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4B4EBE-AF72-4F2B-A861-943B0687A8DC}"/>
              </a:ext>
            </a:extLst>
          </p:cNvPr>
          <p:cNvCxnSpPr>
            <a:cxnSpLocks/>
          </p:cNvCxnSpPr>
          <p:nvPr userDrawn="1"/>
        </p:nvCxnSpPr>
        <p:spPr>
          <a:xfrm>
            <a:off x="620980" y="10009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885194-2FED-DEDF-680B-2422726A2E49}"/>
              </a:ext>
            </a:extLst>
          </p:cNvPr>
          <p:cNvCxnSpPr>
            <a:cxnSpLocks/>
          </p:cNvCxnSpPr>
          <p:nvPr userDrawn="1"/>
        </p:nvCxnSpPr>
        <p:spPr>
          <a:xfrm>
            <a:off x="620980" y="6483107"/>
            <a:ext cx="109536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ubtitle 2">
            <a:extLst>
              <a:ext uri="{FF2B5EF4-FFF2-40B4-BE49-F238E27FC236}">
                <a16:creationId xmlns:a16="http://schemas.microsoft.com/office/drawing/2014/main" id="{94A791F6-9DA5-91C1-6AA5-29406DF11AEF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22913" y="719713"/>
            <a:ext cx="10950039" cy="260907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rgbClr val="62636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E486B3F-3423-79BB-737B-789C144F83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5490" y="6512596"/>
            <a:ext cx="10937875" cy="365125"/>
          </a:xfrm>
        </p:spPr>
        <p:txBody>
          <a:bodyPr/>
          <a:lstStyle>
            <a:lvl1pPr>
              <a:buNone/>
              <a:defRPr sz="1400"/>
            </a:lvl1pPr>
          </a:lstStyle>
          <a:p>
            <a:pPr lvl="0"/>
            <a:r>
              <a:rPr lang="en-US" dirty="0"/>
              <a:t>Click</a:t>
            </a:r>
          </a:p>
        </p:txBody>
      </p:sp>
      <p:pic>
        <p:nvPicPr>
          <p:cNvPr id="29" name="Picture 28" descr="A black and grey text&#10;&#10;Description automatically generated">
            <a:extLst>
              <a:ext uri="{FF2B5EF4-FFF2-40B4-BE49-F238E27FC236}">
                <a16:creationId xmlns:a16="http://schemas.microsoft.com/office/drawing/2014/main" id="{92FEF83D-11CA-9217-08E0-656D3BABBD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274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I-Theme: Title and Subtitle, no Sourc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0EBB-5295-6483-AFAC-33081E089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13" y="365271"/>
            <a:ext cx="10937463" cy="365121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CAB9E-3347-0F44-534F-292BBA4D5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490" y="1177798"/>
            <a:ext cx="10937462" cy="50149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4B4EBE-AF72-4F2B-A861-943B0687A8DC}"/>
              </a:ext>
            </a:extLst>
          </p:cNvPr>
          <p:cNvCxnSpPr>
            <a:cxnSpLocks/>
          </p:cNvCxnSpPr>
          <p:nvPr userDrawn="1"/>
        </p:nvCxnSpPr>
        <p:spPr>
          <a:xfrm>
            <a:off x="620980" y="10009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ubtitle 2">
            <a:extLst>
              <a:ext uri="{FF2B5EF4-FFF2-40B4-BE49-F238E27FC236}">
                <a16:creationId xmlns:a16="http://schemas.microsoft.com/office/drawing/2014/main" id="{94A791F6-9DA5-91C1-6AA5-29406DF11AEF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22913" y="719713"/>
            <a:ext cx="10950039" cy="260907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rgbClr val="62636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" name="Picture 3" descr="A black and grey text&#10;&#10;Description automatically generated">
            <a:extLst>
              <a:ext uri="{FF2B5EF4-FFF2-40B4-BE49-F238E27FC236}">
                <a16:creationId xmlns:a16="http://schemas.microsoft.com/office/drawing/2014/main" id="{A8713239-F501-723D-D01B-A99907ACA1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868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I Theme: Title - No Subtitle with Sourc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CAB9E-3347-0F44-534F-292BBA4D5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91AF2DE-EC0A-F096-CF43-D7121547010B}"/>
              </a:ext>
            </a:extLst>
          </p:cNvPr>
          <p:cNvCxnSpPr>
            <a:cxnSpLocks/>
          </p:cNvCxnSpPr>
          <p:nvPr userDrawn="1"/>
        </p:nvCxnSpPr>
        <p:spPr>
          <a:xfrm>
            <a:off x="620980" y="8358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1337F9-9B78-B3A3-3F34-61AB23DCC0C9}"/>
              </a:ext>
            </a:extLst>
          </p:cNvPr>
          <p:cNvCxnSpPr>
            <a:cxnSpLocks/>
          </p:cNvCxnSpPr>
          <p:nvPr userDrawn="1"/>
        </p:nvCxnSpPr>
        <p:spPr>
          <a:xfrm>
            <a:off x="620980" y="6483107"/>
            <a:ext cx="109536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9118330A-FAC3-DA52-0B67-083405089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13" y="365271"/>
            <a:ext cx="10937463" cy="365121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Picture 10" descr="A black and grey text&#10;&#10;Description automatically generated">
            <a:extLst>
              <a:ext uri="{FF2B5EF4-FFF2-40B4-BE49-F238E27FC236}">
                <a16:creationId xmlns:a16="http://schemas.microsoft.com/office/drawing/2014/main" id="{A9ECF13D-850A-03D5-4AE1-873C1EC6577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sp>
        <p:nvSpPr>
          <p:cNvPr id="2" name="Text Placeholder 24">
            <a:extLst>
              <a:ext uri="{FF2B5EF4-FFF2-40B4-BE49-F238E27FC236}">
                <a16:creationId xmlns:a16="http://schemas.microsoft.com/office/drawing/2014/main" id="{AD0F6157-D6B6-8B83-0365-9C13F43D14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5490" y="6512596"/>
            <a:ext cx="10937875" cy="365125"/>
          </a:xfrm>
        </p:spPr>
        <p:txBody>
          <a:bodyPr/>
          <a:lstStyle>
            <a:lvl1pPr>
              <a:buNone/>
              <a:defRPr sz="1400"/>
            </a:lvl1pPr>
          </a:lstStyle>
          <a:p>
            <a:pPr lvl="0"/>
            <a:r>
              <a:rPr lang="en-US" dirty="0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2331006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I Theme: Title - No Subtitle, no Sourc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CAB9E-3347-0F44-534F-292BBA4D5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91AF2DE-EC0A-F096-CF43-D7121547010B}"/>
              </a:ext>
            </a:extLst>
          </p:cNvPr>
          <p:cNvCxnSpPr>
            <a:cxnSpLocks/>
          </p:cNvCxnSpPr>
          <p:nvPr userDrawn="1"/>
        </p:nvCxnSpPr>
        <p:spPr>
          <a:xfrm>
            <a:off x="620980" y="8358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9118330A-FAC3-DA52-0B67-083405089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13" y="365271"/>
            <a:ext cx="10937463" cy="365121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" name="Picture 1" descr="A black and grey text&#10;&#10;Description automatically generated">
            <a:extLst>
              <a:ext uri="{FF2B5EF4-FFF2-40B4-BE49-F238E27FC236}">
                <a16:creationId xmlns:a16="http://schemas.microsoft.com/office/drawing/2014/main" id="{00D15EAF-C4E1-1773-9042-35DC00C98C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871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C5D21-4EDC-A414-72BF-71D388321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3557" y="1825625"/>
            <a:ext cx="109374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73FA415-12F8-8B2B-BC11-F713C1AAD15C}"/>
              </a:ext>
            </a:extLst>
          </p:cNvPr>
          <p:cNvSpPr txBox="1">
            <a:spLocks/>
          </p:cNvSpPr>
          <p:nvPr userDrawn="1"/>
        </p:nvSpPr>
        <p:spPr>
          <a:xfrm>
            <a:off x="633556" y="375319"/>
            <a:ext cx="10937463" cy="85111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318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710" r:id="rId3"/>
    <p:sldLayoutId id="2147483660" r:id="rId4"/>
    <p:sldLayoutId id="214748371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37106" y="4517136"/>
            <a:ext cx="10032797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Tree-Based Machine Learning Methods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37990" y="5504688"/>
            <a:ext cx="7531913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2000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 Visual Introduction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037990" y="5998464"/>
            <a:ext cx="7531913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July 2026</a:t>
            </a:r>
            <a:endParaRPr lang="en-US" sz="120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DEMO DECK — GENERATED BY oi-slide-v2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Why Tree-Based Models?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676656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Motivation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5838" y="1335024"/>
            <a:ext cx="10937138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​"/>
            </a:pPr>
            <a:r>
              <a:rPr lang="en-US" sz="2200" dirty="0">
                <a:solidFill>
                  <a:srgbClr val="29B6A4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• </a:t>
            </a:r>
            <a:pPr indent="0" marL="0">
              <a:buNone/>
            </a:pPr>
            <a:r>
              <a:rPr lang="en-US" sz="2200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Flexible prediction without assuming a functional form</a:t>
            </a:r>
            <a:endParaRPr lang="en-US" sz="2200" dirty="0"/>
          </a:p>
          <a:p>
            <a:pPr lvl="1" marL="685800" indent="-342900">
              <a:spcAft>
                <a:spcPts val="400"/>
              </a:spcAft>
              <a:buSzPct val="100000"/>
              <a:buChar char="​"/>
            </a:pPr>
            <a:r>
              <a:rPr lang="en-US" sz="1800" dirty="0">
                <a:solidFill>
                  <a:srgbClr val="29B6A4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– </a:t>
            </a:r>
            <a:pPr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Splits are learned from the data, not specified by the researcher</a:t>
            </a:r>
            <a:endParaRPr lang="en-US" sz="2200" dirty="0"/>
          </a:p>
          <a:p>
            <a:pPr lvl="1" marL="685800" indent="-342900">
              <a:spcAft>
                <a:spcPts val="400"/>
              </a:spcAft>
              <a:buSzPct val="100000"/>
              <a:buChar char="​"/>
            </a:pPr>
            <a:r>
              <a:rPr lang="en-US" sz="1800" dirty="0">
                <a:solidFill>
                  <a:srgbClr val="29B6A4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– </a:t>
            </a:r>
            <a:pPr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Naturally capture interactions and nonlinearities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​"/>
            </a:pPr>
            <a:r>
              <a:rPr lang="en-US" sz="2200" dirty="0">
                <a:solidFill>
                  <a:srgbClr val="29B6A4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• </a:t>
            </a:r>
            <a:pPr indent="0" marL="0">
              <a:buNone/>
            </a:pPr>
            <a:r>
              <a:rPr lang="en-US" sz="2200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Two workhorses we use</a:t>
            </a:r>
            <a:endParaRPr lang="en-US" sz="2200" dirty="0"/>
          </a:p>
          <a:p>
            <a:pPr lvl="1" marL="685800" indent="-342900">
              <a:spcAft>
                <a:spcPts val="400"/>
              </a:spcAft>
              <a:buSzPct val="100000"/>
              <a:buChar char="​"/>
            </a:pPr>
            <a:r>
              <a:rPr lang="en-US" sz="1800" dirty="0">
                <a:solidFill>
                  <a:srgbClr val="29B6A4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– </a:t>
            </a:r>
            <a:pPr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Regression trees: one tree, easy to read and explain</a:t>
            </a:r>
            <a:endParaRPr lang="en-US" sz="2200" dirty="0"/>
          </a:p>
          <a:p>
            <a:pPr lvl="1" marL="685800" indent="-342900">
              <a:spcAft>
                <a:spcPts val="400"/>
              </a:spcAft>
              <a:buSzPct val="100000"/>
              <a:buChar char="​"/>
            </a:pPr>
            <a:r>
              <a:rPr lang="en-US" sz="1800" dirty="0">
                <a:solidFill>
                  <a:srgbClr val="29B6A4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– </a:t>
            </a:r>
            <a:pPr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Gradient boosting: many small trees, state-of-the-art accuracy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A Regression Tree Splits the Data Into Groups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676656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Illustrative example: predicting a child's adult income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801514" y="1369771"/>
            <a:ext cx="2587752" cy="99578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3A4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Parent income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&lt; $50k?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 flipH="1">
            <a:off x="3010205" y="2316175"/>
            <a:ext cx="2587752" cy="94549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3706978" y="2459736"/>
            <a:ext cx="1194206" cy="299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Yes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93738" y="2316175"/>
            <a:ext cx="2587752" cy="94549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7290511" y="2459736"/>
            <a:ext cx="1194206" cy="299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No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16990" y="3261665"/>
            <a:ext cx="2587752" cy="99578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3A4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First-generation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student?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86954" y="3261665"/>
            <a:ext cx="2587752" cy="99578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3A4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Parent income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&lt; $100k?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 flipH="1">
            <a:off x="1716329" y="4207154"/>
            <a:ext cx="696773" cy="896112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118311" y="4506163"/>
            <a:ext cx="1194206" cy="299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Yes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8630" y="4207154"/>
            <a:ext cx="896112" cy="896112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407969" y="4506163"/>
            <a:ext cx="1194206" cy="299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No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flipH="1">
            <a:off x="8286293" y="4207154"/>
            <a:ext cx="696773" cy="896112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688275" y="4506163"/>
            <a:ext cx="1194206" cy="299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Yes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778594" y="4207154"/>
            <a:ext cx="796442" cy="896112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928555" y="4506163"/>
            <a:ext cx="1194206" cy="299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No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0217" y="5103266"/>
            <a:ext cx="1792224" cy="696773"/>
          </a:xfrm>
          <a:prstGeom prst="roundRect">
            <a:avLst>
              <a:gd name="adj" fmla="val 7874"/>
            </a:avLst>
          </a:prstGeom>
          <a:solidFill>
            <a:srgbClr val="29B6A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ŷ = $32k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8630" y="5103266"/>
            <a:ext cx="1792224" cy="696773"/>
          </a:xfrm>
          <a:prstGeom prst="roundRect">
            <a:avLst>
              <a:gd name="adj" fmla="val 7874"/>
            </a:avLst>
          </a:prstGeom>
          <a:solidFill>
            <a:srgbClr val="29B6A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ŷ = $41k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90181" y="5103266"/>
            <a:ext cx="1792224" cy="696773"/>
          </a:xfrm>
          <a:prstGeom prst="roundRect">
            <a:avLst>
              <a:gd name="adj" fmla="val 7874"/>
            </a:avLst>
          </a:prstGeom>
          <a:solidFill>
            <a:srgbClr val="29B6A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ŷ = $54k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79838" y="5103266"/>
            <a:ext cx="1792224" cy="696773"/>
          </a:xfrm>
          <a:prstGeom prst="roundRect">
            <a:avLst>
              <a:gd name="adj" fmla="val 7874"/>
            </a:avLst>
          </a:prstGeom>
          <a:solidFill>
            <a:srgbClr val="29B6A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ŷ = $68k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0878" y="5999378"/>
            <a:ext cx="1094994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Each split picks the variable and threshold that most reduce prediction error; each leaf predicts the average outcome (here: child income at age 30) for observations in that region.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Gradient Boosting Adds Trees That Fix Each Other's Mistakes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676656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Sequential ensemble of shallow trees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20878" y="1505102"/>
            <a:ext cx="10949940" cy="4325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Each new tree is trained on the mistakes (residuals) of the trees before it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5353" y="3282696"/>
            <a:ext cx="1633118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3A4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Training data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(x, y)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446020" y="3762756"/>
            <a:ext cx="960120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406140" y="3234233"/>
            <a:ext cx="1825142" cy="1056132"/>
          </a:xfrm>
          <a:prstGeom prst="roundRect">
            <a:avLst>
              <a:gd name="adj" fmla="val 5195"/>
            </a:avLst>
          </a:prstGeom>
          <a:solidFill>
            <a:srgbClr val="29B6A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Tree 1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f₁(x)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14116" y="4434840"/>
            <a:ext cx="220919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fits the outcome 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279746" y="3762756"/>
            <a:ext cx="1153058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990795" y="3311042"/>
            <a:ext cx="172913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r₁ = y − f₁(x)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31890" y="3234233"/>
            <a:ext cx="1825142" cy="1056132"/>
          </a:xfrm>
          <a:prstGeom prst="roundRect">
            <a:avLst>
              <a:gd name="adj" fmla="val 5195"/>
            </a:avLst>
          </a:prstGeom>
          <a:solidFill>
            <a:srgbClr val="29B6A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Tree 2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f₂(x)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239866" y="4434840"/>
            <a:ext cx="220919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fits residuals r₁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305495" y="3762756"/>
            <a:ext cx="1153058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305495" y="3311042"/>
            <a:ext cx="1153058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r₂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457639" y="3234233"/>
            <a:ext cx="1825142" cy="1056132"/>
          </a:xfrm>
          <a:prstGeom prst="roundRect">
            <a:avLst>
              <a:gd name="adj" fmla="val 5195"/>
            </a:avLst>
          </a:prstGeom>
          <a:solidFill>
            <a:srgbClr val="29B6A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Tree 3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f₃(x)  …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265615" y="4434840"/>
            <a:ext cx="220919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fits residuals r₂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196950" y="5347411"/>
            <a:ext cx="9796882" cy="0"/>
          </a:xfrm>
          <a:prstGeom prst="line">
            <a:avLst/>
          </a:prstGeom>
          <a:noFill/>
          <a:ln w="9525">
            <a:solidFill>
              <a:srgbClr val="80808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620878" y="5539435"/>
            <a:ext cx="109499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Final prediction:  F(x) = f₁(x) + η·f₂(x) + η·f₃(x) + …    (η = learning rate, shrinks each correction)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Practical Notes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5838" y="1335024"/>
            <a:ext cx="10937138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​"/>
            </a:pPr>
            <a:r>
              <a:rPr lang="en-US" sz="2200" dirty="0">
                <a:solidFill>
                  <a:srgbClr val="29B6A4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1. </a:t>
            </a:r>
            <a:pPr indent="0" marL="0">
              <a:buNone/>
            </a:pPr>
            <a:r>
              <a:rPr lang="en-US" sz="2200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Depth controls flexibility: shallow trees underfit, deep trees overfit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​"/>
            </a:pPr>
            <a:r>
              <a:rPr lang="en-US" sz="2200" dirty="0">
                <a:solidFill>
                  <a:srgbClr val="29B6A4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2. </a:t>
            </a:r>
            <a:pPr indent="0" marL="0">
              <a:buNone/>
            </a:pPr>
            <a:r>
              <a:rPr lang="en-US" sz="2200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Boosting hyperparameters: number of trees, depth, learning rate η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​"/>
            </a:pPr>
            <a:r>
              <a:rPr lang="en-US" sz="2200" dirty="0">
                <a:solidFill>
                  <a:srgbClr val="29B6A4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3. </a:t>
            </a:r>
            <a:pPr indent="0" marL="0">
              <a:buNone/>
            </a:pPr>
            <a:r>
              <a:rPr lang="en-US" sz="2200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Validate out-of-sample; report R² or RMSE next to OLS baselines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​"/>
            </a:pPr>
            <a:r>
              <a:rPr lang="en-US" sz="1800" dirty="0">
                <a:solidFill>
                  <a:srgbClr val="29B6A4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All shapes on the diagram slides are native PowerPoint objects — open and edit them directly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ster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Subtitle">
      <a:majorFont>
        <a:latin typeface="Lucida Bright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2115</TotalTime>
  <Words>267</Words>
  <Application>Microsoft Office PowerPoint</Application>
  <PresentationFormat>Widescreen</PresentationFormat>
  <Paragraphs>55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Wingdings</vt:lpstr>
      <vt:lpstr>Calibri</vt:lpstr>
      <vt:lpstr>Lucida Sans</vt:lpstr>
      <vt:lpstr>Lucida Bright</vt:lpstr>
      <vt:lpstr>Aptos</vt:lpstr>
      <vt:lpstr>Master</vt:lpstr>
      <vt:lpstr>PowerPoint Presentation</vt:lpstr>
      <vt:lpstr>Example – Creating Opportunity</vt:lpstr>
      <vt:lpstr>PowerPoint Presentation</vt:lpstr>
      <vt:lpstr>Example - The Geography of Upward Mobility in the United States </vt:lpstr>
      <vt:lpstr>PowerPoint Presentation</vt:lpstr>
      <vt:lpstr>Example - Creating Moves to Opportunity Experiment</vt:lpstr>
      <vt:lpstr>PowerPoint Presentation</vt:lpstr>
      <vt:lpstr>Example - Where Housing Choice Voucher Holders Live in Seattle</vt:lpstr>
      <vt:lpstr>PowerPoint Presentation</vt:lpstr>
      <vt:lpstr>Example - Three Policy Approaches to Increasing Upward Mobility</vt:lpstr>
    </vt:vector>
  </TitlesOfParts>
  <Company>Harvard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Leff, Emily C</dc:creator>
  <cp:lastModifiedBy>Leff, Emily C</cp:lastModifiedBy>
  <cp:revision>51</cp:revision>
  <dcterms:created xsi:type="dcterms:W3CDTF">2025-01-15T20:52:06Z</dcterms:created>
  <dcterms:modified xsi:type="dcterms:W3CDTF">2026-07-08T17:43:28Z</dcterms:modified>
</cp:coreProperties>
</file>