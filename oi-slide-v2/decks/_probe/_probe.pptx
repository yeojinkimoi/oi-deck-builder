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9" r:id="rId11"/>
    <p:sldId id="258" r:id="rId28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106" y="4517136"/>
            <a:ext cx="1003279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Tree-Based ML — Probe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37990" y="5504688"/>
            <a:ext cx="75319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generate → compose proof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37990" y="5998464"/>
            <a:ext cx="7531913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July 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PROBE — GENERATE→COMPOSE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Why Tree-Based Models?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Flexible prediction without assuming a functional form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Splits are learned from the data, not specified by the researcher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Two workhorses: regression trees and gradient boosting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Practical Notes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Depth controls flexibility: shallow underfits, deep overfits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diagram slide is native python-pptx shapes — open and drag the nodes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Regression Tree Works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t>Illustrative — predicting a child's adult income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314700" y="2423160"/>
            <a:ext cx="2788920" cy="64008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97680" y="2615184"/>
            <a:ext cx="5486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Lucida Sans"/>
              </a:rPr>
              <a:t>Yes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03620" y="2423160"/>
            <a:ext cx="2788920" cy="64008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60919" y="2615184"/>
            <a:ext cx="5486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Lucida Sans"/>
              </a:rPr>
              <a:t>No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920240" y="3977639"/>
            <a:ext cx="1394460" cy="640081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05990" y="4169663"/>
            <a:ext cx="5486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Lucida Sans"/>
              </a:rPr>
              <a:t>Yes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4700" y="3977639"/>
            <a:ext cx="1394460" cy="640081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74770" y="4169663"/>
            <a:ext cx="5486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Lucida Sans"/>
              </a:rPr>
              <a:t>No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498079" y="3977639"/>
            <a:ext cx="1394461" cy="640081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3829" y="4169663"/>
            <a:ext cx="5486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Lucida Sans"/>
              </a:rPr>
              <a:t>Yes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92540" y="3977639"/>
            <a:ext cx="1394460" cy="640081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52610" y="4169663"/>
            <a:ext cx="54864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Lucida Sans"/>
              </a:rPr>
              <a:t>No</a:t>
            </a:r>
          </a:p>
        </p:txBody>
      </p:sp>
      <p:sp>
        <p:nvSpPr>
          <p:cNvPr id="17" name="Diamond 16"/>
          <p:cNvSpPr/>
          <p:nvPr/>
        </p:nvSpPr>
        <p:spPr>
          <a:xfrm>
            <a:off x="4960620" y="1508760"/>
            <a:ext cx="2286000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262626"/>
                </a:solidFill>
                <a:latin typeface="Lucida Sans"/>
              </a:rPr>
              <a:t>Parental income</a:t>
            </a:r>
          </a:p>
          <a:p>
            <a:pPr algn="ctr"/>
            <a:r>
              <a:rPr sz="1100" b="1">
                <a:solidFill>
                  <a:srgbClr val="262626"/>
                </a:solidFill>
                <a:latin typeface="Lucida Sans"/>
              </a:rPr>
              <a:t>below median?</a:t>
            </a:r>
          </a:p>
        </p:txBody>
      </p:sp>
      <p:sp>
        <p:nvSpPr>
          <p:cNvPr id="18" name="Diamond 17"/>
          <p:cNvSpPr/>
          <p:nvPr/>
        </p:nvSpPr>
        <p:spPr>
          <a:xfrm>
            <a:off x="2171700" y="3063240"/>
            <a:ext cx="2286000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262626"/>
                </a:solidFill>
                <a:latin typeface="Lucida Sans"/>
              </a:rPr>
              <a:t>Neighborhood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Lucida Sans"/>
              </a:rPr>
              <a:t>mobility low?</a:t>
            </a:r>
          </a:p>
        </p:txBody>
      </p:sp>
      <p:sp>
        <p:nvSpPr>
          <p:cNvPr id="19" name="Diamond 18"/>
          <p:cNvSpPr/>
          <p:nvPr/>
        </p:nvSpPr>
        <p:spPr>
          <a:xfrm>
            <a:off x="7749540" y="3063240"/>
            <a:ext cx="2286000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262626"/>
                </a:solidFill>
                <a:latin typeface="Lucida Sans"/>
              </a:rPr>
              <a:t>Parental income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Lucida Sans"/>
              </a:rPr>
              <a:t>below 25th pctile?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617720"/>
            <a:ext cx="1737360" cy="731520"/>
          </a:xfrm>
          <a:prstGeom prst="roundRect">
            <a:avLst/>
          </a:prstGeom>
          <a:solidFill>
            <a:srgbClr val="29B6A4"/>
          </a:solidFill>
          <a:ln w="15875">
            <a:solidFill>
              <a:srgbClr val="29B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Lucida Sans"/>
              </a:rPr>
              <a:t>$22k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617720"/>
            <a:ext cx="1737360" cy="731520"/>
          </a:xfrm>
          <a:prstGeom prst="roundRect">
            <a:avLst/>
          </a:prstGeom>
          <a:solidFill>
            <a:srgbClr val="29B6A4"/>
          </a:solidFill>
          <a:ln w="15875">
            <a:solidFill>
              <a:srgbClr val="29B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Lucida Sans"/>
              </a:rPr>
              <a:t>$31k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399" y="4617720"/>
            <a:ext cx="1737360" cy="731520"/>
          </a:xfrm>
          <a:prstGeom prst="roundRect">
            <a:avLst/>
          </a:prstGeom>
          <a:solidFill>
            <a:srgbClr val="29B6A4"/>
          </a:solidFill>
          <a:ln w="15875">
            <a:solidFill>
              <a:srgbClr val="29B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Lucida Sans"/>
              </a:rPr>
              <a:t>$38k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617720"/>
            <a:ext cx="1737360" cy="731520"/>
          </a:xfrm>
          <a:prstGeom prst="roundRect">
            <a:avLst/>
          </a:prstGeom>
          <a:solidFill>
            <a:srgbClr val="29B6A4"/>
          </a:solidFill>
          <a:ln w="15875">
            <a:solidFill>
              <a:srgbClr val="29B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Lucida Sans"/>
              </a:rPr>
              <a:t>$47k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