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415" r:id="rId2"/>
    <p:sldId id="4412" r:id="rId3"/>
    <p:sldId id="4413" r:id="rId4"/>
    <p:sldId id="4417" r:id="rId5"/>
    <p:sldId id="4418" r:id="rId6"/>
    <p:sldId id="4420" r:id="rId7"/>
    <p:sldId id="4414" r:id="rId8"/>
    <p:sldId id="4421" r:id="rId9"/>
    <p:sldId id="441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AD53F6-2924-B8DF-44B7-78E86A43D793}" name="Oppenheimer, Sarah Chapman" initials="" userId="S::soppenhe@fas.harvard.edu::b8d67e38-5738-4ae3-8e75-47b4345428d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18:08:58.538"/>
    </inkml:context>
    <inkml:brush xml:id="br0">
      <inkml:brushProperty name="width" value="0.035" units="cm"/>
      <inkml:brushProperty name="height" value="0.035" units="cm"/>
      <inkml:brushProperty name="color" value="#E71224"/>
    </inkml:brush>
  </inkml:definitions>
  <inkml:trace contextRef="#ctx0" brushRef="#br0">2504 732 24512,'-1'29'0,"-2"-1"0,-1 1 0,-3-1 0,-2 1 0,-1-1 0,-3 0 0,-1-1 0,-2 0 0,-2 0 0,-2-1 0,-1 0 0,-2-1 0,-2 0 0,-2-1 0,-1 0 0,-1-1 0,-3-1 0,0 0 0,-2-2 0,-2 0 0,-1-1 0,-1 0 0,-1-2 0,-1-1 0,-2 0 0,0-2 0,-1 0 0,-2-1 0,0-2 0,0 0 0,-2-2 0,0-1 0,-1 0 0,0-2 0,0-1 0,-1-1 0,0-1 0,0-2 0,0 0 0,0-2 0,0 0 0,0-2 0,0-1 0,1-1 0,0-1 0,0-2 0,1 0 0,1-1 0,0-2 0,1 0 0,1-2 0,0-1 0,2 0 0,0-2 0,2 0 0,1-1 0,1-2 0,1 0 0,2-1 0,1 0 0,1-2 0,2 0 0,1-1 0,2-1 0,2 0 0,1-1 0,1 0 0,3-1 0,1 0 0,2-1 0,2 0 0,2 0 0,2-1 0,1 0 0,2-1 0,3 1 0,1-1 0,2 1 0,2-1 0,2 0 0,2 0 0,2 1 0,1-1 0,3 1 0,2 0 0,1 0 0,2 1 0,2 0 0,2 0 0,2 0 0,1 2 0,3-1 0,1 1 0,1 1 0,2 1 0,2 0 0,1 1 0,2 0 0,1 1 0,1 1 0,2 1 0,1 1 0,1 1 0,1 0 0,2 2 0,0 0 0,2 2 0,0 0 0,1 2 0,1 0 0,0 2 0,1 0 0,1 2 0,0 1 0,0 1 0,1 1 0,0 1 0,0 2 0,0 0 0,0 2 0,0 0 0,0 2 0,0 1 0,-1 1 0,0 1 0,0 1 0,-1 2 0,0 0 0,-2 2 0,0 0 0,0 2 0,-2 0 0,-1 2 0,0 0 0,-2 2 0,-1 0 0,-1 1 0,-1 1 0,-1 1 0,-2 1 0,-2 1 0,0 0 0,-3 1 0,-1 0 0,-1 1 0,-2 1 0,-2 1 0,-2-1 0,-1 2 0,-2 0 0,-2 0 0,-2 0 0,-1 1 0,-3 0 0,-1 0 0,-2 1 0,-3-1 0,-1 1 0,-2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AF075-F32C-809F-AA30-4BCA6B8A4B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5CFAB83-6B38-52E6-F58C-FC2E562B77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6D10E2-2E16-5F0D-2357-B404A9B978D8}"/>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6F655FCB-6B1D-5F55-3130-E6BD15BB96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D6EAA-90A7-C936-E0B8-A92E410B1796}"/>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24271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A266-D8CF-5F38-AFE8-6CEF52EB9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87F721-DDF0-116A-C2B4-93C1CEDD2F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BB03D-FEA8-E7E4-D3C4-812757C0BF6F}"/>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DCFD465B-A8F6-EB99-F839-6C4C16C765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E0C192-3424-44C3-96C2-BDAC753D51F3}"/>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2160283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4F1CE-3C2B-BCDF-DD20-5875D9A4A4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216C27-6906-A866-547B-BA63FE80A6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305250-5A60-731F-E1DF-9F4C96B31D2C}"/>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D01C07CB-03ED-9542-E60E-B084A184D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3C30-3FC0-121D-8A05-CC024D1585C7}"/>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149334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37406-561D-29D7-8AD5-C058D3C67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F3B18F-6E68-715C-AE3E-8C6519546D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9B6BD-3AD9-717B-3A8A-53347F821E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601AE6-63B2-0E69-83FB-FED6359197CA}"/>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6" name="Footer Placeholder 5">
            <a:extLst>
              <a:ext uri="{FF2B5EF4-FFF2-40B4-BE49-F238E27FC236}">
                <a16:creationId xmlns:a16="http://schemas.microsoft.com/office/drawing/2014/main" id="{07CAC8A2-1BEB-6BDD-D23C-C6CAEA6DEC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4ABD8-4A9A-1512-A4CB-75D80A4A0ED3}"/>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958968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7DE2-76AD-06D9-D88C-F9470CD448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CE1C75-A2D2-65C4-7100-BDD854D91F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86272-8B54-63F7-9DA9-608998FAB1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CD9052-82B3-3FB7-788B-A98A427F73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ADC351-51E3-D670-8ADC-36CA2298AA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3D5433-650E-F523-C1AF-63CD999CF404}"/>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8" name="Footer Placeholder 7">
            <a:extLst>
              <a:ext uri="{FF2B5EF4-FFF2-40B4-BE49-F238E27FC236}">
                <a16:creationId xmlns:a16="http://schemas.microsoft.com/office/drawing/2014/main" id="{E0F5DA4B-28EE-82A3-7A0D-D88789DF9F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8E75FD-3B0C-B408-5E10-A08FC3AE38A5}"/>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1122222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D1D9D-E310-D942-C1FE-E3678D6B0E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863798-76DA-A29F-28CC-FC8318A47BEF}"/>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4" name="Footer Placeholder 3">
            <a:extLst>
              <a:ext uri="{FF2B5EF4-FFF2-40B4-BE49-F238E27FC236}">
                <a16:creationId xmlns:a16="http://schemas.microsoft.com/office/drawing/2014/main" id="{5459F872-955A-653A-B5FA-EB47F3DD4D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52A7A5-D6E8-64AD-48A0-2B6EE038E4AE}"/>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246743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E7216-2E82-12D4-267A-66E05B8FDA4F}"/>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3" name="Footer Placeholder 2">
            <a:extLst>
              <a:ext uri="{FF2B5EF4-FFF2-40B4-BE49-F238E27FC236}">
                <a16:creationId xmlns:a16="http://schemas.microsoft.com/office/drawing/2014/main" id="{ACFB7B6E-2012-2B1B-E7BB-1B87F94F1F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1F4957-DA67-C20C-A1C5-EEB51530FEDC}"/>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3715729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1755-DABE-A7CE-8FC7-FBDD7CD2AD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78BCFB-B9A0-54B8-83D0-33C12109A0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E9CD95-36AA-51C0-C8D8-BEA144096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4F3E00-7A5C-1FC7-179E-CC87B7B71F50}"/>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6" name="Footer Placeholder 5">
            <a:extLst>
              <a:ext uri="{FF2B5EF4-FFF2-40B4-BE49-F238E27FC236}">
                <a16:creationId xmlns:a16="http://schemas.microsoft.com/office/drawing/2014/main" id="{677339D8-0D52-6D7C-EECF-64D770E83A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B7088C-89F4-4F84-8AEF-93885CD4FC74}"/>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2113981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4BFCB-C15C-A26A-615C-C67612C10F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8AB7E6-CF10-CF1D-D897-40B31119F4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650FED-1330-F9F1-4158-89A71E0FA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67CC3-BEC2-F01B-25B2-DADB91A8F1E3}"/>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6" name="Footer Placeholder 5">
            <a:extLst>
              <a:ext uri="{FF2B5EF4-FFF2-40B4-BE49-F238E27FC236}">
                <a16:creationId xmlns:a16="http://schemas.microsoft.com/office/drawing/2014/main" id="{8B7E21F3-B6A4-FE14-2ADD-6E0F6DD04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2EF645-EFE4-FFE3-AC95-8AF09BD5AF0F}"/>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100348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9693A-80C5-6B3D-B7C6-6709655F46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8BC3F4-D000-65C2-6F6A-6F0C1955CC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8A2903-087C-B9D2-24D0-B6F86769F8A7}"/>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4E25467A-0260-2829-7969-8CB0D9220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4FE161-26C9-9086-542D-EF335FBACAE9}"/>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59050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BA20D6-B50A-BA2C-B16B-86AB5F03A5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D9C4A-EB8D-2278-F797-B24FDB30A6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6687E2-AE3E-2FE0-F592-6B53367E8469}"/>
              </a:ext>
            </a:extLst>
          </p:cNvPr>
          <p:cNvSpPr>
            <a:spLocks noGrp="1"/>
          </p:cNvSpPr>
          <p:nvPr>
            <p:ph type="dt" sz="half" idx="10"/>
          </p:nvPr>
        </p:nvSpPr>
        <p:spPr/>
        <p:txBody>
          <a:body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CB6ADA16-4EBC-D7EB-7647-2A9117F1F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DC3FAC-56A4-4150-7763-BE73F03F37E2}"/>
              </a:ext>
            </a:extLst>
          </p:cNvPr>
          <p:cNvSpPr>
            <a:spLocks noGrp="1"/>
          </p:cNvSpPr>
          <p:nvPr>
            <p:ph type="sldNum" sz="quarter" idx="12"/>
          </p:nvPr>
        </p:nvSpPr>
        <p:spPr/>
        <p:txBody>
          <a:bodyPr/>
          <a:lstStyle/>
          <a:p>
            <a:fld id="{A584C00B-E740-471E-B8BB-F850A57A0A52}" type="slidenum">
              <a:rPr lang="en-US" smtClean="0"/>
              <a:t>‹#›</a:t>
            </a:fld>
            <a:endParaRPr lang="en-US"/>
          </a:p>
        </p:txBody>
      </p:sp>
    </p:spTree>
    <p:extLst>
      <p:ext uri="{BB962C8B-B14F-4D97-AF65-F5344CB8AC3E}">
        <p14:creationId xmlns:p14="http://schemas.microsoft.com/office/powerpoint/2010/main" val="355175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2FED41-FBA1-A3A1-79DA-EC247B5885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B22F38-B805-3C7B-E865-025EF8CA10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6DF2B-5976-CFC6-0944-ABB836159A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04F903-DC5C-41A6-BAEB-65CFCAD66DC1}" type="datetimeFigureOut">
              <a:rPr lang="en-US" smtClean="0"/>
              <a:t>7/21/2025</a:t>
            </a:fld>
            <a:endParaRPr lang="en-US"/>
          </a:p>
        </p:txBody>
      </p:sp>
      <p:sp>
        <p:nvSpPr>
          <p:cNvPr id="5" name="Footer Placeholder 4">
            <a:extLst>
              <a:ext uri="{FF2B5EF4-FFF2-40B4-BE49-F238E27FC236}">
                <a16:creationId xmlns:a16="http://schemas.microsoft.com/office/drawing/2014/main" id="{81F162CB-D2B8-C45A-0A4F-99FDE9BE4E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9870DC-BF47-53A5-E397-2FBB7590E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84C00B-E740-471E-B8BB-F850A57A0A52}" type="slidenum">
              <a:rPr lang="en-US" smtClean="0"/>
              <a:t>‹#›</a:t>
            </a:fld>
            <a:endParaRPr lang="en-US"/>
          </a:p>
        </p:txBody>
      </p:sp>
    </p:spTree>
    <p:extLst>
      <p:ext uri="{BB962C8B-B14F-4D97-AF65-F5344CB8AC3E}">
        <p14:creationId xmlns:p14="http://schemas.microsoft.com/office/powerpoint/2010/main" val="3246320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BCA33F3-AAA5-EA4B-CA1D-64D12896BC36}"/>
              </a:ext>
            </a:extLst>
          </p:cNvPr>
          <p:cNvSpPr txBox="1">
            <a:spLocks/>
          </p:cNvSpPr>
          <p:nvPr/>
        </p:nvSpPr>
        <p:spPr>
          <a:xfrm>
            <a:off x="1642141" y="1845226"/>
            <a:ext cx="8907719" cy="450794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1800" dirty="0">
                <a:latin typeface="Lucida Sans" panose="020B0602030504020204" pitchFamily="34" charset="0"/>
              </a:rPr>
              <a:t>Embedding fonts helps to ensure that the presentation presents the same on any computer, regardless of OS. While OI standards use standard fonts as much as possible, embedding fonts is an extra confirmation that the presentation will not be altered when displayed from a different machine.</a:t>
            </a:r>
          </a:p>
          <a:p>
            <a:pPr algn="ctr">
              <a:lnSpc>
                <a:spcPct val="100000"/>
              </a:lnSpc>
            </a:pPr>
            <a:endParaRPr lang="en-US" sz="1800" dirty="0">
              <a:latin typeface="Lucida Sans" panose="020B0602030504020204" pitchFamily="34" charset="0"/>
            </a:endParaRPr>
          </a:p>
          <a:p>
            <a:pPr algn="ctr">
              <a:lnSpc>
                <a:spcPct val="100000"/>
              </a:lnSpc>
            </a:pPr>
            <a:endParaRPr lang="en-US" sz="1800" dirty="0">
              <a:latin typeface="Lucida Sans" panose="020B0602030504020204" pitchFamily="34" charset="0"/>
            </a:endParaRPr>
          </a:p>
          <a:p>
            <a:pPr algn="ctr">
              <a:lnSpc>
                <a:spcPct val="100000"/>
              </a:lnSpc>
            </a:pPr>
            <a:r>
              <a:rPr lang="en-US" sz="1800" dirty="0">
                <a:latin typeface="Lucida Sans" panose="020B0602030504020204" pitchFamily="34" charset="0"/>
              </a:rPr>
              <a:t>This guide will show you how to embed fonts in PowerPoint on Windows and Mac.</a:t>
            </a:r>
          </a:p>
          <a:p>
            <a:pPr algn="ctr">
              <a:lnSpc>
                <a:spcPct val="100000"/>
              </a:lnSpc>
            </a:pPr>
            <a:endParaRPr lang="en-US" sz="1800" dirty="0">
              <a:latin typeface="Lucida Sans" panose="020B0602030504020204" pitchFamily="34" charset="0"/>
            </a:endParaRPr>
          </a:p>
          <a:p>
            <a:pPr algn="ctr">
              <a:lnSpc>
                <a:spcPct val="100000"/>
              </a:lnSpc>
            </a:pPr>
            <a:endParaRPr lang="en-US" sz="1800" dirty="0">
              <a:latin typeface="Lucida Sans" panose="020B0602030504020204" pitchFamily="34" charset="0"/>
            </a:endParaRPr>
          </a:p>
          <a:p>
            <a:pPr algn="ctr">
              <a:lnSpc>
                <a:spcPct val="100000"/>
              </a:lnSpc>
            </a:pPr>
            <a:r>
              <a:rPr lang="en-US" sz="1800" dirty="0">
                <a:latin typeface="Lucida Sans" panose="020B0602030504020204" pitchFamily="34" charset="0"/>
              </a:rPr>
              <a:t>If you have any questions or need assistance at any point, feel free to reach out to Emily (on slack or at emilyleff@g.harvard.edu).</a:t>
            </a:r>
          </a:p>
        </p:txBody>
      </p:sp>
      <p:sp>
        <p:nvSpPr>
          <p:cNvPr id="4" name="Rectangle 183">
            <a:extLst>
              <a:ext uri="{FF2B5EF4-FFF2-40B4-BE49-F238E27FC236}">
                <a16:creationId xmlns:a16="http://schemas.microsoft.com/office/drawing/2014/main" id="{1C4AE347-EE87-C4A2-0E56-8A1F2D63F3EA}"/>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5" name="Rectangle 4">
            <a:extLst>
              <a:ext uri="{FF2B5EF4-FFF2-40B4-BE49-F238E27FC236}">
                <a16:creationId xmlns:a16="http://schemas.microsoft.com/office/drawing/2014/main" id="{09C3317C-D9F9-50CB-9F9B-5F2C641069EE}"/>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Why It’s Important to Embed Fonts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7" name="Straight Connector 6">
            <a:extLst>
              <a:ext uri="{FF2B5EF4-FFF2-40B4-BE49-F238E27FC236}">
                <a16:creationId xmlns:a16="http://schemas.microsoft.com/office/drawing/2014/main" id="{897D0BA8-1ECB-2C8F-2FBC-30634A171184}"/>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816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278B9546-617C-AF10-55D3-533CB2F20D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2618" y="1411000"/>
            <a:ext cx="7315439" cy="5081875"/>
          </a:xfrm>
        </p:spPr>
      </p:pic>
      <p:sp>
        <p:nvSpPr>
          <p:cNvPr id="8" name="Content Placeholder 3">
            <a:extLst>
              <a:ext uri="{FF2B5EF4-FFF2-40B4-BE49-F238E27FC236}">
                <a16:creationId xmlns:a16="http://schemas.microsoft.com/office/drawing/2014/main" id="{82589BEE-F631-8029-AEF6-307088B8B28A}"/>
              </a:ext>
            </a:extLst>
          </p:cNvPr>
          <p:cNvSpPr txBox="1">
            <a:spLocks/>
          </p:cNvSpPr>
          <p:nvPr/>
        </p:nvSpPr>
        <p:spPr>
          <a:xfrm>
            <a:off x="613842" y="1411000"/>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Go to File &gt; Options</a:t>
            </a:r>
          </a:p>
        </p:txBody>
      </p:sp>
      <p:sp>
        <p:nvSpPr>
          <p:cNvPr id="4" name="Rectangle 183">
            <a:extLst>
              <a:ext uri="{FF2B5EF4-FFF2-40B4-BE49-F238E27FC236}">
                <a16:creationId xmlns:a16="http://schemas.microsoft.com/office/drawing/2014/main" id="{D1542A5A-DD38-7CEB-DCE8-BFF640252010}"/>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6" name="Rectangle 5">
            <a:extLst>
              <a:ext uri="{FF2B5EF4-FFF2-40B4-BE49-F238E27FC236}">
                <a16:creationId xmlns:a16="http://schemas.microsoft.com/office/drawing/2014/main" id="{9682D23F-D9E0-8C41-3FD8-1A57B2176C1F}"/>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How To Embed Fonts - Windows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9" name="Straight Connector 8">
            <a:extLst>
              <a:ext uri="{FF2B5EF4-FFF2-40B4-BE49-F238E27FC236}">
                <a16:creationId xmlns:a16="http://schemas.microsoft.com/office/drawing/2014/main" id="{AD73C650-2843-C315-392C-C74A5B546978}"/>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875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22BE9C95-DF3B-6DD3-FD72-98C44E0AD6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7164" y="1362832"/>
            <a:ext cx="6500989" cy="5301169"/>
          </a:xfrm>
          <a:prstGeom prst="rect">
            <a:avLst/>
          </a:prstGeom>
        </p:spPr>
      </p:pic>
      <p:sp>
        <p:nvSpPr>
          <p:cNvPr id="9" name="Content Placeholder 3">
            <a:extLst>
              <a:ext uri="{FF2B5EF4-FFF2-40B4-BE49-F238E27FC236}">
                <a16:creationId xmlns:a16="http://schemas.microsoft.com/office/drawing/2014/main" id="{160A136A-64CF-FC91-78DF-1DB2FABFC052}"/>
              </a:ext>
            </a:extLst>
          </p:cNvPr>
          <p:cNvSpPr txBox="1">
            <a:spLocks/>
          </p:cNvSpPr>
          <p:nvPr/>
        </p:nvSpPr>
        <p:spPr>
          <a:xfrm>
            <a:off x="613842" y="1362832"/>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latin typeface="Lucida Sans" panose="020B0602030504020204" pitchFamily="34" charset="0"/>
              </a:rPr>
              <a:t>From options, go to </a:t>
            </a:r>
            <a:br>
              <a:rPr lang="en-US" sz="1800" dirty="0">
                <a:latin typeface="Lucida Sans" panose="020B0602030504020204" pitchFamily="34" charset="0"/>
              </a:rPr>
            </a:br>
            <a:br>
              <a:rPr lang="en-US" sz="1800" dirty="0">
                <a:latin typeface="Lucida Sans" panose="020B0602030504020204" pitchFamily="34" charset="0"/>
              </a:rPr>
            </a:br>
            <a:r>
              <a:rPr lang="en-US" sz="1800" dirty="0">
                <a:latin typeface="Lucida Sans" panose="020B0602030504020204" pitchFamily="34" charset="0"/>
              </a:rPr>
              <a:t>Save &gt; </a:t>
            </a:r>
            <a:br>
              <a:rPr lang="en-US" sz="1800" dirty="0">
                <a:latin typeface="Lucida Sans" panose="020B0602030504020204" pitchFamily="34" charset="0"/>
              </a:rPr>
            </a:br>
            <a:br>
              <a:rPr lang="en-US" sz="1800" dirty="0">
                <a:latin typeface="Lucida Sans" panose="020B0602030504020204" pitchFamily="34" charset="0"/>
              </a:rPr>
            </a:br>
            <a:r>
              <a:rPr lang="en-US" sz="1800" dirty="0">
                <a:latin typeface="Lucida Sans" panose="020B0602030504020204" pitchFamily="34" charset="0"/>
              </a:rPr>
              <a:t>Embed fonts in the file &amp; &gt;</a:t>
            </a:r>
            <a:br>
              <a:rPr lang="en-US" sz="1800" dirty="0">
                <a:latin typeface="Lucida Sans" panose="020B0602030504020204" pitchFamily="34" charset="0"/>
              </a:rPr>
            </a:br>
            <a:br>
              <a:rPr lang="en-US" sz="1800" dirty="0">
                <a:latin typeface="Lucida Sans" panose="020B0602030504020204" pitchFamily="34" charset="0"/>
              </a:rPr>
            </a:br>
            <a:r>
              <a:rPr lang="en-US" sz="1800" dirty="0">
                <a:latin typeface="Lucida Sans" panose="020B0602030504020204" pitchFamily="34" charset="0"/>
              </a:rPr>
              <a:t>Embed all characters (best for editing by other people)</a:t>
            </a:r>
          </a:p>
          <a:p>
            <a:pPr marL="0" indent="0">
              <a:lnSpc>
                <a:spcPct val="100000"/>
              </a:lnSpc>
              <a:buNone/>
            </a:pPr>
            <a:endParaRPr lang="en-US" sz="1800" dirty="0">
              <a:latin typeface="Lucida Sans" panose="020B0602030504020204" pitchFamily="34" charset="0"/>
            </a:endParaRPr>
          </a:p>
          <a:p>
            <a:pPr marL="0" indent="0">
              <a:lnSpc>
                <a:spcPct val="100000"/>
              </a:lnSpc>
              <a:buNone/>
            </a:pPr>
            <a:r>
              <a:rPr lang="en-US" sz="1800" dirty="0">
                <a:latin typeface="Lucida Sans" panose="020B0602030504020204" pitchFamily="34" charset="0"/>
              </a:rPr>
              <a:t>Click OK</a:t>
            </a:r>
          </a:p>
        </p:txBody>
      </p:sp>
      <p:sp>
        <p:nvSpPr>
          <p:cNvPr id="4" name="Rectangle 3">
            <a:extLst>
              <a:ext uri="{FF2B5EF4-FFF2-40B4-BE49-F238E27FC236}">
                <a16:creationId xmlns:a16="http://schemas.microsoft.com/office/drawing/2014/main" id="{A7D46802-7476-E4A4-8F26-BFDCB7923053}"/>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How To Embed Fonts - Windows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5" name="Straight Connector 4">
            <a:extLst>
              <a:ext uri="{FF2B5EF4-FFF2-40B4-BE49-F238E27FC236}">
                <a16:creationId xmlns:a16="http://schemas.microsoft.com/office/drawing/2014/main" id="{0DFFD9E4-3AC8-FE28-6DF4-C00FEE5F5970}"/>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931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E4F96-211F-709D-F3CF-B2B9A339C328}"/>
            </a:ext>
          </a:extLst>
        </p:cNvPr>
        <p:cNvGrpSpPr/>
        <p:nvPr/>
      </p:nvGrpSpPr>
      <p:grpSpPr>
        <a:xfrm>
          <a:off x="0" y="0"/>
          <a:ext cx="0" cy="0"/>
          <a:chOff x="0" y="0"/>
          <a:chExt cx="0" cy="0"/>
        </a:xfrm>
      </p:grpSpPr>
      <p:sp>
        <p:nvSpPr>
          <p:cNvPr id="8" name="Content Placeholder 3">
            <a:extLst>
              <a:ext uri="{FF2B5EF4-FFF2-40B4-BE49-F238E27FC236}">
                <a16:creationId xmlns:a16="http://schemas.microsoft.com/office/drawing/2014/main" id="{09337309-0635-98DD-41DF-3DBB6356245F}"/>
              </a:ext>
            </a:extLst>
          </p:cNvPr>
          <p:cNvSpPr txBox="1">
            <a:spLocks/>
          </p:cNvSpPr>
          <p:nvPr/>
        </p:nvSpPr>
        <p:spPr>
          <a:xfrm>
            <a:off x="613842" y="1411000"/>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Go to PowerPoint &gt; Preferences</a:t>
            </a:r>
          </a:p>
        </p:txBody>
      </p:sp>
      <p:sp>
        <p:nvSpPr>
          <p:cNvPr id="4" name="Rectangle 183">
            <a:extLst>
              <a:ext uri="{FF2B5EF4-FFF2-40B4-BE49-F238E27FC236}">
                <a16:creationId xmlns:a16="http://schemas.microsoft.com/office/drawing/2014/main" id="{E77858CA-BA59-4C00-8624-5EACA6570749}"/>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6" name="Rectangle 5">
            <a:extLst>
              <a:ext uri="{FF2B5EF4-FFF2-40B4-BE49-F238E27FC236}">
                <a16:creationId xmlns:a16="http://schemas.microsoft.com/office/drawing/2014/main" id="{89B28599-ADFB-B315-BA79-1755AA4141A0}"/>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How To Embed Fonts - Mac</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9" name="Straight Connector 8">
            <a:extLst>
              <a:ext uri="{FF2B5EF4-FFF2-40B4-BE49-F238E27FC236}">
                <a16:creationId xmlns:a16="http://schemas.microsoft.com/office/drawing/2014/main" id="{975D9054-CE75-EE5B-7F20-731D228FB9C2}"/>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pic>
        <p:nvPicPr>
          <p:cNvPr id="10" name="Picture 9" descr="A screenshot of a computer&#10;&#10;AI-generated content may be incorrect.">
            <a:extLst>
              <a:ext uri="{FF2B5EF4-FFF2-40B4-BE49-F238E27FC236}">
                <a16:creationId xmlns:a16="http://schemas.microsoft.com/office/drawing/2014/main" id="{0841F2F4-FE26-3E2F-1C89-5B173F18EE22}"/>
              </a:ext>
            </a:extLst>
          </p:cNvPr>
          <p:cNvPicPr>
            <a:picLocks noChangeAspect="1"/>
          </p:cNvPicPr>
          <p:nvPr/>
        </p:nvPicPr>
        <p:blipFill>
          <a:blip r:embed="rId2">
            <a:extLst>
              <a:ext uri="{28A0092B-C50C-407E-A947-70E740481C1C}">
                <a14:useLocalDpi xmlns:a14="http://schemas.microsoft.com/office/drawing/2010/main" val="0"/>
              </a:ext>
            </a:extLst>
          </a:blip>
          <a:srcRect r="8827"/>
          <a:stretch>
            <a:fillRect/>
          </a:stretch>
        </p:blipFill>
        <p:spPr>
          <a:xfrm>
            <a:off x="3908748" y="1547210"/>
            <a:ext cx="7492677" cy="4160488"/>
          </a:xfrm>
          <a:prstGeom prst="rect">
            <a:avLst/>
          </a:prstGeom>
        </p:spPr>
      </p:pic>
    </p:spTree>
    <p:extLst>
      <p:ext uri="{BB962C8B-B14F-4D97-AF65-F5344CB8AC3E}">
        <p14:creationId xmlns:p14="http://schemas.microsoft.com/office/powerpoint/2010/main" val="3454613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D96D-C5C4-49A4-7956-6BB06D3A357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000B06D-3EAC-2B05-91D9-AE5F1AC0325D}"/>
              </a:ext>
            </a:extLst>
          </p:cNvPr>
          <p:cNvPicPr>
            <a:picLocks noChangeAspect="1"/>
          </p:cNvPicPr>
          <p:nvPr/>
        </p:nvPicPr>
        <p:blipFill>
          <a:blip r:embed="rId2">
            <a:extLst>
              <a:ext uri="{28A0092B-C50C-407E-A947-70E740481C1C}">
                <a14:useLocalDpi xmlns:a14="http://schemas.microsoft.com/office/drawing/2010/main" val="0"/>
              </a:ext>
            </a:extLst>
          </a:blip>
          <a:srcRect l="21" r="21"/>
          <a:stretch/>
        </p:blipFill>
        <p:spPr>
          <a:xfrm>
            <a:off x="3908748" y="1547210"/>
            <a:ext cx="7492677" cy="4160488"/>
          </a:xfrm>
          <a:prstGeom prst="rect">
            <a:avLst/>
          </a:prstGeom>
        </p:spPr>
      </p:pic>
      <p:sp>
        <p:nvSpPr>
          <p:cNvPr id="8" name="Content Placeholder 3">
            <a:extLst>
              <a:ext uri="{FF2B5EF4-FFF2-40B4-BE49-F238E27FC236}">
                <a16:creationId xmlns:a16="http://schemas.microsoft.com/office/drawing/2014/main" id="{8EF4A8AD-DAAC-1DF0-D8C6-BB753C9CFB2B}"/>
              </a:ext>
            </a:extLst>
          </p:cNvPr>
          <p:cNvSpPr txBox="1">
            <a:spLocks/>
          </p:cNvSpPr>
          <p:nvPr/>
        </p:nvSpPr>
        <p:spPr>
          <a:xfrm>
            <a:off x="613842" y="1411000"/>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Go to Output and Sharing &gt; Save</a:t>
            </a:r>
          </a:p>
        </p:txBody>
      </p:sp>
      <p:sp>
        <p:nvSpPr>
          <p:cNvPr id="4" name="Rectangle 183">
            <a:extLst>
              <a:ext uri="{FF2B5EF4-FFF2-40B4-BE49-F238E27FC236}">
                <a16:creationId xmlns:a16="http://schemas.microsoft.com/office/drawing/2014/main" id="{5FE4B16F-D2D9-0896-7241-0CD2ACED6C14}"/>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6" name="Rectangle 5">
            <a:extLst>
              <a:ext uri="{FF2B5EF4-FFF2-40B4-BE49-F238E27FC236}">
                <a16:creationId xmlns:a16="http://schemas.microsoft.com/office/drawing/2014/main" id="{45DEE8DA-8C36-598D-C589-B4F502DE87F5}"/>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How To Embed Fonts - Mac</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9" name="Straight Connector 8">
            <a:extLst>
              <a:ext uri="{FF2B5EF4-FFF2-40B4-BE49-F238E27FC236}">
                <a16:creationId xmlns:a16="http://schemas.microsoft.com/office/drawing/2014/main" id="{22391798-7361-BA8B-F458-F6B922BB92A9}"/>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E764487F-53BE-301D-5D9A-5EA827C21AD9}"/>
                  </a:ext>
                </a:extLst>
              </p14:cNvPr>
              <p14:cNvContentPartPr/>
              <p14:nvPr/>
            </p14:nvContentPartPr>
            <p14:xfrm>
              <a:off x="6670486" y="4379025"/>
              <a:ext cx="901889" cy="527284"/>
            </p14:xfrm>
          </p:contentPart>
        </mc:Choice>
        <mc:Fallback>
          <p:pic>
            <p:nvPicPr>
              <p:cNvPr id="11" name="Ink 10">
                <a:extLst>
                  <a:ext uri="{FF2B5EF4-FFF2-40B4-BE49-F238E27FC236}">
                    <a16:creationId xmlns:a16="http://schemas.microsoft.com/office/drawing/2014/main" id="{E764487F-53BE-301D-5D9A-5EA827C21AD9}"/>
                  </a:ext>
                </a:extLst>
              </p:cNvPr>
              <p:cNvPicPr/>
              <p:nvPr/>
            </p:nvPicPr>
            <p:blipFill>
              <a:blip r:embed="rId4"/>
              <a:stretch>
                <a:fillRect/>
              </a:stretch>
            </p:blipFill>
            <p:spPr>
              <a:xfrm>
                <a:off x="6664365" y="4372906"/>
                <a:ext cx="914130" cy="539521"/>
              </a:xfrm>
              <a:prstGeom prst="rect">
                <a:avLst/>
              </a:prstGeom>
            </p:spPr>
          </p:pic>
        </mc:Fallback>
      </mc:AlternateContent>
    </p:spTree>
    <p:extLst>
      <p:ext uri="{BB962C8B-B14F-4D97-AF65-F5344CB8AC3E}">
        <p14:creationId xmlns:p14="http://schemas.microsoft.com/office/powerpoint/2010/main" val="414916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330EF-B0CB-811E-E5A5-2DE77EB7B16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FA3C5CA-FBD4-A1BE-D86D-82239AEC3895}"/>
              </a:ext>
            </a:extLst>
          </p:cNvPr>
          <p:cNvPicPr>
            <a:picLocks noChangeAspect="1"/>
          </p:cNvPicPr>
          <p:nvPr/>
        </p:nvPicPr>
        <p:blipFill>
          <a:blip r:embed="rId2">
            <a:extLst>
              <a:ext uri="{28A0092B-C50C-407E-A947-70E740481C1C}">
                <a14:useLocalDpi xmlns:a14="http://schemas.microsoft.com/office/drawing/2010/main" val="0"/>
              </a:ext>
            </a:extLst>
          </a:blip>
          <a:srcRect l="1650" r="1650"/>
          <a:stretch/>
        </p:blipFill>
        <p:spPr>
          <a:xfrm>
            <a:off x="3908748" y="1547210"/>
            <a:ext cx="7492677" cy="4160488"/>
          </a:xfrm>
          <a:prstGeom prst="rect">
            <a:avLst/>
          </a:prstGeom>
        </p:spPr>
      </p:pic>
      <p:sp>
        <p:nvSpPr>
          <p:cNvPr id="8" name="Content Placeholder 3">
            <a:extLst>
              <a:ext uri="{FF2B5EF4-FFF2-40B4-BE49-F238E27FC236}">
                <a16:creationId xmlns:a16="http://schemas.microsoft.com/office/drawing/2014/main" id="{D41C7130-2865-A736-C0C2-2E8A791141DD}"/>
              </a:ext>
            </a:extLst>
          </p:cNvPr>
          <p:cNvSpPr txBox="1">
            <a:spLocks/>
          </p:cNvSpPr>
          <p:nvPr/>
        </p:nvSpPr>
        <p:spPr>
          <a:xfrm>
            <a:off x="613842" y="1411000"/>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Select Embed fonts in the file &gt; Embed all characters (best for editing by other people)</a:t>
            </a:r>
          </a:p>
        </p:txBody>
      </p:sp>
      <p:sp>
        <p:nvSpPr>
          <p:cNvPr id="4" name="Rectangle 183">
            <a:extLst>
              <a:ext uri="{FF2B5EF4-FFF2-40B4-BE49-F238E27FC236}">
                <a16:creationId xmlns:a16="http://schemas.microsoft.com/office/drawing/2014/main" id="{E632C15B-6BCD-6B28-4B2B-89E401F6B4A5}"/>
              </a:ext>
            </a:extLst>
          </p:cNvPr>
          <p:cNvSpPr>
            <a:spLocks noChangeArrowheads="1"/>
          </p:cNvSpPr>
          <p:nvPr/>
        </p:nvSpPr>
        <p:spPr bwMode="auto">
          <a:xfrm>
            <a:off x="6462351" y="598576"/>
            <a:ext cx="0" cy="357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1219140" rtl="0" eaLnBrk="0" fontAlgn="base" latinLnBrk="0" hangingPunct="0">
              <a:lnSpc>
                <a:spcPct val="100000"/>
              </a:lnSpc>
              <a:spcBef>
                <a:spcPct val="0"/>
              </a:spcBef>
              <a:spcAft>
                <a:spcPct val="0"/>
              </a:spcAft>
              <a:buClrTx/>
              <a:buSzTx/>
              <a:buFontTx/>
              <a:buNone/>
              <a:tabLst/>
              <a:defRPr/>
            </a:pPr>
            <a:r>
              <a:rPr kumimoji="0" lang="en-US" altLang="en-US" sz="2500" b="0" i="0" u="none" strike="noStrike" kern="1200" cap="none" spc="0" normalizeH="0" baseline="0" noProof="0">
                <a:ln>
                  <a:noFill/>
                </a:ln>
                <a:solidFill>
                  <a:srgbClr val="1E2D53"/>
                </a:solidFill>
                <a:effectLst/>
                <a:uLnTx/>
                <a:uFillTx/>
                <a:latin typeface="Lucida Sans" panose="020B0602030504020204" pitchFamily="34" charset="0"/>
                <a:ea typeface="+mn-ea"/>
                <a:cs typeface="Arial" pitchFamily="34" charset="0"/>
              </a:rPr>
              <a:t> </a:t>
            </a:r>
            <a:endParaRPr kumimoji="0" lang="en-US" altLang="en-US" sz="1900" b="0" i="0" u="none" strike="noStrike" kern="1200" cap="none" spc="0" normalizeH="0" baseline="0" noProof="0">
              <a:ln>
                <a:noFill/>
              </a:ln>
              <a:solidFill>
                <a:prstClr val="black"/>
              </a:solidFill>
              <a:effectLst/>
              <a:uLnTx/>
              <a:uFillTx/>
              <a:latin typeface="Lucida Sans" panose="020B0602030504020204" pitchFamily="34" charset="0"/>
              <a:ea typeface="+mn-ea"/>
              <a:cs typeface="Arial" pitchFamily="34" charset="0"/>
            </a:endParaRPr>
          </a:p>
        </p:txBody>
      </p:sp>
      <p:sp>
        <p:nvSpPr>
          <p:cNvPr id="6" name="Rectangle 5">
            <a:extLst>
              <a:ext uri="{FF2B5EF4-FFF2-40B4-BE49-F238E27FC236}">
                <a16:creationId xmlns:a16="http://schemas.microsoft.com/office/drawing/2014/main" id="{DF652157-84EC-55DC-5D51-4B697A32E733}"/>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How To Embed Fonts - Mac</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9" name="Straight Connector 8">
            <a:extLst>
              <a:ext uri="{FF2B5EF4-FFF2-40B4-BE49-F238E27FC236}">
                <a16:creationId xmlns:a16="http://schemas.microsoft.com/office/drawing/2014/main" id="{B5575267-0995-B7D3-16BC-A713B0784A74}"/>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664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160A136A-64CF-FC91-78DF-1DB2FABFC052}"/>
              </a:ext>
            </a:extLst>
          </p:cNvPr>
          <p:cNvSpPr txBox="1">
            <a:spLocks/>
          </p:cNvSpPr>
          <p:nvPr/>
        </p:nvSpPr>
        <p:spPr>
          <a:xfrm>
            <a:off x="620980" y="1098019"/>
            <a:ext cx="4029365" cy="7328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Lucida Sans" panose="020B0602030504020204" pitchFamily="34" charset="0"/>
            </a:endParaRPr>
          </a:p>
        </p:txBody>
      </p:sp>
      <p:pic>
        <p:nvPicPr>
          <p:cNvPr id="4" name="Picture 3" descr="A screenshot of a computer&#10;&#10;Description automatically generated">
            <a:extLst>
              <a:ext uri="{FF2B5EF4-FFF2-40B4-BE49-F238E27FC236}">
                <a16:creationId xmlns:a16="http://schemas.microsoft.com/office/drawing/2014/main" id="{4E11D397-BA27-E912-A7DF-D8DE77AB4C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7781" y="1464443"/>
            <a:ext cx="4289946" cy="3355265"/>
          </a:xfrm>
          <a:prstGeom prst="rect">
            <a:avLst/>
          </a:prstGeom>
        </p:spPr>
      </p:pic>
      <p:sp>
        <p:nvSpPr>
          <p:cNvPr id="5" name="Content Placeholder 3">
            <a:extLst>
              <a:ext uri="{FF2B5EF4-FFF2-40B4-BE49-F238E27FC236}">
                <a16:creationId xmlns:a16="http://schemas.microsoft.com/office/drawing/2014/main" id="{3817A460-EBED-D236-5BF0-317B6850A381}"/>
              </a:ext>
            </a:extLst>
          </p:cNvPr>
          <p:cNvSpPr txBox="1">
            <a:spLocks/>
          </p:cNvSpPr>
          <p:nvPr/>
        </p:nvSpPr>
        <p:spPr>
          <a:xfrm>
            <a:off x="6010275" y="4455293"/>
            <a:ext cx="4739363" cy="5388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b="1" dirty="0">
              <a:latin typeface="Lucida Sans" panose="020B0602030504020204" pitchFamily="34" charset="0"/>
            </a:endParaRPr>
          </a:p>
        </p:txBody>
      </p:sp>
      <p:sp>
        <p:nvSpPr>
          <p:cNvPr id="22" name="Title 1">
            <a:extLst>
              <a:ext uri="{FF2B5EF4-FFF2-40B4-BE49-F238E27FC236}">
                <a16:creationId xmlns:a16="http://schemas.microsoft.com/office/drawing/2014/main" id="{3B82A4CA-A3B8-5DA1-3F88-1A8107715C7C}"/>
              </a:ext>
            </a:extLst>
          </p:cNvPr>
          <p:cNvSpPr txBox="1">
            <a:spLocks/>
          </p:cNvSpPr>
          <p:nvPr/>
        </p:nvSpPr>
        <p:spPr>
          <a:xfrm>
            <a:off x="125800" y="1281456"/>
            <a:ext cx="11014495" cy="4975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Lucida Sans" panose="020B0602030504020204" pitchFamily="34" charset="0"/>
            </a:endParaRPr>
          </a:p>
        </p:txBody>
      </p:sp>
      <p:sp>
        <p:nvSpPr>
          <p:cNvPr id="2" name="Rectangle 1">
            <a:extLst>
              <a:ext uri="{FF2B5EF4-FFF2-40B4-BE49-F238E27FC236}">
                <a16:creationId xmlns:a16="http://schemas.microsoft.com/office/drawing/2014/main" id="{2991A5F0-5846-FF5E-9ABB-EF391CA28ABF}"/>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Error Message “Save with Fonts”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3" name="Straight Connector 2">
            <a:extLst>
              <a:ext uri="{FF2B5EF4-FFF2-40B4-BE49-F238E27FC236}">
                <a16:creationId xmlns:a16="http://schemas.microsoft.com/office/drawing/2014/main" id="{D3E642DF-AEBF-A845-03B8-0C1E0080ECA6}"/>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9744DFE1-5DB0-55DB-81AE-AF5B9C53035C}"/>
              </a:ext>
            </a:extLst>
          </p:cNvPr>
          <p:cNvSpPr txBox="1">
            <a:spLocks/>
          </p:cNvSpPr>
          <p:nvPr/>
        </p:nvSpPr>
        <p:spPr>
          <a:xfrm>
            <a:off x="613842" y="1362832"/>
            <a:ext cx="323503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When saving a PowerPoint after embedding fonts, you may get an error message like this.</a:t>
            </a:r>
            <a:br>
              <a:rPr lang="en-US" sz="1800" dirty="0">
                <a:latin typeface="Lucida Sans" panose="020B0602030504020204" pitchFamily="34" charset="0"/>
              </a:rPr>
            </a:br>
            <a:br>
              <a:rPr lang="en-US" sz="1800" dirty="0">
                <a:latin typeface="Lucida Sans" panose="020B0602030504020204" pitchFamily="34" charset="0"/>
              </a:rPr>
            </a:br>
            <a:r>
              <a:rPr lang="en-US" sz="1800" dirty="0">
                <a:latin typeface="Lucida Sans" panose="020B0602030504020204" pitchFamily="34" charset="0"/>
              </a:rPr>
              <a:t>If so, go to:</a:t>
            </a:r>
            <a:br>
              <a:rPr lang="en-US" sz="1800" dirty="0">
                <a:latin typeface="Lucida Sans" panose="020B0602030504020204" pitchFamily="34" charset="0"/>
              </a:rPr>
            </a:br>
            <a:br>
              <a:rPr lang="en-US" sz="1800" dirty="0">
                <a:latin typeface="Lucida Sans" panose="020B0602030504020204" pitchFamily="34" charset="0"/>
              </a:rPr>
            </a:br>
            <a:r>
              <a:rPr lang="en-US" sz="1800" b="1" dirty="0">
                <a:latin typeface="Lucida Sans" panose="020B0602030504020204" pitchFamily="34" charset="0"/>
              </a:rPr>
              <a:t>Windows –</a:t>
            </a:r>
            <a:r>
              <a:rPr lang="en-US" sz="1800" dirty="0">
                <a:latin typeface="Lucida Sans" panose="020B0602030504020204" pitchFamily="34" charset="0"/>
              </a:rPr>
              <a:t> Editing &gt; Replace Fonts</a:t>
            </a:r>
          </a:p>
          <a:p>
            <a:pPr marL="0" indent="0">
              <a:buNone/>
            </a:pPr>
            <a:r>
              <a:rPr lang="en-US" sz="1800" b="1" dirty="0">
                <a:latin typeface="Lucida Sans" panose="020B0602030504020204" pitchFamily="34" charset="0"/>
              </a:rPr>
              <a:t>Mac – </a:t>
            </a:r>
            <a:r>
              <a:rPr lang="en-US" sz="1800" dirty="0">
                <a:latin typeface="Lucida Sans" panose="020B0602030504020204" pitchFamily="34" charset="0"/>
              </a:rPr>
              <a:t>Format &gt; Replace Fonts</a:t>
            </a:r>
          </a:p>
          <a:p>
            <a:pPr marL="0" indent="0">
              <a:buNone/>
            </a:pPr>
            <a:r>
              <a:rPr lang="en-US" sz="1800" b="1" dirty="0">
                <a:latin typeface="Lucida Sans" panose="020B0602030504020204" pitchFamily="34" charset="0"/>
              </a:rPr>
              <a:t>[see next page for previews]</a:t>
            </a:r>
          </a:p>
          <a:p>
            <a:pPr marL="0" indent="0">
              <a:lnSpc>
                <a:spcPct val="100000"/>
              </a:lnSpc>
              <a:buNone/>
            </a:pPr>
            <a:endParaRPr lang="en-US" sz="1800" dirty="0">
              <a:latin typeface="Lucida Sans" panose="020B0602030504020204" pitchFamily="34" charset="0"/>
            </a:endParaRPr>
          </a:p>
        </p:txBody>
      </p:sp>
    </p:spTree>
    <p:extLst>
      <p:ext uri="{BB962C8B-B14F-4D97-AF65-F5344CB8AC3E}">
        <p14:creationId xmlns:p14="http://schemas.microsoft.com/office/powerpoint/2010/main" val="1273752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AI-generated content may be incorrect.">
            <a:extLst>
              <a:ext uri="{FF2B5EF4-FFF2-40B4-BE49-F238E27FC236}">
                <a16:creationId xmlns:a16="http://schemas.microsoft.com/office/drawing/2014/main" id="{CEA192B0-1FE9-4698-1BA4-13039FF13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260" y="2446359"/>
            <a:ext cx="5038018" cy="3425261"/>
          </a:xfrm>
          <a:prstGeom prst="rect">
            <a:avLst/>
          </a:prstGeom>
        </p:spPr>
      </p:pic>
      <p:pic>
        <p:nvPicPr>
          <p:cNvPr id="2" name="Picture 1">
            <a:extLst>
              <a:ext uri="{FF2B5EF4-FFF2-40B4-BE49-F238E27FC236}">
                <a16:creationId xmlns:a16="http://schemas.microsoft.com/office/drawing/2014/main" id="{E3F1994B-CAE0-F39B-1BE4-F1665CD9199D}"/>
              </a:ext>
            </a:extLst>
          </p:cNvPr>
          <p:cNvPicPr>
            <a:picLocks noChangeAspect="1"/>
          </p:cNvPicPr>
          <p:nvPr/>
        </p:nvPicPr>
        <p:blipFill>
          <a:blip r:embed="rId3"/>
          <a:stretch>
            <a:fillRect/>
          </a:stretch>
        </p:blipFill>
        <p:spPr>
          <a:xfrm>
            <a:off x="651721" y="2446359"/>
            <a:ext cx="5568217" cy="1748161"/>
          </a:xfrm>
          <a:prstGeom prst="rect">
            <a:avLst/>
          </a:prstGeom>
        </p:spPr>
      </p:pic>
      <p:sp>
        <p:nvSpPr>
          <p:cNvPr id="3" name="Rectangle 2">
            <a:extLst>
              <a:ext uri="{FF2B5EF4-FFF2-40B4-BE49-F238E27FC236}">
                <a16:creationId xmlns:a16="http://schemas.microsoft.com/office/drawing/2014/main" id="{A5E7B770-1BDA-C268-DC92-80280CBE0776}"/>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Error Message “Save with Fonts”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4" name="Straight Connector 3">
            <a:extLst>
              <a:ext uri="{FF2B5EF4-FFF2-40B4-BE49-F238E27FC236}">
                <a16:creationId xmlns:a16="http://schemas.microsoft.com/office/drawing/2014/main" id="{6E3D4123-B52B-796D-F875-E7BDDB81E091}"/>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75EF30A-18EA-5E1C-EDB6-BBFF75020646}"/>
              </a:ext>
            </a:extLst>
          </p:cNvPr>
          <p:cNvSpPr txBox="1"/>
          <p:nvPr/>
        </p:nvSpPr>
        <p:spPr>
          <a:xfrm>
            <a:off x="651721" y="1623080"/>
            <a:ext cx="1295400" cy="369332"/>
          </a:xfrm>
          <a:prstGeom prst="rect">
            <a:avLst/>
          </a:prstGeom>
          <a:noFill/>
        </p:spPr>
        <p:txBody>
          <a:bodyPr wrap="square">
            <a:spAutoFit/>
          </a:bodyPr>
          <a:lstStyle/>
          <a:p>
            <a:r>
              <a:rPr lang="en-US" sz="1800" b="1" dirty="0">
                <a:latin typeface="Lucida Sans" panose="020B0602030504020204" pitchFamily="34" charset="0"/>
              </a:rPr>
              <a:t>Windows</a:t>
            </a:r>
            <a:endParaRPr lang="en-US" dirty="0"/>
          </a:p>
        </p:txBody>
      </p:sp>
      <p:sp>
        <p:nvSpPr>
          <p:cNvPr id="7" name="TextBox 6">
            <a:extLst>
              <a:ext uri="{FF2B5EF4-FFF2-40B4-BE49-F238E27FC236}">
                <a16:creationId xmlns:a16="http://schemas.microsoft.com/office/drawing/2014/main" id="{AD743873-C1D9-C5CD-F7F7-CBAE33A3EAF7}"/>
              </a:ext>
            </a:extLst>
          </p:cNvPr>
          <p:cNvSpPr txBox="1"/>
          <p:nvPr/>
        </p:nvSpPr>
        <p:spPr>
          <a:xfrm>
            <a:off x="6502260" y="1623080"/>
            <a:ext cx="722806" cy="369332"/>
          </a:xfrm>
          <a:prstGeom prst="rect">
            <a:avLst/>
          </a:prstGeom>
          <a:noFill/>
        </p:spPr>
        <p:txBody>
          <a:bodyPr wrap="square">
            <a:spAutoFit/>
          </a:bodyPr>
          <a:lstStyle/>
          <a:p>
            <a:r>
              <a:rPr lang="en-US" sz="1800" b="1" dirty="0">
                <a:latin typeface="Lucida Sans" panose="020B0602030504020204" pitchFamily="34" charset="0"/>
              </a:rPr>
              <a:t>Mac</a:t>
            </a:r>
            <a:endParaRPr lang="en-US" dirty="0"/>
          </a:p>
        </p:txBody>
      </p:sp>
      <p:sp>
        <p:nvSpPr>
          <p:cNvPr id="10" name="TextBox 9">
            <a:extLst>
              <a:ext uri="{FF2B5EF4-FFF2-40B4-BE49-F238E27FC236}">
                <a16:creationId xmlns:a16="http://schemas.microsoft.com/office/drawing/2014/main" id="{358FD417-C684-A800-7469-1E81B9D27D8E}"/>
              </a:ext>
            </a:extLst>
          </p:cNvPr>
          <p:cNvSpPr txBox="1"/>
          <p:nvPr/>
        </p:nvSpPr>
        <p:spPr>
          <a:xfrm>
            <a:off x="651721" y="1985861"/>
            <a:ext cx="3129704" cy="369332"/>
          </a:xfrm>
          <a:prstGeom prst="rect">
            <a:avLst/>
          </a:prstGeom>
          <a:noFill/>
        </p:spPr>
        <p:txBody>
          <a:bodyPr wrap="square">
            <a:spAutoFit/>
          </a:bodyPr>
          <a:lstStyle/>
          <a:p>
            <a:r>
              <a:rPr lang="en-US" sz="1800" dirty="0">
                <a:latin typeface="Lucida Sans" panose="020B0602030504020204" pitchFamily="34" charset="0"/>
              </a:rPr>
              <a:t>Editing &gt; Replace Fonts</a:t>
            </a:r>
            <a:endParaRPr lang="en-US" dirty="0"/>
          </a:p>
        </p:txBody>
      </p:sp>
      <p:sp>
        <p:nvSpPr>
          <p:cNvPr id="12" name="TextBox 11">
            <a:extLst>
              <a:ext uri="{FF2B5EF4-FFF2-40B4-BE49-F238E27FC236}">
                <a16:creationId xmlns:a16="http://schemas.microsoft.com/office/drawing/2014/main" id="{6958F974-9CDA-940D-62FA-2497AB504928}"/>
              </a:ext>
            </a:extLst>
          </p:cNvPr>
          <p:cNvSpPr txBox="1"/>
          <p:nvPr/>
        </p:nvSpPr>
        <p:spPr>
          <a:xfrm>
            <a:off x="6502260" y="1985861"/>
            <a:ext cx="2895600" cy="369332"/>
          </a:xfrm>
          <a:prstGeom prst="rect">
            <a:avLst/>
          </a:prstGeom>
          <a:noFill/>
        </p:spPr>
        <p:txBody>
          <a:bodyPr wrap="square">
            <a:spAutoFit/>
          </a:bodyPr>
          <a:lstStyle/>
          <a:p>
            <a:pPr marL="0" indent="0">
              <a:buNone/>
            </a:pPr>
            <a:r>
              <a:rPr lang="en-US" sz="1800" dirty="0">
                <a:latin typeface="Lucida Sans" panose="020B0602030504020204" pitchFamily="34" charset="0"/>
              </a:rPr>
              <a:t>Format &gt; Replace Fonts</a:t>
            </a:r>
          </a:p>
        </p:txBody>
      </p:sp>
    </p:spTree>
    <p:extLst>
      <p:ext uri="{BB962C8B-B14F-4D97-AF65-F5344CB8AC3E}">
        <p14:creationId xmlns:p14="http://schemas.microsoft.com/office/powerpoint/2010/main" val="2312075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FBE4C-027B-AB7D-4A20-ABFFD017B8B7}"/>
            </a:ext>
          </a:extLst>
        </p:cNvPr>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5DC2F187-3847-CAE5-1125-7690C65D609F}"/>
              </a:ext>
            </a:extLst>
          </p:cNvPr>
          <p:cNvSpPr txBox="1">
            <a:spLocks/>
          </p:cNvSpPr>
          <p:nvPr/>
        </p:nvSpPr>
        <p:spPr>
          <a:xfrm>
            <a:off x="4519456" y="3052830"/>
            <a:ext cx="2676899" cy="5388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Lucida Sans" panose="020B0602030504020204" pitchFamily="34" charset="0"/>
            </a:endParaRPr>
          </a:p>
        </p:txBody>
      </p:sp>
      <p:pic>
        <p:nvPicPr>
          <p:cNvPr id="13" name="Picture 12" descr="A screenshot of a computer&#10;&#10;Description automatically generated">
            <a:extLst>
              <a:ext uri="{FF2B5EF4-FFF2-40B4-BE49-F238E27FC236}">
                <a16:creationId xmlns:a16="http://schemas.microsoft.com/office/drawing/2014/main" id="{D45CF344-E236-7B03-76D4-352C18019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197" y="3756702"/>
            <a:ext cx="2402262" cy="2265478"/>
          </a:xfrm>
          <a:prstGeom prst="rect">
            <a:avLst/>
          </a:prstGeom>
        </p:spPr>
      </p:pic>
      <p:sp>
        <p:nvSpPr>
          <p:cNvPr id="14" name="Content Placeholder 3">
            <a:extLst>
              <a:ext uri="{FF2B5EF4-FFF2-40B4-BE49-F238E27FC236}">
                <a16:creationId xmlns:a16="http://schemas.microsoft.com/office/drawing/2014/main" id="{049E9DAB-10FA-36DE-5734-4C9F9F0B21F0}"/>
              </a:ext>
            </a:extLst>
          </p:cNvPr>
          <p:cNvSpPr txBox="1">
            <a:spLocks/>
          </p:cNvSpPr>
          <p:nvPr/>
        </p:nvSpPr>
        <p:spPr>
          <a:xfrm>
            <a:off x="4704361" y="1362832"/>
            <a:ext cx="3236976" cy="5388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Select Lucida Sans under “With” and hit the “Replace” button</a:t>
            </a:r>
          </a:p>
        </p:txBody>
      </p:sp>
      <p:pic>
        <p:nvPicPr>
          <p:cNvPr id="16" name="Picture 15" descr="A screenshot of a computer&#10;&#10;Description automatically generated">
            <a:extLst>
              <a:ext uri="{FF2B5EF4-FFF2-40B4-BE49-F238E27FC236}">
                <a16:creationId xmlns:a16="http://schemas.microsoft.com/office/drawing/2014/main" id="{67F3B040-C15F-720E-C611-DDCD9A862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361" y="2396659"/>
            <a:ext cx="2887064" cy="3059274"/>
          </a:xfrm>
          <a:prstGeom prst="rect">
            <a:avLst/>
          </a:prstGeom>
        </p:spPr>
      </p:pic>
      <p:sp>
        <p:nvSpPr>
          <p:cNvPr id="17" name="Content Placeholder 3">
            <a:extLst>
              <a:ext uri="{FF2B5EF4-FFF2-40B4-BE49-F238E27FC236}">
                <a16:creationId xmlns:a16="http://schemas.microsoft.com/office/drawing/2014/main" id="{D77F4188-B274-615A-1CDC-C3C1BEEC36C2}"/>
              </a:ext>
            </a:extLst>
          </p:cNvPr>
          <p:cNvSpPr txBox="1">
            <a:spLocks/>
          </p:cNvSpPr>
          <p:nvPr/>
        </p:nvSpPr>
        <p:spPr>
          <a:xfrm>
            <a:off x="8794881" y="1362832"/>
            <a:ext cx="3236976" cy="2470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Lucida Sans" panose="020B0602030504020204" pitchFamily="34" charset="0"/>
              </a:rPr>
              <a:t>Repeat for all fonts that cannot be saved (</a:t>
            </a:r>
            <a:r>
              <a:rPr lang="en-US" sz="1800" dirty="0" err="1">
                <a:latin typeface="Lucida Sans" panose="020B0602030504020204" pitchFamily="34" charset="0"/>
              </a:rPr>
              <a:t>ie</a:t>
            </a:r>
            <a:r>
              <a:rPr lang="en-US" sz="1800" dirty="0">
                <a:latin typeface="Lucida Sans" panose="020B0602030504020204" pitchFamily="34" charset="0"/>
              </a:rPr>
              <a:t>. Chalkboard and cmss10). After that, try saving again.</a:t>
            </a:r>
          </a:p>
        </p:txBody>
      </p:sp>
      <p:sp>
        <p:nvSpPr>
          <p:cNvPr id="22" name="Title 1">
            <a:extLst>
              <a:ext uri="{FF2B5EF4-FFF2-40B4-BE49-F238E27FC236}">
                <a16:creationId xmlns:a16="http://schemas.microsoft.com/office/drawing/2014/main" id="{4BF226A2-890D-05F9-375C-B2EC5D9B0503}"/>
              </a:ext>
            </a:extLst>
          </p:cNvPr>
          <p:cNvSpPr txBox="1">
            <a:spLocks/>
          </p:cNvSpPr>
          <p:nvPr/>
        </p:nvSpPr>
        <p:spPr>
          <a:xfrm>
            <a:off x="125800" y="1281456"/>
            <a:ext cx="11014495" cy="4975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400" b="1" dirty="0">
              <a:latin typeface="Lucida Sans" panose="020B0602030504020204" pitchFamily="34" charset="0"/>
            </a:endParaRPr>
          </a:p>
        </p:txBody>
      </p:sp>
      <p:sp>
        <p:nvSpPr>
          <p:cNvPr id="2" name="Rectangle 1">
            <a:extLst>
              <a:ext uri="{FF2B5EF4-FFF2-40B4-BE49-F238E27FC236}">
                <a16:creationId xmlns:a16="http://schemas.microsoft.com/office/drawing/2014/main" id="{EBE29DAF-F35C-594F-CDBE-CE413A0274B0}"/>
              </a:ext>
            </a:extLst>
          </p:cNvPr>
          <p:cNvSpPr>
            <a:spLocks noChangeArrowheads="1"/>
          </p:cNvSpPr>
          <p:nvPr/>
        </p:nvSpPr>
        <p:spPr bwMode="auto">
          <a:xfrm>
            <a:off x="613842" y="375323"/>
            <a:ext cx="1049944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l" defTabSz="1219170" rtl="0" eaLnBrk="1" fontAlgn="base" latinLnBrk="0" hangingPunct="1">
              <a:lnSpc>
                <a:spcPct val="100000"/>
              </a:lnSpc>
              <a:spcBef>
                <a:spcPct val="0"/>
              </a:spcBef>
              <a:spcAft>
                <a:spcPct val="0"/>
              </a:spcAft>
              <a:buClrTx/>
              <a:buSzTx/>
              <a:buFontTx/>
              <a:buNone/>
              <a:tabLst/>
              <a:defRPr/>
            </a:pPr>
            <a:r>
              <a:rPr lang="en-US" sz="2400" b="1" dirty="0">
                <a:solidFill>
                  <a:srgbClr val="262626"/>
                </a:solidFill>
                <a:latin typeface="Lucida Bright" panose="02040602050505020304" pitchFamily="18" charset="0"/>
                <a:cs typeface="Arial" pitchFamily="34" charset="0"/>
              </a:rPr>
              <a:t>Error Message “Save with Fonts”</a:t>
            </a:r>
            <a:endParaRPr kumimoji="0" lang="en-US" sz="2400" b="1" i="0" u="none" strike="noStrike" kern="1200" cap="none" spc="0" normalizeH="0" baseline="0" noProof="0" dirty="0">
              <a:ln>
                <a:noFill/>
              </a:ln>
              <a:solidFill>
                <a:srgbClr val="262626"/>
              </a:solidFill>
              <a:effectLst/>
              <a:uLnTx/>
              <a:uFillTx/>
              <a:latin typeface="Lucida Bright" panose="02040602050505020304" pitchFamily="18" charset="0"/>
              <a:ea typeface="+mn-ea"/>
              <a:cs typeface="Arial" pitchFamily="34" charset="0"/>
            </a:endParaRPr>
          </a:p>
        </p:txBody>
      </p:sp>
      <p:cxnSp>
        <p:nvCxnSpPr>
          <p:cNvPr id="3" name="Straight Connector 2">
            <a:extLst>
              <a:ext uri="{FF2B5EF4-FFF2-40B4-BE49-F238E27FC236}">
                <a16:creationId xmlns:a16="http://schemas.microsoft.com/office/drawing/2014/main" id="{BE4EF8AB-C15D-26E3-8B5C-8BDCED33B491}"/>
              </a:ext>
            </a:extLst>
          </p:cNvPr>
          <p:cNvCxnSpPr>
            <a:cxnSpLocks/>
          </p:cNvCxnSpPr>
          <p:nvPr/>
        </p:nvCxnSpPr>
        <p:spPr>
          <a:xfrm>
            <a:off x="620980" y="835820"/>
            <a:ext cx="1913229" cy="0"/>
          </a:xfrm>
          <a:prstGeom prst="line">
            <a:avLst/>
          </a:prstGeom>
          <a:ln w="6350">
            <a:solidFill>
              <a:srgbClr val="29B6A4"/>
            </a:solidFill>
          </a:ln>
        </p:spPr>
        <p:style>
          <a:lnRef idx="1">
            <a:schemeClr val="accent1"/>
          </a:lnRef>
          <a:fillRef idx="0">
            <a:schemeClr val="accent1"/>
          </a:fillRef>
          <a:effectRef idx="0">
            <a:schemeClr val="accent1"/>
          </a:effectRef>
          <a:fontRef idx="minor">
            <a:schemeClr val="tx1"/>
          </a:fontRef>
        </p:style>
      </p:cxnSp>
      <p:sp>
        <p:nvSpPr>
          <p:cNvPr id="6" name="Content Placeholder 3">
            <a:extLst>
              <a:ext uri="{FF2B5EF4-FFF2-40B4-BE49-F238E27FC236}">
                <a16:creationId xmlns:a16="http://schemas.microsoft.com/office/drawing/2014/main" id="{9BF3412A-7EF0-1D3A-7B04-86DCDBA4B5B0}"/>
              </a:ext>
            </a:extLst>
          </p:cNvPr>
          <p:cNvSpPr txBox="1">
            <a:spLocks/>
          </p:cNvSpPr>
          <p:nvPr/>
        </p:nvSpPr>
        <p:spPr>
          <a:xfrm>
            <a:off x="613841" y="1362832"/>
            <a:ext cx="323697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latin typeface="Lucida Sans" panose="020B0602030504020204" pitchFamily="34" charset="0"/>
              </a:rPr>
              <a:t>Select the font that you need to replace under “Replace”.</a:t>
            </a:r>
            <a:br>
              <a:rPr lang="en-US" sz="1800" dirty="0">
                <a:latin typeface="Lucida Sans" panose="020B0602030504020204" pitchFamily="34" charset="0"/>
              </a:rPr>
            </a:br>
            <a:br>
              <a:rPr lang="en-US" sz="1800" dirty="0">
                <a:latin typeface="Lucida Sans" panose="020B0602030504020204" pitchFamily="34" charset="0"/>
              </a:rPr>
            </a:br>
            <a:r>
              <a:rPr lang="en-US" sz="1800" dirty="0">
                <a:latin typeface="Lucida Sans" panose="020B0602030504020204" pitchFamily="34" charset="0"/>
              </a:rPr>
              <a:t>For example, if “Slack-Lato” showed up in the error message, select “Slack-Lato”.</a:t>
            </a:r>
          </a:p>
        </p:txBody>
      </p:sp>
      <p:cxnSp>
        <p:nvCxnSpPr>
          <p:cNvPr id="7" name="Straight Arrow Connector 6">
            <a:extLst>
              <a:ext uri="{FF2B5EF4-FFF2-40B4-BE49-F238E27FC236}">
                <a16:creationId xmlns:a16="http://schemas.microsoft.com/office/drawing/2014/main" id="{6F62733D-A16B-A5F9-91CF-0275351B6464}"/>
              </a:ext>
            </a:extLst>
          </p:cNvPr>
          <p:cNvCxnSpPr>
            <a:cxnSpLocks/>
          </p:cNvCxnSpPr>
          <p:nvPr/>
        </p:nvCxnSpPr>
        <p:spPr>
          <a:xfrm>
            <a:off x="4026342" y="1778973"/>
            <a:ext cx="50249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5CC0551-1499-9545-DD6E-0039DB73A46F}"/>
              </a:ext>
            </a:extLst>
          </p:cNvPr>
          <p:cNvCxnSpPr>
            <a:cxnSpLocks/>
          </p:cNvCxnSpPr>
          <p:nvPr/>
        </p:nvCxnSpPr>
        <p:spPr>
          <a:xfrm>
            <a:off x="8116862" y="1778973"/>
            <a:ext cx="50249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0150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352</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Lucida Bright</vt:lpstr>
      <vt:lpstr>Lucida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Harvard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Leff, Emily C</dc:creator>
  <cp:lastModifiedBy>Leff, Emily C</cp:lastModifiedBy>
  <cp:revision>3</cp:revision>
  <dcterms:created xsi:type="dcterms:W3CDTF">2025-07-17T21:15:21Z</dcterms:created>
  <dcterms:modified xsi:type="dcterms:W3CDTF">2025-07-21T18:20:13Z</dcterms:modified>
</cp:coreProperties>
</file>