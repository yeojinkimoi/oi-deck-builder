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9663" r:id="rId2"/>
    <p:sldId id="9681" r:id="rId3"/>
  </p:sldIdLst>
  <p:sldSz cx="12192000" cy="6858000"/>
  <p:notesSz cx="6858000" cy="9144000"/>
  <p:embeddedFontLst>
    <p:embeddedFont>
      <p:font typeface="Lucida Bright" panose="02040602050505020304" pitchFamily="18" charset="0"/>
      <p:regular r:id="rId5"/>
      <p:bold r:id="rId6"/>
      <p:italic r:id="rId7"/>
      <p:boldItalic r:id="rId8"/>
    </p:embeddedFont>
    <p:embeddedFont>
      <p:font typeface="Lucida Sans" panose="020B060203050402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FFEBEF-CB2B-432B-97A1-C768D94CCAF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99A6E-84C9-4404-A2DD-C671EF9D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517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00C3F-DEDE-F31D-6F76-F1DEC118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69F28E-53BA-E89C-45D0-EEEA3B8C1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0EADB-29F7-3418-45AA-DC04DB554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A04AC-098E-0670-DF37-DBCBDD8172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6170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40CED-50A0-5068-F0BC-0A6113D22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3739D-322C-8EC5-475A-79DE4F285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A5F1C-0742-E8AE-8426-091B60F7F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7BEE1-9CFE-713C-028E-2BC9C63DB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8391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633C7-CC7A-3CC3-7B1F-35CB9A46A4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77DAC-2CC9-8307-4A94-544A5DA64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3DF99-E65F-75FA-93E4-10635AE4F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5ED5-2306-4F45-8694-0696FFAFC02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1A8C8-54AE-57D9-4C4A-AAC586E23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43D57-D75E-5B7C-8841-725DEAD8A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2DCD-299F-4584-B28E-95A8AF519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E7FF8-128F-0FEA-3C48-2FC39CA45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FC131-AD24-0976-8873-BBDCBD4AE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D579F-5BF5-745B-6ACB-972DB313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5ED5-2306-4F45-8694-0696FFAFC02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07005-1C9F-5BEE-4185-E38E8BBA3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56644-167C-849B-835F-624AD6987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2DCD-299F-4584-B28E-95A8AF519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7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43F5D-446A-6DF0-26DF-8FB94511E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41AC0-7958-CE6C-98D5-2570AC355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CE0F3-D8EA-C574-651B-E3EDECA0D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5ED5-2306-4F45-8694-0696FFAFC02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5DC2B-B391-FF55-31DA-725AFFA43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B8AF5-48CA-6307-B4EF-4C68F4BD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2DCD-299F-4584-B28E-95A8AF519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37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19BEC-BF0C-6BBB-EDA4-1D533814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FD3A3-2503-2C8C-19CF-3B555CD2DF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A2516-29DD-962A-58A7-FA08CF8BF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2D363-2289-1243-F590-292F67429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5ED5-2306-4F45-8694-0696FFAFC02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A3080-2D99-2E0B-42FC-7FE94BB8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64FEF-C2D6-B49D-3807-237CA5B2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2DCD-299F-4584-B28E-95A8AF519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95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6CA8A-726C-14E7-9BAC-F9FA131DE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67F32-829F-EDF6-2119-9993F6702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9B08E-028C-E159-7A3C-22787A9E5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C3B92-32C6-B55D-CCCE-94C3E9079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24E862-CEAA-CF84-B630-5693DA156C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B3D858-12A2-D4A6-0245-0D1E3CDF5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5ED5-2306-4F45-8694-0696FFAFC02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31FE8A-A69A-8E6D-CCDF-1854263F7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B8EFB5-E01E-D195-62F8-4C18D242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2DCD-299F-4584-B28E-95A8AF519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3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04C97-21EC-FD7B-3DF4-B7FA19189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6C423D-177E-8DFE-3A91-6D7809574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5ED5-2306-4F45-8694-0696FFAFC02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AC2EA-6E16-1B16-0832-5B45FBBC9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6604C-EA41-4D53-B995-A9456B605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2DCD-299F-4584-B28E-95A8AF519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964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F7793E-B2C9-91FA-DD59-0AEC810FF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5ED5-2306-4F45-8694-0696FFAFC02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AD8A6D-45A9-110B-B760-51C3D16FE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6E986-EA88-8BA6-771F-F4F31D3BE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2DCD-299F-4584-B28E-95A8AF519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00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E48ED-7695-E766-4CD7-B2CDBC4D0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A10D9-C017-864B-C88C-0B2935434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4D04B-5F5F-A261-FCAF-936387F8E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9E8CA-9687-F135-71F6-52DA983BF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5ED5-2306-4F45-8694-0696FFAFC02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9466A-570E-C613-4D47-5E91881DD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B0047-9884-C46E-2120-5A9DC8B7E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2DCD-299F-4584-B28E-95A8AF519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628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A4B2D-971A-1DEB-DAE3-FC4380343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7F13A3-37B4-DFA2-9FCA-55D05BC44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F1E268-AB9C-B171-E50A-BA189638F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0AEDA-FE01-048E-8CF1-1088880F1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5ED5-2306-4F45-8694-0696FFAFC02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EF697-06FC-486F-D4FA-D8E9B4966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B8D2F-B0BE-BF35-3B6E-D38A5A1C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2DCD-299F-4584-B28E-95A8AF519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7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69996-2D20-E634-5DDA-C2F3106A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2B473-C343-69C0-7422-E5CCCB694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084D3-30D7-00D6-A650-D32C7AF51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5ED5-2306-4F45-8694-0696FFAFC02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2090A-D3CA-50CE-EEC6-D4E7857DC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D0FA7-4FDB-6D63-F40C-DA6F08894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2DCD-299F-4584-B28E-95A8AF519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87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D0F334-D54F-E2E8-1A04-7D66B0DF26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811CA-4432-E8A6-3F25-34CB49444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90009-E83A-B471-066D-D24586EC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5ED5-2306-4F45-8694-0696FFAFC02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1D6E7-3A11-8253-A118-A94766387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A1638-67A0-CFBD-A77D-4F379C047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2DCD-299F-4584-B28E-95A8AF519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923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4C21B1-83D0-D3B6-9C60-2258879D7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3005A-B39E-DCC2-2206-80BC3009A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078F9-E75B-77C2-95F0-0BC22F3C1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325ED5-2306-4F45-8694-0696FFAFC02F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3B567-3038-2B9B-A16E-1FDF4CFD2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1AAAA-8E56-C275-B87A-30B749301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E2DCD-299F-4584-B28E-95A8AF519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3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osf.io/preprints/socarxiv/kb7dy_v1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hyperlink" Target="https://osf.io/preprints/socarxiv/kb7dy_v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165E9-60FB-8084-04AC-BE2D3EE73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4">
            <a:extLst>
              <a:ext uri="{FF2B5EF4-FFF2-40B4-BE49-F238E27FC236}">
                <a16:creationId xmlns:a16="http://schemas.microsoft.com/office/drawing/2014/main" id="{147A868B-F5D8-B6A6-183E-E11805A026B4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3" name="Picture 2" descr="A black and grey text&#10;&#10;Description automatically generated">
            <a:extLst>
              <a:ext uri="{FF2B5EF4-FFF2-40B4-BE49-F238E27FC236}">
                <a16:creationId xmlns:a16="http://schemas.microsoft.com/office/drawing/2014/main" id="{CC500C8C-4C74-2934-DB09-52A57A58B25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4BBBC8E-6334-835C-BEFF-F48D2E8AD4F9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F42237A-067B-3CDD-4F8D-A956FE0CC3CA}"/>
              </a:ext>
            </a:extLst>
          </p:cNvPr>
          <p:cNvCxnSpPr>
            <a:cxnSpLocks/>
          </p:cNvCxnSpPr>
          <p:nvPr/>
        </p:nvCxnSpPr>
        <p:spPr>
          <a:xfrm flipV="1">
            <a:off x="6042223" y="1858895"/>
            <a:ext cx="0" cy="3358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A2E0B2-B700-12A9-33DC-3C89CF734184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64F454F-226C-ADE5-A2F5-328433868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84022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Economic Opportunity and Social Capital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United Kingdom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0BFC26-CF3D-CC59-5AE7-B19BB0A443E5}"/>
              </a:ext>
            </a:extLst>
          </p:cNvPr>
          <p:cNvSpPr txBox="1"/>
          <p:nvPr/>
        </p:nvSpPr>
        <p:spPr>
          <a:xfrm>
            <a:off x="568591" y="6483107"/>
            <a:ext cx="10641275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Harris, Iyer, Rutter, Chi, Johnston, Lam, Makinson, et al. (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  <a:hlinkClick r:id="rId4"/>
              </a:rPr>
              <a:t>2025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)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B737A2C-36B5-863B-A01D-CF3699890608}"/>
              </a:ext>
            </a:extLst>
          </p:cNvPr>
          <p:cNvGrpSpPr/>
          <p:nvPr/>
        </p:nvGrpSpPr>
        <p:grpSpPr>
          <a:xfrm>
            <a:off x="613836" y="1291078"/>
            <a:ext cx="5260260" cy="4493934"/>
            <a:chOff x="433321" y="1211068"/>
            <a:chExt cx="5260260" cy="4493934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C9401C3-276E-74E3-1E1D-177983CAC9CA}"/>
                </a:ext>
              </a:extLst>
            </p:cNvPr>
            <p:cNvGrpSpPr/>
            <p:nvPr/>
          </p:nvGrpSpPr>
          <p:grpSpPr>
            <a:xfrm>
              <a:off x="433321" y="1211068"/>
              <a:ext cx="5260260" cy="4493934"/>
              <a:chOff x="433321" y="1211068"/>
              <a:chExt cx="5260260" cy="4493934"/>
            </a:xfrm>
          </p:grpSpPr>
          <p:pic>
            <p:nvPicPr>
              <p:cNvPr id="12" name="Picture 11" descr="A map of united kingdom with different colored areas&#10;&#10;AI-generated content may be incorrect.">
                <a:extLst>
                  <a:ext uri="{FF2B5EF4-FFF2-40B4-BE49-F238E27FC236}">
                    <a16:creationId xmlns:a16="http://schemas.microsoft.com/office/drawing/2014/main" id="{ABBC1722-A873-DD2F-FA4F-97EF0B8F08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7351" y="1610958"/>
                <a:ext cx="4852201" cy="3575304"/>
              </a:xfrm>
              <a:prstGeom prst="rect">
                <a:avLst/>
              </a:prstGeom>
            </p:spPr>
          </p:pic>
          <p:sp>
            <p:nvSpPr>
              <p:cNvPr id="9" name="Text Placeholder 9">
                <a:extLst>
                  <a:ext uri="{FF2B5EF4-FFF2-40B4-BE49-F238E27FC236}">
                    <a16:creationId xmlns:a16="http://schemas.microsoft.com/office/drawing/2014/main" id="{5B1118CF-8FC5-DA6A-1C78-EE24531255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35388" y="1211068"/>
                <a:ext cx="3256127" cy="4088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Bright" panose="02040602050505020304" pitchFamily="18" charset="0"/>
                    <a:ea typeface="+mn-ea"/>
                    <a:cs typeface="+mn-cs"/>
                  </a:rPr>
                  <a:t>Upward Mobility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600" b="1" dirty="0">
                    <a:solidFill>
                      <a:prstClr val="black"/>
                    </a:solidFill>
                    <a:latin typeface="Lucida Bright" panose="02040602050505020304" pitchFamily="18" charset="0"/>
                  </a:rPr>
                  <a:t>Based on Facebook Data</a:t>
                </a: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Bright" panose="02040602050505020304" pitchFamily="18" charset="0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D6329CA-E976-20C9-9D7F-ED2906DB4C54}"/>
                  </a:ext>
                </a:extLst>
              </p:cNvPr>
              <p:cNvSpPr txBox="1"/>
              <p:nvPr/>
            </p:nvSpPr>
            <p:spPr>
              <a:xfrm>
                <a:off x="433321" y="5224871"/>
                <a:ext cx="5260260" cy="4801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" panose="020B0602030504020204" pitchFamily="34" charset="0"/>
                    <a:ea typeface="+mn-ea"/>
                    <a:cs typeface="Arial" pitchFamily="34" charset="0"/>
                  </a:rPr>
                  <a:t>Predicted adult income percentile of a child with parents at the 25th percentile of the national income distribution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25DDFEC-6619-B706-D90F-007FC91BB8E4}"/>
                </a:ext>
              </a:extLst>
            </p:cNvPr>
            <p:cNvGrpSpPr/>
            <p:nvPr/>
          </p:nvGrpSpPr>
          <p:grpSpPr>
            <a:xfrm>
              <a:off x="3823593" y="2654932"/>
              <a:ext cx="1269907" cy="1674654"/>
              <a:chOff x="3823593" y="2860672"/>
              <a:chExt cx="1269907" cy="1674654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8374E13-A683-CB9F-582B-839E31910698}"/>
                  </a:ext>
                </a:extLst>
              </p:cNvPr>
              <p:cNvGrpSpPr/>
              <p:nvPr/>
            </p:nvGrpSpPr>
            <p:grpSpPr>
              <a:xfrm>
                <a:off x="3823593" y="2918174"/>
                <a:ext cx="1269907" cy="1585564"/>
                <a:chOff x="3823593" y="2918174"/>
                <a:chExt cx="1269907" cy="1585564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8F8D139D-86E4-807B-3163-A0B79DCEBB74}"/>
                    </a:ext>
                  </a:extLst>
                </p:cNvPr>
                <p:cNvSpPr/>
                <p:nvPr/>
              </p:nvSpPr>
              <p:spPr>
                <a:xfrm>
                  <a:off x="3823593" y="2918174"/>
                  <a:ext cx="1269907" cy="15855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>
                    <a:solidFill>
                      <a:schemeClr val="tx1"/>
                    </a:solidFill>
                    <a:latin typeface="Lucida Sans" panose="020B0602030504020204" pitchFamily="34" charset="0"/>
                  </a:endParaRPr>
                </a:p>
                <a:p>
                  <a:pPr algn="ctr"/>
                  <a:endParaRPr lang="en-US" sz="1200" dirty="0">
                    <a:solidFill>
                      <a:schemeClr val="tx1"/>
                    </a:solidFill>
                    <a:latin typeface="Lucida Sans" panose="020B0602030504020204" pitchFamily="34" charset="0"/>
                  </a:endParaRPr>
                </a:p>
                <a:p>
                  <a:pPr algn="ctr"/>
                  <a:endParaRPr lang="en-US" sz="1200" dirty="0">
                    <a:solidFill>
                      <a:schemeClr val="tx1"/>
                    </a:solidFill>
                    <a:latin typeface="Lucida Sans" panose="020B0602030504020204" pitchFamily="34" charset="0"/>
                  </a:endParaRPr>
                </a:p>
              </p:txBody>
            </p:sp>
            <p:pic>
              <p:nvPicPr>
                <p:cNvPr id="17" name="Picture 16" descr="A map of united kingdom with different colored areas&#10;&#10;AI-generated content may be incorrect.">
                  <a:extLst>
                    <a:ext uri="{FF2B5EF4-FFF2-40B4-BE49-F238E27FC236}">
                      <a16:creationId xmlns:a16="http://schemas.microsoft.com/office/drawing/2014/main" id="{BEC21AA6-132D-EBD4-21B5-509C9B7326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6224" t="32370" r="30336" b="27154"/>
                <a:stretch>
                  <a:fillRect/>
                </a:stretch>
              </p:blipFill>
              <p:spPr>
                <a:xfrm>
                  <a:off x="4019284" y="2918175"/>
                  <a:ext cx="182880" cy="1585563"/>
                </a:xfrm>
                <a:prstGeom prst="rect">
                  <a:avLst/>
                </a:prstGeom>
              </p:spPr>
            </p:pic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50BF6E9-ED80-71D4-D317-22FD28FD522D}"/>
                  </a:ext>
                </a:extLst>
              </p:cNvPr>
              <p:cNvSpPr txBox="1"/>
              <p:nvPr/>
            </p:nvSpPr>
            <p:spPr>
              <a:xfrm>
                <a:off x="4156728" y="2860672"/>
                <a:ext cx="731520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sz="1200" dirty="0">
                    <a:latin typeface="Lucida Sans" panose="020B0602030504020204" pitchFamily="34" charset="0"/>
                  </a:rPr>
                  <a:t>&lt;.38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1B710A4-2280-88E3-EC49-F5A9B9C98818}"/>
                  </a:ext>
                </a:extLst>
              </p:cNvPr>
              <p:cNvSpPr txBox="1"/>
              <p:nvPr/>
            </p:nvSpPr>
            <p:spPr>
              <a:xfrm>
                <a:off x="4156728" y="3559499"/>
                <a:ext cx="731520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sz="1200" dirty="0">
                    <a:latin typeface="Lucida Sans" panose="020B0602030504020204" pitchFamily="34" charset="0"/>
                  </a:rPr>
                  <a:t>.48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F5EC79E-0245-2D84-16A0-E8E9DBCEB869}"/>
                  </a:ext>
                </a:extLst>
              </p:cNvPr>
              <p:cNvSpPr txBox="1"/>
              <p:nvPr/>
            </p:nvSpPr>
            <p:spPr>
              <a:xfrm>
                <a:off x="4156728" y="4258327"/>
                <a:ext cx="731520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sz="1200" dirty="0">
                    <a:latin typeface="Lucida Sans" panose="020B0602030504020204" pitchFamily="34" charset="0"/>
                  </a:rPr>
                  <a:t>&gt;.56</a:t>
                </a: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7E7CDD6-32CE-1915-6F15-2042C6061E35}"/>
              </a:ext>
            </a:extLst>
          </p:cNvPr>
          <p:cNvGrpSpPr/>
          <p:nvPr/>
        </p:nvGrpSpPr>
        <p:grpSpPr>
          <a:xfrm>
            <a:off x="6210350" y="1293468"/>
            <a:ext cx="5347232" cy="4489154"/>
            <a:chOff x="6210350" y="1211068"/>
            <a:chExt cx="5347232" cy="4489154"/>
          </a:xfrm>
        </p:grpSpPr>
        <p:pic>
          <p:nvPicPr>
            <p:cNvPr id="15" name="Picture 14" descr="A map of united kingdom with different colored areas&#10;&#10;AI-generated content may be incorrect.">
              <a:extLst>
                <a:ext uri="{FF2B5EF4-FFF2-40B4-BE49-F238E27FC236}">
                  <a16:creationId xmlns:a16="http://schemas.microsoft.com/office/drawing/2014/main" id="{B5954940-5C37-9C38-A8B7-3A7753878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0350" y="1610958"/>
              <a:ext cx="5347232" cy="3573900"/>
            </a:xfrm>
            <a:prstGeom prst="rect">
              <a:avLst/>
            </a:prstGeom>
          </p:spPr>
        </p:pic>
        <p:sp>
          <p:nvSpPr>
            <p:cNvPr id="13" name="Text Placeholder 9">
              <a:extLst>
                <a:ext uri="{FF2B5EF4-FFF2-40B4-BE49-F238E27FC236}">
                  <a16:creationId xmlns:a16="http://schemas.microsoft.com/office/drawing/2014/main" id="{A436B4A7-29BB-883E-3421-41C8FA119485}"/>
                </a:ext>
              </a:extLst>
            </p:cNvPr>
            <p:cNvSpPr txBox="1">
              <a:spLocks/>
            </p:cNvSpPr>
            <p:nvPr/>
          </p:nvSpPr>
          <p:spPr>
            <a:xfrm>
              <a:off x="7384421" y="1211068"/>
              <a:ext cx="2999090" cy="40885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Bright" panose="02040602050505020304" pitchFamily="18" charset="0"/>
                  <a:ea typeface="+mn-ea"/>
                  <a:cs typeface="+mn-cs"/>
                </a:rPr>
                <a:t>Economic Connectedness Based on Facebook Data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C55F1AF-B106-3C97-64CB-A3199A394276}"/>
                </a:ext>
              </a:extLst>
            </p:cNvPr>
            <p:cNvSpPr txBox="1"/>
            <p:nvPr/>
          </p:nvSpPr>
          <p:spPr>
            <a:xfrm>
              <a:off x="6389390" y="5220091"/>
              <a:ext cx="4989152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Share of Above-Median-Income Friends </a:t>
              </a:r>
              <a:b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</a:b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among Below-Median-Income People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ECEBD7B-D9BB-A892-57AD-B2320AB493D3}"/>
                </a:ext>
              </a:extLst>
            </p:cNvPr>
            <p:cNvGrpSpPr/>
            <p:nvPr/>
          </p:nvGrpSpPr>
          <p:grpSpPr>
            <a:xfrm>
              <a:off x="9659785" y="2654932"/>
              <a:ext cx="1198033" cy="1674654"/>
              <a:chOff x="9659785" y="2713303"/>
              <a:chExt cx="1198033" cy="1674654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577630D-B6DC-FC53-DD61-A34EE3D0D1BD}"/>
                  </a:ext>
                </a:extLst>
              </p:cNvPr>
              <p:cNvGrpSpPr/>
              <p:nvPr/>
            </p:nvGrpSpPr>
            <p:grpSpPr>
              <a:xfrm>
                <a:off x="9659785" y="2770805"/>
                <a:ext cx="1198033" cy="1585564"/>
                <a:chOff x="3818467" y="2918174"/>
                <a:chExt cx="1198033" cy="1585564"/>
              </a:xfrm>
            </p:grpSpPr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5609E5D3-CC8F-A88C-7999-64E6CFADC336}"/>
                    </a:ext>
                  </a:extLst>
                </p:cNvPr>
                <p:cNvSpPr/>
                <p:nvPr/>
              </p:nvSpPr>
              <p:spPr>
                <a:xfrm>
                  <a:off x="3818467" y="2918174"/>
                  <a:ext cx="1198033" cy="15855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dirty="0">
                    <a:solidFill>
                      <a:schemeClr val="tx1"/>
                    </a:solidFill>
                    <a:latin typeface="Lucida Sans" panose="020B0602030504020204" pitchFamily="34" charset="0"/>
                  </a:endParaRPr>
                </a:p>
                <a:p>
                  <a:pPr algn="ctr"/>
                  <a:endParaRPr lang="en-US" sz="1200" dirty="0">
                    <a:solidFill>
                      <a:schemeClr val="tx1"/>
                    </a:solidFill>
                    <a:latin typeface="Lucida Sans" panose="020B0602030504020204" pitchFamily="34" charset="0"/>
                  </a:endParaRPr>
                </a:p>
                <a:p>
                  <a:pPr algn="ctr"/>
                  <a:endParaRPr lang="en-US" sz="1200" dirty="0">
                    <a:solidFill>
                      <a:schemeClr val="tx1"/>
                    </a:solidFill>
                    <a:latin typeface="Lucida Sans" panose="020B0602030504020204" pitchFamily="34" charset="0"/>
                  </a:endParaRPr>
                </a:p>
              </p:txBody>
            </p:sp>
            <p:pic>
              <p:nvPicPr>
                <p:cNvPr id="37" name="Picture 36" descr="A map of united kingdom with different colored areas&#10;&#10;AI-generated content may be incorrect.">
                  <a:extLst>
                    <a:ext uri="{FF2B5EF4-FFF2-40B4-BE49-F238E27FC236}">
                      <a16:creationId xmlns:a16="http://schemas.microsoft.com/office/drawing/2014/main" id="{A42FE1D2-75AB-84C4-3731-1CED6AFD5D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6224" t="32370" r="30336" b="27154"/>
                <a:stretch>
                  <a:fillRect/>
                </a:stretch>
              </p:blipFill>
              <p:spPr>
                <a:xfrm>
                  <a:off x="4009659" y="2918175"/>
                  <a:ext cx="182880" cy="1585563"/>
                </a:xfrm>
                <a:prstGeom prst="rect">
                  <a:avLst/>
                </a:prstGeom>
              </p:spPr>
            </p:pic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693B9DC-321C-0E04-BCAA-71A80A9FF6AD}"/>
                  </a:ext>
                </a:extLst>
              </p:cNvPr>
              <p:cNvSpPr txBox="1"/>
              <p:nvPr/>
            </p:nvSpPr>
            <p:spPr>
              <a:xfrm>
                <a:off x="9988421" y="2713303"/>
                <a:ext cx="731520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sz="1200" dirty="0">
                    <a:latin typeface="Lucida Sans" panose="020B0602030504020204" pitchFamily="34" charset="0"/>
                  </a:rPr>
                  <a:t>&lt;28%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28BECC3-CD04-1154-7E10-3EF04AA7AFB6}"/>
                  </a:ext>
                </a:extLst>
              </p:cNvPr>
              <p:cNvSpPr txBox="1"/>
              <p:nvPr/>
            </p:nvSpPr>
            <p:spPr>
              <a:xfrm>
                <a:off x="9988421" y="3412130"/>
                <a:ext cx="731520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sz="1200" dirty="0">
                    <a:latin typeface="Lucida Sans" panose="020B0602030504020204" pitchFamily="34" charset="0"/>
                  </a:rPr>
                  <a:t>52%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A19196F-2B81-A89F-1A2D-0A1FAEB1B4C7}"/>
                  </a:ext>
                </a:extLst>
              </p:cNvPr>
              <p:cNvSpPr txBox="1"/>
              <p:nvPr/>
            </p:nvSpPr>
            <p:spPr>
              <a:xfrm>
                <a:off x="9988421" y="4110958"/>
                <a:ext cx="731520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sz="1200" dirty="0">
                    <a:latin typeface="Lucida Sans" panose="020B0602030504020204" pitchFamily="34" charset="0"/>
                  </a:rPr>
                  <a:t>&gt;60%</a:t>
                </a:r>
              </a:p>
            </p:txBody>
          </p: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2D8480D-E4EA-DDA7-2DFF-2F72B2CC36FD}"/>
              </a:ext>
            </a:extLst>
          </p:cNvPr>
          <p:cNvSpPr txBox="1"/>
          <p:nvPr/>
        </p:nvSpPr>
        <p:spPr>
          <a:xfrm>
            <a:off x="613836" y="6009335"/>
            <a:ext cx="109607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latin typeface="Lucida Sans" panose="020B0602030504020204" pitchFamily="34" charset="0"/>
                <a:cs typeface="Arial" pitchFamily="34" charset="0"/>
              </a:rPr>
              <a:t>Shading indicates levels of upward mobility and economic connectedness, with </a:t>
            </a:r>
            <a:r>
              <a:rPr lang="en-US" sz="1200" b="1" i="1" dirty="0">
                <a:solidFill>
                  <a:srgbClr val="911029"/>
                </a:solidFill>
                <a:latin typeface="Lucida Sans" panose="020B0602030504020204" pitchFamily="34" charset="0"/>
                <a:cs typeface="Arial" pitchFamily="34" charset="0"/>
              </a:rPr>
              <a:t>red</a:t>
            </a:r>
            <a:r>
              <a:rPr lang="en-US" sz="1200" i="1" dirty="0">
                <a:latin typeface="Lucida Sans" panose="020B0602030504020204" pitchFamily="34" charset="0"/>
                <a:cs typeface="Arial" pitchFamily="34" charset="0"/>
              </a:rPr>
              <a:t> representing lower levels and </a:t>
            </a:r>
            <a:r>
              <a:rPr lang="en-US" sz="1200" b="1" i="1" dirty="0">
                <a:solidFill>
                  <a:srgbClr val="457485"/>
                </a:solidFill>
                <a:latin typeface="Lucida Sans" panose="020B0602030504020204" pitchFamily="34" charset="0"/>
                <a:cs typeface="Arial" pitchFamily="34" charset="0"/>
              </a:rPr>
              <a:t>blue</a:t>
            </a:r>
            <a:r>
              <a:rPr lang="en-US" sz="1200" i="1" dirty="0">
                <a:latin typeface="Lucida Sans" panose="020B0602030504020204" pitchFamily="34" charset="0"/>
                <a:cs typeface="Arial" pitchFamily="34" charset="0"/>
              </a:rPr>
              <a:t> representing higher levels.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9987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C9F8-7580-AA1F-A8FC-EC1617A30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4">
            <a:extLst>
              <a:ext uri="{FF2B5EF4-FFF2-40B4-BE49-F238E27FC236}">
                <a16:creationId xmlns:a16="http://schemas.microsoft.com/office/drawing/2014/main" id="{34A99681-D4F8-2A80-5F37-C55FB1754FB5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3" name="Picture 2" descr="A black and grey text&#10;&#10;Description automatically generated">
            <a:extLst>
              <a:ext uri="{FF2B5EF4-FFF2-40B4-BE49-F238E27FC236}">
                <a16:creationId xmlns:a16="http://schemas.microsoft.com/office/drawing/2014/main" id="{3B36A9C7-0BAA-96AC-2B18-579179B002E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171BDD0-ADEB-39D5-3657-52A782B32405}"/>
              </a:ext>
            </a:extLst>
          </p:cNvPr>
          <p:cNvCxnSpPr>
            <a:cxnSpLocks/>
          </p:cNvCxnSpPr>
          <p:nvPr/>
        </p:nvCxnSpPr>
        <p:spPr>
          <a:xfrm>
            <a:off x="620980" y="6483107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80FF821-BC21-79F8-660D-31D897CBDECA}"/>
              </a:ext>
            </a:extLst>
          </p:cNvPr>
          <p:cNvCxnSpPr>
            <a:cxnSpLocks/>
          </p:cNvCxnSpPr>
          <p:nvPr/>
        </p:nvCxnSpPr>
        <p:spPr>
          <a:xfrm flipV="1">
            <a:off x="6042223" y="1858895"/>
            <a:ext cx="0" cy="3358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FD576E-EEE0-9B9E-0CDC-6C367B636155}"/>
              </a:ext>
            </a:extLst>
          </p:cNvPr>
          <p:cNvCxnSpPr>
            <a:cxnSpLocks/>
          </p:cNvCxnSpPr>
          <p:nvPr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D2DEF04-B4E5-F994-97C4-E51DE975D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84022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Economic Opportunity and Social Capital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London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636A37-A658-043C-985A-995BA2467922}"/>
              </a:ext>
            </a:extLst>
          </p:cNvPr>
          <p:cNvSpPr txBox="1"/>
          <p:nvPr/>
        </p:nvSpPr>
        <p:spPr>
          <a:xfrm>
            <a:off x="568591" y="6483107"/>
            <a:ext cx="10641275" cy="307756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Harris, Iyer, Rutter, Chi, Johnston, Lam, Makinson, et al. (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  <a:hlinkClick r:id="rId4"/>
              </a:rPr>
              <a:t>2025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)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C7EA162-50D4-D738-6B10-8557289D36D0}"/>
              </a:ext>
            </a:extLst>
          </p:cNvPr>
          <p:cNvGrpSpPr/>
          <p:nvPr/>
        </p:nvGrpSpPr>
        <p:grpSpPr>
          <a:xfrm>
            <a:off x="613836" y="1291078"/>
            <a:ext cx="5260260" cy="4493934"/>
            <a:chOff x="433321" y="1211068"/>
            <a:chExt cx="5260260" cy="4493934"/>
          </a:xfrm>
        </p:grpSpPr>
        <p:sp>
          <p:nvSpPr>
            <p:cNvPr id="9" name="Text Placeholder 9">
              <a:extLst>
                <a:ext uri="{FF2B5EF4-FFF2-40B4-BE49-F238E27FC236}">
                  <a16:creationId xmlns:a16="http://schemas.microsoft.com/office/drawing/2014/main" id="{819161A8-5B37-7A29-2160-D28DFC0EE5A6}"/>
                </a:ext>
              </a:extLst>
            </p:cNvPr>
            <p:cNvSpPr txBox="1">
              <a:spLocks/>
            </p:cNvSpPr>
            <p:nvPr/>
          </p:nvSpPr>
          <p:spPr>
            <a:xfrm>
              <a:off x="1435388" y="1211068"/>
              <a:ext cx="3256127" cy="40885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Bright" panose="02040602050505020304" pitchFamily="18" charset="0"/>
                  <a:ea typeface="+mn-ea"/>
                  <a:cs typeface="+mn-cs"/>
                </a:rPr>
                <a:t>Upward Mobility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600" b="1" dirty="0">
                  <a:solidFill>
                    <a:prstClr val="black"/>
                  </a:solidFill>
                  <a:latin typeface="Lucida Bright" panose="02040602050505020304" pitchFamily="18" charset="0"/>
                </a:rPr>
                <a:t>Based on Facebook Data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Bright" panose="02040602050505020304" pitchFamily="18" charset="0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861ACCA-D230-EF67-1DE9-32FC5F7EFCFC}"/>
                </a:ext>
              </a:extLst>
            </p:cNvPr>
            <p:cNvSpPr txBox="1"/>
            <p:nvPr/>
          </p:nvSpPr>
          <p:spPr>
            <a:xfrm>
              <a:off x="433321" y="5224871"/>
              <a:ext cx="5260260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Predicted adult income percentile of a child with parents at the 25th percentile of the national income distribution</a:t>
              </a:r>
            </a:p>
          </p:txBody>
        </p:sp>
      </p:grp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B69E342-4DE5-3B4C-5715-42CCB2FAC271}"/>
              </a:ext>
            </a:extLst>
          </p:cNvPr>
          <p:cNvSpPr txBox="1">
            <a:spLocks/>
          </p:cNvSpPr>
          <p:nvPr/>
        </p:nvSpPr>
        <p:spPr>
          <a:xfrm>
            <a:off x="7384421" y="1293468"/>
            <a:ext cx="2999090" cy="408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Economic Connectedness Based on Facebook Data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9C31A3B-9F97-9B5A-A831-A680882291B2}"/>
              </a:ext>
            </a:extLst>
          </p:cNvPr>
          <p:cNvSpPr txBox="1"/>
          <p:nvPr/>
        </p:nvSpPr>
        <p:spPr>
          <a:xfrm>
            <a:off x="6389390" y="5302491"/>
            <a:ext cx="498915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Share of Above-Median-Income Friends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among Below-Median-Income People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152418-79EA-2B10-9F26-FB8C076DD43B}"/>
              </a:ext>
            </a:extLst>
          </p:cNvPr>
          <p:cNvSpPr txBox="1"/>
          <p:nvPr/>
        </p:nvSpPr>
        <p:spPr>
          <a:xfrm>
            <a:off x="613836" y="6009335"/>
            <a:ext cx="109607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latin typeface="Lucida Sans" panose="020B0602030504020204" pitchFamily="34" charset="0"/>
                <a:cs typeface="Arial" pitchFamily="34" charset="0"/>
              </a:rPr>
              <a:t>Shading indicates levels of upward mobility and economic connectedness, with </a:t>
            </a:r>
            <a:r>
              <a:rPr lang="en-US" sz="1200" b="1" i="1" dirty="0">
                <a:solidFill>
                  <a:srgbClr val="911029"/>
                </a:solidFill>
                <a:latin typeface="Lucida Sans" panose="020B0602030504020204" pitchFamily="34" charset="0"/>
                <a:cs typeface="Arial" pitchFamily="34" charset="0"/>
              </a:rPr>
              <a:t>red</a:t>
            </a:r>
            <a:r>
              <a:rPr lang="en-US" sz="1200" i="1" dirty="0">
                <a:latin typeface="Lucida Sans" panose="020B0602030504020204" pitchFamily="34" charset="0"/>
                <a:cs typeface="Arial" pitchFamily="34" charset="0"/>
              </a:rPr>
              <a:t> representing lower levels and </a:t>
            </a:r>
            <a:r>
              <a:rPr lang="en-US" sz="1200" b="1" i="1" dirty="0">
                <a:solidFill>
                  <a:srgbClr val="457485"/>
                </a:solidFill>
                <a:latin typeface="Lucida Sans" panose="020B0602030504020204" pitchFamily="34" charset="0"/>
                <a:cs typeface="Arial" pitchFamily="34" charset="0"/>
              </a:rPr>
              <a:t>blue</a:t>
            </a:r>
            <a:r>
              <a:rPr lang="en-US" sz="1200" i="1" dirty="0">
                <a:latin typeface="Lucida Sans" panose="020B0602030504020204" pitchFamily="34" charset="0"/>
                <a:cs typeface="Arial" pitchFamily="34" charset="0"/>
              </a:rPr>
              <a:t> representing higher levels.</a:t>
            </a:r>
            <a:endParaRPr lang="en-US" sz="1200" i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5B754D-4859-B4FF-1046-20548758937F}"/>
              </a:ext>
            </a:extLst>
          </p:cNvPr>
          <p:cNvGrpSpPr/>
          <p:nvPr/>
        </p:nvGrpSpPr>
        <p:grpSpPr>
          <a:xfrm>
            <a:off x="4906164" y="2734942"/>
            <a:ext cx="915781" cy="1674654"/>
            <a:chOff x="3818467" y="2860672"/>
            <a:chExt cx="915781" cy="167465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38C8791-AA47-7367-DB04-13A8C5C248BB}"/>
                </a:ext>
              </a:extLst>
            </p:cNvPr>
            <p:cNvGrpSpPr/>
            <p:nvPr/>
          </p:nvGrpSpPr>
          <p:grpSpPr>
            <a:xfrm>
              <a:off x="3818467" y="2918174"/>
              <a:ext cx="696283" cy="1585564"/>
              <a:chOff x="3818467" y="2918174"/>
              <a:chExt cx="696283" cy="1585564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2CC4391-BC84-BC4D-DE22-D01B97AD4A99}"/>
                  </a:ext>
                </a:extLst>
              </p:cNvPr>
              <p:cNvSpPr/>
              <p:nvPr/>
            </p:nvSpPr>
            <p:spPr>
              <a:xfrm>
                <a:off x="3818467" y="2918174"/>
                <a:ext cx="696283" cy="15855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tx1"/>
                  </a:solidFill>
                  <a:latin typeface="Lucida Sans" panose="020B0602030504020204" pitchFamily="34" charset="0"/>
                </a:endParaRPr>
              </a:p>
              <a:p>
                <a:pPr algn="ctr"/>
                <a:endParaRPr lang="en-US" sz="1200" dirty="0">
                  <a:solidFill>
                    <a:schemeClr val="tx1"/>
                  </a:solidFill>
                  <a:latin typeface="Lucida Sans" panose="020B0602030504020204" pitchFamily="34" charset="0"/>
                </a:endParaRPr>
              </a:p>
              <a:p>
                <a:pPr algn="ctr"/>
                <a:endParaRPr lang="en-US" sz="1200" dirty="0">
                  <a:solidFill>
                    <a:schemeClr val="tx1"/>
                  </a:solidFill>
                  <a:latin typeface="Lucida Sans" panose="020B0602030504020204" pitchFamily="34" charset="0"/>
                </a:endParaRPr>
              </a:p>
            </p:txBody>
          </p:sp>
          <p:pic>
            <p:nvPicPr>
              <p:cNvPr id="20" name="Picture 19" descr="A map of united kingdom with different colored areas&#10;&#10;AI-generated content may be incorrect.">
                <a:extLst>
                  <a:ext uri="{FF2B5EF4-FFF2-40B4-BE49-F238E27FC236}">
                    <a16:creationId xmlns:a16="http://schemas.microsoft.com/office/drawing/2014/main" id="{8F419261-5407-4225-DD2C-0ABA4127C9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224" t="32370" r="30336" b="27154"/>
              <a:stretch>
                <a:fillRect/>
              </a:stretch>
            </p:blipFill>
            <p:spPr>
              <a:xfrm>
                <a:off x="3865284" y="2918175"/>
                <a:ext cx="182880" cy="1585563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A931435-7FFE-723C-BC9E-06A4D8A3D981}"/>
                </a:ext>
              </a:extLst>
            </p:cNvPr>
            <p:cNvSpPr txBox="1"/>
            <p:nvPr/>
          </p:nvSpPr>
          <p:spPr>
            <a:xfrm>
              <a:off x="4002728" y="2860672"/>
              <a:ext cx="73152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Lucida Sans" panose="020B0602030504020204" pitchFamily="34" charset="0"/>
                </a:rPr>
                <a:t>&lt;.38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1C5A7F9-7693-E1FE-4B95-AE19D9683385}"/>
                </a:ext>
              </a:extLst>
            </p:cNvPr>
            <p:cNvSpPr txBox="1"/>
            <p:nvPr/>
          </p:nvSpPr>
          <p:spPr>
            <a:xfrm>
              <a:off x="4002728" y="3559499"/>
              <a:ext cx="73152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Lucida Sans" panose="020B0602030504020204" pitchFamily="34" charset="0"/>
                </a:rPr>
                <a:t>.48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D365791-49B3-25F6-23D4-98D39A95B5C3}"/>
                </a:ext>
              </a:extLst>
            </p:cNvPr>
            <p:cNvSpPr txBox="1"/>
            <p:nvPr/>
          </p:nvSpPr>
          <p:spPr>
            <a:xfrm>
              <a:off x="4002728" y="4258327"/>
              <a:ext cx="73152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Lucida Sans" panose="020B0602030504020204" pitchFamily="34" charset="0"/>
                </a:rPr>
                <a:t>&gt;.56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6E6038A-46C4-FE33-E8EA-080E4020165C}"/>
              </a:ext>
            </a:extLst>
          </p:cNvPr>
          <p:cNvGrpSpPr/>
          <p:nvPr/>
        </p:nvGrpSpPr>
        <p:grpSpPr>
          <a:xfrm>
            <a:off x="10978452" y="2737332"/>
            <a:ext cx="1198033" cy="1674654"/>
            <a:chOff x="9659785" y="2713303"/>
            <a:chExt cx="1198033" cy="1674654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81499FD-D5C1-744F-8149-E1AC3D42B2CA}"/>
                </a:ext>
              </a:extLst>
            </p:cNvPr>
            <p:cNvGrpSpPr/>
            <p:nvPr/>
          </p:nvGrpSpPr>
          <p:grpSpPr>
            <a:xfrm>
              <a:off x="9659785" y="2770805"/>
              <a:ext cx="1198033" cy="1585564"/>
              <a:chOff x="3818467" y="2918174"/>
              <a:chExt cx="1198033" cy="1585564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8D26F60-100C-25C8-1CC1-7A607A0C9FB3}"/>
                  </a:ext>
                </a:extLst>
              </p:cNvPr>
              <p:cNvSpPr/>
              <p:nvPr/>
            </p:nvSpPr>
            <p:spPr>
              <a:xfrm>
                <a:off x="3818467" y="2918174"/>
                <a:ext cx="1198033" cy="15855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solidFill>
                    <a:schemeClr val="tx1"/>
                  </a:solidFill>
                  <a:latin typeface="Lucida Sans" panose="020B0602030504020204" pitchFamily="34" charset="0"/>
                </a:endParaRPr>
              </a:p>
              <a:p>
                <a:pPr algn="ctr"/>
                <a:endParaRPr lang="en-US" sz="1200" dirty="0">
                  <a:solidFill>
                    <a:schemeClr val="tx1"/>
                  </a:solidFill>
                  <a:latin typeface="Lucida Sans" panose="020B0602030504020204" pitchFamily="34" charset="0"/>
                </a:endParaRPr>
              </a:p>
              <a:p>
                <a:pPr algn="ctr"/>
                <a:endParaRPr lang="en-US" sz="1200" dirty="0">
                  <a:solidFill>
                    <a:schemeClr val="tx1"/>
                  </a:solidFill>
                  <a:latin typeface="Lucida Sans" panose="020B0602030504020204" pitchFamily="34" charset="0"/>
                </a:endParaRPr>
              </a:p>
            </p:txBody>
          </p:sp>
          <p:pic>
            <p:nvPicPr>
              <p:cNvPr id="30" name="Picture 29" descr="A map of united kingdom with different colored areas&#10;&#10;AI-generated content may be incorrect.">
                <a:extLst>
                  <a:ext uri="{FF2B5EF4-FFF2-40B4-BE49-F238E27FC236}">
                    <a16:creationId xmlns:a16="http://schemas.microsoft.com/office/drawing/2014/main" id="{B8B182FD-28B6-315C-A342-463BD69C04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224" t="32370" r="30336" b="27154"/>
              <a:stretch>
                <a:fillRect/>
              </a:stretch>
            </p:blipFill>
            <p:spPr>
              <a:xfrm>
                <a:off x="3865284" y="2918175"/>
                <a:ext cx="182880" cy="1585563"/>
              </a:xfrm>
              <a:prstGeom prst="rect">
                <a:avLst/>
              </a:prstGeom>
            </p:spPr>
          </p:pic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DA83312-235E-5F46-63CA-A1386F949A9B}"/>
                </a:ext>
              </a:extLst>
            </p:cNvPr>
            <p:cNvSpPr txBox="1"/>
            <p:nvPr/>
          </p:nvSpPr>
          <p:spPr>
            <a:xfrm>
              <a:off x="9844046" y="2713303"/>
              <a:ext cx="73152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Lucida Sans" panose="020B0602030504020204" pitchFamily="34" charset="0"/>
                </a:rPr>
                <a:t>&lt;28%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1232CB-0126-50C4-B1FB-62AB0656A529}"/>
                </a:ext>
              </a:extLst>
            </p:cNvPr>
            <p:cNvSpPr txBox="1"/>
            <p:nvPr/>
          </p:nvSpPr>
          <p:spPr>
            <a:xfrm>
              <a:off x="9844046" y="3412130"/>
              <a:ext cx="73152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Lucida Sans" panose="020B0602030504020204" pitchFamily="34" charset="0"/>
                </a:rPr>
                <a:t>52%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EB75E60-CEA8-F34D-6D53-54CB2CB8B552}"/>
                </a:ext>
              </a:extLst>
            </p:cNvPr>
            <p:cNvSpPr txBox="1"/>
            <p:nvPr/>
          </p:nvSpPr>
          <p:spPr>
            <a:xfrm>
              <a:off x="9844046" y="4110958"/>
              <a:ext cx="73152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latin typeface="Lucida Sans" panose="020B0602030504020204" pitchFamily="34" charset="0"/>
                </a:rPr>
                <a:t>&gt;60%</a:t>
              </a:r>
            </a:p>
          </p:txBody>
        </p:sp>
      </p:grpSp>
      <p:pic>
        <p:nvPicPr>
          <p:cNvPr id="43" name="Picture 42" descr="A map of a city&#10;&#10;AI-generated content may be incorrect.">
            <a:extLst>
              <a:ext uri="{FF2B5EF4-FFF2-40B4-BE49-F238E27FC236}">
                <a16:creationId xmlns:a16="http://schemas.microsoft.com/office/drawing/2014/main" id="{5375E9BE-3DB8-1A6D-11A1-C45AD62B01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6" r="14337"/>
          <a:stretch>
            <a:fillRect/>
          </a:stretch>
        </p:blipFill>
        <p:spPr>
          <a:xfrm>
            <a:off x="913521" y="1907708"/>
            <a:ext cx="3975090" cy="3200400"/>
          </a:xfrm>
          <a:prstGeom prst="rect">
            <a:avLst/>
          </a:prstGeom>
        </p:spPr>
      </p:pic>
      <p:pic>
        <p:nvPicPr>
          <p:cNvPr id="44" name="Picture 43" descr="A map of a city&#10;&#10;AI-generated content may be incorrect.">
            <a:extLst>
              <a:ext uri="{FF2B5EF4-FFF2-40B4-BE49-F238E27FC236}">
                <a16:creationId xmlns:a16="http://schemas.microsoft.com/office/drawing/2014/main" id="{4E88F214-B9FE-1942-284B-896B160B0C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" r="12037"/>
          <a:stretch>
            <a:fillRect/>
          </a:stretch>
        </p:blipFill>
        <p:spPr>
          <a:xfrm>
            <a:off x="6851918" y="1907708"/>
            <a:ext cx="406409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95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Widescreen</PresentationFormat>
  <Paragraphs>36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Lucida Bright</vt:lpstr>
      <vt:lpstr>Arial</vt:lpstr>
      <vt:lpstr>Aptos Display</vt:lpstr>
      <vt:lpstr>Aptos</vt:lpstr>
      <vt:lpstr>Lucida Sans</vt:lpstr>
      <vt:lpstr>Office Theme</vt:lpstr>
      <vt:lpstr>PowerPoint Presentation</vt:lpstr>
      <vt:lpstr>PowerPoint Presentation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Leff, Emily C</dc:creator>
  <cp:lastModifiedBy>Leff, Emily C</cp:lastModifiedBy>
  <cp:revision>2</cp:revision>
  <dcterms:created xsi:type="dcterms:W3CDTF">2025-06-27T16:08:15Z</dcterms:created>
  <dcterms:modified xsi:type="dcterms:W3CDTF">2025-06-27T16:08:37Z</dcterms:modified>
</cp:coreProperties>
</file>