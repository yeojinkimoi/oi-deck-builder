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5"/>
  </p:notesMasterIdLst>
  <p:sldIdLst>
    <p:sldId id="258" r:id="rId2"/>
    <p:sldId id="9761" r:id="rId3"/>
    <p:sldId id="9413" r:id="rId4"/>
    <p:sldId id="9414" r:id="rId5"/>
    <p:sldId id="9415" r:id="rId6"/>
    <p:sldId id="9424" r:id="rId7"/>
    <p:sldId id="9423" r:id="rId8"/>
    <p:sldId id="9398" r:id="rId9"/>
    <p:sldId id="9348" r:id="rId10"/>
    <p:sldId id="9349" r:id="rId11"/>
    <p:sldId id="9381" r:id="rId12"/>
    <p:sldId id="9351" r:id="rId13"/>
    <p:sldId id="9359" r:id="rId14"/>
  </p:sldIdLst>
  <p:sldSz cx="12192000" cy="6858000"/>
  <p:notesSz cx="6858000" cy="9144000"/>
  <p:embeddedFontLst>
    <p:embeddedFont>
      <p:font typeface="Lucida Bright" panose="02040602050505020304" pitchFamily="18" charset="0"/>
      <p:regular r:id="rId16"/>
      <p:bold r:id="rId17"/>
      <p:italic r:id="rId18"/>
      <p:boldItalic r:id="rId19"/>
    </p:embeddedFont>
    <p:embeddedFont>
      <p:font typeface="Lucida Sans" panose="020B060203050402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872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hu-my.sharepoint.com/personal/emilyleff_fas_harvard_edu/Documents/Documents/Speaking%20Engagements/changing%20opp%20cities%20bar%20char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29B6A4"/>
            </a:solidFill>
            <a:ln>
              <a:noFill/>
            </a:ln>
            <a:effectLst/>
          </c:spPr>
          <c:invertIfNegative val="0"/>
          <c:dLbls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chemeClr val="tx1"/>
                      </a:solidFill>
                      <a:latin typeface="Lucida Sans" panose="020B0602030504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4ED0-4B74-8277-74FD57D007F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Lucida Sans" panose="020B0602030504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Sheet7!$A$2:$A$23</c:f>
              <c:strCache>
                <c:ptCount val="22"/>
                <c:pt idx="0">
                  <c:v>Austin</c:v>
                </c:pt>
                <c:pt idx="1">
                  <c:v>Charlotte</c:v>
                </c:pt>
                <c:pt idx="2">
                  <c:v>Nashville</c:v>
                </c:pt>
                <c:pt idx="3">
                  <c:v>Indianapolis</c:v>
                </c:pt>
                <c:pt idx="4">
                  <c:v>Kalamazoo</c:v>
                </c:pt>
                <c:pt idx="5">
                  <c:v>San Antonio</c:v>
                </c:pt>
                <c:pt idx="6">
                  <c:v>Portland</c:v>
                </c:pt>
                <c:pt idx="7">
                  <c:v>Kansas City</c:v>
                </c:pt>
                <c:pt idx="8">
                  <c:v>Columbus</c:v>
                </c:pt>
                <c:pt idx="9">
                  <c:v>Raleigh</c:v>
                </c:pt>
                <c:pt idx="10">
                  <c:v>Denver</c:v>
                </c:pt>
                <c:pt idx="11">
                  <c:v>Cincinnati</c:v>
                </c:pt>
                <c:pt idx="12">
                  <c:v>Pittsburgh</c:v>
                </c:pt>
                <c:pt idx="13">
                  <c:v>Cleveland</c:v>
                </c:pt>
                <c:pt idx="14">
                  <c:v>Oklahoma City</c:v>
                </c:pt>
                <c:pt idx="15">
                  <c:v>St. Louis</c:v>
                </c:pt>
                <c:pt idx="16">
                  <c:v>Minneapolis</c:v>
                </c:pt>
                <c:pt idx="17">
                  <c:v>Sacramento</c:v>
                </c:pt>
                <c:pt idx="18">
                  <c:v>Baltimore</c:v>
                </c:pt>
                <c:pt idx="19">
                  <c:v>Milwaukee</c:v>
                </c:pt>
                <c:pt idx="20">
                  <c:v>San Diego</c:v>
                </c:pt>
                <c:pt idx="21">
                  <c:v>Las Vegas</c:v>
                </c:pt>
              </c:strCache>
            </c:strRef>
          </c:cat>
          <c:val>
            <c:numRef>
              <c:f>Sheet7!$B$2:$B$23</c:f>
              <c:numCache>
                <c:formatCode>0.0%</c:formatCode>
                <c:ptCount val="22"/>
                <c:pt idx="0">
                  <c:v>6.4471448281510801E-2</c:v>
                </c:pt>
                <c:pt idx="1">
                  <c:v>4.95916779114784E-2</c:v>
                </c:pt>
                <c:pt idx="2">
                  <c:v>4.6799014428548502E-2</c:v>
                </c:pt>
                <c:pt idx="3">
                  <c:v>3.9855203478645199E-2</c:v>
                </c:pt>
                <c:pt idx="4">
                  <c:v>3.7999999999999999E-2</c:v>
                </c:pt>
                <c:pt idx="5">
                  <c:v>2.7035228350746801E-2</c:v>
                </c:pt>
                <c:pt idx="6">
                  <c:v>2.1722613743893102E-2</c:v>
                </c:pt>
                <c:pt idx="7">
                  <c:v>7.3687175182833003E-3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D0-4B74-8277-74FD57D007F4}"/>
            </c:ext>
          </c:extLst>
        </c:ser>
        <c:ser>
          <c:idx val="1"/>
          <c:order val="1"/>
          <c:tx>
            <c:strRef>
              <c:f>Sheet7!$A$10</c:f>
              <c:strCache>
                <c:ptCount val="1"/>
                <c:pt idx="0">
                  <c:v>Columbus</c:v>
                </c:pt>
              </c:strCache>
            </c:strRef>
          </c:tx>
          <c:spPr>
            <a:pattFill prst="wdDnDiag">
              <a:fgClr>
                <a:srgbClr val="FAA523"/>
              </a:fgClr>
              <a:bgClr>
                <a:schemeClr val="bg1"/>
              </a:bgClr>
            </a:pattFill>
            <a:ln>
              <a:solidFill>
                <a:srgbClr val="29B6A4"/>
              </a:solidFill>
            </a:ln>
            <a:effectLst/>
          </c:spPr>
          <c:invertIfNegative val="0"/>
          <c:dPt>
            <c:idx val="4"/>
            <c:invertIfNegative val="0"/>
            <c:bubble3D val="0"/>
            <c:spPr>
              <a:pattFill prst="wdDnDiag">
                <a:fgClr>
                  <a:srgbClr val="29B6A4"/>
                </a:fgClr>
                <a:bgClr>
                  <a:schemeClr val="bg1"/>
                </a:bgClr>
              </a:pattFill>
              <a:ln>
                <a:solidFill>
                  <a:srgbClr val="29B6A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ED0-4B74-8277-74FD57D007F4}"/>
              </c:ext>
            </c:extLst>
          </c:dPt>
          <c:dLbls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ED0-4B74-8277-74FD57D007F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Lucida Sans" panose="020B0602030504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Sheet7!$A$2:$A$23</c:f>
              <c:strCache>
                <c:ptCount val="22"/>
                <c:pt idx="0">
                  <c:v>Austin</c:v>
                </c:pt>
                <c:pt idx="1">
                  <c:v>Charlotte</c:v>
                </c:pt>
                <c:pt idx="2">
                  <c:v>Nashville</c:v>
                </c:pt>
                <c:pt idx="3">
                  <c:v>Indianapolis</c:v>
                </c:pt>
                <c:pt idx="4">
                  <c:v>Kalamazoo</c:v>
                </c:pt>
                <c:pt idx="5">
                  <c:v>San Antonio</c:v>
                </c:pt>
                <c:pt idx="6">
                  <c:v>Portland</c:v>
                </c:pt>
                <c:pt idx="7">
                  <c:v>Kansas City</c:v>
                </c:pt>
                <c:pt idx="8">
                  <c:v>Columbus</c:v>
                </c:pt>
                <c:pt idx="9">
                  <c:v>Raleigh</c:v>
                </c:pt>
                <c:pt idx="10">
                  <c:v>Denver</c:v>
                </c:pt>
                <c:pt idx="11">
                  <c:v>Cincinnati</c:v>
                </c:pt>
                <c:pt idx="12">
                  <c:v>Pittsburgh</c:v>
                </c:pt>
                <c:pt idx="13">
                  <c:v>Cleveland</c:v>
                </c:pt>
                <c:pt idx="14">
                  <c:v>Oklahoma City</c:v>
                </c:pt>
                <c:pt idx="15">
                  <c:v>St. Louis</c:v>
                </c:pt>
                <c:pt idx="16">
                  <c:v>Minneapolis</c:v>
                </c:pt>
                <c:pt idx="17">
                  <c:v>Sacramento</c:v>
                </c:pt>
                <c:pt idx="18">
                  <c:v>Baltimore</c:v>
                </c:pt>
                <c:pt idx="19">
                  <c:v>Milwaukee</c:v>
                </c:pt>
                <c:pt idx="20">
                  <c:v>San Diego</c:v>
                </c:pt>
                <c:pt idx="21">
                  <c:v>Las Vegas</c:v>
                </c:pt>
              </c:strCache>
            </c:strRef>
          </c:cat>
          <c:val>
            <c:numRef>
              <c:f>Sheet7!$C$2:$C$23</c:f>
              <c:numCache>
                <c:formatCode>General</c:formatCode>
                <c:ptCount val="22"/>
                <c:pt idx="4" formatCode="0.0%">
                  <c:v>3.7999999999999999E-2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ED0-4B74-8277-74FD57D007F4}"/>
            </c:ext>
          </c:extLst>
        </c:ser>
        <c:ser>
          <c:idx val="2"/>
          <c:order val="2"/>
          <c:spPr>
            <a:solidFill>
              <a:srgbClr val="FAA52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Lucida Sans" panose="020B0602030504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Sheet7!$A$2:$A$23</c:f>
              <c:strCache>
                <c:ptCount val="22"/>
                <c:pt idx="0">
                  <c:v>Austin</c:v>
                </c:pt>
                <c:pt idx="1">
                  <c:v>Charlotte</c:v>
                </c:pt>
                <c:pt idx="2">
                  <c:v>Nashville</c:v>
                </c:pt>
                <c:pt idx="3">
                  <c:v>Indianapolis</c:v>
                </c:pt>
                <c:pt idx="4">
                  <c:v>Kalamazoo</c:v>
                </c:pt>
                <c:pt idx="5">
                  <c:v>San Antonio</c:v>
                </c:pt>
                <c:pt idx="6">
                  <c:v>Portland</c:v>
                </c:pt>
                <c:pt idx="7">
                  <c:v>Kansas City</c:v>
                </c:pt>
                <c:pt idx="8">
                  <c:v>Columbus</c:v>
                </c:pt>
                <c:pt idx="9">
                  <c:v>Raleigh</c:v>
                </c:pt>
                <c:pt idx="10">
                  <c:v>Denver</c:v>
                </c:pt>
                <c:pt idx="11">
                  <c:v>Cincinnati</c:v>
                </c:pt>
                <c:pt idx="12">
                  <c:v>Pittsburgh</c:v>
                </c:pt>
                <c:pt idx="13">
                  <c:v>Cleveland</c:v>
                </c:pt>
                <c:pt idx="14">
                  <c:v>Oklahoma City</c:v>
                </c:pt>
                <c:pt idx="15">
                  <c:v>St. Louis</c:v>
                </c:pt>
                <c:pt idx="16">
                  <c:v>Minneapolis</c:v>
                </c:pt>
                <c:pt idx="17">
                  <c:v>Sacramento</c:v>
                </c:pt>
                <c:pt idx="18">
                  <c:v>Baltimore</c:v>
                </c:pt>
                <c:pt idx="19">
                  <c:v>Milwaukee</c:v>
                </c:pt>
                <c:pt idx="20">
                  <c:v>San Diego</c:v>
                </c:pt>
                <c:pt idx="21">
                  <c:v>Las Vegas</c:v>
                </c:pt>
              </c:strCache>
            </c:strRef>
          </c:cat>
          <c:val>
            <c:numRef>
              <c:f>Sheet7!$D$2:$D$23</c:f>
              <c:numCache>
                <c:formatCode>General</c:formatCode>
                <c:ptCount val="22"/>
                <c:pt idx="8" formatCode="0.0%">
                  <c:v>-1.2290038644229E-2</c:v>
                </c:pt>
                <c:pt idx="9" formatCode="0.0%">
                  <c:v>-1.2730940558038599E-2</c:v>
                </c:pt>
                <c:pt idx="10" formatCode="0.0%">
                  <c:v>-1.50802094845294E-2</c:v>
                </c:pt>
                <c:pt idx="11" formatCode="0.0%">
                  <c:v>-3.1459952239435998E-2</c:v>
                </c:pt>
                <c:pt idx="12" formatCode="0.0%">
                  <c:v>-3.5858556381377901E-2</c:v>
                </c:pt>
                <c:pt idx="13" formatCode="0.0%">
                  <c:v>-3.9215074241014301E-2</c:v>
                </c:pt>
                <c:pt idx="14" formatCode="0.0%">
                  <c:v>-3.9746075896625703E-2</c:v>
                </c:pt>
                <c:pt idx="15" formatCode="0.0%">
                  <c:v>-5.92208779493524E-2</c:v>
                </c:pt>
                <c:pt idx="16" formatCode="0.0%">
                  <c:v>-6.7060908320681595E-2</c:v>
                </c:pt>
                <c:pt idx="17" formatCode="0.0%">
                  <c:v>-7.28179896330136E-2</c:v>
                </c:pt>
                <c:pt idx="18" formatCode="0.0%">
                  <c:v>-8.6960763163593094E-2</c:v>
                </c:pt>
                <c:pt idx="19" formatCode="0.0%">
                  <c:v>-9.0727370576226901E-2</c:v>
                </c:pt>
                <c:pt idx="20" formatCode="0.0%">
                  <c:v>-9.1763406995605104E-2</c:v>
                </c:pt>
                <c:pt idx="21" formatCode="0.0%">
                  <c:v>-0.105953183513809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ED0-4B74-8277-74FD57D007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1407820416"/>
        <c:axId val="1407820896"/>
      </c:barChart>
      <c:catAx>
        <c:axId val="14078204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Lucida Sans" panose="020B0602030504020204" pitchFamily="34" charset="0"/>
                <a:ea typeface="+mn-ea"/>
                <a:cs typeface="+mn-cs"/>
              </a:defRPr>
            </a:pPr>
            <a:endParaRPr lang="en-US"/>
          </a:p>
        </c:txPr>
        <c:crossAx val="1407820896"/>
        <c:crosses val="autoZero"/>
        <c:auto val="1"/>
        <c:lblAlgn val="ctr"/>
        <c:lblOffset val="100"/>
        <c:noMultiLvlLbl val="0"/>
      </c:catAx>
      <c:valAx>
        <c:axId val="1407820896"/>
        <c:scaling>
          <c:orientation val="minMax"/>
        </c:scaling>
        <c:delete val="0"/>
        <c:axPos val="l"/>
        <c:numFmt formatCode="0.0%" sourceLinked="1"/>
        <c:majorTickMark val="out"/>
        <c:minorTickMark val="none"/>
        <c:tickLblPos val="nextTo"/>
        <c:spPr>
          <a:noFill/>
          <a:ln>
            <a:solidFill>
              <a:sysClr val="windowText" lastClr="00000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Lucida Sans" panose="020B0602030504020204" pitchFamily="34" charset="0"/>
                <a:ea typeface="+mn-ea"/>
                <a:cs typeface="+mn-cs"/>
              </a:defRPr>
            </a:pPr>
            <a:endParaRPr lang="en-US"/>
          </a:p>
        </c:txPr>
        <c:crossAx val="1407820416"/>
        <c:crosses val="autoZero"/>
        <c:crossBetween val="between"/>
        <c:majorUnit val="6.0000000000000012E-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400">
          <a:solidFill>
            <a:schemeClr val="tx1"/>
          </a:solidFill>
          <a:latin typeface="Lucida Sans" panose="020B060203050402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E4754-4AA6-47DA-B561-1A36C6F6227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741939-6A03-4070-9018-3C6801EFC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567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9BC545-1614-4812-94D2-F3D8F5118A4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6481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strike="noStri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712CF3-E26A-4AC6-973D-B772AF8330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6926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32185-18CA-8667-7872-0EA39D7CE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21B402-BEAE-5497-F548-45B2764A0E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03250" y="1089025"/>
            <a:ext cx="5222875" cy="29384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F92CBB-AC70-F8D1-3293-AF195F7F5B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8649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strike="noStrike" dirty="0"/>
              <a:t>Winston-Salem CZ: -4.4% change (HH </a:t>
            </a:r>
            <a:r>
              <a:rPr lang="fr-CH" strike="noStrike" dirty="0" err="1"/>
              <a:t>income</a:t>
            </a:r>
            <a:r>
              <a:rPr lang="fr-CH" strike="noStrike" dirty="0"/>
              <a:t>)</a:t>
            </a:r>
          </a:p>
          <a:p>
            <a:pPr marL="0" marR="0" lvl="0" indent="0" algn="l" defTabSz="8649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strike="noStrike" dirty="0"/>
              <a:t>- </a:t>
            </a:r>
            <a:r>
              <a:rPr lang="fr-CH" strike="noStrike" dirty="0" err="1"/>
              <a:t>Individual</a:t>
            </a:r>
            <a:r>
              <a:rPr lang="fr-CH" strike="noStrike" dirty="0"/>
              <a:t> </a:t>
            </a:r>
            <a:r>
              <a:rPr lang="fr-CH" strike="noStrike" dirty="0" err="1"/>
              <a:t>income</a:t>
            </a:r>
            <a:r>
              <a:rPr lang="fr-CH" strike="noStrike" dirty="0"/>
              <a:t>: -0.8% change </a:t>
            </a:r>
          </a:p>
          <a:p>
            <a:pPr marL="0" marR="0" lvl="0" indent="0" algn="l" defTabSz="8649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 strike="noStrike" dirty="0"/>
          </a:p>
          <a:p>
            <a:pPr marL="0" marR="0" lvl="0" indent="0" algn="l" defTabSz="8649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 strike="noStrike" dirty="0"/>
          </a:p>
        </p:txBody>
      </p:sp>
    </p:spTree>
    <p:extLst>
      <p:ext uri="{BB962C8B-B14F-4D97-AF65-F5344CB8AC3E}">
        <p14:creationId xmlns:p14="http://schemas.microsoft.com/office/powerpoint/2010/main" val="1433308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D1C92-749F-7AAD-708A-7FFF6710B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3E516-AB70-AE53-9BBF-8E1BAA97D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03250" y="1089025"/>
            <a:ext cx="5222875" cy="29384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C0A330-5E4F-0B34-55EC-1835D503E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8649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 strike="noStrike" dirty="0"/>
          </a:p>
        </p:txBody>
      </p:sp>
    </p:spTree>
    <p:extLst>
      <p:ext uri="{BB962C8B-B14F-4D97-AF65-F5344CB8AC3E}">
        <p14:creationId xmlns:p14="http://schemas.microsoft.com/office/powerpoint/2010/main" val="3203014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7CAFA-EE96-BAB1-E896-C4CECD2ED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05DBEC-B727-EAD0-349F-4317F866F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03250" y="1089025"/>
            <a:ext cx="5222875" cy="29384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5DBE7D-3B5D-39AE-EC62-6AFC77336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8649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 strike="noStrike" dirty="0"/>
          </a:p>
          <a:p>
            <a:pPr marL="0" marR="0" lvl="0" indent="0" algn="l" defTabSz="8649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 strike="noStrike" dirty="0"/>
          </a:p>
        </p:txBody>
      </p:sp>
    </p:spTree>
    <p:extLst>
      <p:ext uri="{BB962C8B-B14F-4D97-AF65-F5344CB8AC3E}">
        <p14:creationId xmlns:p14="http://schemas.microsoft.com/office/powerpoint/2010/main" val="1169524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67EEB-2220-829F-5680-76F0201BE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A0DD32-BC85-09F5-E89C-F0F9FAB6E1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356815-2A60-6B1A-7607-358A50A08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trike="noStrike" dirty="0"/>
              <a:t>Highlight geography of audience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8CFF5-836A-3356-F33E-28798CC6AA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712CF3-E26A-4AC6-973D-B772AF8330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86111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09C28-7267-EA44-6B46-41B0182F8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E2DCA-E428-E1F4-CE29-3C8035CAA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DA8550-4957-96FA-958A-7DE202FBE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strike="noStrike" dirty="0"/>
              <a:t>Customize to where you’re presenting if possible (if dot fits on these axes)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u="none" strike="noStrike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C9BC3-A027-2357-30C8-EE017AE3C8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7BEDED-5931-4A59-A3CA-EE59609E2F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4277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strike="noStrike" dirty="0"/>
              <a:t>Customize to where you’re presenting if possible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CA7E09-E698-4B1D-9F33-51ADAD0E275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6763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28684-EABE-9386-E4D9-DD7353E4F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77C8E7-8327-B09F-3D07-53E81A76B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355DBA-79DE-E483-01DB-DDFE1F344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Fraction of Employed Parents in Baton Rouge (CZ) decreased from 67% to 61% b/w 1978 and 1998 for p25.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Labor Force participation rates (2013-2017 ACS Estimates) </a:t>
            </a:r>
          </a:p>
          <a:p>
            <a:endParaRPr lang="en-US" dirty="0"/>
          </a:p>
          <a:p>
            <a:r>
              <a:rPr lang="en-US" b="1" dirty="0"/>
              <a:t>Total average: 68.5% </a:t>
            </a:r>
            <a:r>
              <a:rPr lang="en-US" b="0" dirty="0"/>
              <a:t> (slightly lower than state average of 72.4)</a:t>
            </a:r>
            <a:endParaRPr lang="en-US" b="1" dirty="0"/>
          </a:p>
          <a:p>
            <a:endParaRPr lang="en-US" dirty="0"/>
          </a:p>
          <a:p>
            <a:r>
              <a:rPr lang="en-US" dirty="0"/>
              <a:t>Ascension Parish: 80.4%</a:t>
            </a:r>
          </a:p>
          <a:p>
            <a:endParaRPr lang="en-US" dirty="0"/>
          </a:p>
          <a:p>
            <a:r>
              <a:rPr lang="en-US" b="0" i="0" dirty="0">
                <a:solidFill>
                  <a:srgbClr val="040C28"/>
                </a:solidFill>
                <a:effectLst/>
                <a:latin typeface="Lucida Sans" panose="020B0602030504020204" pitchFamily="34" charset="0"/>
              </a:rPr>
              <a:t>East Baton Rouge: 77.7%</a:t>
            </a:r>
          </a:p>
          <a:p>
            <a:endParaRPr lang="en-US" b="0" i="0" dirty="0">
              <a:solidFill>
                <a:srgbClr val="040C28"/>
              </a:solidFill>
              <a:effectLst/>
              <a:latin typeface="Lucida Sans" panose="020B0602030504020204" pitchFamily="34" charset="0"/>
            </a:endParaRPr>
          </a:p>
          <a:p>
            <a:r>
              <a:rPr lang="en-US" b="0" i="0" dirty="0">
                <a:solidFill>
                  <a:srgbClr val="040C28"/>
                </a:solidFill>
                <a:effectLst/>
                <a:latin typeface="Lucida Sans" panose="020B0602030504020204" pitchFamily="34" charset="0"/>
              </a:rPr>
              <a:t>East Feliciana: 53.4%</a:t>
            </a:r>
          </a:p>
          <a:p>
            <a:endParaRPr lang="en-US" b="0" i="0" dirty="0">
              <a:solidFill>
                <a:srgbClr val="040C28"/>
              </a:solidFill>
              <a:effectLst/>
              <a:latin typeface="Lucida Sans" panose="020B0602030504020204" pitchFamily="34" charset="0"/>
            </a:endParaRPr>
          </a:p>
          <a:p>
            <a:r>
              <a:rPr lang="en-US" b="0" i="0" dirty="0">
                <a:solidFill>
                  <a:srgbClr val="040C28"/>
                </a:solidFill>
                <a:effectLst/>
                <a:latin typeface="Lucida Sans" panose="020B0602030504020204" pitchFamily="34" charset="0"/>
              </a:rPr>
              <a:t>Iberville: 62%</a:t>
            </a:r>
          </a:p>
          <a:p>
            <a:endParaRPr lang="en-US" b="0" i="0" dirty="0">
              <a:solidFill>
                <a:srgbClr val="040C28"/>
              </a:solidFill>
              <a:effectLst/>
              <a:latin typeface="Lucida Sans" panose="020B0602030504020204" pitchFamily="34" charset="0"/>
            </a:endParaRPr>
          </a:p>
          <a:p>
            <a:r>
              <a:rPr lang="en-US" b="0" i="0" dirty="0">
                <a:solidFill>
                  <a:srgbClr val="040C28"/>
                </a:solidFill>
                <a:effectLst/>
                <a:latin typeface="Lucida Sans" panose="020B0602030504020204" pitchFamily="34" charset="0"/>
              </a:rPr>
              <a:t>Livingston: 75.5%</a:t>
            </a:r>
          </a:p>
          <a:p>
            <a:endParaRPr lang="en-US" b="0" i="0" dirty="0">
              <a:solidFill>
                <a:srgbClr val="040C28"/>
              </a:solidFill>
              <a:effectLst/>
              <a:latin typeface="Lucida Sans" panose="020B0602030504020204" pitchFamily="34" charset="0"/>
            </a:endParaRPr>
          </a:p>
          <a:p>
            <a:r>
              <a:rPr lang="en-US" b="0" i="0" dirty="0">
                <a:solidFill>
                  <a:srgbClr val="040C28"/>
                </a:solidFill>
                <a:effectLst/>
                <a:latin typeface="Lucida Sans" panose="020B0602030504020204" pitchFamily="34" charset="0"/>
              </a:rPr>
              <a:t>Pointe Coupee: 74.1%</a:t>
            </a:r>
          </a:p>
          <a:p>
            <a:endParaRPr lang="en-US" b="0" i="0" dirty="0">
              <a:solidFill>
                <a:srgbClr val="040C28"/>
              </a:solidFill>
              <a:effectLst/>
              <a:latin typeface="Lucida Sans" panose="020B0602030504020204" pitchFamily="34" charset="0"/>
            </a:endParaRPr>
          </a:p>
          <a:p>
            <a:r>
              <a:rPr lang="en-US" b="0" i="0" dirty="0">
                <a:solidFill>
                  <a:srgbClr val="040C28"/>
                </a:solidFill>
                <a:effectLst/>
                <a:latin typeface="Lucida Sans" panose="020B0602030504020204" pitchFamily="34" charset="0"/>
              </a:rPr>
              <a:t>St.</a:t>
            </a:r>
            <a:r>
              <a:rPr lang="en-US" b="0" i="0" dirty="0">
                <a:solidFill>
                  <a:srgbClr val="1F1F1F"/>
                </a:solidFill>
                <a:effectLst/>
                <a:latin typeface="Lucida Sans" panose="020B0602030504020204" pitchFamily="34" charset="0"/>
              </a:rPr>
              <a:t> </a:t>
            </a:r>
            <a:r>
              <a:rPr lang="en-US" b="0" i="0" dirty="0">
                <a:solidFill>
                  <a:srgbClr val="040C28"/>
                </a:solidFill>
                <a:effectLst/>
                <a:latin typeface="Lucida Sans" panose="020B0602030504020204" pitchFamily="34" charset="0"/>
              </a:rPr>
              <a:t>Helena: 65.4%</a:t>
            </a:r>
          </a:p>
          <a:p>
            <a:endParaRPr lang="en-US" b="0" i="0" dirty="0">
              <a:solidFill>
                <a:srgbClr val="040C28"/>
              </a:solidFill>
              <a:effectLst/>
              <a:latin typeface="Lucida Sans" panose="020B0602030504020204" pitchFamily="34" charset="0"/>
            </a:endParaRPr>
          </a:p>
          <a:p>
            <a:r>
              <a:rPr lang="en-US" b="0" i="0" dirty="0">
                <a:solidFill>
                  <a:srgbClr val="040C28"/>
                </a:solidFill>
                <a:effectLst/>
                <a:latin typeface="Lucida Sans" panose="020B0602030504020204" pitchFamily="34" charset="0"/>
              </a:rPr>
              <a:t>West Baton Rouge: 75.6%</a:t>
            </a:r>
          </a:p>
          <a:p>
            <a:endParaRPr lang="en-US" b="0" i="0" dirty="0">
              <a:solidFill>
                <a:srgbClr val="040C28"/>
              </a:solidFill>
              <a:effectLst/>
              <a:latin typeface="Lucida Sans" panose="020B0602030504020204" pitchFamily="34" charset="0"/>
            </a:endParaRPr>
          </a:p>
          <a:p>
            <a:r>
              <a:rPr lang="en-US" b="0" i="0" dirty="0">
                <a:solidFill>
                  <a:srgbClr val="040C28"/>
                </a:solidFill>
                <a:effectLst/>
                <a:latin typeface="Lucida Sans" panose="020B0602030504020204" pitchFamily="34" charset="0"/>
              </a:rPr>
              <a:t>West Feliciana</a:t>
            </a:r>
            <a:r>
              <a:rPr lang="en-US" b="0" i="0" dirty="0">
                <a:solidFill>
                  <a:srgbClr val="1F1F1F"/>
                </a:solidFill>
                <a:effectLst/>
                <a:latin typeface="Lucida Sans" panose="020B0602030504020204" pitchFamily="34" charset="0"/>
              </a:rPr>
              <a:t>: 52.8%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E9B21-3C30-C9E8-9FDF-875271F0C5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712CF3-E26A-4AC6-973D-B772AF8330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0751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28684-EABE-9386-E4D9-DD7353E4F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77C8E7-8327-B09F-3D07-53E81A76B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355DBA-79DE-E483-01DB-DDFE1F344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E9B21-3C30-C9E8-9FDF-875271F0C5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712CF3-E26A-4AC6-973D-B772AF8330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76775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28684-EABE-9386-E4D9-DD7353E4F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77C8E7-8327-B09F-3D07-53E81A76B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355DBA-79DE-E483-01DB-DDFE1F344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E9B21-3C30-C9E8-9FDF-875271F0C5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712CF3-E26A-4AC6-973D-B772AF8330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85131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trike="noStri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7BEDED-5931-4A59-A3CA-EE59609E2F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4994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u="sng" strike="noStrike" dirty="0"/>
              <a:t>Notes on conversion</a:t>
            </a:r>
            <a:r>
              <a:rPr lang="en-US" b="0" strike="noStrike" dirty="0"/>
              <a:t>: To convert the coefficients on parental employment to $ amounts on the second y-axis, we scale the coefficients by the p75-p25 range of change in par emp (6.11pp) divided by 10, and then multiply by $1000. </a:t>
            </a:r>
            <a:br>
              <a:rPr lang="en-US" b="0" strike="noStrike" dirty="0"/>
            </a:br>
            <a:br>
              <a:rPr lang="en-US" b="1" strike="noStrike" dirty="0"/>
            </a:br>
            <a:r>
              <a:rPr lang="en-US" b="0" strike="noStrike" dirty="0"/>
              <a:t>The p75-p25 range is computed by residualizing changes in par emp (for white and Black p25 kids) on race FE and then taking the difference between the 75</a:t>
            </a:r>
            <a:r>
              <a:rPr lang="en-US" b="0" strike="noStrike" baseline="30000" dirty="0"/>
              <a:t>th</a:t>
            </a:r>
            <a:r>
              <a:rPr lang="en-US" b="0" strike="noStrike" dirty="0"/>
              <a:t>  and 25</a:t>
            </a:r>
            <a:r>
              <a:rPr lang="en-US" b="0" strike="noStrike" baseline="30000" dirty="0"/>
              <a:t>th</a:t>
            </a:r>
            <a:r>
              <a:rPr lang="en-US" b="0" strike="noStrike" dirty="0"/>
              <a:t> percentile values of this (residuals) distribution. We divide this difference by 10 as the coefficients on this plot  had been scaled to show the change in income percentile for a 10pp change in par emp.</a:t>
            </a:r>
            <a:br>
              <a:rPr lang="en-US" b="0" strike="noStrike" dirty="0"/>
            </a:br>
            <a:r>
              <a:rPr lang="en-US" b="0" strike="noStrike" dirty="0"/>
              <a:t>This gives us the gap between changes in par emp in places which saw above average changes and those which saw below average changes. We then multiply this gap by $1000 (which is the average width of 1 rank from p30-p70).</a:t>
            </a:r>
          </a:p>
          <a:p>
            <a:r>
              <a:rPr lang="en-US" b="0" strike="noStrike" dirty="0"/>
              <a:t>Example, the own cohort  coefficient of 0.9 percentiles is scaled as follows: 0.9*0.6*1000</a:t>
            </a:r>
          </a:p>
          <a:p>
            <a:endParaRPr lang="en-US" strike="noStri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7BEDED-5931-4A59-A3CA-EE59609E2F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3767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9F2A4-E18C-D40A-0833-5AF577C5F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E35121-D951-4AFD-98C8-AE2A7437B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21E44-2649-302D-B146-C6EF024BA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035E0-35F8-4790-9F6C-BB40780EADE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D6327-B95F-9248-AB0E-4268FDA77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49CD4-F149-6B3C-B3E7-D7FF6789B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F9BE1-06AC-4657-B7DB-A4B98E8C2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89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8775C-AC8D-5FA3-DD5B-C768319BA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DB0C2-963C-D55B-68C1-E913AB19B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3AAAF-3198-0A22-4243-2AFF47566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035E0-35F8-4790-9F6C-BB40780EADE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776FF-FB49-6A6A-77C4-31062703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41EF4-9F78-D105-F7AA-AEA155CC4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F9BE1-06AC-4657-B7DB-A4B98E8C2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973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5A25C-96D2-4688-9212-93B6190B6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1AB93-9918-438A-4FC1-8A6A8A663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86E9C-B6FE-00E5-EF3E-CFC1E9556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035E0-35F8-4790-9F6C-BB40780EADE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F6A56-D299-9E47-A568-BFFF521E6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8A00E-725E-0FD6-E22E-23CD45442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F9BE1-06AC-4657-B7DB-A4B98E8C2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33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7397A-A733-EB9E-1A61-088780D85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ACCE7-E2C6-AADF-026B-4088C49420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7F59B5-3768-8F2A-B5EE-1C154D55C1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0E1E39-6309-2BED-BDE4-340369435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035E0-35F8-4790-9F6C-BB40780EADE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010B46-7E2B-0F27-9EE6-DF8E00FDA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167F62-9405-922C-2C96-D0AEF9395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F9BE1-06AC-4657-B7DB-A4B98E8C2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839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19033-16EC-C5EE-8A1D-E73CEEB3E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473C1-9C40-06ED-C17D-15A065007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426AA6-6553-F853-8837-828EB82BE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06AE5-0FB7-636A-BBD5-36C89F2E4F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84F6D8-D64E-2AB4-98DE-0CDE0677C7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1006C2-5625-6581-A8D8-0D9D18E9D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035E0-35F8-4790-9F6C-BB40780EADE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08B227-573F-DAB6-74BB-487F42ACE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73C10D-2938-34FA-163D-00E49BC74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F9BE1-06AC-4657-B7DB-A4B98E8C2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868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7D3C3-64C4-43A2-E6F4-F63FC4713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088B27-F885-8071-AA0A-FDC6F30FE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035E0-35F8-4790-9F6C-BB40780EADE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C5D51B-50FD-1823-BCF4-97F12E6F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329E56-F918-713B-E17B-89E7510A7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F9BE1-06AC-4657-B7DB-A4B98E8C2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373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6B9B37-BAFE-28AC-8FC9-84DEFE91A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035E0-35F8-4790-9F6C-BB40780EADE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37D77F-15F3-CAB8-4F7F-63ADBDDD9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9378F-9717-AA56-DF48-47EBF9C3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F9BE1-06AC-4657-B7DB-A4B98E8C2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1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943ED-D844-48BF-C6AF-F2A281F52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C89D7-B5A0-FF26-22E9-581B1FD7B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E6B410-64D5-67D6-1AF1-BEA2F0A38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DF3F7-53BA-BABA-0CAF-1D28F376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035E0-35F8-4790-9F6C-BB40780EADE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F92EC-B284-07E3-6D83-10CD3E4E7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26760E-33C3-0C3E-86F2-91C58D55F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F9BE1-06AC-4657-B7DB-A4B98E8C2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180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E7677-7B53-2B3D-3E7B-6A63F1DDB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3CA0A2-8269-3576-D8D7-2005C691DC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F324E-0F0A-DDB9-92AA-ED5764184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4456C9-E197-9F2A-367C-5192103E1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035E0-35F8-4790-9F6C-BB40780EADE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D22A4-AE0C-F912-5A11-D526913BA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B12B7-C781-005F-5305-78A51D7D0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F9BE1-06AC-4657-B7DB-A4B98E8C2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009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45B1B-2D30-ED36-3FF4-549751D14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EA5464-88E3-6619-1EA5-DA058F614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172E4-47DB-082D-3A6F-1E07D1FF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035E0-35F8-4790-9F6C-BB40780EADE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2372E-BE22-F64D-250F-7B38F8EB9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EE9F4-9731-A839-60FB-A739776C9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F9BE1-06AC-4657-B7DB-A4B98E8C2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694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A71C4E-50DE-D2A6-D43E-C677444BD4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CF451-3A3B-F77F-024F-ABB0D8663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612B2-B0CC-88D4-8450-BCEB0B124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035E0-35F8-4790-9F6C-BB40780EADE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45E9E-7C1A-6EF7-C882-8A71035AE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9AD25-6660-F531-09BD-6732C8AF4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F9BE1-06AC-4657-B7DB-A4B98E8C2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591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6C1EEB-0312-8B4A-8226-0EEACE27C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1EB73-0639-594D-2C7B-8E91B245D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884F1-0C03-F2AF-2D49-4C1A901D6F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9035E0-35F8-4790-9F6C-BB40780EADE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BCCA8-0D4C-9A66-F1E7-48B0CFE84E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F105C-8C8D-19FE-F253-F1FA02271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0F9BE1-06AC-4657-B7DB-A4B98E8C2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445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477F37E-CCCA-B3EB-F434-306786CA12C3}"/>
              </a:ext>
            </a:extLst>
          </p:cNvPr>
          <p:cNvSpPr/>
          <p:nvPr/>
        </p:nvSpPr>
        <p:spPr>
          <a:xfrm>
            <a:off x="625972" y="111621"/>
            <a:ext cx="9848297" cy="6150692"/>
          </a:xfrm>
          <a:prstGeom prst="rect">
            <a:avLst/>
          </a:prstGeom>
          <a:noFill/>
          <a:ln w="11981" cap="flat">
            <a:solidFill>
              <a:srgbClr val="FFFFFF">
                <a:alpha val="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32" name="Rectangle 183">
            <a:extLst>
              <a:ext uri="{FF2B5EF4-FFF2-40B4-BE49-F238E27FC236}">
                <a16:creationId xmlns:a16="http://schemas.microsoft.com/office/drawing/2014/main" id="{E6556272-3AE1-37C8-4865-CA1A037D8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351" y="598576"/>
            <a:ext cx="0" cy="357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1E2D53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endParaRPr kumimoji="0" lang="en-US" alt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pic>
        <p:nvPicPr>
          <p:cNvPr id="33" name="Picture 32" descr="A black and grey text&#10;&#10;Description automatically generated">
            <a:extLst>
              <a:ext uri="{FF2B5EF4-FFF2-40B4-BE49-F238E27FC236}">
                <a16:creationId xmlns:a16="http://schemas.microsoft.com/office/drawing/2014/main" id="{3A6DE2A0-433D-0919-12A0-21F4582AE56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9584FF7-1609-A84F-B5ED-0CD21F6BFBC7}"/>
              </a:ext>
            </a:extLst>
          </p:cNvPr>
          <p:cNvCxnSpPr>
            <a:cxnSpLocks/>
          </p:cNvCxnSpPr>
          <p:nvPr/>
        </p:nvCxnSpPr>
        <p:spPr>
          <a:xfrm>
            <a:off x="620980" y="6483107"/>
            <a:ext cx="109536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E4FA21F-8F2A-8C3A-5394-656C8F83893C}"/>
              </a:ext>
            </a:extLst>
          </p:cNvPr>
          <p:cNvSpPr txBox="1"/>
          <p:nvPr/>
        </p:nvSpPr>
        <p:spPr>
          <a:xfrm>
            <a:off x="568592" y="6483107"/>
            <a:ext cx="8839200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Chetty, Grusky, Hell, Hendren, Manduca, Narang (Science 2017)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Lato" panose="020F0502020204030203" pitchFamily="34" charset="0"/>
              <a:cs typeface="Arial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F0754E-91FF-2BEE-ABAD-14492943A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42" y="375323"/>
            <a:ext cx="1049944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The Fading American Dream: Upward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Mobilit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y by Birth Cohort</a:t>
            </a: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Percent of Children Earning More than Their Parents, by Year of Birth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7426005-148E-980C-57D1-8952D577011E}"/>
              </a:ext>
            </a:extLst>
          </p:cNvPr>
          <p:cNvSpPr/>
          <p:nvPr/>
        </p:nvSpPr>
        <p:spPr>
          <a:xfrm>
            <a:off x="1084694" y="689084"/>
            <a:ext cx="8609179" cy="5376808"/>
          </a:xfrm>
          <a:prstGeom prst="rect">
            <a:avLst/>
          </a:prstGeom>
          <a:noFill/>
          <a:ln w="10464" cap="flat">
            <a:solidFill>
              <a:srgbClr val="FFFFFF">
                <a:alpha val="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B7C80C5-5F89-CE7E-3F7E-6D498C665421}"/>
              </a:ext>
            </a:extLst>
          </p:cNvPr>
          <p:cNvSpPr txBox="1"/>
          <p:nvPr/>
        </p:nvSpPr>
        <p:spPr>
          <a:xfrm>
            <a:off x="511205" y="1349071"/>
            <a:ext cx="5798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9B6A4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+mn-cs"/>
              </a:rPr>
              <a:t>92%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of children out-earned their parents in 1940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5E3776E-EA11-F659-A7BC-B9E56A81FCD7}"/>
              </a:ext>
            </a:extLst>
          </p:cNvPr>
          <p:cNvCxnSpPr>
            <a:cxnSpLocks/>
          </p:cNvCxnSpPr>
          <p:nvPr/>
        </p:nvCxnSpPr>
        <p:spPr>
          <a:xfrm>
            <a:off x="620980" y="1000920"/>
            <a:ext cx="2128310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C267550F-204C-AFE2-A37C-96233619D003}"/>
              </a:ext>
            </a:extLst>
          </p:cNvPr>
          <p:cNvGrpSpPr/>
          <p:nvPr/>
        </p:nvGrpSpPr>
        <p:grpSpPr>
          <a:xfrm>
            <a:off x="620980" y="1669411"/>
            <a:ext cx="10916345" cy="4756547"/>
            <a:chOff x="620980" y="1345321"/>
            <a:chExt cx="10916345" cy="5080637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68D92EF-8EBB-86CF-1D3D-649B42C8BD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560" y="1345321"/>
              <a:ext cx="0" cy="258671"/>
            </a:xfrm>
            <a:prstGeom prst="line">
              <a:avLst/>
            </a:prstGeom>
            <a:ln>
              <a:solidFill>
                <a:srgbClr val="29B6A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9FF2D33-365C-AFB8-E827-D79F70843B89}"/>
                </a:ext>
              </a:extLst>
            </p:cNvPr>
            <p:cNvSpPr txBox="1"/>
            <p:nvPr/>
          </p:nvSpPr>
          <p:spPr>
            <a:xfrm>
              <a:off x="633402" y="6064887"/>
              <a:ext cx="855355" cy="357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/>
                  <a:sym typeface="Arial"/>
                  <a:rtl val="0"/>
                </a:rPr>
                <a:t>1940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D079333-CECD-5CD0-C0C3-416DABE10FAE}"/>
                </a:ext>
              </a:extLst>
            </p:cNvPr>
            <p:cNvSpPr txBox="1"/>
            <p:nvPr/>
          </p:nvSpPr>
          <p:spPr>
            <a:xfrm>
              <a:off x="4652766" y="6064887"/>
              <a:ext cx="855355" cy="357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/>
                  <a:sym typeface="Arial"/>
                  <a:rtl val="0"/>
                </a:rPr>
                <a:t>1960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B1130B5-D11D-04E5-8B22-C15569D40EED}"/>
                </a:ext>
              </a:extLst>
            </p:cNvPr>
            <p:cNvSpPr txBox="1"/>
            <p:nvPr/>
          </p:nvSpPr>
          <p:spPr>
            <a:xfrm>
              <a:off x="8672450" y="6064887"/>
              <a:ext cx="855355" cy="357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/>
                  <a:sym typeface="Arial"/>
                  <a:rtl val="0"/>
                </a:rPr>
                <a:t>1980</a:t>
              </a: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7F12BC24-5846-E268-1FDD-6C8BF351AFEB}"/>
                </a:ext>
              </a:extLst>
            </p:cNvPr>
            <p:cNvSpPr/>
            <p:nvPr/>
          </p:nvSpPr>
          <p:spPr>
            <a:xfrm>
              <a:off x="688495" y="1674118"/>
              <a:ext cx="10053508" cy="4359830"/>
            </a:xfrm>
            <a:custGeom>
              <a:avLst/>
              <a:gdLst>
                <a:gd name="csX0" fmla="*/ 6600920 w 6600919"/>
                <a:gd name="csY0" fmla="*/ 2202801 h 2879203"/>
                <a:gd name="csX1" fmla="*/ 6600920 w 6600919"/>
                <a:gd name="csY1" fmla="*/ 2879204 h 2879203"/>
                <a:gd name="csX2" fmla="*/ 0 w 6600919"/>
                <a:gd name="csY2" fmla="*/ 2879204 h 2879203"/>
                <a:gd name="csX3" fmla="*/ 0 w 6600919"/>
                <a:gd name="csY3" fmla="*/ 2879204 h 2879203"/>
                <a:gd name="csX4" fmla="*/ 0 w 6600919"/>
                <a:gd name="csY4" fmla="*/ 46390 h 2879203"/>
                <a:gd name="csX5" fmla="*/ 0 w 6600919"/>
                <a:gd name="csY5" fmla="*/ 0 h 2879203"/>
                <a:gd name="csX6" fmla="*/ 121214 w 6600919"/>
                <a:gd name="csY6" fmla="*/ 152640 h 2879203"/>
                <a:gd name="csX7" fmla="*/ 243924 w 6600919"/>
                <a:gd name="csY7" fmla="*/ 121214 h 2879203"/>
                <a:gd name="csX8" fmla="*/ 366635 w 6600919"/>
                <a:gd name="csY8" fmla="*/ 169101 h 2879203"/>
                <a:gd name="csX9" fmla="*/ 487849 w 6600919"/>
                <a:gd name="csY9" fmla="*/ 101760 h 2879203"/>
                <a:gd name="csX10" fmla="*/ 610559 w 6600919"/>
                <a:gd name="csY10" fmla="*/ 321741 h 2879203"/>
                <a:gd name="csX11" fmla="*/ 733269 w 6600919"/>
                <a:gd name="csY11" fmla="*/ 359152 h 2879203"/>
                <a:gd name="csX12" fmla="*/ 854483 w 6600919"/>
                <a:gd name="csY12" fmla="*/ 472884 h 2879203"/>
                <a:gd name="csX13" fmla="*/ 977194 w 6600919"/>
                <a:gd name="csY13" fmla="*/ 594098 h 2879203"/>
                <a:gd name="csX14" fmla="*/ 1099904 w 6600919"/>
                <a:gd name="csY14" fmla="*/ 752723 h 2879203"/>
                <a:gd name="csX15" fmla="*/ 1222614 w 6600919"/>
                <a:gd name="csY15" fmla="*/ 817072 h 2879203"/>
                <a:gd name="csX16" fmla="*/ 1343828 w 6600919"/>
                <a:gd name="csY16" fmla="*/ 823057 h 2879203"/>
                <a:gd name="csX17" fmla="*/ 1466539 w 6600919"/>
                <a:gd name="csY17" fmla="*/ 1101400 h 2879203"/>
                <a:gd name="csX18" fmla="*/ 1589249 w 6600919"/>
                <a:gd name="csY18" fmla="*/ 1300430 h 2879203"/>
                <a:gd name="csX19" fmla="*/ 1710463 w 6600919"/>
                <a:gd name="csY19" fmla="*/ 1468035 h 2879203"/>
                <a:gd name="csX20" fmla="*/ 1833173 w 6600919"/>
                <a:gd name="csY20" fmla="*/ 1376750 h 2879203"/>
                <a:gd name="csX21" fmla="*/ 1955884 w 6600919"/>
                <a:gd name="csY21" fmla="*/ 1518915 h 2879203"/>
                <a:gd name="csX22" fmla="*/ 2077098 w 6600919"/>
                <a:gd name="csY22" fmla="*/ 1517418 h 2879203"/>
                <a:gd name="csX23" fmla="*/ 2199808 w 6600919"/>
                <a:gd name="csY23" fmla="*/ 1532383 h 2879203"/>
                <a:gd name="csX24" fmla="*/ 2322518 w 6600919"/>
                <a:gd name="csY24" fmla="*/ 1644618 h 2879203"/>
                <a:gd name="csX25" fmla="*/ 2445229 w 6600919"/>
                <a:gd name="csY25" fmla="*/ 1831677 h 2879203"/>
                <a:gd name="csX26" fmla="*/ 2566443 w 6600919"/>
                <a:gd name="csY26" fmla="*/ 1969352 h 2879203"/>
                <a:gd name="csX27" fmla="*/ 2689153 w 6600919"/>
                <a:gd name="csY27" fmla="*/ 2087573 h 2879203"/>
                <a:gd name="csX28" fmla="*/ 2811863 w 6600919"/>
                <a:gd name="csY28" fmla="*/ 2129474 h 2879203"/>
                <a:gd name="csX29" fmla="*/ 2933077 w 6600919"/>
                <a:gd name="csY29" fmla="*/ 2198311 h 2879203"/>
                <a:gd name="csX30" fmla="*/ 3055787 w 6600919"/>
                <a:gd name="csY30" fmla="*/ 2017239 h 2879203"/>
                <a:gd name="csX31" fmla="*/ 3178498 w 6600919"/>
                <a:gd name="csY31" fmla="*/ 2133963 h 2879203"/>
                <a:gd name="csX32" fmla="*/ 3301208 w 6600919"/>
                <a:gd name="csY32" fmla="*/ 2114509 h 2879203"/>
                <a:gd name="csX33" fmla="*/ 3422422 w 6600919"/>
                <a:gd name="csY33" fmla="*/ 1969352 h 2879203"/>
                <a:gd name="csX34" fmla="*/ 3545133 w 6600919"/>
                <a:gd name="csY34" fmla="*/ 2009756 h 2879203"/>
                <a:gd name="csX35" fmla="*/ 3667843 w 6600919"/>
                <a:gd name="csY35" fmla="*/ 1913982 h 2879203"/>
                <a:gd name="csX36" fmla="*/ 3789057 w 6600919"/>
                <a:gd name="csY36" fmla="*/ 1902011 h 2879203"/>
                <a:gd name="csX37" fmla="*/ 3911767 w 6600919"/>
                <a:gd name="csY37" fmla="*/ 1927451 h 2879203"/>
                <a:gd name="csX38" fmla="*/ 4034477 w 6600919"/>
                <a:gd name="csY38" fmla="*/ 1987309 h 2879203"/>
                <a:gd name="csX39" fmla="*/ 4155691 w 6600919"/>
                <a:gd name="csY39" fmla="*/ 2107027 h 2879203"/>
                <a:gd name="csX40" fmla="*/ 4278402 w 6600919"/>
                <a:gd name="csY40" fmla="*/ 2077097 h 2879203"/>
                <a:gd name="csX41" fmla="*/ 4401112 w 6600919"/>
                <a:gd name="csY41" fmla="*/ 2312043 h 2879203"/>
                <a:gd name="csX42" fmla="*/ 4523823 w 6600919"/>
                <a:gd name="csY42" fmla="*/ 2207290 h 2879203"/>
                <a:gd name="csX43" fmla="*/ 4645037 w 6600919"/>
                <a:gd name="csY43" fmla="*/ 2268645 h 2879203"/>
                <a:gd name="csX44" fmla="*/ 4767747 w 6600919"/>
                <a:gd name="csY44" fmla="*/ 2355440 h 2879203"/>
                <a:gd name="csX45" fmla="*/ 4890457 w 6600919"/>
                <a:gd name="csY45" fmla="*/ 2630790 h 2879203"/>
                <a:gd name="csX46" fmla="*/ 5011671 w 6600919"/>
                <a:gd name="csY46" fmla="*/ 2442236 h 2879203"/>
                <a:gd name="csX47" fmla="*/ 5134381 w 6600919"/>
                <a:gd name="csY47" fmla="*/ 2380880 h 2879203"/>
                <a:gd name="csX48" fmla="*/ 5257092 w 6600919"/>
                <a:gd name="csY48" fmla="*/ 2481144 h 2879203"/>
                <a:gd name="csX49" fmla="*/ 5378306 w 6600919"/>
                <a:gd name="csY49" fmla="*/ 2642762 h 2879203"/>
                <a:gd name="csX50" fmla="*/ 5501016 w 6600919"/>
                <a:gd name="csY50" fmla="*/ 2576918 h 2879203"/>
                <a:gd name="csX51" fmla="*/ 5623727 w 6600919"/>
                <a:gd name="csY51" fmla="*/ 2579910 h 2879203"/>
                <a:gd name="csX52" fmla="*/ 5746437 w 6600919"/>
                <a:gd name="csY52" fmla="*/ 2551478 h 2879203"/>
                <a:gd name="csX53" fmla="*/ 5867651 w 6600919"/>
                <a:gd name="csY53" fmla="*/ 2505087 h 2879203"/>
                <a:gd name="csX54" fmla="*/ 5990361 w 6600919"/>
                <a:gd name="csY54" fmla="*/ 2581407 h 2879203"/>
                <a:gd name="csX55" fmla="*/ 6113072 w 6600919"/>
                <a:gd name="csY55" fmla="*/ 2759487 h 2879203"/>
                <a:gd name="csX56" fmla="*/ 6234285 w 6600919"/>
                <a:gd name="csY56" fmla="*/ 2310546 h 2879203"/>
                <a:gd name="csX57" fmla="*/ 6356996 w 6600919"/>
                <a:gd name="csY57" fmla="*/ 2331497 h 2879203"/>
                <a:gd name="csX58" fmla="*/ 6479706 w 6600919"/>
                <a:gd name="csY58" fmla="*/ 2332993 h 2879203"/>
                <a:gd name="csX59" fmla="*/ 6600920 w 6600919"/>
                <a:gd name="csY59" fmla="*/ 2156410 h 2879203"/>
                <a:gd name="csX0" fmla="*/ 6600920 w 6600920"/>
                <a:gd name="csY0" fmla="*/ 2202801 h 2879204"/>
                <a:gd name="csX1" fmla="*/ 6600920 w 6600920"/>
                <a:gd name="csY1" fmla="*/ 2879204 h 2879204"/>
                <a:gd name="csX2" fmla="*/ 0 w 6600920"/>
                <a:gd name="csY2" fmla="*/ 2879204 h 2879204"/>
                <a:gd name="csX3" fmla="*/ 0 w 6600920"/>
                <a:gd name="csY3" fmla="*/ 2879204 h 2879204"/>
                <a:gd name="csX4" fmla="*/ 0 w 6600920"/>
                <a:gd name="csY4" fmla="*/ 46390 h 2879204"/>
                <a:gd name="csX5" fmla="*/ 0 w 6600920"/>
                <a:gd name="csY5" fmla="*/ 0 h 2879204"/>
                <a:gd name="csX6" fmla="*/ 121214 w 6600920"/>
                <a:gd name="csY6" fmla="*/ 152640 h 2879204"/>
                <a:gd name="csX7" fmla="*/ 243924 w 6600920"/>
                <a:gd name="csY7" fmla="*/ 121214 h 2879204"/>
                <a:gd name="csX8" fmla="*/ 366635 w 6600920"/>
                <a:gd name="csY8" fmla="*/ 169101 h 2879204"/>
                <a:gd name="csX9" fmla="*/ 487849 w 6600920"/>
                <a:gd name="csY9" fmla="*/ 101760 h 2879204"/>
                <a:gd name="csX10" fmla="*/ 610559 w 6600920"/>
                <a:gd name="csY10" fmla="*/ 321741 h 2879204"/>
                <a:gd name="csX11" fmla="*/ 733269 w 6600920"/>
                <a:gd name="csY11" fmla="*/ 359152 h 2879204"/>
                <a:gd name="csX12" fmla="*/ 854483 w 6600920"/>
                <a:gd name="csY12" fmla="*/ 472884 h 2879204"/>
                <a:gd name="csX13" fmla="*/ 977194 w 6600920"/>
                <a:gd name="csY13" fmla="*/ 594098 h 2879204"/>
                <a:gd name="csX14" fmla="*/ 1099904 w 6600920"/>
                <a:gd name="csY14" fmla="*/ 752723 h 2879204"/>
                <a:gd name="csX15" fmla="*/ 1222614 w 6600920"/>
                <a:gd name="csY15" fmla="*/ 817072 h 2879204"/>
                <a:gd name="csX16" fmla="*/ 1343828 w 6600920"/>
                <a:gd name="csY16" fmla="*/ 823057 h 2879204"/>
                <a:gd name="csX17" fmla="*/ 1466539 w 6600920"/>
                <a:gd name="csY17" fmla="*/ 1101400 h 2879204"/>
                <a:gd name="csX18" fmla="*/ 1589249 w 6600920"/>
                <a:gd name="csY18" fmla="*/ 1300430 h 2879204"/>
                <a:gd name="csX19" fmla="*/ 1710463 w 6600920"/>
                <a:gd name="csY19" fmla="*/ 1468035 h 2879204"/>
                <a:gd name="csX20" fmla="*/ 1833173 w 6600920"/>
                <a:gd name="csY20" fmla="*/ 1376750 h 2879204"/>
                <a:gd name="csX21" fmla="*/ 1955884 w 6600920"/>
                <a:gd name="csY21" fmla="*/ 1518915 h 2879204"/>
                <a:gd name="csX22" fmla="*/ 2077098 w 6600920"/>
                <a:gd name="csY22" fmla="*/ 1517418 h 2879204"/>
                <a:gd name="csX23" fmla="*/ 2199808 w 6600920"/>
                <a:gd name="csY23" fmla="*/ 1532383 h 2879204"/>
                <a:gd name="csX24" fmla="*/ 2322518 w 6600920"/>
                <a:gd name="csY24" fmla="*/ 1644618 h 2879204"/>
                <a:gd name="csX25" fmla="*/ 2445229 w 6600920"/>
                <a:gd name="csY25" fmla="*/ 1831677 h 2879204"/>
                <a:gd name="csX26" fmla="*/ 2566443 w 6600920"/>
                <a:gd name="csY26" fmla="*/ 1969352 h 2879204"/>
                <a:gd name="csX27" fmla="*/ 2689153 w 6600920"/>
                <a:gd name="csY27" fmla="*/ 2087573 h 2879204"/>
                <a:gd name="csX28" fmla="*/ 2811863 w 6600920"/>
                <a:gd name="csY28" fmla="*/ 2129474 h 2879204"/>
                <a:gd name="csX29" fmla="*/ 2933077 w 6600920"/>
                <a:gd name="csY29" fmla="*/ 2198311 h 2879204"/>
                <a:gd name="csX30" fmla="*/ 3055787 w 6600920"/>
                <a:gd name="csY30" fmla="*/ 2017239 h 2879204"/>
                <a:gd name="csX31" fmla="*/ 3178498 w 6600920"/>
                <a:gd name="csY31" fmla="*/ 2133963 h 2879204"/>
                <a:gd name="csX32" fmla="*/ 3301208 w 6600920"/>
                <a:gd name="csY32" fmla="*/ 2114509 h 2879204"/>
                <a:gd name="csX33" fmla="*/ 3422422 w 6600920"/>
                <a:gd name="csY33" fmla="*/ 1969352 h 2879204"/>
                <a:gd name="csX34" fmla="*/ 3545133 w 6600920"/>
                <a:gd name="csY34" fmla="*/ 2009756 h 2879204"/>
                <a:gd name="csX35" fmla="*/ 3667843 w 6600920"/>
                <a:gd name="csY35" fmla="*/ 1913982 h 2879204"/>
                <a:gd name="csX36" fmla="*/ 3789057 w 6600920"/>
                <a:gd name="csY36" fmla="*/ 1902011 h 2879204"/>
                <a:gd name="csX37" fmla="*/ 3911767 w 6600920"/>
                <a:gd name="csY37" fmla="*/ 1927451 h 2879204"/>
                <a:gd name="csX38" fmla="*/ 4034477 w 6600920"/>
                <a:gd name="csY38" fmla="*/ 1987309 h 2879204"/>
                <a:gd name="csX39" fmla="*/ 4155691 w 6600920"/>
                <a:gd name="csY39" fmla="*/ 2107027 h 2879204"/>
                <a:gd name="csX40" fmla="*/ 4278402 w 6600920"/>
                <a:gd name="csY40" fmla="*/ 2077097 h 2879204"/>
                <a:gd name="csX41" fmla="*/ 4401112 w 6600920"/>
                <a:gd name="csY41" fmla="*/ 2312043 h 2879204"/>
                <a:gd name="csX42" fmla="*/ 4523823 w 6600920"/>
                <a:gd name="csY42" fmla="*/ 2207290 h 2879204"/>
                <a:gd name="csX43" fmla="*/ 4645037 w 6600920"/>
                <a:gd name="csY43" fmla="*/ 2268645 h 2879204"/>
                <a:gd name="csX44" fmla="*/ 4767747 w 6600920"/>
                <a:gd name="csY44" fmla="*/ 2355440 h 2879204"/>
                <a:gd name="csX45" fmla="*/ 4890457 w 6600920"/>
                <a:gd name="csY45" fmla="*/ 2630790 h 2879204"/>
                <a:gd name="csX46" fmla="*/ 5011671 w 6600920"/>
                <a:gd name="csY46" fmla="*/ 2442236 h 2879204"/>
                <a:gd name="csX47" fmla="*/ 5134381 w 6600920"/>
                <a:gd name="csY47" fmla="*/ 2380880 h 2879204"/>
                <a:gd name="csX48" fmla="*/ 5257092 w 6600920"/>
                <a:gd name="csY48" fmla="*/ 2481144 h 2879204"/>
                <a:gd name="csX49" fmla="*/ 5378306 w 6600920"/>
                <a:gd name="csY49" fmla="*/ 2642762 h 2879204"/>
                <a:gd name="csX50" fmla="*/ 5501016 w 6600920"/>
                <a:gd name="csY50" fmla="*/ 2576918 h 2879204"/>
                <a:gd name="csX51" fmla="*/ 5623727 w 6600920"/>
                <a:gd name="csY51" fmla="*/ 2579910 h 2879204"/>
                <a:gd name="csX52" fmla="*/ 5746437 w 6600920"/>
                <a:gd name="csY52" fmla="*/ 2551478 h 2879204"/>
                <a:gd name="csX53" fmla="*/ 5867651 w 6600920"/>
                <a:gd name="csY53" fmla="*/ 2505087 h 2879204"/>
                <a:gd name="csX54" fmla="*/ 5990361 w 6600920"/>
                <a:gd name="csY54" fmla="*/ 2581407 h 2879204"/>
                <a:gd name="csX55" fmla="*/ 6113072 w 6600920"/>
                <a:gd name="csY55" fmla="*/ 2759487 h 2879204"/>
                <a:gd name="csX56" fmla="*/ 6234285 w 6600920"/>
                <a:gd name="csY56" fmla="*/ 2310546 h 2879204"/>
                <a:gd name="csX57" fmla="*/ 6356996 w 6600920"/>
                <a:gd name="csY57" fmla="*/ 2331497 h 2879204"/>
                <a:gd name="csX58" fmla="*/ 6479706 w 6600920"/>
                <a:gd name="csY58" fmla="*/ 2332993 h 2879204"/>
                <a:gd name="csX0" fmla="*/ 6600920 w 6600920"/>
                <a:gd name="csY0" fmla="*/ 2879204 h 2879204"/>
                <a:gd name="csX1" fmla="*/ 0 w 6600920"/>
                <a:gd name="csY1" fmla="*/ 2879204 h 2879204"/>
                <a:gd name="csX2" fmla="*/ 0 w 6600920"/>
                <a:gd name="csY2" fmla="*/ 2879204 h 2879204"/>
                <a:gd name="csX3" fmla="*/ 0 w 6600920"/>
                <a:gd name="csY3" fmla="*/ 46390 h 2879204"/>
                <a:gd name="csX4" fmla="*/ 0 w 6600920"/>
                <a:gd name="csY4" fmla="*/ 0 h 2879204"/>
                <a:gd name="csX5" fmla="*/ 121214 w 6600920"/>
                <a:gd name="csY5" fmla="*/ 152640 h 2879204"/>
                <a:gd name="csX6" fmla="*/ 243924 w 6600920"/>
                <a:gd name="csY6" fmla="*/ 121214 h 2879204"/>
                <a:gd name="csX7" fmla="*/ 366635 w 6600920"/>
                <a:gd name="csY7" fmla="*/ 169101 h 2879204"/>
                <a:gd name="csX8" fmla="*/ 487849 w 6600920"/>
                <a:gd name="csY8" fmla="*/ 101760 h 2879204"/>
                <a:gd name="csX9" fmla="*/ 610559 w 6600920"/>
                <a:gd name="csY9" fmla="*/ 321741 h 2879204"/>
                <a:gd name="csX10" fmla="*/ 733269 w 6600920"/>
                <a:gd name="csY10" fmla="*/ 359152 h 2879204"/>
                <a:gd name="csX11" fmla="*/ 854483 w 6600920"/>
                <a:gd name="csY11" fmla="*/ 472884 h 2879204"/>
                <a:gd name="csX12" fmla="*/ 977194 w 6600920"/>
                <a:gd name="csY12" fmla="*/ 594098 h 2879204"/>
                <a:gd name="csX13" fmla="*/ 1099904 w 6600920"/>
                <a:gd name="csY13" fmla="*/ 752723 h 2879204"/>
                <a:gd name="csX14" fmla="*/ 1222614 w 6600920"/>
                <a:gd name="csY14" fmla="*/ 817072 h 2879204"/>
                <a:gd name="csX15" fmla="*/ 1343828 w 6600920"/>
                <a:gd name="csY15" fmla="*/ 823057 h 2879204"/>
                <a:gd name="csX16" fmla="*/ 1466539 w 6600920"/>
                <a:gd name="csY16" fmla="*/ 1101400 h 2879204"/>
                <a:gd name="csX17" fmla="*/ 1589249 w 6600920"/>
                <a:gd name="csY17" fmla="*/ 1300430 h 2879204"/>
                <a:gd name="csX18" fmla="*/ 1710463 w 6600920"/>
                <a:gd name="csY18" fmla="*/ 1468035 h 2879204"/>
                <a:gd name="csX19" fmla="*/ 1833173 w 6600920"/>
                <a:gd name="csY19" fmla="*/ 1376750 h 2879204"/>
                <a:gd name="csX20" fmla="*/ 1955884 w 6600920"/>
                <a:gd name="csY20" fmla="*/ 1518915 h 2879204"/>
                <a:gd name="csX21" fmla="*/ 2077098 w 6600920"/>
                <a:gd name="csY21" fmla="*/ 1517418 h 2879204"/>
                <a:gd name="csX22" fmla="*/ 2199808 w 6600920"/>
                <a:gd name="csY22" fmla="*/ 1532383 h 2879204"/>
                <a:gd name="csX23" fmla="*/ 2322518 w 6600920"/>
                <a:gd name="csY23" fmla="*/ 1644618 h 2879204"/>
                <a:gd name="csX24" fmla="*/ 2445229 w 6600920"/>
                <a:gd name="csY24" fmla="*/ 1831677 h 2879204"/>
                <a:gd name="csX25" fmla="*/ 2566443 w 6600920"/>
                <a:gd name="csY25" fmla="*/ 1969352 h 2879204"/>
                <a:gd name="csX26" fmla="*/ 2689153 w 6600920"/>
                <a:gd name="csY26" fmla="*/ 2087573 h 2879204"/>
                <a:gd name="csX27" fmla="*/ 2811863 w 6600920"/>
                <a:gd name="csY27" fmla="*/ 2129474 h 2879204"/>
                <a:gd name="csX28" fmla="*/ 2933077 w 6600920"/>
                <a:gd name="csY28" fmla="*/ 2198311 h 2879204"/>
                <a:gd name="csX29" fmla="*/ 3055787 w 6600920"/>
                <a:gd name="csY29" fmla="*/ 2017239 h 2879204"/>
                <a:gd name="csX30" fmla="*/ 3178498 w 6600920"/>
                <a:gd name="csY30" fmla="*/ 2133963 h 2879204"/>
                <a:gd name="csX31" fmla="*/ 3301208 w 6600920"/>
                <a:gd name="csY31" fmla="*/ 2114509 h 2879204"/>
                <a:gd name="csX32" fmla="*/ 3422422 w 6600920"/>
                <a:gd name="csY32" fmla="*/ 1969352 h 2879204"/>
                <a:gd name="csX33" fmla="*/ 3545133 w 6600920"/>
                <a:gd name="csY33" fmla="*/ 2009756 h 2879204"/>
                <a:gd name="csX34" fmla="*/ 3667843 w 6600920"/>
                <a:gd name="csY34" fmla="*/ 1913982 h 2879204"/>
                <a:gd name="csX35" fmla="*/ 3789057 w 6600920"/>
                <a:gd name="csY35" fmla="*/ 1902011 h 2879204"/>
                <a:gd name="csX36" fmla="*/ 3911767 w 6600920"/>
                <a:gd name="csY36" fmla="*/ 1927451 h 2879204"/>
                <a:gd name="csX37" fmla="*/ 4034477 w 6600920"/>
                <a:gd name="csY37" fmla="*/ 1987309 h 2879204"/>
                <a:gd name="csX38" fmla="*/ 4155691 w 6600920"/>
                <a:gd name="csY38" fmla="*/ 2107027 h 2879204"/>
                <a:gd name="csX39" fmla="*/ 4278402 w 6600920"/>
                <a:gd name="csY39" fmla="*/ 2077097 h 2879204"/>
                <a:gd name="csX40" fmla="*/ 4401112 w 6600920"/>
                <a:gd name="csY40" fmla="*/ 2312043 h 2879204"/>
                <a:gd name="csX41" fmla="*/ 4523823 w 6600920"/>
                <a:gd name="csY41" fmla="*/ 2207290 h 2879204"/>
                <a:gd name="csX42" fmla="*/ 4645037 w 6600920"/>
                <a:gd name="csY42" fmla="*/ 2268645 h 2879204"/>
                <a:gd name="csX43" fmla="*/ 4767747 w 6600920"/>
                <a:gd name="csY43" fmla="*/ 2355440 h 2879204"/>
                <a:gd name="csX44" fmla="*/ 4890457 w 6600920"/>
                <a:gd name="csY44" fmla="*/ 2630790 h 2879204"/>
                <a:gd name="csX45" fmla="*/ 5011671 w 6600920"/>
                <a:gd name="csY45" fmla="*/ 2442236 h 2879204"/>
                <a:gd name="csX46" fmla="*/ 5134381 w 6600920"/>
                <a:gd name="csY46" fmla="*/ 2380880 h 2879204"/>
                <a:gd name="csX47" fmla="*/ 5257092 w 6600920"/>
                <a:gd name="csY47" fmla="*/ 2481144 h 2879204"/>
                <a:gd name="csX48" fmla="*/ 5378306 w 6600920"/>
                <a:gd name="csY48" fmla="*/ 2642762 h 2879204"/>
                <a:gd name="csX49" fmla="*/ 5501016 w 6600920"/>
                <a:gd name="csY49" fmla="*/ 2576918 h 2879204"/>
                <a:gd name="csX50" fmla="*/ 5623727 w 6600920"/>
                <a:gd name="csY50" fmla="*/ 2579910 h 2879204"/>
                <a:gd name="csX51" fmla="*/ 5746437 w 6600920"/>
                <a:gd name="csY51" fmla="*/ 2551478 h 2879204"/>
                <a:gd name="csX52" fmla="*/ 5867651 w 6600920"/>
                <a:gd name="csY52" fmla="*/ 2505087 h 2879204"/>
                <a:gd name="csX53" fmla="*/ 5990361 w 6600920"/>
                <a:gd name="csY53" fmla="*/ 2581407 h 2879204"/>
                <a:gd name="csX54" fmla="*/ 6113072 w 6600920"/>
                <a:gd name="csY54" fmla="*/ 2759487 h 2879204"/>
                <a:gd name="csX55" fmla="*/ 6234285 w 6600920"/>
                <a:gd name="csY55" fmla="*/ 2310546 h 2879204"/>
                <a:gd name="csX56" fmla="*/ 6356996 w 6600920"/>
                <a:gd name="csY56" fmla="*/ 2331497 h 2879204"/>
                <a:gd name="csX57" fmla="*/ 6479706 w 6600920"/>
                <a:gd name="csY57" fmla="*/ 2332993 h 2879204"/>
                <a:gd name="csX0" fmla="*/ 6600920 w 6600920"/>
                <a:gd name="csY0" fmla="*/ 2879204 h 2879204"/>
                <a:gd name="csX1" fmla="*/ 0 w 6600920"/>
                <a:gd name="csY1" fmla="*/ 2879204 h 2879204"/>
                <a:gd name="csX2" fmla="*/ 0 w 6600920"/>
                <a:gd name="csY2" fmla="*/ 2879204 h 2879204"/>
                <a:gd name="csX3" fmla="*/ 0 w 6600920"/>
                <a:gd name="csY3" fmla="*/ 46390 h 2879204"/>
                <a:gd name="csX4" fmla="*/ 0 w 6600920"/>
                <a:gd name="csY4" fmla="*/ 0 h 2879204"/>
                <a:gd name="csX5" fmla="*/ 121214 w 6600920"/>
                <a:gd name="csY5" fmla="*/ 152640 h 2879204"/>
                <a:gd name="csX6" fmla="*/ 243924 w 6600920"/>
                <a:gd name="csY6" fmla="*/ 121214 h 2879204"/>
                <a:gd name="csX7" fmla="*/ 366635 w 6600920"/>
                <a:gd name="csY7" fmla="*/ 169101 h 2879204"/>
                <a:gd name="csX8" fmla="*/ 487849 w 6600920"/>
                <a:gd name="csY8" fmla="*/ 101760 h 2879204"/>
                <a:gd name="csX9" fmla="*/ 610559 w 6600920"/>
                <a:gd name="csY9" fmla="*/ 321741 h 2879204"/>
                <a:gd name="csX10" fmla="*/ 733269 w 6600920"/>
                <a:gd name="csY10" fmla="*/ 359152 h 2879204"/>
                <a:gd name="csX11" fmla="*/ 854483 w 6600920"/>
                <a:gd name="csY11" fmla="*/ 472884 h 2879204"/>
                <a:gd name="csX12" fmla="*/ 977194 w 6600920"/>
                <a:gd name="csY12" fmla="*/ 594098 h 2879204"/>
                <a:gd name="csX13" fmla="*/ 1099904 w 6600920"/>
                <a:gd name="csY13" fmla="*/ 752723 h 2879204"/>
                <a:gd name="csX14" fmla="*/ 1222614 w 6600920"/>
                <a:gd name="csY14" fmla="*/ 817072 h 2879204"/>
                <a:gd name="csX15" fmla="*/ 1343828 w 6600920"/>
                <a:gd name="csY15" fmla="*/ 823057 h 2879204"/>
                <a:gd name="csX16" fmla="*/ 1466539 w 6600920"/>
                <a:gd name="csY16" fmla="*/ 1101400 h 2879204"/>
                <a:gd name="csX17" fmla="*/ 1589249 w 6600920"/>
                <a:gd name="csY17" fmla="*/ 1300430 h 2879204"/>
                <a:gd name="csX18" fmla="*/ 1710463 w 6600920"/>
                <a:gd name="csY18" fmla="*/ 1468035 h 2879204"/>
                <a:gd name="csX19" fmla="*/ 1833173 w 6600920"/>
                <a:gd name="csY19" fmla="*/ 1376750 h 2879204"/>
                <a:gd name="csX20" fmla="*/ 1955884 w 6600920"/>
                <a:gd name="csY20" fmla="*/ 1518915 h 2879204"/>
                <a:gd name="csX21" fmla="*/ 2077098 w 6600920"/>
                <a:gd name="csY21" fmla="*/ 1517418 h 2879204"/>
                <a:gd name="csX22" fmla="*/ 2199808 w 6600920"/>
                <a:gd name="csY22" fmla="*/ 1532383 h 2879204"/>
                <a:gd name="csX23" fmla="*/ 2322518 w 6600920"/>
                <a:gd name="csY23" fmla="*/ 1644618 h 2879204"/>
                <a:gd name="csX24" fmla="*/ 2445229 w 6600920"/>
                <a:gd name="csY24" fmla="*/ 1831677 h 2879204"/>
                <a:gd name="csX25" fmla="*/ 2566443 w 6600920"/>
                <a:gd name="csY25" fmla="*/ 1969352 h 2879204"/>
                <a:gd name="csX26" fmla="*/ 2689153 w 6600920"/>
                <a:gd name="csY26" fmla="*/ 2087573 h 2879204"/>
                <a:gd name="csX27" fmla="*/ 2811863 w 6600920"/>
                <a:gd name="csY27" fmla="*/ 2129474 h 2879204"/>
                <a:gd name="csX28" fmla="*/ 2933077 w 6600920"/>
                <a:gd name="csY28" fmla="*/ 2198311 h 2879204"/>
                <a:gd name="csX29" fmla="*/ 3055787 w 6600920"/>
                <a:gd name="csY29" fmla="*/ 2017239 h 2879204"/>
                <a:gd name="csX30" fmla="*/ 3178498 w 6600920"/>
                <a:gd name="csY30" fmla="*/ 2133963 h 2879204"/>
                <a:gd name="csX31" fmla="*/ 3301208 w 6600920"/>
                <a:gd name="csY31" fmla="*/ 2114509 h 2879204"/>
                <a:gd name="csX32" fmla="*/ 3422422 w 6600920"/>
                <a:gd name="csY32" fmla="*/ 1969352 h 2879204"/>
                <a:gd name="csX33" fmla="*/ 3545133 w 6600920"/>
                <a:gd name="csY33" fmla="*/ 2009756 h 2879204"/>
                <a:gd name="csX34" fmla="*/ 3667843 w 6600920"/>
                <a:gd name="csY34" fmla="*/ 1913982 h 2879204"/>
                <a:gd name="csX35" fmla="*/ 3789057 w 6600920"/>
                <a:gd name="csY35" fmla="*/ 1902011 h 2879204"/>
                <a:gd name="csX36" fmla="*/ 3911767 w 6600920"/>
                <a:gd name="csY36" fmla="*/ 1927451 h 2879204"/>
                <a:gd name="csX37" fmla="*/ 4034477 w 6600920"/>
                <a:gd name="csY37" fmla="*/ 1987309 h 2879204"/>
                <a:gd name="csX38" fmla="*/ 4155691 w 6600920"/>
                <a:gd name="csY38" fmla="*/ 2107027 h 2879204"/>
                <a:gd name="csX39" fmla="*/ 4278402 w 6600920"/>
                <a:gd name="csY39" fmla="*/ 2077097 h 2879204"/>
                <a:gd name="csX40" fmla="*/ 4401112 w 6600920"/>
                <a:gd name="csY40" fmla="*/ 2312043 h 2879204"/>
                <a:gd name="csX41" fmla="*/ 4523823 w 6600920"/>
                <a:gd name="csY41" fmla="*/ 2207290 h 2879204"/>
                <a:gd name="csX42" fmla="*/ 4645037 w 6600920"/>
                <a:gd name="csY42" fmla="*/ 2268645 h 2879204"/>
                <a:gd name="csX43" fmla="*/ 4767747 w 6600920"/>
                <a:gd name="csY43" fmla="*/ 2355440 h 2879204"/>
                <a:gd name="csX44" fmla="*/ 4890457 w 6600920"/>
                <a:gd name="csY44" fmla="*/ 2630790 h 2879204"/>
                <a:gd name="csX45" fmla="*/ 5011671 w 6600920"/>
                <a:gd name="csY45" fmla="*/ 2442236 h 2879204"/>
                <a:gd name="csX46" fmla="*/ 5134381 w 6600920"/>
                <a:gd name="csY46" fmla="*/ 2380880 h 2879204"/>
                <a:gd name="csX47" fmla="*/ 5257092 w 6600920"/>
                <a:gd name="csY47" fmla="*/ 2481144 h 2879204"/>
                <a:gd name="csX48" fmla="*/ 5378306 w 6600920"/>
                <a:gd name="csY48" fmla="*/ 2642762 h 2879204"/>
                <a:gd name="csX49" fmla="*/ 5501016 w 6600920"/>
                <a:gd name="csY49" fmla="*/ 2576918 h 2879204"/>
                <a:gd name="csX50" fmla="*/ 5623727 w 6600920"/>
                <a:gd name="csY50" fmla="*/ 2579910 h 2879204"/>
                <a:gd name="csX51" fmla="*/ 5746437 w 6600920"/>
                <a:gd name="csY51" fmla="*/ 2551478 h 2879204"/>
                <a:gd name="csX52" fmla="*/ 5867651 w 6600920"/>
                <a:gd name="csY52" fmla="*/ 2505087 h 2879204"/>
                <a:gd name="csX53" fmla="*/ 5990361 w 6600920"/>
                <a:gd name="csY53" fmla="*/ 2581407 h 2879204"/>
                <a:gd name="csX54" fmla="*/ 6113072 w 6600920"/>
                <a:gd name="csY54" fmla="*/ 2759487 h 2879204"/>
                <a:gd name="csX55" fmla="*/ 6234285 w 6600920"/>
                <a:gd name="csY55" fmla="*/ 2310546 h 2879204"/>
                <a:gd name="csX56" fmla="*/ 6356996 w 6600920"/>
                <a:gd name="csY56" fmla="*/ 2331497 h 2879204"/>
                <a:gd name="csX0" fmla="*/ 6600920 w 6600920"/>
                <a:gd name="csY0" fmla="*/ 2879204 h 2879204"/>
                <a:gd name="csX1" fmla="*/ 0 w 6600920"/>
                <a:gd name="csY1" fmla="*/ 2879204 h 2879204"/>
                <a:gd name="csX2" fmla="*/ 0 w 6600920"/>
                <a:gd name="csY2" fmla="*/ 2879204 h 2879204"/>
                <a:gd name="csX3" fmla="*/ 0 w 6600920"/>
                <a:gd name="csY3" fmla="*/ 46390 h 2879204"/>
                <a:gd name="csX4" fmla="*/ 0 w 6600920"/>
                <a:gd name="csY4" fmla="*/ 0 h 2879204"/>
                <a:gd name="csX5" fmla="*/ 121214 w 6600920"/>
                <a:gd name="csY5" fmla="*/ 152640 h 2879204"/>
                <a:gd name="csX6" fmla="*/ 243924 w 6600920"/>
                <a:gd name="csY6" fmla="*/ 121214 h 2879204"/>
                <a:gd name="csX7" fmla="*/ 366635 w 6600920"/>
                <a:gd name="csY7" fmla="*/ 169101 h 2879204"/>
                <a:gd name="csX8" fmla="*/ 487849 w 6600920"/>
                <a:gd name="csY8" fmla="*/ 101760 h 2879204"/>
                <a:gd name="csX9" fmla="*/ 610559 w 6600920"/>
                <a:gd name="csY9" fmla="*/ 321741 h 2879204"/>
                <a:gd name="csX10" fmla="*/ 733269 w 6600920"/>
                <a:gd name="csY10" fmla="*/ 359152 h 2879204"/>
                <a:gd name="csX11" fmla="*/ 854483 w 6600920"/>
                <a:gd name="csY11" fmla="*/ 472884 h 2879204"/>
                <a:gd name="csX12" fmla="*/ 977194 w 6600920"/>
                <a:gd name="csY12" fmla="*/ 594098 h 2879204"/>
                <a:gd name="csX13" fmla="*/ 1099904 w 6600920"/>
                <a:gd name="csY13" fmla="*/ 752723 h 2879204"/>
                <a:gd name="csX14" fmla="*/ 1222614 w 6600920"/>
                <a:gd name="csY14" fmla="*/ 817072 h 2879204"/>
                <a:gd name="csX15" fmla="*/ 1343828 w 6600920"/>
                <a:gd name="csY15" fmla="*/ 823057 h 2879204"/>
                <a:gd name="csX16" fmla="*/ 1466539 w 6600920"/>
                <a:gd name="csY16" fmla="*/ 1101400 h 2879204"/>
                <a:gd name="csX17" fmla="*/ 1589249 w 6600920"/>
                <a:gd name="csY17" fmla="*/ 1300430 h 2879204"/>
                <a:gd name="csX18" fmla="*/ 1710463 w 6600920"/>
                <a:gd name="csY18" fmla="*/ 1468035 h 2879204"/>
                <a:gd name="csX19" fmla="*/ 1833173 w 6600920"/>
                <a:gd name="csY19" fmla="*/ 1376750 h 2879204"/>
                <a:gd name="csX20" fmla="*/ 1955884 w 6600920"/>
                <a:gd name="csY20" fmla="*/ 1518915 h 2879204"/>
                <a:gd name="csX21" fmla="*/ 2077098 w 6600920"/>
                <a:gd name="csY21" fmla="*/ 1517418 h 2879204"/>
                <a:gd name="csX22" fmla="*/ 2199808 w 6600920"/>
                <a:gd name="csY22" fmla="*/ 1532383 h 2879204"/>
                <a:gd name="csX23" fmla="*/ 2322518 w 6600920"/>
                <a:gd name="csY23" fmla="*/ 1644618 h 2879204"/>
                <a:gd name="csX24" fmla="*/ 2445229 w 6600920"/>
                <a:gd name="csY24" fmla="*/ 1831677 h 2879204"/>
                <a:gd name="csX25" fmla="*/ 2566443 w 6600920"/>
                <a:gd name="csY25" fmla="*/ 1969352 h 2879204"/>
                <a:gd name="csX26" fmla="*/ 2689153 w 6600920"/>
                <a:gd name="csY26" fmla="*/ 2087573 h 2879204"/>
                <a:gd name="csX27" fmla="*/ 2811863 w 6600920"/>
                <a:gd name="csY27" fmla="*/ 2129474 h 2879204"/>
                <a:gd name="csX28" fmla="*/ 2933077 w 6600920"/>
                <a:gd name="csY28" fmla="*/ 2198311 h 2879204"/>
                <a:gd name="csX29" fmla="*/ 3055787 w 6600920"/>
                <a:gd name="csY29" fmla="*/ 2017239 h 2879204"/>
                <a:gd name="csX30" fmla="*/ 3178498 w 6600920"/>
                <a:gd name="csY30" fmla="*/ 2133963 h 2879204"/>
                <a:gd name="csX31" fmla="*/ 3301208 w 6600920"/>
                <a:gd name="csY31" fmla="*/ 2114509 h 2879204"/>
                <a:gd name="csX32" fmla="*/ 3422422 w 6600920"/>
                <a:gd name="csY32" fmla="*/ 1969352 h 2879204"/>
                <a:gd name="csX33" fmla="*/ 3545133 w 6600920"/>
                <a:gd name="csY33" fmla="*/ 2009756 h 2879204"/>
                <a:gd name="csX34" fmla="*/ 3667843 w 6600920"/>
                <a:gd name="csY34" fmla="*/ 1913982 h 2879204"/>
                <a:gd name="csX35" fmla="*/ 3789057 w 6600920"/>
                <a:gd name="csY35" fmla="*/ 1902011 h 2879204"/>
                <a:gd name="csX36" fmla="*/ 3911767 w 6600920"/>
                <a:gd name="csY36" fmla="*/ 1927451 h 2879204"/>
                <a:gd name="csX37" fmla="*/ 4034477 w 6600920"/>
                <a:gd name="csY37" fmla="*/ 1987309 h 2879204"/>
                <a:gd name="csX38" fmla="*/ 4155691 w 6600920"/>
                <a:gd name="csY38" fmla="*/ 2107027 h 2879204"/>
                <a:gd name="csX39" fmla="*/ 4278402 w 6600920"/>
                <a:gd name="csY39" fmla="*/ 2077097 h 2879204"/>
                <a:gd name="csX40" fmla="*/ 4401112 w 6600920"/>
                <a:gd name="csY40" fmla="*/ 2312043 h 2879204"/>
                <a:gd name="csX41" fmla="*/ 4523823 w 6600920"/>
                <a:gd name="csY41" fmla="*/ 2207290 h 2879204"/>
                <a:gd name="csX42" fmla="*/ 4645037 w 6600920"/>
                <a:gd name="csY42" fmla="*/ 2268645 h 2879204"/>
                <a:gd name="csX43" fmla="*/ 4767747 w 6600920"/>
                <a:gd name="csY43" fmla="*/ 2355440 h 2879204"/>
                <a:gd name="csX44" fmla="*/ 4890457 w 6600920"/>
                <a:gd name="csY44" fmla="*/ 2630790 h 2879204"/>
                <a:gd name="csX45" fmla="*/ 5011671 w 6600920"/>
                <a:gd name="csY45" fmla="*/ 2442236 h 2879204"/>
                <a:gd name="csX46" fmla="*/ 5134381 w 6600920"/>
                <a:gd name="csY46" fmla="*/ 2380880 h 2879204"/>
                <a:gd name="csX47" fmla="*/ 5257092 w 6600920"/>
                <a:gd name="csY47" fmla="*/ 2481144 h 2879204"/>
                <a:gd name="csX48" fmla="*/ 5378306 w 6600920"/>
                <a:gd name="csY48" fmla="*/ 2642762 h 2879204"/>
                <a:gd name="csX49" fmla="*/ 5501016 w 6600920"/>
                <a:gd name="csY49" fmla="*/ 2576918 h 2879204"/>
                <a:gd name="csX50" fmla="*/ 5623727 w 6600920"/>
                <a:gd name="csY50" fmla="*/ 2579910 h 2879204"/>
                <a:gd name="csX51" fmla="*/ 5746437 w 6600920"/>
                <a:gd name="csY51" fmla="*/ 2551478 h 2879204"/>
                <a:gd name="csX52" fmla="*/ 5867651 w 6600920"/>
                <a:gd name="csY52" fmla="*/ 2505087 h 2879204"/>
                <a:gd name="csX53" fmla="*/ 5990361 w 6600920"/>
                <a:gd name="csY53" fmla="*/ 2581407 h 2879204"/>
                <a:gd name="csX54" fmla="*/ 6113072 w 6600920"/>
                <a:gd name="csY54" fmla="*/ 2759487 h 2879204"/>
                <a:gd name="csX55" fmla="*/ 6234285 w 6600920"/>
                <a:gd name="csY55" fmla="*/ 2310546 h 2879204"/>
                <a:gd name="csX0" fmla="*/ 6600920 w 6600920"/>
                <a:gd name="csY0" fmla="*/ 2879204 h 2879204"/>
                <a:gd name="csX1" fmla="*/ 0 w 6600920"/>
                <a:gd name="csY1" fmla="*/ 2879204 h 2879204"/>
                <a:gd name="csX2" fmla="*/ 0 w 6600920"/>
                <a:gd name="csY2" fmla="*/ 2879204 h 2879204"/>
                <a:gd name="csX3" fmla="*/ 0 w 6600920"/>
                <a:gd name="csY3" fmla="*/ 46390 h 2879204"/>
                <a:gd name="csX4" fmla="*/ 0 w 6600920"/>
                <a:gd name="csY4" fmla="*/ 0 h 2879204"/>
                <a:gd name="csX5" fmla="*/ 121214 w 6600920"/>
                <a:gd name="csY5" fmla="*/ 152640 h 2879204"/>
                <a:gd name="csX6" fmla="*/ 243924 w 6600920"/>
                <a:gd name="csY6" fmla="*/ 121214 h 2879204"/>
                <a:gd name="csX7" fmla="*/ 366635 w 6600920"/>
                <a:gd name="csY7" fmla="*/ 169101 h 2879204"/>
                <a:gd name="csX8" fmla="*/ 487849 w 6600920"/>
                <a:gd name="csY8" fmla="*/ 101760 h 2879204"/>
                <a:gd name="csX9" fmla="*/ 610559 w 6600920"/>
                <a:gd name="csY9" fmla="*/ 321741 h 2879204"/>
                <a:gd name="csX10" fmla="*/ 733269 w 6600920"/>
                <a:gd name="csY10" fmla="*/ 359152 h 2879204"/>
                <a:gd name="csX11" fmla="*/ 854483 w 6600920"/>
                <a:gd name="csY11" fmla="*/ 472884 h 2879204"/>
                <a:gd name="csX12" fmla="*/ 977194 w 6600920"/>
                <a:gd name="csY12" fmla="*/ 594098 h 2879204"/>
                <a:gd name="csX13" fmla="*/ 1099904 w 6600920"/>
                <a:gd name="csY13" fmla="*/ 752723 h 2879204"/>
                <a:gd name="csX14" fmla="*/ 1222614 w 6600920"/>
                <a:gd name="csY14" fmla="*/ 817072 h 2879204"/>
                <a:gd name="csX15" fmla="*/ 1343828 w 6600920"/>
                <a:gd name="csY15" fmla="*/ 823057 h 2879204"/>
                <a:gd name="csX16" fmla="*/ 1466539 w 6600920"/>
                <a:gd name="csY16" fmla="*/ 1101400 h 2879204"/>
                <a:gd name="csX17" fmla="*/ 1589249 w 6600920"/>
                <a:gd name="csY17" fmla="*/ 1300430 h 2879204"/>
                <a:gd name="csX18" fmla="*/ 1710463 w 6600920"/>
                <a:gd name="csY18" fmla="*/ 1468035 h 2879204"/>
                <a:gd name="csX19" fmla="*/ 1833173 w 6600920"/>
                <a:gd name="csY19" fmla="*/ 1376750 h 2879204"/>
                <a:gd name="csX20" fmla="*/ 1955884 w 6600920"/>
                <a:gd name="csY20" fmla="*/ 1518915 h 2879204"/>
                <a:gd name="csX21" fmla="*/ 2077098 w 6600920"/>
                <a:gd name="csY21" fmla="*/ 1517418 h 2879204"/>
                <a:gd name="csX22" fmla="*/ 2199808 w 6600920"/>
                <a:gd name="csY22" fmla="*/ 1532383 h 2879204"/>
                <a:gd name="csX23" fmla="*/ 2322518 w 6600920"/>
                <a:gd name="csY23" fmla="*/ 1644618 h 2879204"/>
                <a:gd name="csX24" fmla="*/ 2445229 w 6600920"/>
                <a:gd name="csY24" fmla="*/ 1831677 h 2879204"/>
                <a:gd name="csX25" fmla="*/ 2566443 w 6600920"/>
                <a:gd name="csY25" fmla="*/ 1969352 h 2879204"/>
                <a:gd name="csX26" fmla="*/ 2689153 w 6600920"/>
                <a:gd name="csY26" fmla="*/ 2087573 h 2879204"/>
                <a:gd name="csX27" fmla="*/ 2811863 w 6600920"/>
                <a:gd name="csY27" fmla="*/ 2129474 h 2879204"/>
                <a:gd name="csX28" fmla="*/ 2933077 w 6600920"/>
                <a:gd name="csY28" fmla="*/ 2198311 h 2879204"/>
                <a:gd name="csX29" fmla="*/ 3055787 w 6600920"/>
                <a:gd name="csY29" fmla="*/ 2017239 h 2879204"/>
                <a:gd name="csX30" fmla="*/ 3178498 w 6600920"/>
                <a:gd name="csY30" fmla="*/ 2133963 h 2879204"/>
                <a:gd name="csX31" fmla="*/ 3301208 w 6600920"/>
                <a:gd name="csY31" fmla="*/ 2114509 h 2879204"/>
                <a:gd name="csX32" fmla="*/ 3422422 w 6600920"/>
                <a:gd name="csY32" fmla="*/ 1969352 h 2879204"/>
                <a:gd name="csX33" fmla="*/ 3545133 w 6600920"/>
                <a:gd name="csY33" fmla="*/ 2009756 h 2879204"/>
                <a:gd name="csX34" fmla="*/ 3667843 w 6600920"/>
                <a:gd name="csY34" fmla="*/ 1913982 h 2879204"/>
                <a:gd name="csX35" fmla="*/ 3789057 w 6600920"/>
                <a:gd name="csY35" fmla="*/ 1902011 h 2879204"/>
                <a:gd name="csX36" fmla="*/ 3911767 w 6600920"/>
                <a:gd name="csY36" fmla="*/ 1927451 h 2879204"/>
                <a:gd name="csX37" fmla="*/ 4034477 w 6600920"/>
                <a:gd name="csY37" fmla="*/ 1987309 h 2879204"/>
                <a:gd name="csX38" fmla="*/ 4155691 w 6600920"/>
                <a:gd name="csY38" fmla="*/ 2107027 h 2879204"/>
                <a:gd name="csX39" fmla="*/ 4278402 w 6600920"/>
                <a:gd name="csY39" fmla="*/ 2077097 h 2879204"/>
                <a:gd name="csX40" fmla="*/ 4401112 w 6600920"/>
                <a:gd name="csY40" fmla="*/ 2312043 h 2879204"/>
                <a:gd name="csX41" fmla="*/ 4523823 w 6600920"/>
                <a:gd name="csY41" fmla="*/ 2207290 h 2879204"/>
                <a:gd name="csX42" fmla="*/ 4645037 w 6600920"/>
                <a:gd name="csY42" fmla="*/ 2268645 h 2879204"/>
                <a:gd name="csX43" fmla="*/ 4767747 w 6600920"/>
                <a:gd name="csY43" fmla="*/ 2355440 h 2879204"/>
                <a:gd name="csX44" fmla="*/ 4890457 w 6600920"/>
                <a:gd name="csY44" fmla="*/ 2630790 h 2879204"/>
                <a:gd name="csX45" fmla="*/ 5011671 w 6600920"/>
                <a:gd name="csY45" fmla="*/ 2442236 h 2879204"/>
                <a:gd name="csX46" fmla="*/ 5134381 w 6600920"/>
                <a:gd name="csY46" fmla="*/ 2380880 h 2879204"/>
                <a:gd name="csX47" fmla="*/ 5257092 w 6600920"/>
                <a:gd name="csY47" fmla="*/ 2481144 h 2879204"/>
                <a:gd name="csX48" fmla="*/ 5378306 w 6600920"/>
                <a:gd name="csY48" fmla="*/ 2642762 h 2879204"/>
                <a:gd name="csX49" fmla="*/ 5501016 w 6600920"/>
                <a:gd name="csY49" fmla="*/ 2576918 h 2879204"/>
                <a:gd name="csX50" fmla="*/ 5623727 w 6600920"/>
                <a:gd name="csY50" fmla="*/ 2579910 h 2879204"/>
                <a:gd name="csX51" fmla="*/ 5746437 w 6600920"/>
                <a:gd name="csY51" fmla="*/ 2551478 h 2879204"/>
                <a:gd name="csX52" fmla="*/ 5867651 w 6600920"/>
                <a:gd name="csY52" fmla="*/ 2505087 h 2879204"/>
                <a:gd name="csX53" fmla="*/ 5990361 w 6600920"/>
                <a:gd name="csY53" fmla="*/ 2581407 h 2879204"/>
                <a:gd name="csX54" fmla="*/ 6113072 w 6600920"/>
                <a:gd name="csY54" fmla="*/ 2759487 h 2879204"/>
                <a:gd name="csX0" fmla="*/ 6116175 w 6116175"/>
                <a:gd name="csY0" fmla="*/ 2884245 h 2884245"/>
                <a:gd name="csX1" fmla="*/ 0 w 6116175"/>
                <a:gd name="csY1" fmla="*/ 2879204 h 2884245"/>
                <a:gd name="csX2" fmla="*/ 0 w 6116175"/>
                <a:gd name="csY2" fmla="*/ 2879204 h 2884245"/>
                <a:gd name="csX3" fmla="*/ 0 w 6116175"/>
                <a:gd name="csY3" fmla="*/ 46390 h 2884245"/>
                <a:gd name="csX4" fmla="*/ 0 w 6116175"/>
                <a:gd name="csY4" fmla="*/ 0 h 2884245"/>
                <a:gd name="csX5" fmla="*/ 121214 w 6116175"/>
                <a:gd name="csY5" fmla="*/ 152640 h 2884245"/>
                <a:gd name="csX6" fmla="*/ 243924 w 6116175"/>
                <a:gd name="csY6" fmla="*/ 121214 h 2884245"/>
                <a:gd name="csX7" fmla="*/ 366635 w 6116175"/>
                <a:gd name="csY7" fmla="*/ 169101 h 2884245"/>
                <a:gd name="csX8" fmla="*/ 487849 w 6116175"/>
                <a:gd name="csY8" fmla="*/ 101760 h 2884245"/>
                <a:gd name="csX9" fmla="*/ 610559 w 6116175"/>
                <a:gd name="csY9" fmla="*/ 321741 h 2884245"/>
                <a:gd name="csX10" fmla="*/ 733269 w 6116175"/>
                <a:gd name="csY10" fmla="*/ 359152 h 2884245"/>
                <a:gd name="csX11" fmla="*/ 854483 w 6116175"/>
                <a:gd name="csY11" fmla="*/ 472884 h 2884245"/>
                <a:gd name="csX12" fmla="*/ 977194 w 6116175"/>
                <a:gd name="csY12" fmla="*/ 594098 h 2884245"/>
                <a:gd name="csX13" fmla="*/ 1099904 w 6116175"/>
                <a:gd name="csY13" fmla="*/ 752723 h 2884245"/>
                <a:gd name="csX14" fmla="*/ 1222614 w 6116175"/>
                <a:gd name="csY14" fmla="*/ 817072 h 2884245"/>
                <a:gd name="csX15" fmla="*/ 1343828 w 6116175"/>
                <a:gd name="csY15" fmla="*/ 823057 h 2884245"/>
                <a:gd name="csX16" fmla="*/ 1466539 w 6116175"/>
                <a:gd name="csY16" fmla="*/ 1101400 h 2884245"/>
                <a:gd name="csX17" fmla="*/ 1589249 w 6116175"/>
                <a:gd name="csY17" fmla="*/ 1300430 h 2884245"/>
                <a:gd name="csX18" fmla="*/ 1710463 w 6116175"/>
                <a:gd name="csY18" fmla="*/ 1468035 h 2884245"/>
                <a:gd name="csX19" fmla="*/ 1833173 w 6116175"/>
                <a:gd name="csY19" fmla="*/ 1376750 h 2884245"/>
                <a:gd name="csX20" fmla="*/ 1955884 w 6116175"/>
                <a:gd name="csY20" fmla="*/ 1518915 h 2884245"/>
                <a:gd name="csX21" fmla="*/ 2077098 w 6116175"/>
                <a:gd name="csY21" fmla="*/ 1517418 h 2884245"/>
                <a:gd name="csX22" fmla="*/ 2199808 w 6116175"/>
                <a:gd name="csY22" fmla="*/ 1532383 h 2884245"/>
                <a:gd name="csX23" fmla="*/ 2322518 w 6116175"/>
                <a:gd name="csY23" fmla="*/ 1644618 h 2884245"/>
                <a:gd name="csX24" fmla="*/ 2445229 w 6116175"/>
                <a:gd name="csY24" fmla="*/ 1831677 h 2884245"/>
                <a:gd name="csX25" fmla="*/ 2566443 w 6116175"/>
                <a:gd name="csY25" fmla="*/ 1969352 h 2884245"/>
                <a:gd name="csX26" fmla="*/ 2689153 w 6116175"/>
                <a:gd name="csY26" fmla="*/ 2087573 h 2884245"/>
                <a:gd name="csX27" fmla="*/ 2811863 w 6116175"/>
                <a:gd name="csY27" fmla="*/ 2129474 h 2884245"/>
                <a:gd name="csX28" fmla="*/ 2933077 w 6116175"/>
                <a:gd name="csY28" fmla="*/ 2198311 h 2884245"/>
                <a:gd name="csX29" fmla="*/ 3055787 w 6116175"/>
                <a:gd name="csY29" fmla="*/ 2017239 h 2884245"/>
                <a:gd name="csX30" fmla="*/ 3178498 w 6116175"/>
                <a:gd name="csY30" fmla="*/ 2133963 h 2884245"/>
                <a:gd name="csX31" fmla="*/ 3301208 w 6116175"/>
                <a:gd name="csY31" fmla="*/ 2114509 h 2884245"/>
                <a:gd name="csX32" fmla="*/ 3422422 w 6116175"/>
                <a:gd name="csY32" fmla="*/ 1969352 h 2884245"/>
                <a:gd name="csX33" fmla="*/ 3545133 w 6116175"/>
                <a:gd name="csY33" fmla="*/ 2009756 h 2884245"/>
                <a:gd name="csX34" fmla="*/ 3667843 w 6116175"/>
                <a:gd name="csY34" fmla="*/ 1913982 h 2884245"/>
                <a:gd name="csX35" fmla="*/ 3789057 w 6116175"/>
                <a:gd name="csY35" fmla="*/ 1902011 h 2884245"/>
                <a:gd name="csX36" fmla="*/ 3911767 w 6116175"/>
                <a:gd name="csY36" fmla="*/ 1927451 h 2884245"/>
                <a:gd name="csX37" fmla="*/ 4034477 w 6116175"/>
                <a:gd name="csY37" fmla="*/ 1987309 h 2884245"/>
                <a:gd name="csX38" fmla="*/ 4155691 w 6116175"/>
                <a:gd name="csY38" fmla="*/ 2107027 h 2884245"/>
                <a:gd name="csX39" fmla="*/ 4278402 w 6116175"/>
                <a:gd name="csY39" fmla="*/ 2077097 h 2884245"/>
                <a:gd name="csX40" fmla="*/ 4401112 w 6116175"/>
                <a:gd name="csY40" fmla="*/ 2312043 h 2884245"/>
                <a:gd name="csX41" fmla="*/ 4523823 w 6116175"/>
                <a:gd name="csY41" fmla="*/ 2207290 h 2884245"/>
                <a:gd name="csX42" fmla="*/ 4645037 w 6116175"/>
                <a:gd name="csY42" fmla="*/ 2268645 h 2884245"/>
                <a:gd name="csX43" fmla="*/ 4767747 w 6116175"/>
                <a:gd name="csY43" fmla="*/ 2355440 h 2884245"/>
                <a:gd name="csX44" fmla="*/ 4890457 w 6116175"/>
                <a:gd name="csY44" fmla="*/ 2630790 h 2884245"/>
                <a:gd name="csX45" fmla="*/ 5011671 w 6116175"/>
                <a:gd name="csY45" fmla="*/ 2442236 h 2884245"/>
                <a:gd name="csX46" fmla="*/ 5134381 w 6116175"/>
                <a:gd name="csY46" fmla="*/ 2380880 h 2884245"/>
                <a:gd name="csX47" fmla="*/ 5257092 w 6116175"/>
                <a:gd name="csY47" fmla="*/ 2481144 h 2884245"/>
                <a:gd name="csX48" fmla="*/ 5378306 w 6116175"/>
                <a:gd name="csY48" fmla="*/ 2642762 h 2884245"/>
                <a:gd name="csX49" fmla="*/ 5501016 w 6116175"/>
                <a:gd name="csY49" fmla="*/ 2576918 h 2884245"/>
                <a:gd name="csX50" fmla="*/ 5623727 w 6116175"/>
                <a:gd name="csY50" fmla="*/ 2579910 h 2884245"/>
                <a:gd name="csX51" fmla="*/ 5746437 w 6116175"/>
                <a:gd name="csY51" fmla="*/ 2551478 h 2884245"/>
                <a:gd name="csX52" fmla="*/ 5867651 w 6116175"/>
                <a:gd name="csY52" fmla="*/ 2505087 h 2884245"/>
                <a:gd name="csX53" fmla="*/ 5990361 w 6116175"/>
                <a:gd name="csY53" fmla="*/ 2581407 h 2884245"/>
                <a:gd name="csX54" fmla="*/ 6113072 w 6116175"/>
                <a:gd name="csY54" fmla="*/ 2759487 h 28842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6116175" h="2884245">
                  <a:moveTo>
                    <a:pt x="6116175" y="2884245"/>
                  </a:moveTo>
                  <a:lnTo>
                    <a:pt x="0" y="2879204"/>
                  </a:lnTo>
                  <a:lnTo>
                    <a:pt x="0" y="2879204"/>
                  </a:lnTo>
                  <a:lnTo>
                    <a:pt x="0" y="46390"/>
                  </a:lnTo>
                  <a:lnTo>
                    <a:pt x="0" y="0"/>
                  </a:lnTo>
                  <a:lnTo>
                    <a:pt x="121214" y="152640"/>
                  </a:lnTo>
                  <a:lnTo>
                    <a:pt x="243924" y="121214"/>
                  </a:lnTo>
                  <a:lnTo>
                    <a:pt x="366635" y="169101"/>
                  </a:lnTo>
                  <a:lnTo>
                    <a:pt x="487849" y="101760"/>
                  </a:lnTo>
                  <a:lnTo>
                    <a:pt x="610559" y="321741"/>
                  </a:lnTo>
                  <a:lnTo>
                    <a:pt x="733269" y="359152"/>
                  </a:lnTo>
                  <a:lnTo>
                    <a:pt x="854483" y="472884"/>
                  </a:lnTo>
                  <a:lnTo>
                    <a:pt x="977194" y="594098"/>
                  </a:lnTo>
                  <a:lnTo>
                    <a:pt x="1099904" y="752723"/>
                  </a:lnTo>
                  <a:lnTo>
                    <a:pt x="1222614" y="817072"/>
                  </a:lnTo>
                  <a:lnTo>
                    <a:pt x="1343828" y="823057"/>
                  </a:lnTo>
                  <a:lnTo>
                    <a:pt x="1466539" y="1101400"/>
                  </a:lnTo>
                  <a:lnTo>
                    <a:pt x="1589249" y="1300430"/>
                  </a:lnTo>
                  <a:lnTo>
                    <a:pt x="1710463" y="1468035"/>
                  </a:lnTo>
                  <a:lnTo>
                    <a:pt x="1833173" y="1376750"/>
                  </a:lnTo>
                  <a:lnTo>
                    <a:pt x="1955884" y="1518915"/>
                  </a:lnTo>
                  <a:lnTo>
                    <a:pt x="2077098" y="1517418"/>
                  </a:lnTo>
                  <a:lnTo>
                    <a:pt x="2199808" y="1532383"/>
                  </a:lnTo>
                  <a:lnTo>
                    <a:pt x="2322518" y="1644618"/>
                  </a:lnTo>
                  <a:lnTo>
                    <a:pt x="2445229" y="1831677"/>
                  </a:lnTo>
                  <a:lnTo>
                    <a:pt x="2566443" y="1969352"/>
                  </a:lnTo>
                  <a:lnTo>
                    <a:pt x="2689153" y="2087573"/>
                  </a:lnTo>
                  <a:lnTo>
                    <a:pt x="2811863" y="2129474"/>
                  </a:lnTo>
                  <a:lnTo>
                    <a:pt x="2933077" y="2198311"/>
                  </a:lnTo>
                  <a:lnTo>
                    <a:pt x="3055787" y="2017239"/>
                  </a:lnTo>
                  <a:lnTo>
                    <a:pt x="3178498" y="2133963"/>
                  </a:lnTo>
                  <a:lnTo>
                    <a:pt x="3301208" y="2114509"/>
                  </a:lnTo>
                  <a:lnTo>
                    <a:pt x="3422422" y="1969352"/>
                  </a:lnTo>
                  <a:lnTo>
                    <a:pt x="3545133" y="2009756"/>
                  </a:lnTo>
                  <a:lnTo>
                    <a:pt x="3667843" y="1913982"/>
                  </a:lnTo>
                  <a:lnTo>
                    <a:pt x="3789057" y="1902011"/>
                  </a:lnTo>
                  <a:lnTo>
                    <a:pt x="3911767" y="1927451"/>
                  </a:lnTo>
                  <a:lnTo>
                    <a:pt x="4034477" y="1987309"/>
                  </a:lnTo>
                  <a:lnTo>
                    <a:pt x="4155691" y="2107027"/>
                  </a:lnTo>
                  <a:lnTo>
                    <a:pt x="4278402" y="2077097"/>
                  </a:lnTo>
                  <a:lnTo>
                    <a:pt x="4401112" y="2312043"/>
                  </a:lnTo>
                  <a:lnTo>
                    <a:pt x="4523823" y="2207290"/>
                  </a:lnTo>
                  <a:lnTo>
                    <a:pt x="4645037" y="2268645"/>
                  </a:lnTo>
                  <a:lnTo>
                    <a:pt x="4767747" y="2355440"/>
                  </a:lnTo>
                  <a:lnTo>
                    <a:pt x="4890457" y="2630790"/>
                  </a:lnTo>
                  <a:lnTo>
                    <a:pt x="5011671" y="2442236"/>
                  </a:lnTo>
                  <a:lnTo>
                    <a:pt x="5134381" y="2380880"/>
                  </a:lnTo>
                  <a:lnTo>
                    <a:pt x="5257092" y="2481144"/>
                  </a:lnTo>
                  <a:lnTo>
                    <a:pt x="5378306" y="2642762"/>
                  </a:lnTo>
                  <a:lnTo>
                    <a:pt x="5501016" y="2576918"/>
                  </a:lnTo>
                  <a:lnTo>
                    <a:pt x="5623727" y="2579910"/>
                  </a:lnTo>
                  <a:lnTo>
                    <a:pt x="5746437" y="2551478"/>
                  </a:lnTo>
                  <a:lnTo>
                    <a:pt x="5867651" y="2505087"/>
                  </a:lnTo>
                  <a:lnTo>
                    <a:pt x="5990361" y="2581407"/>
                  </a:lnTo>
                  <a:lnTo>
                    <a:pt x="6113072" y="2759487"/>
                  </a:lnTo>
                </a:path>
              </a:pathLst>
            </a:custGeom>
            <a:gradFill>
              <a:gsLst>
                <a:gs pos="0">
                  <a:srgbClr val="29B6A4"/>
                </a:gs>
                <a:gs pos="50000">
                  <a:srgbClr val="94DAD1"/>
                </a:gs>
                <a:gs pos="100000">
                  <a:srgbClr val="FFFFFF"/>
                </a:gs>
              </a:gsLst>
              <a:lin ang="0" scaled="1"/>
            </a:gra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8D739F0D-1C92-4BB3-703F-57D0871106E3}"/>
                </a:ext>
              </a:extLst>
            </p:cNvPr>
            <p:cNvSpPr/>
            <p:nvPr/>
          </p:nvSpPr>
          <p:spPr>
            <a:xfrm>
              <a:off x="667586" y="1672849"/>
              <a:ext cx="10085304" cy="4171246"/>
            </a:xfrm>
            <a:custGeom>
              <a:avLst/>
              <a:gdLst>
                <a:gd name="csX0" fmla="*/ 0 w 6626359"/>
                <a:gd name="csY0" fmla="*/ 0 h 2759486"/>
                <a:gd name="csX1" fmla="*/ 122710 w 6626359"/>
                <a:gd name="csY1" fmla="*/ 152640 h 2759486"/>
                <a:gd name="csX2" fmla="*/ 245421 w 6626359"/>
                <a:gd name="csY2" fmla="*/ 121214 h 2759486"/>
                <a:gd name="csX3" fmla="*/ 368131 w 6626359"/>
                <a:gd name="csY3" fmla="*/ 170597 h 2759486"/>
                <a:gd name="csX4" fmla="*/ 490842 w 6626359"/>
                <a:gd name="csY4" fmla="*/ 101760 h 2759486"/>
                <a:gd name="csX5" fmla="*/ 613552 w 6626359"/>
                <a:gd name="csY5" fmla="*/ 323237 h 2759486"/>
                <a:gd name="csX6" fmla="*/ 736262 w 6626359"/>
                <a:gd name="csY6" fmla="*/ 359152 h 2759486"/>
                <a:gd name="csX7" fmla="*/ 858973 w 6626359"/>
                <a:gd name="csY7" fmla="*/ 472884 h 2759486"/>
                <a:gd name="csX8" fmla="*/ 981683 w 6626359"/>
                <a:gd name="csY8" fmla="*/ 594098 h 2759486"/>
                <a:gd name="csX9" fmla="*/ 1104393 w 6626359"/>
                <a:gd name="csY9" fmla="*/ 754220 h 2759486"/>
                <a:gd name="csX10" fmla="*/ 1227104 w 6626359"/>
                <a:gd name="csY10" fmla="*/ 818568 h 2759486"/>
                <a:gd name="csX11" fmla="*/ 1349814 w 6626359"/>
                <a:gd name="csY11" fmla="*/ 824554 h 2759486"/>
                <a:gd name="csX12" fmla="*/ 1472525 w 6626359"/>
                <a:gd name="csY12" fmla="*/ 1101400 h 2759486"/>
                <a:gd name="csX13" fmla="*/ 1595235 w 6626359"/>
                <a:gd name="csY13" fmla="*/ 1300430 h 2759486"/>
                <a:gd name="csX14" fmla="*/ 1717945 w 6626359"/>
                <a:gd name="csY14" fmla="*/ 1468035 h 2759486"/>
                <a:gd name="csX15" fmla="*/ 1840656 w 6626359"/>
                <a:gd name="csY15" fmla="*/ 1378247 h 2759486"/>
                <a:gd name="csX16" fmla="*/ 1963366 w 6626359"/>
                <a:gd name="csY16" fmla="*/ 1518915 h 2759486"/>
                <a:gd name="csX17" fmla="*/ 2086076 w 6626359"/>
                <a:gd name="csY17" fmla="*/ 1518915 h 2759486"/>
                <a:gd name="csX18" fmla="*/ 2208787 w 6626359"/>
                <a:gd name="csY18" fmla="*/ 1532383 h 2759486"/>
                <a:gd name="csX19" fmla="*/ 2331497 w 6626359"/>
                <a:gd name="csY19" fmla="*/ 1644618 h 2759486"/>
                <a:gd name="csX20" fmla="*/ 2454207 w 6626359"/>
                <a:gd name="csY20" fmla="*/ 1831677 h 2759486"/>
                <a:gd name="csX21" fmla="*/ 2576918 w 6626359"/>
                <a:gd name="csY21" fmla="*/ 1969352 h 2759486"/>
                <a:gd name="csX22" fmla="*/ 2699628 w 6626359"/>
                <a:gd name="csY22" fmla="*/ 2087573 h 2759486"/>
                <a:gd name="csX23" fmla="*/ 2822338 w 6626359"/>
                <a:gd name="csY23" fmla="*/ 2130970 h 2759486"/>
                <a:gd name="csX24" fmla="*/ 2945049 w 6626359"/>
                <a:gd name="csY24" fmla="*/ 2198311 h 2759486"/>
                <a:gd name="csX25" fmla="*/ 3067760 w 6626359"/>
                <a:gd name="csY25" fmla="*/ 2018735 h 2759486"/>
                <a:gd name="csX26" fmla="*/ 3190470 w 6626359"/>
                <a:gd name="csY26" fmla="*/ 2135460 h 2759486"/>
                <a:gd name="csX27" fmla="*/ 3313180 w 6626359"/>
                <a:gd name="csY27" fmla="*/ 2116005 h 2759486"/>
                <a:gd name="csX28" fmla="*/ 3435890 w 6626359"/>
                <a:gd name="csY28" fmla="*/ 1970848 h 2759486"/>
                <a:gd name="csX29" fmla="*/ 3558601 w 6626359"/>
                <a:gd name="csY29" fmla="*/ 2011253 h 2759486"/>
                <a:gd name="csX30" fmla="*/ 3681311 w 6626359"/>
                <a:gd name="csY30" fmla="*/ 1913982 h 2759486"/>
                <a:gd name="csX31" fmla="*/ 3804021 w 6626359"/>
                <a:gd name="csY31" fmla="*/ 1902011 h 2759486"/>
                <a:gd name="csX32" fmla="*/ 3926732 w 6626359"/>
                <a:gd name="csY32" fmla="*/ 1928947 h 2759486"/>
                <a:gd name="csX33" fmla="*/ 4049442 w 6626359"/>
                <a:gd name="csY33" fmla="*/ 1988806 h 2759486"/>
                <a:gd name="csX34" fmla="*/ 4172153 w 6626359"/>
                <a:gd name="csY34" fmla="*/ 2108523 h 2759486"/>
                <a:gd name="csX35" fmla="*/ 4294863 w 6626359"/>
                <a:gd name="csY35" fmla="*/ 2077097 h 2759486"/>
                <a:gd name="csX36" fmla="*/ 4417573 w 6626359"/>
                <a:gd name="csY36" fmla="*/ 2313539 h 2759486"/>
                <a:gd name="csX37" fmla="*/ 4540284 w 6626359"/>
                <a:gd name="csY37" fmla="*/ 2207290 h 2759486"/>
                <a:gd name="csX38" fmla="*/ 4662994 w 6626359"/>
                <a:gd name="csY38" fmla="*/ 2268645 h 2759486"/>
                <a:gd name="csX39" fmla="*/ 4785705 w 6626359"/>
                <a:gd name="csY39" fmla="*/ 2355440 h 2759486"/>
                <a:gd name="csX40" fmla="*/ 4908415 w 6626359"/>
                <a:gd name="csY40" fmla="*/ 2630790 h 2759486"/>
                <a:gd name="csX41" fmla="*/ 5031125 w 6626359"/>
                <a:gd name="csY41" fmla="*/ 2440739 h 2759486"/>
                <a:gd name="csX42" fmla="*/ 5153836 w 6626359"/>
                <a:gd name="csY42" fmla="*/ 2379384 h 2759486"/>
                <a:gd name="csX43" fmla="*/ 5276546 w 6626359"/>
                <a:gd name="csY43" fmla="*/ 2479647 h 2759486"/>
                <a:gd name="csX44" fmla="*/ 5399256 w 6626359"/>
                <a:gd name="csY44" fmla="*/ 2641266 h 2759486"/>
                <a:gd name="csX45" fmla="*/ 5521967 w 6626359"/>
                <a:gd name="csY45" fmla="*/ 2575421 h 2759486"/>
                <a:gd name="csX46" fmla="*/ 5644677 w 6626359"/>
                <a:gd name="csY46" fmla="*/ 2578414 h 2759486"/>
                <a:gd name="csX47" fmla="*/ 5767388 w 6626359"/>
                <a:gd name="csY47" fmla="*/ 2549981 h 2759486"/>
                <a:gd name="csX48" fmla="*/ 5890098 w 6626359"/>
                <a:gd name="csY48" fmla="*/ 2505087 h 2759486"/>
                <a:gd name="csX49" fmla="*/ 6012808 w 6626359"/>
                <a:gd name="csY49" fmla="*/ 2579910 h 2759486"/>
                <a:gd name="csX50" fmla="*/ 6135519 w 6626359"/>
                <a:gd name="csY50" fmla="*/ 2759487 h 2759486"/>
                <a:gd name="csX51" fmla="*/ 6258229 w 6626359"/>
                <a:gd name="csY51" fmla="*/ 2310546 h 2759486"/>
                <a:gd name="csX52" fmla="*/ 6380939 w 6626359"/>
                <a:gd name="csY52" fmla="*/ 2331497 h 2759486"/>
                <a:gd name="csX53" fmla="*/ 6503650 w 6626359"/>
                <a:gd name="csY53" fmla="*/ 2331497 h 2759486"/>
                <a:gd name="csX54" fmla="*/ 6626360 w 6626359"/>
                <a:gd name="csY54" fmla="*/ 2156410 h 2759486"/>
                <a:gd name="csX0" fmla="*/ 0 w 6503650"/>
                <a:gd name="csY0" fmla="*/ 0 h 2759487"/>
                <a:gd name="csX1" fmla="*/ 122710 w 6503650"/>
                <a:gd name="csY1" fmla="*/ 152640 h 2759487"/>
                <a:gd name="csX2" fmla="*/ 245421 w 6503650"/>
                <a:gd name="csY2" fmla="*/ 121214 h 2759487"/>
                <a:gd name="csX3" fmla="*/ 368131 w 6503650"/>
                <a:gd name="csY3" fmla="*/ 170597 h 2759487"/>
                <a:gd name="csX4" fmla="*/ 490842 w 6503650"/>
                <a:gd name="csY4" fmla="*/ 101760 h 2759487"/>
                <a:gd name="csX5" fmla="*/ 613552 w 6503650"/>
                <a:gd name="csY5" fmla="*/ 323237 h 2759487"/>
                <a:gd name="csX6" fmla="*/ 736262 w 6503650"/>
                <a:gd name="csY6" fmla="*/ 359152 h 2759487"/>
                <a:gd name="csX7" fmla="*/ 858973 w 6503650"/>
                <a:gd name="csY7" fmla="*/ 472884 h 2759487"/>
                <a:gd name="csX8" fmla="*/ 981683 w 6503650"/>
                <a:gd name="csY8" fmla="*/ 594098 h 2759487"/>
                <a:gd name="csX9" fmla="*/ 1104393 w 6503650"/>
                <a:gd name="csY9" fmla="*/ 754220 h 2759487"/>
                <a:gd name="csX10" fmla="*/ 1227104 w 6503650"/>
                <a:gd name="csY10" fmla="*/ 818568 h 2759487"/>
                <a:gd name="csX11" fmla="*/ 1349814 w 6503650"/>
                <a:gd name="csY11" fmla="*/ 824554 h 2759487"/>
                <a:gd name="csX12" fmla="*/ 1472525 w 6503650"/>
                <a:gd name="csY12" fmla="*/ 1101400 h 2759487"/>
                <a:gd name="csX13" fmla="*/ 1595235 w 6503650"/>
                <a:gd name="csY13" fmla="*/ 1300430 h 2759487"/>
                <a:gd name="csX14" fmla="*/ 1717945 w 6503650"/>
                <a:gd name="csY14" fmla="*/ 1468035 h 2759487"/>
                <a:gd name="csX15" fmla="*/ 1840656 w 6503650"/>
                <a:gd name="csY15" fmla="*/ 1378247 h 2759487"/>
                <a:gd name="csX16" fmla="*/ 1963366 w 6503650"/>
                <a:gd name="csY16" fmla="*/ 1518915 h 2759487"/>
                <a:gd name="csX17" fmla="*/ 2086076 w 6503650"/>
                <a:gd name="csY17" fmla="*/ 1518915 h 2759487"/>
                <a:gd name="csX18" fmla="*/ 2208787 w 6503650"/>
                <a:gd name="csY18" fmla="*/ 1532383 h 2759487"/>
                <a:gd name="csX19" fmla="*/ 2331497 w 6503650"/>
                <a:gd name="csY19" fmla="*/ 1644618 h 2759487"/>
                <a:gd name="csX20" fmla="*/ 2454207 w 6503650"/>
                <a:gd name="csY20" fmla="*/ 1831677 h 2759487"/>
                <a:gd name="csX21" fmla="*/ 2576918 w 6503650"/>
                <a:gd name="csY21" fmla="*/ 1969352 h 2759487"/>
                <a:gd name="csX22" fmla="*/ 2699628 w 6503650"/>
                <a:gd name="csY22" fmla="*/ 2087573 h 2759487"/>
                <a:gd name="csX23" fmla="*/ 2822338 w 6503650"/>
                <a:gd name="csY23" fmla="*/ 2130970 h 2759487"/>
                <a:gd name="csX24" fmla="*/ 2945049 w 6503650"/>
                <a:gd name="csY24" fmla="*/ 2198311 h 2759487"/>
                <a:gd name="csX25" fmla="*/ 3067760 w 6503650"/>
                <a:gd name="csY25" fmla="*/ 2018735 h 2759487"/>
                <a:gd name="csX26" fmla="*/ 3190470 w 6503650"/>
                <a:gd name="csY26" fmla="*/ 2135460 h 2759487"/>
                <a:gd name="csX27" fmla="*/ 3313180 w 6503650"/>
                <a:gd name="csY27" fmla="*/ 2116005 h 2759487"/>
                <a:gd name="csX28" fmla="*/ 3435890 w 6503650"/>
                <a:gd name="csY28" fmla="*/ 1970848 h 2759487"/>
                <a:gd name="csX29" fmla="*/ 3558601 w 6503650"/>
                <a:gd name="csY29" fmla="*/ 2011253 h 2759487"/>
                <a:gd name="csX30" fmla="*/ 3681311 w 6503650"/>
                <a:gd name="csY30" fmla="*/ 1913982 h 2759487"/>
                <a:gd name="csX31" fmla="*/ 3804021 w 6503650"/>
                <a:gd name="csY31" fmla="*/ 1902011 h 2759487"/>
                <a:gd name="csX32" fmla="*/ 3926732 w 6503650"/>
                <a:gd name="csY32" fmla="*/ 1928947 h 2759487"/>
                <a:gd name="csX33" fmla="*/ 4049442 w 6503650"/>
                <a:gd name="csY33" fmla="*/ 1988806 h 2759487"/>
                <a:gd name="csX34" fmla="*/ 4172153 w 6503650"/>
                <a:gd name="csY34" fmla="*/ 2108523 h 2759487"/>
                <a:gd name="csX35" fmla="*/ 4294863 w 6503650"/>
                <a:gd name="csY35" fmla="*/ 2077097 h 2759487"/>
                <a:gd name="csX36" fmla="*/ 4417573 w 6503650"/>
                <a:gd name="csY36" fmla="*/ 2313539 h 2759487"/>
                <a:gd name="csX37" fmla="*/ 4540284 w 6503650"/>
                <a:gd name="csY37" fmla="*/ 2207290 h 2759487"/>
                <a:gd name="csX38" fmla="*/ 4662994 w 6503650"/>
                <a:gd name="csY38" fmla="*/ 2268645 h 2759487"/>
                <a:gd name="csX39" fmla="*/ 4785705 w 6503650"/>
                <a:gd name="csY39" fmla="*/ 2355440 h 2759487"/>
                <a:gd name="csX40" fmla="*/ 4908415 w 6503650"/>
                <a:gd name="csY40" fmla="*/ 2630790 h 2759487"/>
                <a:gd name="csX41" fmla="*/ 5031125 w 6503650"/>
                <a:gd name="csY41" fmla="*/ 2440739 h 2759487"/>
                <a:gd name="csX42" fmla="*/ 5153836 w 6503650"/>
                <a:gd name="csY42" fmla="*/ 2379384 h 2759487"/>
                <a:gd name="csX43" fmla="*/ 5276546 w 6503650"/>
                <a:gd name="csY43" fmla="*/ 2479647 h 2759487"/>
                <a:gd name="csX44" fmla="*/ 5399256 w 6503650"/>
                <a:gd name="csY44" fmla="*/ 2641266 h 2759487"/>
                <a:gd name="csX45" fmla="*/ 5521967 w 6503650"/>
                <a:gd name="csY45" fmla="*/ 2575421 h 2759487"/>
                <a:gd name="csX46" fmla="*/ 5644677 w 6503650"/>
                <a:gd name="csY46" fmla="*/ 2578414 h 2759487"/>
                <a:gd name="csX47" fmla="*/ 5767388 w 6503650"/>
                <a:gd name="csY47" fmla="*/ 2549981 h 2759487"/>
                <a:gd name="csX48" fmla="*/ 5890098 w 6503650"/>
                <a:gd name="csY48" fmla="*/ 2505087 h 2759487"/>
                <a:gd name="csX49" fmla="*/ 6012808 w 6503650"/>
                <a:gd name="csY49" fmla="*/ 2579910 h 2759487"/>
                <a:gd name="csX50" fmla="*/ 6135519 w 6503650"/>
                <a:gd name="csY50" fmla="*/ 2759487 h 2759487"/>
                <a:gd name="csX51" fmla="*/ 6258229 w 6503650"/>
                <a:gd name="csY51" fmla="*/ 2310546 h 2759487"/>
                <a:gd name="csX52" fmla="*/ 6380939 w 6503650"/>
                <a:gd name="csY52" fmla="*/ 2331497 h 2759487"/>
                <a:gd name="csX53" fmla="*/ 6503650 w 6503650"/>
                <a:gd name="csY53" fmla="*/ 2331497 h 2759487"/>
                <a:gd name="csX0" fmla="*/ 0 w 6380939"/>
                <a:gd name="csY0" fmla="*/ 0 h 2759487"/>
                <a:gd name="csX1" fmla="*/ 122710 w 6380939"/>
                <a:gd name="csY1" fmla="*/ 152640 h 2759487"/>
                <a:gd name="csX2" fmla="*/ 245421 w 6380939"/>
                <a:gd name="csY2" fmla="*/ 121214 h 2759487"/>
                <a:gd name="csX3" fmla="*/ 368131 w 6380939"/>
                <a:gd name="csY3" fmla="*/ 170597 h 2759487"/>
                <a:gd name="csX4" fmla="*/ 490842 w 6380939"/>
                <a:gd name="csY4" fmla="*/ 101760 h 2759487"/>
                <a:gd name="csX5" fmla="*/ 613552 w 6380939"/>
                <a:gd name="csY5" fmla="*/ 323237 h 2759487"/>
                <a:gd name="csX6" fmla="*/ 736262 w 6380939"/>
                <a:gd name="csY6" fmla="*/ 359152 h 2759487"/>
                <a:gd name="csX7" fmla="*/ 858973 w 6380939"/>
                <a:gd name="csY7" fmla="*/ 472884 h 2759487"/>
                <a:gd name="csX8" fmla="*/ 981683 w 6380939"/>
                <a:gd name="csY8" fmla="*/ 594098 h 2759487"/>
                <a:gd name="csX9" fmla="*/ 1104393 w 6380939"/>
                <a:gd name="csY9" fmla="*/ 754220 h 2759487"/>
                <a:gd name="csX10" fmla="*/ 1227104 w 6380939"/>
                <a:gd name="csY10" fmla="*/ 818568 h 2759487"/>
                <a:gd name="csX11" fmla="*/ 1349814 w 6380939"/>
                <a:gd name="csY11" fmla="*/ 824554 h 2759487"/>
                <a:gd name="csX12" fmla="*/ 1472525 w 6380939"/>
                <a:gd name="csY12" fmla="*/ 1101400 h 2759487"/>
                <a:gd name="csX13" fmla="*/ 1595235 w 6380939"/>
                <a:gd name="csY13" fmla="*/ 1300430 h 2759487"/>
                <a:gd name="csX14" fmla="*/ 1717945 w 6380939"/>
                <a:gd name="csY14" fmla="*/ 1468035 h 2759487"/>
                <a:gd name="csX15" fmla="*/ 1840656 w 6380939"/>
                <a:gd name="csY15" fmla="*/ 1378247 h 2759487"/>
                <a:gd name="csX16" fmla="*/ 1963366 w 6380939"/>
                <a:gd name="csY16" fmla="*/ 1518915 h 2759487"/>
                <a:gd name="csX17" fmla="*/ 2086076 w 6380939"/>
                <a:gd name="csY17" fmla="*/ 1518915 h 2759487"/>
                <a:gd name="csX18" fmla="*/ 2208787 w 6380939"/>
                <a:gd name="csY18" fmla="*/ 1532383 h 2759487"/>
                <a:gd name="csX19" fmla="*/ 2331497 w 6380939"/>
                <a:gd name="csY19" fmla="*/ 1644618 h 2759487"/>
                <a:gd name="csX20" fmla="*/ 2454207 w 6380939"/>
                <a:gd name="csY20" fmla="*/ 1831677 h 2759487"/>
                <a:gd name="csX21" fmla="*/ 2576918 w 6380939"/>
                <a:gd name="csY21" fmla="*/ 1969352 h 2759487"/>
                <a:gd name="csX22" fmla="*/ 2699628 w 6380939"/>
                <a:gd name="csY22" fmla="*/ 2087573 h 2759487"/>
                <a:gd name="csX23" fmla="*/ 2822338 w 6380939"/>
                <a:gd name="csY23" fmla="*/ 2130970 h 2759487"/>
                <a:gd name="csX24" fmla="*/ 2945049 w 6380939"/>
                <a:gd name="csY24" fmla="*/ 2198311 h 2759487"/>
                <a:gd name="csX25" fmla="*/ 3067760 w 6380939"/>
                <a:gd name="csY25" fmla="*/ 2018735 h 2759487"/>
                <a:gd name="csX26" fmla="*/ 3190470 w 6380939"/>
                <a:gd name="csY26" fmla="*/ 2135460 h 2759487"/>
                <a:gd name="csX27" fmla="*/ 3313180 w 6380939"/>
                <a:gd name="csY27" fmla="*/ 2116005 h 2759487"/>
                <a:gd name="csX28" fmla="*/ 3435890 w 6380939"/>
                <a:gd name="csY28" fmla="*/ 1970848 h 2759487"/>
                <a:gd name="csX29" fmla="*/ 3558601 w 6380939"/>
                <a:gd name="csY29" fmla="*/ 2011253 h 2759487"/>
                <a:gd name="csX30" fmla="*/ 3681311 w 6380939"/>
                <a:gd name="csY30" fmla="*/ 1913982 h 2759487"/>
                <a:gd name="csX31" fmla="*/ 3804021 w 6380939"/>
                <a:gd name="csY31" fmla="*/ 1902011 h 2759487"/>
                <a:gd name="csX32" fmla="*/ 3926732 w 6380939"/>
                <a:gd name="csY32" fmla="*/ 1928947 h 2759487"/>
                <a:gd name="csX33" fmla="*/ 4049442 w 6380939"/>
                <a:gd name="csY33" fmla="*/ 1988806 h 2759487"/>
                <a:gd name="csX34" fmla="*/ 4172153 w 6380939"/>
                <a:gd name="csY34" fmla="*/ 2108523 h 2759487"/>
                <a:gd name="csX35" fmla="*/ 4294863 w 6380939"/>
                <a:gd name="csY35" fmla="*/ 2077097 h 2759487"/>
                <a:gd name="csX36" fmla="*/ 4417573 w 6380939"/>
                <a:gd name="csY36" fmla="*/ 2313539 h 2759487"/>
                <a:gd name="csX37" fmla="*/ 4540284 w 6380939"/>
                <a:gd name="csY37" fmla="*/ 2207290 h 2759487"/>
                <a:gd name="csX38" fmla="*/ 4662994 w 6380939"/>
                <a:gd name="csY38" fmla="*/ 2268645 h 2759487"/>
                <a:gd name="csX39" fmla="*/ 4785705 w 6380939"/>
                <a:gd name="csY39" fmla="*/ 2355440 h 2759487"/>
                <a:gd name="csX40" fmla="*/ 4908415 w 6380939"/>
                <a:gd name="csY40" fmla="*/ 2630790 h 2759487"/>
                <a:gd name="csX41" fmla="*/ 5031125 w 6380939"/>
                <a:gd name="csY41" fmla="*/ 2440739 h 2759487"/>
                <a:gd name="csX42" fmla="*/ 5153836 w 6380939"/>
                <a:gd name="csY42" fmla="*/ 2379384 h 2759487"/>
                <a:gd name="csX43" fmla="*/ 5276546 w 6380939"/>
                <a:gd name="csY43" fmla="*/ 2479647 h 2759487"/>
                <a:gd name="csX44" fmla="*/ 5399256 w 6380939"/>
                <a:gd name="csY44" fmla="*/ 2641266 h 2759487"/>
                <a:gd name="csX45" fmla="*/ 5521967 w 6380939"/>
                <a:gd name="csY45" fmla="*/ 2575421 h 2759487"/>
                <a:gd name="csX46" fmla="*/ 5644677 w 6380939"/>
                <a:gd name="csY46" fmla="*/ 2578414 h 2759487"/>
                <a:gd name="csX47" fmla="*/ 5767388 w 6380939"/>
                <a:gd name="csY47" fmla="*/ 2549981 h 2759487"/>
                <a:gd name="csX48" fmla="*/ 5890098 w 6380939"/>
                <a:gd name="csY48" fmla="*/ 2505087 h 2759487"/>
                <a:gd name="csX49" fmla="*/ 6012808 w 6380939"/>
                <a:gd name="csY49" fmla="*/ 2579910 h 2759487"/>
                <a:gd name="csX50" fmla="*/ 6135519 w 6380939"/>
                <a:gd name="csY50" fmla="*/ 2759487 h 2759487"/>
                <a:gd name="csX51" fmla="*/ 6258229 w 6380939"/>
                <a:gd name="csY51" fmla="*/ 2310546 h 2759487"/>
                <a:gd name="csX52" fmla="*/ 6380939 w 6380939"/>
                <a:gd name="csY52" fmla="*/ 2331497 h 2759487"/>
                <a:gd name="csX0" fmla="*/ 0 w 6258229"/>
                <a:gd name="csY0" fmla="*/ 0 h 2759487"/>
                <a:gd name="csX1" fmla="*/ 122710 w 6258229"/>
                <a:gd name="csY1" fmla="*/ 152640 h 2759487"/>
                <a:gd name="csX2" fmla="*/ 245421 w 6258229"/>
                <a:gd name="csY2" fmla="*/ 121214 h 2759487"/>
                <a:gd name="csX3" fmla="*/ 368131 w 6258229"/>
                <a:gd name="csY3" fmla="*/ 170597 h 2759487"/>
                <a:gd name="csX4" fmla="*/ 490842 w 6258229"/>
                <a:gd name="csY4" fmla="*/ 101760 h 2759487"/>
                <a:gd name="csX5" fmla="*/ 613552 w 6258229"/>
                <a:gd name="csY5" fmla="*/ 323237 h 2759487"/>
                <a:gd name="csX6" fmla="*/ 736262 w 6258229"/>
                <a:gd name="csY6" fmla="*/ 359152 h 2759487"/>
                <a:gd name="csX7" fmla="*/ 858973 w 6258229"/>
                <a:gd name="csY7" fmla="*/ 472884 h 2759487"/>
                <a:gd name="csX8" fmla="*/ 981683 w 6258229"/>
                <a:gd name="csY8" fmla="*/ 594098 h 2759487"/>
                <a:gd name="csX9" fmla="*/ 1104393 w 6258229"/>
                <a:gd name="csY9" fmla="*/ 754220 h 2759487"/>
                <a:gd name="csX10" fmla="*/ 1227104 w 6258229"/>
                <a:gd name="csY10" fmla="*/ 818568 h 2759487"/>
                <a:gd name="csX11" fmla="*/ 1349814 w 6258229"/>
                <a:gd name="csY11" fmla="*/ 824554 h 2759487"/>
                <a:gd name="csX12" fmla="*/ 1472525 w 6258229"/>
                <a:gd name="csY12" fmla="*/ 1101400 h 2759487"/>
                <a:gd name="csX13" fmla="*/ 1595235 w 6258229"/>
                <a:gd name="csY13" fmla="*/ 1300430 h 2759487"/>
                <a:gd name="csX14" fmla="*/ 1717945 w 6258229"/>
                <a:gd name="csY14" fmla="*/ 1468035 h 2759487"/>
                <a:gd name="csX15" fmla="*/ 1840656 w 6258229"/>
                <a:gd name="csY15" fmla="*/ 1378247 h 2759487"/>
                <a:gd name="csX16" fmla="*/ 1963366 w 6258229"/>
                <a:gd name="csY16" fmla="*/ 1518915 h 2759487"/>
                <a:gd name="csX17" fmla="*/ 2086076 w 6258229"/>
                <a:gd name="csY17" fmla="*/ 1518915 h 2759487"/>
                <a:gd name="csX18" fmla="*/ 2208787 w 6258229"/>
                <a:gd name="csY18" fmla="*/ 1532383 h 2759487"/>
                <a:gd name="csX19" fmla="*/ 2331497 w 6258229"/>
                <a:gd name="csY19" fmla="*/ 1644618 h 2759487"/>
                <a:gd name="csX20" fmla="*/ 2454207 w 6258229"/>
                <a:gd name="csY20" fmla="*/ 1831677 h 2759487"/>
                <a:gd name="csX21" fmla="*/ 2576918 w 6258229"/>
                <a:gd name="csY21" fmla="*/ 1969352 h 2759487"/>
                <a:gd name="csX22" fmla="*/ 2699628 w 6258229"/>
                <a:gd name="csY22" fmla="*/ 2087573 h 2759487"/>
                <a:gd name="csX23" fmla="*/ 2822338 w 6258229"/>
                <a:gd name="csY23" fmla="*/ 2130970 h 2759487"/>
                <a:gd name="csX24" fmla="*/ 2945049 w 6258229"/>
                <a:gd name="csY24" fmla="*/ 2198311 h 2759487"/>
                <a:gd name="csX25" fmla="*/ 3067760 w 6258229"/>
                <a:gd name="csY25" fmla="*/ 2018735 h 2759487"/>
                <a:gd name="csX26" fmla="*/ 3190470 w 6258229"/>
                <a:gd name="csY26" fmla="*/ 2135460 h 2759487"/>
                <a:gd name="csX27" fmla="*/ 3313180 w 6258229"/>
                <a:gd name="csY27" fmla="*/ 2116005 h 2759487"/>
                <a:gd name="csX28" fmla="*/ 3435890 w 6258229"/>
                <a:gd name="csY28" fmla="*/ 1970848 h 2759487"/>
                <a:gd name="csX29" fmla="*/ 3558601 w 6258229"/>
                <a:gd name="csY29" fmla="*/ 2011253 h 2759487"/>
                <a:gd name="csX30" fmla="*/ 3681311 w 6258229"/>
                <a:gd name="csY30" fmla="*/ 1913982 h 2759487"/>
                <a:gd name="csX31" fmla="*/ 3804021 w 6258229"/>
                <a:gd name="csY31" fmla="*/ 1902011 h 2759487"/>
                <a:gd name="csX32" fmla="*/ 3926732 w 6258229"/>
                <a:gd name="csY32" fmla="*/ 1928947 h 2759487"/>
                <a:gd name="csX33" fmla="*/ 4049442 w 6258229"/>
                <a:gd name="csY33" fmla="*/ 1988806 h 2759487"/>
                <a:gd name="csX34" fmla="*/ 4172153 w 6258229"/>
                <a:gd name="csY34" fmla="*/ 2108523 h 2759487"/>
                <a:gd name="csX35" fmla="*/ 4294863 w 6258229"/>
                <a:gd name="csY35" fmla="*/ 2077097 h 2759487"/>
                <a:gd name="csX36" fmla="*/ 4417573 w 6258229"/>
                <a:gd name="csY36" fmla="*/ 2313539 h 2759487"/>
                <a:gd name="csX37" fmla="*/ 4540284 w 6258229"/>
                <a:gd name="csY37" fmla="*/ 2207290 h 2759487"/>
                <a:gd name="csX38" fmla="*/ 4662994 w 6258229"/>
                <a:gd name="csY38" fmla="*/ 2268645 h 2759487"/>
                <a:gd name="csX39" fmla="*/ 4785705 w 6258229"/>
                <a:gd name="csY39" fmla="*/ 2355440 h 2759487"/>
                <a:gd name="csX40" fmla="*/ 4908415 w 6258229"/>
                <a:gd name="csY40" fmla="*/ 2630790 h 2759487"/>
                <a:gd name="csX41" fmla="*/ 5031125 w 6258229"/>
                <a:gd name="csY41" fmla="*/ 2440739 h 2759487"/>
                <a:gd name="csX42" fmla="*/ 5153836 w 6258229"/>
                <a:gd name="csY42" fmla="*/ 2379384 h 2759487"/>
                <a:gd name="csX43" fmla="*/ 5276546 w 6258229"/>
                <a:gd name="csY43" fmla="*/ 2479647 h 2759487"/>
                <a:gd name="csX44" fmla="*/ 5399256 w 6258229"/>
                <a:gd name="csY44" fmla="*/ 2641266 h 2759487"/>
                <a:gd name="csX45" fmla="*/ 5521967 w 6258229"/>
                <a:gd name="csY45" fmla="*/ 2575421 h 2759487"/>
                <a:gd name="csX46" fmla="*/ 5644677 w 6258229"/>
                <a:gd name="csY46" fmla="*/ 2578414 h 2759487"/>
                <a:gd name="csX47" fmla="*/ 5767388 w 6258229"/>
                <a:gd name="csY47" fmla="*/ 2549981 h 2759487"/>
                <a:gd name="csX48" fmla="*/ 5890098 w 6258229"/>
                <a:gd name="csY48" fmla="*/ 2505087 h 2759487"/>
                <a:gd name="csX49" fmla="*/ 6012808 w 6258229"/>
                <a:gd name="csY49" fmla="*/ 2579910 h 2759487"/>
                <a:gd name="csX50" fmla="*/ 6135519 w 6258229"/>
                <a:gd name="csY50" fmla="*/ 2759487 h 2759487"/>
                <a:gd name="csX51" fmla="*/ 6258229 w 6258229"/>
                <a:gd name="csY51" fmla="*/ 2310546 h 2759487"/>
                <a:gd name="csX0" fmla="*/ 0 w 6135519"/>
                <a:gd name="csY0" fmla="*/ 0 h 2759487"/>
                <a:gd name="csX1" fmla="*/ 122710 w 6135519"/>
                <a:gd name="csY1" fmla="*/ 152640 h 2759487"/>
                <a:gd name="csX2" fmla="*/ 245421 w 6135519"/>
                <a:gd name="csY2" fmla="*/ 121214 h 2759487"/>
                <a:gd name="csX3" fmla="*/ 368131 w 6135519"/>
                <a:gd name="csY3" fmla="*/ 170597 h 2759487"/>
                <a:gd name="csX4" fmla="*/ 490842 w 6135519"/>
                <a:gd name="csY4" fmla="*/ 101760 h 2759487"/>
                <a:gd name="csX5" fmla="*/ 613552 w 6135519"/>
                <a:gd name="csY5" fmla="*/ 323237 h 2759487"/>
                <a:gd name="csX6" fmla="*/ 736262 w 6135519"/>
                <a:gd name="csY6" fmla="*/ 359152 h 2759487"/>
                <a:gd name="csX7" fmla="*/ 858973 w 6135519"/>
                <a:gd name="csY7" fmla="*/ 472884 h 2759487"/>
                <a:gd name="csX8" fmla="*/ 981683 w 6135519"/>
                <a:gd name="csY8" fmla="*/ 594098 h 2759487"/>
                <a:gd name="csX9" fmla="*/ 1104393 w 6135519"/>
                <a:gd name="csY9" fmla="*/ 754220 h 2759487"/>
                <a:gd name="csX10" fmla="*/ 1227104 w 6135519"/>
                <a:gd name="csY10" fmla="*/ 818568 h 2759487"/>
                <a:gd name="csX11" fmla="*/ 1349814 w 6135519"/>
                <a:gd name="csY11" fmla="*/ 824554 h 2759487"/>
                <a:gd name="csX12" fmla="*/ 1472525 w 6135519"/>
                <a:gd name="csY12" fmla="*/ 1101400 h 2759487"/>
                <a:gd name="csX13" fmla="*/ 1595235 w 6135519"/>
                <a:gd name="csY13" fmla="*/ 1300430 h 2759487"/>
                <a:gd name="csX14" fmla="*/ 1717945 w 6135519"/>
                <a:gd name="csY14" fmla="*/ 1468035 h 2759487"/>
                <a:gd name="csX15" fmla="*/ 1840656 w 6135519"/>
                <a:gd name="csY15" fmla="*/ 1378247 h 2759487"/>
                <a:gd name="csX16" fmla="*/ 1963366 w 6135519"/>
                <a:gd name="csY16" fmla="*/ 1518915 h 2759487"/>
                <a:gd name="csX17" fmla="*/ 2086076 w 6135519"/>
                <a:gd name="csY17" fmla="*/ 1518915 h 2759487"/>
                <a:gd name="csX18" fmla="*/ 2208787 w 6135519"/>
                <a:gd name="csY18" fmla="*/ 1532383 h 2759487"/>
                <a:gd name="csX19" fmla="*/ 2331497 w 6135519"/>
                <a:gd name="csY19" fmla="*/ 1644618 h 2759487"/>
                <a:gd name="csX20" fmla="*/ 2454207 w 6135519"/>
                <a:gd name="csY20" fmla="*/ 1831677 h 2759487"/>
                <a:gd name="csX21" fmla="*/ 2576918 w 6135519"/>
                <a:gd name="csY21" fmla="*/ 1969352 h 2759487"/>
                <a:gd name="csX22" fmla="*/ 2699628 w 6135519"/>
                <a:gd name="csY22" fmla="*/ 2087573 h 2759487"/>
                <a:gd name="csX23" fmla="*/ 2822338 w 6135519"/>
                <a:gd name="csY23" fmla="*/ 2130970 h 2759487"/>
                <a:gd name="csX24" fmla="*/ 2945049 w 6135519"/>
                <a:gd name="csY24" fmla="*/ 2198311 h 2759487"/>
                <a:gd name="csX25" fmla="*/ 3067760 w 6135519"/>
                <a:gd name="csY25" fmla="*/ 2018735 h 2759487"/>
                <a:gd name="csX26" fmla="*/ 3190470 w 6135519"/>
                <a:gd name="csY26" fmla="*/ 2135460 h 2759487"/>
                <a:gd name="csX27" fmla="*/ 3313180 w 6135519"/>
                <a:gd name="csY27" fmla="*/ 2116005 h 2759487"/>
                <a:gd name="csX28" fmla="*/ 3435890 w 6135519"/>
                <a:gd name="csY28" fmla="*/ 1970848 h 2759487"/>
                <a:gd name="csX29" fmla="*/ 3558601 w 6135519"/>
                <a:gd name="csY29" fmla="*/ 2011253 h 2759487"/>
                <a:gd name="csX30" fmla="*/ 3681311 w 6135519"/>
                <a:gd name="csY30" fmla="*/ 1913982 h 2759487"/>
                <a:gd name="csX31" fmla="*/ 3804021 w 6135519"/>
                <a:gd name="csY31" fmla="*/ 1902011 h 2759487"/>
                <a:gd name="csX32" fmla="*/ 3926732 w 6135519"/>
                <a:gd name="csY32" fmla="*/ 1928947 h 2759487"/>
                <a:gd name="csX33" fmla="*/ 4049442 w 6135519"/>
                <a:gd name="csY33" fmla="*/ 1988806 h 2759487"/>
                <a:gd name="csX34" fmla="*/ 4172153 w 6135519"/>
                <a:gd name="csY34" fmla="*/ 2108523 h 2759487"/>
                <a:gd name="csX35" fmla="*/ 4294863 w 6135519"/>
                <a:gd name="csY35" fmla="*/ 2077097 h 2759487"/>
                <a:gd name="csX36" fmla="*/ 4417573 w 6135519"/>
                <a:gd name="csY36" fmla="*/ 2313539 h 2759487"/>
                <a:gd name="csX37" fmla="*/ 4540284 w 6135519"/>
                <a:gd name="csY37" fmla="*/ 2207290 h 2759487"/>
                <a:gd name="csX38" fmla="*/ 4662994 w 6135519"/>
                <a:gd name="csY38" fmla="*/ 2268645 h 2759487"/>
                <a:gd name="csX39" fmla="*/ 4785705 w 6135519"/>
                <a:gd name="csY39" fmla="*/ 2355440 h 2759487"/>
                <a:gd name="csX40" fmla="*/ 4908415 w 6135519"/>
                <a:gd name="csY40" fmla="*/ 2630790 h 2759487"/>
                <a:gd name="csX41" fmla="*/ 5031125 w 6135519"/>
                <a:gd name="csY41" fmla="*/ 2440739 h 2759487"/>
                <a:gd name="csX42" fmla="*/ 5153836 w 6135519"/>
                <a:gd name="csY42" fmla="*/ 2379384 h 2759487"/>
                <a:gd name="csX43" fmla="*/ 5276546 w 6135519"/>
                <a:gd name="csY43" fmla="*/ 2479647 h 2759487"/>
                <a:gd name="csX44" fmla="*/ 5399256 w 6135519"/>
                <a:gd name="csY44" fmla="*/ 2641266 h 2759487"/>
                <a:gd name="csX45" fmla="*/ 5521967 w 6135519"/>
                <a:gd name="csY45" fmla="*/ 2575421 h 2759487"/>
                <a:gd name="csX46" fmla="*/ 5644677 w 6135519"/>
                <a:gd name="csY46" fmla="*/ 2578414 h 2759487"/>
                <a:gd name="csX47" fmla="*/ 5767388 w 6135519"/>
                <a:gd name="csY47" fmla="*/ 2549981 h 2759487"/>
                <a:gd name="csX48" fmla="*/ 5890098 w 6135519"/>
                <a:gd name="csY48" fmla="*/ 2505087 h 2759487"/>
                <a:gd name="csX49" fmla="*/ 6012808 w 6135519"/>
                <a:gd name="csY49" fmla="*/ 2579910 h 2759487"/>
                <a:gd name="csX50" fmla="*/ 6135519 w 6135519"/>
                <a:gd name="csY50" fmla="*/ 2759487 h 27594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</a:cxnLst>
              <a:rect l="l" t="t" r="r" b="b"/>
              <a:pathLst>
                <a:path w="6135519" h="2759487">
                  <a:moveTo>
                    <a:pt x="0" y="0"/>
                  </a:moveTo>
                  <a:lnTo>
                    <a:pt x="122710" y="152640"/>
                  </a:lnTo>
                  <a:lnTo>
                    <a:pt x="245421" y="121214"/>
                  </a:lnTo>
                  <a:lnTo>
                    <a:pt x="368131" y="170597"/>
                  </a:lnTo>
                  <a:lnTo>
                    <a:pt x="490842" y="101760"/>
                  </a:lnTo>
                  <a:lnTo>
                    <a:pt x="613552" y="323237"/>
                  </a:lnTo>
                  <a:lnTo>
                    <a:pt x="736262" y="359152"/>
                  </a:lnTo>
                  <a:lnTo>
                    <a:pt x="858973" y="472884"/>
                  </a:lnTo>
                  <a:lnTo>
                    <a:pt x="981683" y="594098"/>
                  </a:lnTo>
                  <a:lnTo>
                    <a:pt x="1104393" y="754220"/>
                  </a:lnTo>
                  <a:lnTo>
                    <a:pt x="1227104" y="818568"/>
                  </a:lnTo>
                  <a:lnTo>
                    <a:pt x="1349814" y="824554"/>
                  </a:lnTo>
                  <a:lnTo>
                    <a:pt x="1472525" y="1101400"/>
                  </a:lnTo>
                  <a:lnTo>
                    <a:pt x="1595235" y="1300430"/>
                  </a:lnTo>
                  <a:lnTo>
                    <a:pt x="1717945" y="1468035"/>
                  </a:lnTo>
                  <a:lnTo>
                    <a:pt x="1840656" y="1378247"/>
                  </a:lnTo>
                  <a:lnTo>
                    <a:pt x="1963366" y="1518915"/>
                  </a:lnTo>
                  <a:lnTo>
                    <a:pt x="2086076" y="1518915"/>
                  </a:lnTo>
                  <a:lnTo>
                    <a:pt x="2208787" y="1532383"/>
                  </a:lnTo>
                  <a:lnTo>
                    <a:pt x="2331497" y="1644618"/>
                  </a:lnTo>
                  <a:lnTo>
                    <a:pt x="2454207" y="1831677"/>
                  </a:lnTo>
                  <a:lnTo>
                    <a:pt x="2576918" y="1969352"/>
                  </a:lnTo>
                  <a:lnTo>
                    <a:pt x="2699628" y="2087573"/>
                  </a:lnTo>
                  <a:lnTo>
                    <a:pt x="2822338" y="2130970"/>
                  </a:lnTo>
                  <a:lnTo>
                    <a:pt x="2945049" y="2198311"/>
                  </a:lnTo>
                  <a:lnTo>
                    <a:pt x="3067760" y="2018735"/>
                  </a:lnTo>
                  <a:lnTo>
                    <a:pt x="3190470" y="2135460"/>
                  </a:lnTo>
                  <a:lnTo>
                    <a:pt x="3313180" y="2116005"/>
                  </a:lnTo>
                  <a:lnTo>
                    <a:pt x="3435890" y="1970848"/>
                  </a:lnTo>
                  <a:lnTo>
                    <a:pt x="3558601" y="2011253"/>
                  </a:lnTo>
                  <a:lnTo>
                    <a:pt x="3681311" y="1913982"/>
                  </a:lnTo>
                  <a:lnTo>
                    <a:pt x="3804021" y="1902011"/>
                  </a:lnTo>
                  <a:lnTo>
                    <a:pt x="3926732" y="1928947"/>
                  </a:lnTo>
                  <a:lnTo>
                    <a:pt x="4049442" y="1988806"/>
                  </a:lnTo>
                  <a:lnTo>
                    <a:pt x="4172153" y="2108523"/>
                  </a:lnTo>
                  <a:lnTo>
                    <a:pt x="4294863" y="2077097"/>
                  </a:lnTo>
                  <a:lnTo>
                    <a:pt x="4417573" y="2313539"/>
                  </a:lnTo>
                  <a:lnTo>
                    <a:pt x="4540284" y="2207290"/>
                  </a:lnTo>
                  <a:lnTo>
                    <a:pt x="4662994" y="2268645"/>
                  </a:lnTo>
                  <a:lnTo>
                    <a:pt x="4785705" y="2355440"/>
                  </a:lnTo>
                  <a:lnTo>
                    <a:pt x="4908415" y="2630790"/>
                  </a:lnTo>
                  <a:lnTo>
                    <a:pt x="5031125" y="2440739"/>
                  </a:lnTo>
                  <a:lnTo>
                    <a:pt x="5153836" y="2379384"/>
                  </a:lnTo>
                  <a:lnTo>
                    <a:pt x="5276546" y="2479647"/>
                  </a:lnTo>
                  <a:lnTo>
                    <a:pt x="5399256" y="2641266"/>
                  </a:lnTo>
                  <a:lnTo>
                    <a:pt x="5521967" y="2575421"/>
                  </a:lnTo>
                  <a:lnTo>
                    <a:pt x="5644677" y="2578414"/>
                  </a:lnTo>
                  <a:lnTo>
                    <a:pt x="5767388" y="2549981"/>
                  </a:lnTo>
                  <a:lnTo>
                    <a:pt x="5890098" y="2505087"/>
                  </a:lnTo>
                  <a:lnTo>
                    <a:pt x="6012808" y="2579910"/>
                  </a:lnTo>
                  <a:lnTo>
                    <a:pt x="6135519" y="2759487"/>
                  </a:lnTo>
                </a:path>
              </a:pathLst>
            </a:custGeom>
            <a:noFill/>
            <a:ln w="23918" cap="flat">
              <a:solidFill>
                <a:srgbClr val="29B6A4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52FBC82-F5A2-6BD4-DAB5-C90275F75F79}"/>
                </a:ext>
              </a:extLst>
            </p:cNvPr>
            <p:cNvSpPr/>
            <p:nvPr/>
          </p:nvSpPr>
          <p:spPr>
            <a:xfrm>
              <a:off x="620980" y="1603992"/>
              <a:ext cx="137160" cy="137160"/>
            </a:xfrm>
            <a:prstGeom prst="ellipse">
              <a:avLst/>
            </a:prstGeom>
            <a:solidFill>
              <a:srgbClr val="29B6A4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8C0875AD-A1B8-F077-EF01-BA738FEBE750}"/>
                </a:ext>
              </a:extLst>
            </p:cNvPr>
            <p:cNvCxnSpPr>
              <a:cxnSpLocks/>
            </p:cNvCxnSpPr>
            <p:nvPr/>
          </p:nvCxnSpPr>
          <p:spPr>
            <a:xfrm>
              <a:off x="688495" y="6026326"/>
              <a:ext cx="10593307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5E79C41C-1217-CD15-3DC7-6849B8635EA5}"/>
                </a:ext>
              </a:extLst>
            </p:cNvPr>
            <p:cNvSpPr txBox="1"/>
            <p:nvPr/>
          </p:nvSpPr>
          <p:spPr>
            <a:xfrm>
              <a:off x="688495" y="5608303"/>
              <a:ext cx="2404826" cy="3944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/>
                  <a:solidFill>
                    <a:srgbClr val="000000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+mn-cs"/>
                  <a:sym typeface="Lucida Sans"/>
                  <a:rtl val="0"/>
                </a:rPr>
                <a:t>Child's Year of Birth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FC42B74-69B4-8598-D4B8-B84DB3277E11}"/>
                </a:ext>
              </a:extLst>
            </p:cNvPr>
            <p:cNvSpPr txBox="1"/>
            <p:nvPr/>
          </p:nvSpPr>
          <p:spPr>
            <a:xfrm>
              <a:off x="2643083" y="6064887"/>
              <a:ext cx="855355" cy="361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srgbClr val="000000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  <a:sym typeface="Lucida Sans"/>
                  <a:rtl val="0"/>
                </a:rPr>
                <a:t>1950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C3AB2E8-5E04-FAD1-B3F8-AB5F2238C925}"/>
                </a:ext>
              </a:extLst>
            </p:cNvPr>
            <p:cNvSpPr txBox="1"/>
            <p:nvPr/>
          </p:nvSpPr>
          <p:spPr>
            <a:xfrm>
              <a:off x="6662929" y="6064887"/>
              <a:ext cx="855355" cy="361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srgbClr val="000000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  <a:sym typeface="Lucida Sans"/>
                  <a:rtl val="0"/>
                </a:rPr>
                <a:t>1970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77DC3ED-66BF-D94B-5E2E-41AD33932969}"/>
                </a:ext>
              </a:extLst>
            </p:cNvPr>
            <p:cNvSpPr txBox="1"/>
            <p:nvPr/>
          </p:nvSpPr>
          <p:spPr>
            <a:xfrm>
              <a:off x="10681970" y="6064887"/>
              <a:ext cx="855355" cy="361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srgbClr val="000000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  <a:sym typeface="Lucida Sans"/>
                  <a:rtl val="0"/>
                </a:rPr>
                <a:t>1990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C526C8D-9EA5-823B-357E-9B7BC5E39C79}"/>
                </a:ext>
              </a:extLst>
            </p:cNvPr>
            <p:cNvSpPr txBox="1"/>
            <p:nvPr/>
          </p:nvSpPr>
          <p:spPr>
            <a:xfrm>
              <a:off x="2534748" y="2187698"/>
              <a:ext cx="1310333" cy="3944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9B6A4"/>
                  </a:solidFill>
                  <a:effectLst/>
                  <a:uLnTx/>
                  <a:uFillTx/>
                  <a:latin typeface="Lucida Bright" panose="02040602050505020304" pitchFamily="18" charset="0"/>
                  <a:ea typeface="+mn-ea"/>
                  <a:cs typeface="+mn-cs"/>
                </a:rPr>
                <a:t>79% 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AAE04BD6-E1FE-57CE-C9E4-43D14F9C76B5}"/>
                </a:ext>
              </a:extLst>
            </p:cNvPr>
            <p:cNvSpPr/>
            <p:nvPr/>
          </p:nvSpPr>
          <p:spPr>
            <a:xfrm>
              <a:off x="2705117" y="2862101"/>
              <a:ext cx="137160" cy="137160"/>
            </a:xfrm>
            <a:custGeom>
              <a:avLst/>
              <a:gdLst>
                <a:gd name="connsiteX0" fmla="*/ 0 w 114535"/>
                <a:gd name="connsiteY0" fmla="*/ 54962 h 109924"/>
                <a:gd name="connsiteX1" fmla="*/ 57268 w 114535"/>
                <a:gd name="connsiteY1" fmla="*/ 0 h 109924"/>
                <a:gd name="connsiteX2" fmla="*/ 114536 w 114535"/>
                <a:gd name="connsiteY2" fmla="*/ 54962 h 109924"/>
                <a:gd name="connsiteX3" fmla="*/ 57268 w 114535"/>
                <a:gd name="connsiteY3" fmla="*/ 109924 h 109924"/>
                <a:gd name="connsiteX4" fmla="*/ 0 w 114535"/>
                <a:gd name="connsiteY4" fmla="*/ 54962 h 10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535" h="109924">
                  <a:moveTo>
                    <a:pt x="0" y="54962"/>
                  </a:moveTo>
                  <a:cubicBezTo>
                    <a:pt x="0" y="24615"/>
                    <a:pt x="25643" y="0"/>
                    <a:pt x="57268" y="0"/>
                  </a:cubicBezTo>
                  <a:cubicBezTo>
                    <a:pt x="88893" y="0"/>
                    <a:pt x="114536" y="24615"/>
                    <a:pt x="114536" y="54962"/>
                  </a:cubicBezTo>
                  <a:cubicBezTo>
                    <a:pt x="114536" y="85310"/>
                    <a:pt x="88893" y="109924"/>
                    <a:pt x="57268" y="109924"/>
                  </a:cubicBezTo>
                  <a:cubicBezTo>
                    <a:pt x="25643" y="109924"/>
                    <a:pt x="0" y="85310"/>
                    <a:pt x="0" y="54962"/>
                  </a:cubicBezTo>
                  <a:close/>
                </a:path>
              </a:pathLst>
            </a:custGeom>
            <a:solidFill>
              <a:srgbClr val="29B6A4"/>
            </a:solidFill>
            <a:ln w="27294" cap="flat">
              <a:solidFill>
                <a:srgbClr val="29B6A4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48D4E7C9-1EEB-5C84-B48C-18A4EEF703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72096" y="2560683"/>
              <a:ext cx="0" cy="258671"/>
            </a:xfrm>
            <a:prstGeom prst="line">
              <a:avLst/>
            </a:prstGeom>
            <a:ln>
              <a:solidFill>
                <a:srgbClr val="29B6A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6509B492-D27A-AE98-73D4-6C05D3F8669F}"/>
                </a:ext>
              </a:extLst>
            </p:cNvPr>
            <p:cNvSpPr txBox="1"/>
            <p:nvPr/>
          </p:nvSpPr>
          <p:spPr>
            <a:xfrm>
              <a:off x="4551623" y="3323229"/>
              <a:ext cx="1310333" cy="3944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9B6A4"/>
                  </a:solidFill>
                  <a:effectLst/>
                  <a:uLnTx/>
                  <a:uFillTx/>
                  <a:latin typeface="Lucida Bright" panose="02040602050505020304" pitchFamily="18" charset="0"/>
                  <a:ea typeface="+mn-ea"/>
                  <a:cs typeface="+mn-cs"/>
                </a:rPr>
                <a:t>62% 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B9727C33-99EC-D477-6DC4-3F4C4E6AC176}"/>
                </a:ext>
              </a:extLst>
            </p:cNvPr>
            <p:cNvSpPr/>
            <p:nvPr/>
          </p:nvSpPr>
          <p:spPr>
            <a:xfrm>
              <a:off x="4695696" y="4454890"/>
              <a:ext cx="137160" cy="137160"/>
            </a:xfrm>
            <a:custGeom>
              <a:avLst/>
              <a:gdLst>
                <a:gd name="connsiteX0" fmla="*/ 0 w 114535"/>
                <a:gd name="connsiteY0" fmla="*/ 54962 h 109924"/>
                <a:gd name="connsiteX1" fmla="*/ 57268 w 114535"/>
                <a:gd name="connsiteY1" fmla="*/ 0 h 109924"/>
                <a:gd name="connsiteX2" fmla="*/ 114536 w 114535"/>
                <a:gd name="connsiteY2" fmla="*/ 54962 h 109924"/>
                <a:gd name="connsiteX3" fmla="*/ 57268 w 114535"/>
                <a:gd name="connsiteY3" fmla="*/ 109924 h 109924"/>
                <a:gd name="connsiteX4" fmla="*/ 0 w 114535"/>
                <a:gd name="connsiteY4" fmla="*/ 54962 h 10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535" h="109924">
                  <a:moveTo>
                    <a:pt x="0" y="54962"/>
                  </a:moveTo>
                  <a:cubicBezTo>
                    <a:pt x="0" y="24615"/>
                    <a:pt x="25643" y="0"/>
                    <a:pt x="57268" y="0"/>
                  </a:cubicBezTo>
                  <a:cubicBezTo>
                    <a:pt x="88893" y="0"/>
                    <a:pt x="114536" y="24615"/>
                    <a:pt x="114536" y="54962"/>
                  </a:cubicBezTo>
                  <a:cubicBezTo>
                    <a:pt x="114536" y="85310"/>
                    <a:pt x="88893" y="109924"/>
                    <a:pt x="57268" y="109924"/>
                  </a:cubicBezTo>
                  <a:cubicBezTo>
                    <a:pt x="25643" y="109924"/>
                    <a:pt x="0" y="85310"/>
                    <a:pt x="0" y="54962"/>
                  </a:cubicBezTo>
                  <a:close/>
                </a:path>
              </a:pathLst>
            </a:custGeom>
            <a:solidFill>
              <a:srgbClr val="29B6A4"/>
            </a:solidFill>
            <a:ln w="27294" cap="flat">
              <a:solidFill>
                <a:srgbClr val="29B6A4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A1FA80F2-5C9C-0A49-BB1E-CFBDEE78E1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62674" y="3689350"/>
              <a:ext cx="0" cy="778129"/>
            </a:xfrm>
            <a:prstGeom prst="line">
              <a:avLst/>
            </a:prstGeom>
            <a:ln>
              <a:solidFill>
                <a:srgbClr val="29B6A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D7AC6C22-C98D-EBC6-751F-FA70C8C3AB44}"/>
                </a:ext>
              </a:extLst>
            </p:cNvPr>
            <p:cNvSpPr/>
            <p:nvPr/>
          </p:nvSpPr>
          <p:spPr>
            <a:xfrm>
              <a:off x="6711490" y="4512675"/>
              <a:ext cx="137160" cy="137160"/>
            </a:xfrm>
            <a:custGeom>
              <a:avLst/>
              <a:gdLst>
                <a:gd name="connsiteX0" fmla="*/ 0 w 114535"/>
                <a:gd name="connsiteY0" fmla="*/ 54962 h 109924"/>
                <a:gd name="connsiteX1" fmla="*/ 57268 w 114535"/>
                <a:gd name="connsiteY1" fmla="*/ 0 h 109924"/>
                <a:gd name="connsiteX2" fmla="*/ 114536 w 114535"/>
                <a:gd name="connsiteY2" fmla="*/ 54962 h 109924"/>
                <a:gd name="connsiteX3" fmla="*/ 57268 w 114535"/>
                <a:gd name="connsiteY3" fmla="*/ 109924 h 109924"/>
                <a:gd name="connsiteX4" fmla="*/ 0 w 114535"/>
                <a:gd name="connsiteY4" fmla="*/ 54962 h 10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535" h="109924">
                  <a:moveTo>
                    <a:pt x="0" y="54962"/>
                  </a:moveTo>
                  <a:cubicBezTo>
                    <a:pt x="0" y="24615"/>
                    <a:pt x="25643" y="0"/>
                    <a:pt x="57268" y="0"/>
                  </a:cubicBezTo>
                  <a:cubicBezTo>
                    <a:pt x="88893" y="0"/>
                    <a:pt x="114536" y="24615"/>
                    <a:pt x="114536" y="54962"/>
                  </a:cubicBezTo>
                  <a:cubicBezTo>
                    <a:pt x="114536" y="85310"/>
                    <a:pt x="88893" y="109924"/>
                    <a:pt x="57268" y="109924"/>
                  </a:cubicBezTo>
                  <a:cubicBezTo>
                    <a:pt x="25643" y="109924"/>
                    <a:pt x="0" y="85310"/>
                    <a:pt x="0" y="54962"/>
                  </a:cubicBezTo>
                  <a:close/>
                </a:path>
              </a:pathLst>
            </a:custGeom>
            <a:solidFill>
              <a:srgbClr val="29B6A4"/>
            </a:solidFill>
            <a:ln w="27294" cap="flat">
              <a:solidFill>
                <a:srgbClr val="29B6A4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022108CE-6847-B37C-6739-84049193C66A}"/>
                </a:ext>
              </a:extLst>
            </p:cNvPr>
            <p:cNvSpPr txBox="1"/>
            <p:nvPr/>
          </p:nvSpPr>
          <p:spPr>
            <a:xfrm>
              <a:off x="6541409" y="3625399"/>
              <a:ext cx="1310333" cy="3944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9B6A4"/>
                  </a:solidFill>
                  <a:effectLst/>
                  <a:uLnTx/>
                  <a:uFillTx/>
                  <a:latin typeface="Lucida Bright" panose="02040602050505020304" pitchFamily="18" charset="0"/>
                  <a:ea typeface="+mn-ea"/>
                  <a:cs typeface="+mn-cs"/>
                </a:rPr>
                <a:t>61% 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10AD6D6F-6C28-5D63-108D-FE7E2F363E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78467" y="3997959"/>
              <a:ext cx="0" cy="514717"/>
            </a:xfrm>
            <a:prstGeom prst="line">
              <a:avLst/>
            </a:prstGeom>
            <a:ln>
              <a:solidFill>
                <a:srgbClr val="29B6A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41107B1-7807-06C4-B070-CA362806A380}"/>
                </a:ext>
              </a:extLst>
            </p:cNvPr>
            <p:cNvSpPr/>
            <p:nvPr/>
          </p:nvSpPr>
          <p:spPr>
            <a:xfrm>
              <a:off x="8672450" y="5570712"/>
              <a:ext cx="137160" cy="137160"/>
            </a:xfrm>
            <a:custGeom>
              <a:avLst/>
              <a:gdLst>
                <a:gd name="connsiteX0" fmla="*/ 0 w 111108"/>
                <a:gd name="connsiteY0" fmla="*/ 53248 h 106497"/>
                <a:gd name="connsiteX1" fmla="*/ 55554 w 111108"/>
                <a:gd name="connsiteY1" fmla="*/ 0 h 106497"/>
                <a:gd name="connsiteX2" fmla="*/ 111108 w 111108"/>
                <a:gd name="connsiteY2" fmla="*/ 53248 h 106497"/>
                <a:gd name="connsiteX3" fmla="*/ 55554 w 111108"/>
                <a:gd name="connsiteY3" fmla="*/ 106497 h 106497"/>
                <a:gd name="connsiteX4" fmla="*/ 0 w 111108"/>
                <a:gd name="connsiteY4" fmla="*/ 53248 h 10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108" h="106497">
                  <a:moveTo>
                    <a:pt x="0" y="53248"/>
                  </a:moveTo>
                  <a:cubicBezTo>
                    <a:pt x="0" y="23836"/>
                    <a:pt x="24895" y="0"/>
                    <a:pt x="55554" y="0"/>
                  </a:cubicBezTo>
                  <a:cubicBezTo>
                    <a:pt x="86213" y="0"/>
                    <a:pt x="111108" y="23836"/>
                    <a:pt x="111108" y="53248"/>
                  </a:cubicBezTo>
                  <a:cubicBezTo>
                    <a:pt x="111108" y="82661"/>
                    <a:pt x="86213" y="106497"/>
                    <a:pt x="55554" y="106497"/>
                  </a:cubicBezTo>
                  <a:cubicBezTo>
                    <a:pt x="24895" y="106497"/>
                    <a:pt x="0" y="82661"/>
                    <a:pt x="0" y="53248"/>
                  </a:cubicBezTo>
                  <a:close/>
                </a:path>
              </a:pathLst>
            </a:custGeom>
            <a:solidFill>
              <a:srgbClr val="29B6A4"/>
            </a:solidFill>
            <a:ln w="27294" cap="flat">
              <a:solidFill>
                <a:srgbClr val="29B6A4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5149607-F422-73F9-5138-CE1EE057D1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1323" y="4863625"/>
              <a:ext cx="0" cy="707087"/>
            </a:xfrm>
            <a:prstGeom prst="line">
              <a:avLst/>
            </a:prstGeom>
            <a:ln>
              <a:solidFill>
                <a:srgbClr val="29B6A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BA5C703-963F-3576-E9C7-D6CFC620B1BA}"/>
                </a:ext>
              </a:extLst>
            </p:cNvPr>
            <p:cNvSpPr txBox="1"/>
            <p:nvPr/>
          </p:nvSpPr>
          <p:spPr>
            <a:xfrm>
              <a:off x="8515794" y="4433783"/>
              <a:ext cx="1310333" cy="3944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9B6A4"/>
                  </a:solidFill>
                  <a:effectLst/>
                  <a:uLnTx/>
                  <a:uFillTx/>
                  <a:latin typeface="Lucida Bright" panose="02040602050505020304" pitchFamily="18" charset="0"/>
                  <a:ea typeface="+mn-ea"/>
                  <a:cs typeface="+mn-cs"/>
                </a:rPr>
                <a:t>50% 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BD14568-5450-B0B9-DAE4-CE5BA1F3AD0D}"/>
                </a:ext>
              </a:extLst>
            </p:cNvPr>
            <p:cNvSpPr/>
            <p:nvPr/>
          </p:nvSpPr>
          <p:spPr>
            <a:xfrm>
              <a:off x="10681970" y="5782239"/>
              <a:ext cx="137160" cy="137160"/>
            </a:xfrm>
            <a:custGeom>
              <a:avLst/>
              <a:gdLst>
                <a:gd name="connsiteX0" fmla="*/ 0 w 111108"/>
                <a:gd name="connsiteY0" fmla="*/ 53248 h 106497"/>
                <a:gd name="connsiteX1" fmla="*/ 55554 w 111108"/>
                <a:gd name="connsiteY1" fmla="*/ 0 h 106497"/>
                <a:gd name="connsiteX2" fmla="*/ 111108 w 111108"/>
                <a:gd name="connsiteY2" fmla="*/ 53248 h 106497"/>
                <a:gd name="connsiteX3" fmla="*/ 55554 w 111108"/>
                <a:gd name="connsiteY3" fmla="*/ 106497 h 106497"/>
                <a:gd name="connsiteX4" fmla="*/ 0 w 111108"/>
                <a:gd name="connsiteY4" fmla="*/ 53248 h 10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108" h="106497">
                  <a:moveTo>
                    <a:pt x="0" y="53248"/>
                  </a:moveTo>
                  <a:cubicBezTo>
                    <a:pt x="0" y="23836"/>
                    <a:pt x="24895" y="0"/>
                    <a:pt x="55554" y="0"/>
                  </a:cubicBezTo>
                  <a:cubicBezTo>
                    <a:pt x="86213" y="0"/>
                    <a:pt x="111108" y="23836"/>
                    <a:pt x="111108" y="53248"/>
                  </a:cubicBezTo>
                  <a:cubicBezTo>
                    <a:pt x="111108" y="82661"/>
                    <a:pt x="86213" y="106497"/>
                    <a:pt x="55554" y="106497"/>
                  </a:cubicBezTo>
                  <a:cubicBezTo>
                    <a:pt x="24895" y="106497"/>
                    <a:pt x="0" y="82661"/>
                    <a:pt x="0" y="53248"/>
                  </a:cubicBezTo>
                  <a:close/>
                </a:path>
              </a:pathLst>
            </a:custGeom>
            <a:solidFill>
              <a:srgbClr val="29B6A4"/>
            </a:solidFill>
            <a:ln w="27294" cap="flat">
              <a:solidFill>
                <a:srgbClr val="29B6A4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7849377A-79A0-B4CD-DB39-2D84F86A41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4372" y="4255317"/>
              <a:ext cx="0" cy="1526922"/>
            </a:xfrm>
            <a:prstGeom prst="line">
              <a:avLst/>
            </a:prstGeom>
            <a:ln>
              <a:solidFill>
                <a:srgbClr val="29B6A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ACF8293A-65FF-812E-5F08-53AE9E5874AB}"/>
                </a:ext>
              </a:extLst>
            </p:cNvPr>
            <p:cNvSpPr txBox="1"/>
            <p:nvPr/>
          </p:nvSpPr>
          <p:spPr>
            <a:xfrm>
              <a:off x="9049257" y="3508553"/>
              <a:ext cx="2030187" cy="690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125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+mn-cs"/>
                </a:rPr>
                <a:t>Today, only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+mn-cs"/>
                </a:rPr>
                <a:t>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9B6A4"/>
                  </a:solidFill>
                  <a:effectLst/>
                  <a:uLnTx/>
                  <a:uFillTx/>
                  <a:latin typeface="Lucida Bright" panose="02040602050505020304" pitchFamily="18" charset="0"/>
                  <a:ea typeface="+mn-ea"/>
                  <a:cs typeface="+mn-cs"/>
                </a:rPr>
                <a:t>48%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+mn-cs"/>
                </a:rPr>
                <a:t> of children will.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4766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94"/>
          <p:cNvSpPr>
            <a:spLocks noChangeAspect="1" noChangeArrowheads="1" noTextEdit="1"/>
          </p:cNvSpPr>
          <p:nvPr/>
        </p:nvSpPr>
        <p:spPr bwMode="auto">
          <a:xfrm>
            <a:off x="1524057" y="277836"/>
            <a:ext cx="9144001" cy="665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52" tIns="45718" rIns="91152" bIns="4571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3" name="Rectangle 183"/>
          <p:cNvSpPr>
            <a:spLocks noChangeArrowheads="1"/>
          </p:cNvSpPr>
          <p:nvPr/>
        </p:nvSpPr>
        <p:spPr bwMode="auto">
          <a:xfrm>
            <a:off x="6462351" y="598576"/>
            <a:ext cx="10099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endParaRPr kumimoji="0" lang="en-US" alt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C144076C-FAF2-46A8-B1E5-4D9973586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36" y="375319"/>
            <a:ext cx="10960793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The Geography of Upward Mobility in the United States, by County</a:t>
            </a: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Average Household Income at Age 35 for Children Born in 1978 whose Parents Earned $41K (25th percentile)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DEBC73-9B1B-8751-69C9-AA305EB2761E}"/>
              </a:ext>
            </a:extLst>
          </p:cNvPr>
          <p:cNvSpPr txBox="1"/>
          <p:nvPr/>
        </p:nvSpPr>
        <p:spPr>
          <a:xfrm>
            <a:off x="568592" y="6483107"/>
            <a:ext cx="8839200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Chetty, Hendren, Kline, Saez (QJE 2014)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Lato" panose="020F0502020204030203" pitchFamily="34" charset="0"/>
              <a:cs typeface="Arial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68C462-9588-158B-E3DE-994CA0FEF78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6174" y="1047755"/>
            <a:ext cx="10134141" cy="6333838"/>
          </a:xfrm>
          <a:prstGeom prst="rect">
            <a:avLst/>
          </a:prstGeom>
        </p:spPr>
      </p:pic>
      <p:sp>
        <p:nvSpPr>
          <p:cNvPr id="88" name="Oval 87">
            <a:extLst>
              <a:ext uri="{FF2B5EF4-FFF2-40B4-BE49-F238E27FC236}">
                <a16:creationId xmlns:a16="http://schemas.microsoft.com/office/drawing/2014/main" id="{D6A93572-C3AE-A494-BCCD-74E9DA4F6C08}"/>
              </a:ext>
            </a:extLst>
          </p:cNvPr>
          <p:cNvSpPr>
            <a:spLocks noChangeAspect="1"/>
          </p:cNvSpPr>
          <p:nvPr/>
        </p:nvSpPr>
        <p:spPr>
          <a:xfrm>
            <a:off x="8063996" y="4016999"/>
            <a:ext cx="106521" cy="102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034" tIns="45710" rIns="91034" bIns="45710" rtlCol="0" anchor="ctr"/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797A96CC-7F63-4580-B7E4-70C88024006D}"/>
              </a:ext>
            </a:extLst>
          </p:cNvPr>
          <p:cNvSpPr>
            <a:spLocks noChangeAspect="1"/>
          </p:cNvSpPr>
          <p:nvPr/>
        </p:nvSpPr>
        <p:spPr>
          <a:xfrm>
            <a:off x="2317123" y="1879720"/>
            <a:ext cx="106521" cy="102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034" tIns="45710" rIns="91034" bIns="45710" rtlCol="0" anchor="ctr"/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41D3BA3C-412F-E23D-3227-8C764A6EECFA}"/>
              </a:ext>
            </a:extLst>
          </p:cNvPr>
          <p:cNvSpPr>
            <a:spLocks noChangeAspect="1"/>
          </p:cNvSpPr>
          <p:nvPr/>
        </p:nvSpPr>
        <p:spPr>
          <a:xfrm>
            <a:off x="5517652" y="5198509"/>
            <a:ext cx="106521" cy="102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044" tIns="45710" rIns="91044" bIns="45710" rtlCol="0" anchor="ctr"/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5C33559E-09EA-D79E-40DB-DE98A084E9A7}"/>
              </a:ext>
            </a:extLst>
          </p:cNvPr>
          <p:cNvSpPr>
            <a:spLocks noChangeAspect="1"/>
          </p:cNvSpPr>
          <p:nvPr/>
        </p:nvSpPr>
        <p:spPr>
          <a:xfrm>
            <a:off x="7560625" y="3268203"/>
            <a:ext cx="106521" cy="102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034" tIns="45710" rIns="91034" bIns="45710" rtlCol="0" anchor="ctr"/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74F1B81C-97D0-DEFD-EF29-C85F310A6056}"/>
              </a:ext>
            </a:extLst>
          </p:cNvPr>
          <p:cNvSpPr>
            <a:spLocks noChangeAspect="1"/>
          </p:cNvSpPr>
          <p:nvPr/>
        </p:nvSpPr>
        <p:spPr>
          <a:xfrm>
            <a:off x="8050029" y="3092822"/>
            <a:ext cx="106521" cy="102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044" tIns="45710" rIns="91044" bIns="45710" rtlCol="0" anchor="ctr"/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9EC11F6-FB26-FBB8-627F-DD94AC67EDCD}"/>
              </a:ext>
            </a:extLst>
          </p:cNvPr>
          <p:cNvSpPr txBox="1"/>
          <p:nvPr/>
        </p:nvSpPr>
        <p:spPr>
          <a:xfrm>
            <a:off x="8814607" y="4496750"/>
            <a:ext cx="2050490" cy="523200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Charlotte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$39K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27945D3-E890-20F9-CC72-14BC314A0193}"/>
              </a:ext>
            </a:extLst>
          </p:cNvPr>
          <p:cNvSpPr txBox="1"/>
          <p:nvPr/>
        </p:nvSpPr>
        <p:spPr>
          <a:xfrm>
            <a:off x="1144476" y="1546181"/>
            <a:ext cx="1014737" cy="523200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Portland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$50K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96A210E-945C-31AC-68E3-71CD31FF0732}"/>
              </a:ext>
            </a:extLst>
          </p:cNvPr>
          <p:cNvSpPr/>
          <p:nvPr/>
        </p:nvSpPr>
        <p:spPr>
          <a:xfrm>
            <a:off x="6584673" y="1403227"/>
            <a:ext cx="1285212" cy="553816"/>
          </a:xfrm>
          <a:prstGeom prst="rect">
            <a:avLst/>
          </a:prstGeom>
        </p:spPr>
        <p:txBody>
          <a:bodyPr wrap="square" lIns="121741" tIns="60870" rIns="121741" bIns="60870">
            <a:spAutoFit/>
          </a:bodyPr>
          <a:lstStyle/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Columbus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$42K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9E9A0FA-FCD3-FDAE-E176-4EEEF6CAA56B}"/>
              </a:ext>
            </a:extLst>
          </p:cNvPr>
          <p:cNvSpPr/>
          <p:nvPr/>
        </p:nvSpPr>
        <p:spPr>
          <a:xfrm>
            <a:off x="4592516" y="5891976"/>
            <a:ext cx="1813323" cy="553816"/>
          </a:xfrm>
          <a:prstGeom prst="rect">
            <a:avLst/>
          </a:prstGeom>
        </p:spPr>
        <p:txBody>
          <a:bodyPr wrap="square" lIns="121741" tIns="60870" rIns="121741" bIns="60870">
            <a:spAutoFit/>
          </a:bodyPr>
          <a:lstStyle/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Austin</a:t>
            </a:r>
          </a:p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$47K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6415AC4-BB04-8C17-BE1A-F13D7A967205}"/>
              </a:ext>
            </a:extLst>
          </p:cNvPr>
          <p:cNvSpPr/>
          <p:nvPr/>
        </p:nvSpPr>
        <p:spPr>
          <a:xfrm>
            <a:off x="7851108" y="1448925"/>
            <a:ext cx="2634589" cy="553816"/>
          </a:xfrm>
          <a:prstGeom prst="rect">
            <a:avLst/>
          </a:prstGeom>
        </p:spPr>
        <p:txBody>
          <a:bodyPr wrap="square" lIns="121741" tIns="60870" rIns="121741" bIns="60870">
            <a:spAutoFit/>
          </a:bodyPr>
          <a:lstStyle/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Pittsburgh</a:t>
            </a:r>
          </a:p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$54K</a:t>
            </a:r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333CDF42-6C7F-718F-B1DA-908866DD2988}"/>
              </a:ext>
            </a:extLst>
          </p:cNvPr>
          <p:cNvCxnSpPr>
            <a:cxnSpLocks/>
            <a:stCxn id="97" idx="0"/>
            <a:endCxn id="110" idx="2"/>
          </p:cNvCxnSpPr>
          <p:nvPr/>
        </p:nvCxnSpPr>
        <p:spPr>
          <a:xfrm flipH="1" flipV="1">
            <a:off x="7227279" y="1957043"/>
            <a:ext cx="386607" cy="13111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0043042-EE8D-7939-938E-2E7CA1EEA52C}"/>
              </a:ext>
            </a:extLst>
          </p:cNvPr>
          <p:cNvCxnSpPr>
            <a:cxnSpLocks/>
            <a:endCxn id="88" idx="5"/>
          </p:cNvCxnSpPr>
          <p:nvPr/>
        </p:nvCxnSpPr>
        <p:spPr>
          <a:xfrm flipH="1" flipV="1">
            <a:off x="8154917" y="4104691"/>
            <a:ext cx="702183" cy="456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black and grey text&#10;&#10;Description automatically generated">
            <a:extLst>
              <a:ext uri="{FF2B5EF4-FFF2-40B4-BE49-F238E27FC236}">
                <a16:creationId xmlns:a16="http://schemas.microsoft.com/office/drawing/2014/main" id="{8585D2FC-2A96-5725-5C87-AB72F35F98D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CBB5280-5A05-F4FA-322C-0ADABBFB1A2B}"/>
              </a:ext>
            </a:extLst>
          </p:cNvPr>
          <p:cNvCxnSpPr>
            <a:cxnSpLocks/>
          </p:cNvCxnSpPr>
          <p:nvPr/>
        </p:nvCxnSpPr>
        <p:spPr>
          <a:xfrm>
            <a:off x="620980" y="6483107"/>
            <a:ext cx="109536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9F3958B-05F3-508A-8C5E-303BBB907BC6}"/>
              </a:ext>
            </a:extLst>
          </p:cNvPr>
          <p:cNvGrpSpPr/>
          <p:nvPr/>
        </p:nvGrpSpPr>
        <p:grpSpPr>
          <a:xfrm>
            <a:off x="9066709" y="5345334"/>
            <a:ext cx="2665827" cy="489506"/>
            <a:chOff x="7718179" y="5175151"/>
            <a:chExt cx="4598889" cy="84446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A49D82E-C645-DEBB-010A-3894BE5A3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 flipH="1">
              <a:off x="9750578" y="4033264"/>
              <a:ext cx="414041" cy="3558656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8CEB3E5-95F3-DB59-7DFC-CEE9292CEF2E}"/>
                </a:ext>
              </a:extLst>
            </p:cNvPr>
            <p:cNvSpPr txBox="1"/>
            <p:nvPr/>
          </p:nvSpPr>
          <p:spPr>
            <a:xfrm>
              <a:off x="10870346" y="5186875"/>
              <a:ext cx="1446722" cy="530919"/>
            </a:xfrm>
            <a:prstGeom prst="rect">
              <a:avLst/>
            </a:prstGeom>
            <a:noFill/>
          </p:spPr>
          <p:txBody>
            <a:bodyPr wrap="square" lIns="91034" tIns="45710" rIns="91034" bIns="45710" rtlCol="0">
              <a:spAutoFit/>
            </a:bodyPr>
            <a:lstStyle/>
            <a:p>
              <a:pPr marL="0" marR="0" lvl="0" indent="0" algn="ctr" defTabSz="121869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Lato" panose="020F0502020204030203" pitchFamily="34" charset="0"/>
                  <a:cs typeface="Arial" pitchFamily="34" charset="0"/>
                </a:rPr>
                <a:t>&gt;$83k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DA6351C-CF1F-0700-703B-E06F3B9F9E36}"/>
                </a:ext>
              </a:extLst>
            </p:cNvPr>
            <p:cNvSpPr txBox="1"/>
            <p:nvPr/>
          </p:nvSpPr>
          <p:spPr>
            <a:xfrm>
              <a:off x="9306167" y="5186877"/>
              <a:ext cx="1230636" cy="530919"/>
            </a:xfrm>
            <a:prstGeom prst="rect">
              <a:avLst/>
            </a:prstGeom>
            <a:noFill/>
          </p:spPr>
          <p:txBody>
            <a:bodyPr wrap="square" lIns="91034" tIns="45710" rIns="91034" bIns="45710" rtlCol="0">
              <a:spAutoFit/>
            </a:bodyPr>
            <a:lstStyle/>
            <a:p>
              <a:pPr marL="0" marR="0" lvl="0" indent="0" algn="ctr" defTabSz="121869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Lato" panose="020F0502020204030203" pitchFamily="34" charset="0"/>
                  <a:cs typeface="Arial" pitchFamily="34" charset="0"/>
                </a:rPr>
                <a:t>$50k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5575710-45BC-EAAD-17A0-DD0CA16BB4F0}"/>
                </a:ext>
              </a:extLst>
            </p:cNvPr>
            <p:cNvSpPr txBox="1"/>
            <p:nvPr/>
          </p:nvSpPr>
          <p:spPr>
            <a:xfrm>
              <a:off x="7718179" y="5175151"/>
              <a:ext cx="1301391" cy="530919"/>
            </a:xfrm>
            <a:prstGeom prst="rect">
              <a:avLst/>
            </a:prstGeom>
            <a:noFill/>
          </p:spPr>
          <p:txBody>
            <a:bodyPr wrap="square" lIns="91034" tIns="45710" rIns="91034" bIns="45710" rtlCol="0">
              <a:spAutoFit/>
            </a:bodyPr>
            <a:lstStyle/>
            <a:p>
              <a:pPr marL="0" marR="0" lvl="0" indent="0" algn="ctr" defTabSz="121869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Lato" panose="020F0502020204030203" pitchFamily="34" charset="0"/>
                  <a:cs typeface="Arial" pitchFamily="34" charset="0"/>
                </a:rPr>
                <a:t>&lt;$30k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5DDC18B9-059F-F3C5-CAF2-E33BC764AA71}"/>
              </a:ext>
            </a:extLst>
          </p:cNvPr>
          <p:cNvSpPr txBox="1"/>
          <p:nvPr/>
        </p:nvSpPr>
        <p:spPr>
          <a:xfrm>
            <a:off x="9054241" y="5885257"/>
            <a:ext cx="30625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Blue = More Upward Mobility</a:t>
            </a:r>
          </a:p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Red = Less Upward Mobility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F8FD1B0-06D8-CFB2-6C6D-E90B25BE264C}"/>
              </a:ext>
            </a:extLst>
          </p:cNvPr>
          <p:cNvCxnSpPr>
            <a:cxnSpLocks/>
            <a:stCxn id="100" idx="0"/>
          </p:cNvCxnSpPr>
          <p:nvPr/>
        </p:nvCxnSpPr>
        <p:spPr>
          <a:xfrm flipV="1">
            <a:off x="8103290" y="1955174"/>
            <a:ext cx="80482" cy="11376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1486349-B4A5-A771-752A-E25ABCD3FCD9}"/>
              </a:ext>
            </a:extLst>
          </p:cNvPr>
          <p:cNvCxnSpPr>
            <a:cxnSpLocks/>
            <a:endCxn id="96" idx="3"/>
          </p:cNvCxnSpPr>
          <p:nvPr/>
        </p:nvCxnSpPr>
        <p:spPr>
          <a:xfrm flipV="1">
            <a:off x="4993338" y="5286201"/>
            <a:ext cx="539914" cy="695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526DDE15-6458-EB75-A877-32CC5A6E1E3E}"/>
              </a:ext>
            </a:extLst>
          </p:cNvPr>
          <p:cNvSpPr>
            <a:spLocks noChangeAspect="1"/>
          </p:cNvSpPr>
          <p:nvPr/>
        </p:nvSpPr>
        <p:spPr>
          <a:xfrm>
            <a:off x="8543021" y="3216617"/>
            <a:ext cx="106521" cy="102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034" tIns="45710" rIns="91034" bIns="45710" rtlCol="0" anchor="ctr"/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5B72E19-055C-B113-FDCD-B0176F0B4F00}"/>
              </a:ext>
            </a:extLst>
          </p:cNvPr>
          <p:cNvSpPr txBox="1"/>
          <p:nvPr/>
        </p:nvSpPr>
        <p:spPr>
          <a:xfrm>
            <a:off x="9206841" y="3806141"/>
            <a:ext cx="2050490" cy="523200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Baltimore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$42K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F88D9360-4768-EAB0-9D24-8FC9F9D54DB9}"/>
              </a:ext>
            </a:extLst>
          </p:cNvPr>
          <p:cNvSpPr>
            <a:spLocks noChangeAspect="1"/>
          </p:cNvSpPr>
          <p:nvPr/>
        </p:nvSpPr>
        <p:spPr>
          <a:xfrm>
            <a:off x="2985159" y="3771618"/>
            <a:ext cx="106521" cy="102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034" tIns="45710" rIns="91034" bIns="45710" rtlCol="0" anchor="ctr"/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BDC815D-CB65-9B00-D635-C21705154A05}"/>
              </a:ext>
            </a:extLst>
          </p:cNvPr>
          <p:cNvSpPr/>
          <p:nvPr/>
        </p:nvSpPr>
        <p:spPr>
          <a:xfrm>
            <a:off x="445084" y="3299771"/>
            <a:ext cx="1645145" cy="523216"/>
          </a:xfrm>
          <a:prstGeom prst="rect">
            <a:avLst/>
          </a:prstGeom>
        </p:spPr>
        <p:txBody>
          <a:bodyPr wrap="square" lIns="91054" tIns="45718" rIns="91054" bIns="45718">
            <a:spAutoFit/>
          </a:bodyPr>
          <a:lstStyle/>
          <a:p>
            <a:pPr marL="0" marR="0" lvl="0" indent="0" algn="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Las Vegas</a:t>
            </a:r>
          </a:p>
          <a:p>
            <a:pPr marL="0" marR="0" lvl="0" indent="0" algn="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$45K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E1F3073-D7BD-E959-726D-FD40F141AECB}"/>
              </a:ext>
            </a:extLst>
          </p:cNvPr>
          <p:cNvCxnSpPr>
            <a:cxnSpLocks/>
            <a:stCxn id="82" idx="2"/>
            <a:endCxn id="84" idx="3"/>
          </p:cNvCxnSpPr>
          <p:nvPr/>
        </p:nvCxnSpPr>
        <p:spPr>
          <a:xfrm flipH="1" flipV="1">
            <a:off x="2090229" y="3561379"/>
            <a:ext cx="894930" cy="2616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5D88FEF2-5B53-4A12-A06A-A7035FBB168D}"/>
              </a:ext>
            </a:extLst>
          </p:cNvPr>
          <p:cNvSpPr>
            <a:spLocks noChangeAspect="1"/>
          </p:cNvSpPr>
          <p:nvPr/>
        </p:nvSpPr>
        <p:spPr>
          <a:xfrm>
            <a:off x="6777607" y="5225038"/>
            <a:ext cx="106521" cy="102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044" tIns="45710" rIns="91044" bIns="45710" rtlCol="0" anchor="ctr"/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8FE6A5-12B5-173B-61A6-AC544C0DBB8C}"/>
              </a:ext>
            </a:extLst>
          </p:cNvPr>
          <p:cNvSpPr/>
          <p:nvPr/>
        </p:nvSpPr>
        <p:spPr>
          <a:xfrm>
            <a:off x="6662513" y="5399137"/>
            <a:ext cx="1813323" cy="553816"/>
          </a:xfrm>
          <a:prstGeom prst="rect">
            <a:avLst/>
          </a:prstGeom>
        </p:spPr>
        <p:txBody>
          <a:bodyPr wrap="square" lIns="121741" tIns="60870" rIns="121741" bIns="60870">
            <a:spAutoFit/>
          </a:bodyPr>
          <a:lstStyle/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New Orleans</a:t>
            </a:r>
          </a:p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$44K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FD17DD-6F9B-F57F-E81E-68F5F1CF909F}"/>
              </a:ext>
            </a:extLst>
          </p:cNvPr>
          <p:cNvCxnSpPr>
            <a:cxnSpLocks/>
          </p:cNvCxnSpPr>
          <p:nvPr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F7EA3FE-7572-8B8C-BE85-E13BE4B144AC}"/>
              </a:ext>
            </a:extLst>
          </p:cNvPr>
          <p:cNvSpPr/>
          <p:nvPr/>
        </p:nvSpPr>
        <p:spPr>
          <a:xfrm>
            <a:off x="5020123" y="1126319"/>
            <a:ext cx="1285212" cy="553816"/>
          </a:xfrm>
          <a:prstGeom prst="rect">
            <a:avLst/>
          </a:prstGeom>
        </p:spPr>
        <p:txBody>
          <a:bodyPr wrap="square" lIns="121741" tIns="60870" rIns="121741" bIns="60870">
            <a:spAutoFit/>
          </a:bodyPr>
          <a:lstStyle/>
          <a:p>
            <a:pPr marL="0" marR="0" lvl="0" indent="0" algn="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Dubuque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$68K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D85AF54-EC51-BDFF-87C1-9C104CFFF6B1}"/>
              </a:ext>
            </a:extLst>
          </p:cNvPr>
          <p:cNvCxnSpPr>
            <a:cxnSpLocks/>
            <a:stCxn id="27" idx="0"/>
          </p:cNvCxnSpPr>
          <p:nvPr/>
        </p:nvCxnSpPr>
        <p:spPr>
          <a:xfrm flipH="1" flipV="1">
            <a:off x="6042679" y="1680135"/>
            <a:ext cx="449119" cy="11712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391C701A-BAB1-C3FF-33BD-1E5D59274171}"/>
              </a:ext>
            </a:extLst>
          </p:cNvPr>
          <p:cNvSpPr>
            <a:spLocks noChangeAspect="1"/>
          </p:cNvSpPr>
          <p:nvPr/>
        </p:nvSpPr>
        <p:spPr>
          <a:xfrm>
            <a:off x="6438537" y="2851373"/>
            <a:ext cx="106521" cy="102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034" tIns="45710" rIns="91034" bIns="45710" rtlCol="0" anchor="ctr"/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3B54360-16FA-3D0D-4484-E0CF2B279573}"/>
              </a:ext>
            </a:extLst>
          </p:cNvPr>
          <p:cNvSpPr>
            <a:spLocks noChangeAspect="1"/>
          </p:cNvSpPr>
          <p:nvPr/>
        </p:nvSpPr>
        <p:spPr>
          <a:xfrm>
            <a:off x="8708086" y="3044694"/>
            <a:ext cx="106521" cy="102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034" tIns="45710" rIns="91034" bIns="45710" rtlCol="0" anchor="ctr"/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DBF59AE-4679-98C4-F6A5-024E697B6111}"/>
              </a:ext>
            </a:extLst>
          </p:cNvPr>
          <p:cNvCxnSpPr>
            <a:cxnSpLocks/>
          </p:cNvCxnSpPr>
          <p:nvPr/>
        </p:nvCxnSpPr>
        <p:spPr>
          <a:xfrm flipH="1" flipV="1">
            <a:off x="8774916" y="3126924"/>
            <a:ext cx="283899" cy="288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A1409CF0-4307-A9BF-D16A-00B88A7174AD}"/>
              </a:ext>
            </a:extLst>
          </p:cNvPr>
          <p:cNvSpPr txBox="1"/>
          <p:nvPr/>
        </p:nvSpPr>
        <p:spPr>
          <a:xfrm>
            <a:off x="9038176" y="3244308"/>
            <a:ext cx="2050490" cy="523200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Philadelphia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$47K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9835AE2-DBE0-18D5-DD42-C50D20E3077D}"/>
              </a:ext>
            </a:extLst>
          </p:cNvPr>
          <p:cNvCxnSpPr>
            <a:cxnSpLocks/>
          </p:cNvCxnSpPr>
          <p:nvPr/>
        </p:nvCxnSpPr>
        <p:spPr>
          <a:xfrm flipH="1" flipV="1">
            <a:off x="8597263" y="3317762"/>
            <a:ext cx="638849" cy="6488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85D4B30-ED38-6278-EB34-3FC5755A171B}"/>
              </a:ext>
            </a:extLst>
          </p:cNvPr>
          <p:cNvSpPr txBox="1"/>
          <p:nvPr/>
        </p:nvSpPr>
        <p:spPr>
          <a:xfrm>
            <a:off x="8351527" y="4976012"/>
            <a:ext cx="2050490" cy="523200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Atlanta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$41K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913C23E-0245-4876-74E1-DEB5D0389BFE}"/>
              </a:ext>
            </a:extLst>
          </p:cNvPr>
          <p:cNvSpPr>
            <a:spLocks noChangeAspect="1"/>
          </p:cNvSpPr>
          <p:nvPr/>
        </p:nvSpPr>
        <p:spPr>
          <a:xfrm>
            <a:off x="7596289" y="4468009"/>
            <a:ext cx="106521" cy="102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034" tIns="45710" rIns="91034" bIns="45710" rtlCol="0" anchor="ctr"/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9D5C3AA-CBCB-C55B-6916-C1AF59284FEC}"/>
              </a:ext>
            </a:extLst>
          </p:cNvPr>
          <p:cNvCxnSpPr>
            <a:cxnSpLocks/>
          </p:cNvCxnSpPr>
          <p:nvPr/>
        </p:nvCxnSpPr>
        <p:spPr>
          <a:xfrm flipH="1" flipV="1">
            <a:off x="7730373" y="4561891"/>
            <a:ext cx="702183" cy="456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3CA84D1E-A97C-6BF7-A786-525D4001BB84}"/>
              </a:ext>
            </a:extLst>
          </p:cNvPr>
          <p:cNvSpPr>
            <a:spLocks noChangeAspect="1"/>
          </p:cNvSpPr>
          <p:nvPr/>
        </p:nvSpPr>
        <p:spPr>
          <a:xfrm>
            <a:off x="5831921" y="4097864"/>
            <a:ext cx="106521" cy="102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034" tIns="45710" rIns="91034" bIns="45710" rtlCol="0" anchor="ctr"/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7A97C8-E989-4D02-BAEE-8F7D38804E85}"/>
              </a:ext>
            </a:extLst>
          </p:cNvPr>
          <p:cNvSpPr txBox="1"/>
          <p:nvPr/>
        </p:nvSpPr>
        <p:spPr>
          <a:xfrm>
            <a:off x="5996736" y="5548645"/>
            <a:ext cx="788177" cy="523200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Tulsa </a:t>
            </a:r>
          </a:p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$48K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ED75BC2-C733-54B0-4557-DC4C886DDB9D}"/>
              </a:ext>
            </a:extLst>
          </p:cNvPr>
          <p:cNvCxnSpPr>
            <a:cxnSpLocks/>
            <a:stCxn id="23" idx="1"/>
            <a:endCxn id="11" idx="5"/>
          </p:cNvCxnSpPr>
          <p:nvPr/>
        </p:nvCxnSpPr>
        <p:spPr>
          <a:xfrm flipH="1" flipV="1">
            <a:off x="5922842" y="4185556"/>
            <a:ext cx="73894" cy="16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633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FA15C-C017-0588-1EDA-3425CA528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EE7EC746-D066-D592-49D7-13463F7B2FB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275" y="1629276"/>
            <a:ext cx="6741642" cy="4213526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E75F089-1130-F93F-0F01-B3B63F0E121B}"/>
              </a:ext>
            </a:extLst>
          </p:cNvPr>
          <p:cNvSpPr/>
          <p:nvPr/>
        </p:nvSpPr>
        <p:spPr>
          <a:xfrm>
            <a:off x="7452491" y="5318107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057D16-DCB9-ECC2-F8B6-8944C52CB699}"/>
              </a:ext>
            </a:extLst>
          </p:cNvPr>
          <p:cNvSpPr/>
          <p:nvPr/>
        </p:nvSpPr>
        <p:spPr>
          <a:xfrm>
            <a:off x="7474915" y="5337258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1045E6-A0DB-0EDA-6A5D-678ACDEE3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36" y="375319"/>
            <a:ext cx="1049944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Changes in Opportunity for White Americans</a:t>
            </a: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White Children with Low-Income Parents</a:t>
            </a:r>
          </a:p>
        </p:txBody>
      </p:sp>
      <p:pic>
        <p:nvPicPr>
          <p:cNvPr id="12" name="Picture 11" descr="A black and grey text&#10;&#10;Description automatically generated">
            <a:extLst>
              <a:ext uri="{FF2B5EF4-FFF2-40B4-BE49-F238E27FC236}">
                <a16:creationId xmlns:a16="http://schemas.microsoft.com/office/drawing/2014/main" id="{6687D8E5-600B-7ED3-7656-11F9EDF8D6B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0AC25191-12D0-08FC-6B42-78B81CC10213}"/>
              </a:ext>
            </a:extLst>
          </p:cNvPr>
          <p:cNvSpPr txBox="1">
            <a:spLocks/>
          </p:cNvSpPr>
          <p:nvPr/>
        </p:nvSpPr>
        <p:spPr>
          <a:xfrm>
            <a:off x="8392850" y="1415945"/>
            <a:ext cx="2569978" cy="408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+mn-cs"/>
              </a:rPr>
              <a:t>Born in 1992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BEB0F08-70D1-BA0F-77EF-E565ACF8FA95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7803" y="1730698"/>
            <a:ext cx="6333959" cy="3958724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A5BCE1-32BC-5BFD-1187-9B131E43DD87}"/>
              </a:ext>
            </a:extLst>
          </p:cNvPr>
          <p:cNvCxnSpPr>
            <a:cxnSpLocks/>
          </p:cNvCxnSpPr>
          <p:nvPr/>
        </p:nvCxnSpPr>
        <p:spPr>
          <a:xfrm flipV="1">
            <a:off x="6162374" y="1730498"/>
            <a:ext cx="0" cy="3358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5C618193-9646-33F1-6CDA-27271A1C6E42}"/>
              </a:ext>
            </a:extLst>
          </p:cNvPr>
          <p:cNvSpPr txBox="1">
            <a:spLocks/>
          </p:cNvSpPr>
          <p:nvPr/>
        </p:nvSpPr>
        <p:spPr>
          <a:xfrm>
            <a:off x="2534209" y="1415945"/>
            <a:ext cx="2569978" cy="408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+mn-cs"/>
              </a:rPr>
              <a:t>Born in 1978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</a:b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8C44E7-C887-5011-C62F-F6310837BCDD}"/>
              </a:ext>
            </a:extLst>
          </p:cNvPr>
          <p:cNvSpPr txBox="1"/>
          <p:nvPr/>
        </p:nvSpPr>
        <p:spPr>
          <a:xfrm>
            <a:off x="4164313" y="5250470"/>
            <a:ext cx="4163459" cy="523200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Household Income Percentile at Age 27 for Children with Parents at 25th Percentile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6956D73-F994-B7C9-7995-838EEE34619E}"/>
              </a:ext>
            </a:extLst>
          </p:cNvPr>
          <p:cNvGrpSpPr/>
          <p:nvPr/>
        </p:nvGrpSpPr>
        <p:grpSpPr>
          <a:xfrm>
            <a:off x="4560697" y="5719519"/>
            <a:ext cx="3252346" cy="568411"/>
            <a:chOff x="4560697" y="5719519"/>
            <a:chExt cx="3252346" cy="568411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7BC8D61-49FD-2256-7C96-CE598B9F9ED7}"/>
                </a:ext>
              </a:extLst>
            </p:cNvPr>
            <p:cNvGrpSpPr/>
            <p:nvPr/>
          </p:nvGrpSpPr>
          <p:grpSpPr>
            <a:xfrm>
              <a:off x="4560697" y="5719519"/>
              <a:ext cx="3252346" cy="316397"/>
              <a:chOff x="7718178" y="5282287"/>
              <a:chExt cx="4413212" cy="429329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543010C-EFF4-3687-0EAB-1E0D0E8229B4}"/>
                  </a:ext>
                </a:extLst>
              </p:cNvPr>
              <p:cNvSpPr txBox="1"/>
              <p:nvPr/>
            </p:nvSpPr>
            <p:spPr>
              <a:xfrm>
                <a:off x="10867819" y="5294012"/>
                <a:ext cx="1263571" cy="417604"/>
              </a:xfrm>
              <a:prstGeom prst="rect">
                <a:avLst/>
              </a:prstGeom>
              <a:noFill/>
            </p:spPr>
            <p:txBody>
              <a:bodyPr wrap="square" lIns="91034" tIns="45710" rIns="91034" bIns="45710" rtlCol="0">
                <a:spAutoFit/>
              </a:bodyPr>
              <a:lstStyle/>
              <a:p>
                <a:pPr marL="0" marR="0" lvl="0" indent="0" algn="ctr" defTabSz="121869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Lucida Sans" panose="020B0602030504020204" pitchFamily="34" charset="0"/>
                    <a:ea typeface="Lato" panose="020F0502020204030203" pitchFamily="34" charset="0"/>
                    <a:cs typeface="Arial" pitchFamily="34" charset="0"/>
                  </a:rPr>
                  <a:t>$40.9k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51CD1B6-CDEF-6DEC-D78C-F27ED52205B7}"/>
                  </a:ext>
                </a:extLst>
              </p:cNvPr>
              <p:cNvSpPr txBox="1"/>
              <p:nvPr/>
            </p:nvSpPr>
            <p:spPr>
              <a:xfrm>
                <a:off x="9471916" y="5294012"/>
                <a:ext cx="1154912" cy="417604"/>
              </a:xfrm>
              <a:prstGeom prst="rect">
                <a:avLst/>
              </a:prstGeom>
              <a:noFill/>
            </p:spPr>
            <p:txBody>
              <a:bodyPr wrap="square" lIns="91034" tIns="45710" rIns="91034" bIns="45710" rtlCol="0">
                <a:spAutoFit/>
              </a:bodyPr>
              <a:lstStyle/>
              <a:p>
                <a:pPr marL="0" marR="0" lvl="0" indent="0" algn="ctr" defTabSz="121869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Lucida Sans" panose="020B0602030504020204" pitchFamily="34" charset="0"/>
                    <a:ea typeface="Lato" panose="020F0502020204030203" pitchFamily="34" charset="0"/>
                    <a:cs typeface="Arial" pitchFamily="34" charset="0"/>
                  </a:rPr>
                  <a:t>$33.7k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D9A5CBC-31C4-4220-A933-A68D4459E911}"/>
                  </a:ext>
                </a:extLst>
              </p:cNvPr>
              <p:cNvSpPr txBox="1"/>
              <p:nvPr/>
            </p:nvSpPr>
            <p:spPr>
              <a:xfrm>
                <a:off x="7718178" y="5282287"/>
                <a:ext cx="1263571" cy="417604"/>
              </a:xfrm>
              <a:prstGeom prst="rect">
                <a:avLst/>
              </a:prstGeom>
              <a:noFill/>
            </p:spPr>
            <p:txBody>
              <a:bodyPr wrap="square" lIns="91034" tIns="45710" rIns="91034" bIns="45710" rtlCol="0">
                <a:spAutoFit/>
              </a:bodyPr>
              <a:lstStyle/>
              <a:p>
                <a:pPr marL="0" marR="0" lvl="0" indent="0" algn="ctr" defTabSz="121869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Lucida Sans" panose="020B0602030504020204" pitchFamily="34" charset="0"/>
                    <a:ea typeface="Lato" panose="020F0502020204030203" pitchFamily="34" charset="0"/>
                    <a:cs typeface="Arial" pitchFamily="34" charset="0"/>
                  </a:rPr>
                  <a:t> $30.8k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BD44615-BC4E-3ADA-3EC8-BD765FF9550F}"/>
                </a:ext>
              </a:extLst>
            </p:cNvPr>
            <p:cNvGrpSpPr/>
            <p:nvPr/>
          </p:nvGrpSpPr>
          <p:grpSpPr>
            <a:xfrm>
              <a:off x="4981575" y="6041042"/>
              <a:ext cx="2493340" cy="246888"/>
              <a:chOff x="4981575" y="6041042"/>
              <a:chExt cx="2493340" cy="246888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0845938-9822-6BC0-2752-0D30D2C90A80}"/>
                  </a:ext>
                </a:extLst>
              </p:cNvPr>
              <p:cNvSpPr/>
              <p:nvPr/>
            </p:nvSpPr>
            <p:spPr>
              <a:xfrm>
                <a:off x="4981575" y="6041042"/>
                <a:ext cx="242888" cy="246888"/>
              </a:xfrm>
              <a:prstGeom prst="rect">
                <a:avLst/>
              </a:prstGeom>
              <a:solidFill>
                <a:srgbClr val="89002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685E39-344B-72ED-9E72-FF65A9DD4619}"/>
                  </a:ext>
                </a:extLst>
              </p:cNvPr>
              <p:cNvSpPr/>
              <p:nvPr/>
            </p:nvSpPr>
            <p:spPr>
              <a:xfrm>
                <a:off x="5231625" y="6041042"/>
                <a:ext cx="242888" cy="246888"/>
              </a:xfrm>
              <a:prstGeom prst="rect">
                <a:avLst/>
              </a:prstGeom>
              <a:solidFill>
                <a:srgbClr val="A941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3026D93-F1AC-719B-7741-0C6E5E9238C3}"/>
                  </a:ext>
                </a:extLst>
              </p:cNvPr>
              <p:cNvSpPr/>
              <p:nvPr/>
            </p:nvSpPr>
            <p:spPr>
              <a:xfrm>
                <a:off x="5481675" y="6041042"/>
                <a:ext cx="242888" cy="246888"/>
              </a:xfrm>
              <a:prstGeom prst="rect">
                <a:avLst/>
              </a:prstGeom>
              <a:solidFill>
                <a:srgbClr val="C86E4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452C36C-78A6-8D81-596B-B787874C97BD}"/>
                  </a:ext>
                </a:extLst>
              </p:cNvPr>
              <p:cNvSpPr/>
              <p:nvPr/>
            </p:nvSpPr>
            <p:spPr>
              <a:xfrm>
                <a:off x="5731725" y="6041042"/>
                <a:ext cx="242888" cy="246888"/>
              </a:xfrm>
              <a:prstGeom prst="rect">
                <a:avLst/>
              </a:prstGeom>
              <a:solidFill>
                <a:srgbClr val="F2CD9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A26A9A4-185E-A40F-88CB-EF4AFE24AF7C}"/>
                  </a:ext>
                </a:extLst>
              </p:cNvPr>
              <p:cNvSpPr/>
              <p:nvPr/>
            </p:nvSpPr>
            <p:spPr>
              <a:xfrm>
                <a:off x="5981775" y="6041042"/>
                <a:ext cx="242888" cy="246888"/>
              </a:xfrm>
              <a:prstGeom prst="rect">
                <a:avLst/>
              </a:prstGeom>
              <a:solidFill>
                <a:srgbClr val="FFFFC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5FF838B-2B6F-C240-CF5D-30748D6ACFDB}"/>
                  </a:ext>
                </a:extLst>
              </p:cNvPr>
              <p:cNvSpPr/>
              <p:nvPr/>
            </p:nvSpPr>
            <p:spPr>
              <a:xfrm>
                <a:off x="6231825" y="6041042"/>
                <a:ext cx="242888" cy="246888"/>
              </a:xfrm>
              <a:prstGeom prst="rect">
                <a:avLst/>
              </a:prstGeom>
              <a:solidFill>
                <a:srgbClr val="C5D4A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A45073F-BF69-455D-BFAA-695A7539F4D9}"/>
                  </a:ext>
                </a:extLst>
              </p:cNvPr>
              <p:cNvSpPr/>
              <p:nvPr/>
            </p:nvSpPr>
            <p:spPr>
              <a:xfrm>
                <a:off x="6481875" y="6041042"/>
                <a:ext cx="242888" cy="246888"/>
              </a:xfrm>
              <a:prstGeom prst="rect">
                <a:avLst/>
              </a:prstGeom>
              <a:solidFill>
                <a:srgbClr val="8BB69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0FECEB4-A5CA-47C9-9441-434EBE2F2412}"/>
                  </a:ext>
                </a:extLst>
              </p:cNvPr>
              <p:cNvSpPr/>
              <p:nvPr/>
            </p:nvSpPr>
            <p:spPr>
              <a:xfrm>
                <a:off x="6731925" y="6041042"/>
                <a:ext cx="242888" cy="246888"/>
              </a:xfrm>
              <a:prstGeom prst="rect">
                <a:avLst/>
              </a:prstGeom>
              <a:solidFill>
                <a:srgbClr val="56979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93FF62E-8082-117B-55FE-04B23DDD702A}"/>
                  </a:ext>
                </a:extLst>
              </p:cNvPr>
              <p:cNvSpPr/>
              <p:nvPr/>
            </p:nvSpPr>
            <p:spPr>
              <a:xfrm>
                <a:off x="6981975" y="6041042"/>
                <a:ext cx="242888" cy="246888"/>
              </a:xfrm>
              <a:prstGeom prst="rect">
                <a:avLst/>
              </a:prstGeom>
              <a:solidFill>
                <a:srgbClr val="1954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88D3983-290A-16C7-A098-9FA4FED8DB9D}"/>
                  </a:ext>
                </a:extLst>
              </p:cNvPr>
              <p:cNvSpPr/>
              <p:nvPr/>
            </p:nvSpPr>
            <p:spPr>
              <a:xfrm>
                <a:off x="7232027" y="6041042"/>
                <a:ext cx="242888" cy="246888"/>
              </a:xfrm>
              <a:prstGeom prst="rect">
                <a:avLst/>
              </a:prstGeom>
              <a:solidFill>
                <a:srgbClr val="1954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24D53B-9221-D0CC-0B35-FCC0458A836A}"/>
              </a:ext>
            </a:extLst>
          </p:cNvPr>
          <p:cNvCxnSpPr>
            <a:cxnSpLocks/>
          </p:cNvCxnSpPr>
          <p:nvPr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403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AA352-DEB1-7B35-ED0C-D011A64C8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88C3F10-15D5-CA40-76A3-097A5629B6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4104" y="1629276"/>
            <a:ext cx="6737983" cy="4213526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6DDBB21F-D5AF-CACA-2CB5-76B50FAB4FE9}"/>
              </a:ext>
            </a:extLst>
          </p:cNvPr>
          <p:cNvSpPr/>
          <p:nvPr/>
        </p:nvSpPr>
        <p:spPr>
          <a:xfrm>
            <a:off x="7452491" y="5318107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82FB06-F2C3-9844-75BB-B2F07BBF6429}"/>
              </a:ext>
            </a:extLst>
          </p:cNvPr>
          <p:cNvSpPr/>
          <p:nvPr/>
        </p:nvSpPr>
        <p:spPr>
          <a:xfrm>
            <a:off x="7474915" y="5337258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440B24-93D5-8E0A-D24B-B0DDB8A11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36" y="375319"/>
            <a:ext cx="1049944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Changes in Opportunity for Black Americans</a:t>
            </a: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Black Children with Low-Income Parents</a:t>
            </a:r>
          </a:p>
        </p:txBody>
      </p:sp>
      <p:pic>
        <p:nvPicPr>
          <p:cNvPr id="12" name="Picture 11" descr="A black and grey text&#10;&#10;Description automatically generated">
            <a:extLst>
              <a:ext uri="{FF2B5EF4-FFF2-40B4-BE49-F238E27FC236}">
                <a16:creationId xmlns:a16="http://schemas.microsoft.com/office/drawing/2014/main" id="{9861D147-06FD-4277-B572-25C039D6126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13E614AA-52FE-558A-AB40-A098360A6B34}"/>
              </a:ext>
            </a:extLst>
          </p:cNvPr>
          <p:cNvSpPr txBox="1">
            <a:spLocks/>
          </p:cNvSpPr>
          <p:nvPr/>
        </p:nvSpPr>
        <p:spPr>
          <a:xfrm>
            <a:off x="8392850" y="1415945"/>
            <a:ext cx="2569978" cy="408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+mn-cs"/>
              </a:rPr>
              <a:t>Born in 1992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AFE06BD-F8E3-8A9B-6A84-7D079C3272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097803" y="1733674"/>
            <a:ext cx="6333959" cy="39527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F8724F-8519-B94D-38A4-FAF78B0D4514}"/>
              </a:ext>
            </a:extLst>
          </p:cNvPr>
          <p:cNvSpPr/>
          <p:nvPr/>
        </p:nvSpPr>
        <p:spPr>
          <a:xfrm>
            <a:off x="5981775" y="1415945"/>
            <a:ext cx="500100" cy="38127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0FCA386-E627-D601-CE27-2EDEFABD233C}"/>
              </a:ext>
            </a:extLst>
          </p:cNvPr>
          <p:cNvCxnSpPr>
            <a:cxnSpLocks/>
          </p:cNvCxnSpPr>
          <p:nvPr/>
        </p:nvCxnSpPr>
        <p:spPr>
          <a:xfrm flipV="1">
            <a:off x="6162374" y="1730498"/>
            <a:ext cx="0" cy="3358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C1B460AC-649F-D340-4788-FF20832B9FCD}"/>
              </a:ext>
            </a:extLst>
          </p:cNvPr>
          <p:cNvSpPr txBox="1">
            <a:spLocks/>
          </p:cNvSpPr>
          <p:nvPr/>
        </p:nvSpPr>
        <p:spPr>
          <a:xfrm>
            <a:off x="2534209" y="1415945"/>
            <a:ext cx="2569978" cy="408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+mn-cs"/>
              </a:rPr>
              <a:t>Born in 1978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</a:b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AAC846-3BDC-6C7D-4CF2-B743532D09E6}"/>
              </a:ext>
            </a:extLst>
          </p:cNvPr>
          <p:cNvSpPr txBox="1"/>
          <p:nvPr/>
        </p:nvSpPr>
        <p:spPr>
          <a:xfrm>
            <a:off x="4164313" y="5250470"/>
            <a:ext cx="4163459" cy="523200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Household Income Percentile at Age 27 for Children with Parents at 25th Percentile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3DC2F9C-593D-3C3F-1E38-3CD899E643C7}"/>
              </a:ext>
            </a:extLst>
          </p:cNvPr>
          <p:cNvGrpSpPr/>
          <p:nvPr/>
        </p:nvGrpSpPr>
        <p:grpSpPr>
          <a:xfrm>
            <a:off x="4560697" y="5719519"/>
            <a:ext cx="3252346" cy="568411"/>
            <a:chOff x="4560697" y="5719519"/>
            <a:chExt cx="3252346" cy="56841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E873277-4DE3-EE36-D14D-104483F1E8AF}"/>
                </a:ext>
              </a:extLst>
            </p:cNvPr>
            <p:cNvSpPr txBox="1"/>
            <p:nvPr/>
          </p:nvSpPr>
          <p:spPr>
            <a:xfrm>
              <a:off x="4560697" y="5719519"/>
              <a:ext cx="931197" cy="307756"/>
            </a:xfrm>
            <a:prstGeom prst="rect">
              <a:avLst/>
            </a:prstGeom>
            <a:noFill/>
          </p:spPr>
          <p:txBody>
            <a:bodyPr wrap="square" lIns="91034" tIns="45710" rIns="91034" bIns="45710" rtlCol="0">
              <a:spAutoFit/>
            </a:bodyPr>
            <a:lstStyle/>
            <a:p>
              <a:pPr marL="0" marR="0" lvl="0" indent="0" algn="ctr" defTabSz="121869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 panose="020B0602030504020204" pitchFamily="34" charset="0"/>
                  <a:ea typeface="Lato" panose="020F0502020204030203" pitchFamily="34" charset="0"/>
                  <a:cs typeface="Arial" pitchFamily="34" charset="0"/>
                </a:rPr>
                <a:t> $18.8k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753713F-BC4D-7953-7D90-DA6E0CB5749D}"/>
                </a:ext>
              </a:extLst>
            </p:cNvPr>
            <p:cNvSpPr txBox="1"/>
            <p:nvPr/>
          </p:nvSpPr>
          <p:spPr>
            <a:xfrm>
              <a:off x="5853126" y="5728160"/>
              <a:ext cx="851120" cy="307756"/>
            </a:xfrm>
            <a:prstGeom prst="rect">
              <a:avLst/>
            </a:prstGeom>
            <a:noFill/>
          </p:spPr>
          <p:txBody>
            <a:bodyPr wrap="square" lIns="91034" tIns="45710" rIns="91034" bIns="45710" rtlCol="0">
              <a:spAutoFit/>
            </a:bodyPr>
            <a:lstStyle/>
            <a:p>
              <a:pPr marL="0" marR="0" lvl="0" indent="0" algn="ctr" defTabSz="121869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 panose="020B0602030504020204" pitchFamily="34" charset="0"/>
                  <a:ea typeface="Lato" panose="020F0502020204030203" pitchFamily="34" charset="0"/>
                  <a:cs typeface="Arial" pitchFamily="34" charset="0"/>
                </a:rPr>
                <a:t>$21.2k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670C02D-9F55-92DD-2646-2AEA1C627184}"/>
                </a:ext>
              </a:extLst>
            </p:cNvPr>
            <p:cNvSpPr txBox="1"/>
            <p:nvPr/>
          </p:nvSpPr>
          <p:spPr>
            <a:xfrm>
              <a:off x="6881846" y="5728160"/>
              <a:ext cx="931197" cy="307756"/>
            </a:xfrm>
            <a:prstGeom prst="rect">
              <a:avLst/>
            </a:prstGeom>
            <a:noFill/>
          </p:spPr>
          <p:txBody>
            <a:bodyPr wrap="square" lIns="91034" tIns="45710" rIns="91034" bIns="45710" rtlCol="0">
              <a:spAutoFit/>
            </a:bodyPr>
            <a:lstStyle/>
            <a:p>
              <a:pPr marL="0" marR="0" lvl="0" indent="0" algn="ctr" defTabSz="121869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 panose="020B0602030504020204" pitchFamily="34" charset="0"/>
                  <a:ea typeface="Lato" panose="020F0502020204030203" pitchFamily="34" charset="0"/>
                  <a:cs typeface="Arial" pitchFamily="34" charset="0"/>
                </a:rPr>
                <a:t>$25.6k</a:t>
              </a: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F2E9A88F-6AE9-7468-32EA-6596E581EC7E}"/>
                </a:ext>
              </a:extLst>
            </p:cNvPr>
            <p:cNvGrpSpPr/>
            <p:nvPr/>
          </p:nvGrpSpPr>
          <p:grpSpPr>
            <a:xfrm>
              <a:off x="4981575" y="6041042"/>
              <a:ext cx="2493340" cy="246888"/>
              <a:chOff x="4981575" y="6330524"/>
              <a:chExt cx="2493340" cy="246888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811DE1D-5A1C-C1D6-5D33-A2FCAB1DD0CE}"/>
                  </a:ext>
                </a:extLst>
              </p:cNvPr>
              <p:cNvSpPr/>
              <p:nvPr/>
            </p:nvSpPr>
            <p:spPr>
              <a:xfrm>
                <a:off x="4981575" y="6330524"/>
                <a:ext cx="242888" cy="246888"/>
              </a:xfrm>
              <a:prstGeom prst="rect">
                <a:avLst/>
              </a:prstGeom>
              <a:solidFill>
                <a:srgbClr val="92229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F3904E8A-6195-0357-06F4-FA3B1D5D523A}"/>
                  </a:ext>
                </a:extLst>
              </p:cNvPr>
              <p:cNvSpPr/>
              <p:nvPr/>
            </p:nvSpPr>
            <p:spPr>
              <a:xfrm>
                <a:off x="5231625" y="6330524"/>
                <a:ext cx="242888" cy="246888"/>
              </a:xfrm>
              <a:prstGeom prst="rect">
                <a:avLst/>
              </a:prstGeom>
              <a:solidFill>
                <a:srgbClr val="A753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3C8CF9AF-4051-6829-380A-39146D95B904}"/>
                  </a:ext>
                </a:extLst>
              </p:cNvPr>
              <p:cNvSpPr/>
              <p:nvPr/>
            </p:nvSpPr>
            <p:spPr>
              <a:xfrm>
                <a:off x="5481675" y="6330524"/>
                <a:ext cx="242888" cy="246888"/>
              </a:xfrm>
              <a:prstGeom prst="rect">
                <a:avLst/>
              </a:prstGeom>
              <a:solidFill>
                <a:srgbClr val="CEA2D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8D8A319-393D-331E-0509-990074838FFF}"/>
                  </a:ext>
                </a:extLst>
              </p:cNvPr>
              <p:cNvSpPr/>
              <p:nvPr/>
            </p:nvSpPr>
            <p:spPr>
              <a:xfrm>
                <a:off x="5731725" y="6330524"/>
                <a:ext cx="242888" cy="246888"/>
              </a:xfrm>
              <a:prstGeom prst="rect">
                <a:avLst/>
              </a:prstGeom>
              <a:solidFill>
                <a:srgbClr val="E0C9E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782AD170-1119-5B2E-5EAC-110239D125B2}"/>
                  </a:ext>
                </a:extLst>
              </p:cNvPr>
              <p:cNvSpPr/>
              <p:nvPr/>
            </p:nvSpPr>
            <p:spPr>
              <a:xfrm>
                <a:off x="5981775" y="6330524"/>
                <a:ext cx="242888" cy="246888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7A5B2E90-7942-64E9-49BF-AADC1C4F554D}"/>
                  </a:ext>
                </a:extLst>
              </p:cNvPr>
              <p:cNvSpPr/>
              <p:nvPr/>
            </p:nvSpPr>
            <p:spPr>
              <a:xfrm>
                <a:off x="6231825" y="6330524"/>
                <a:ext cx="242888" cy="246888"/>
              </a:xfrm>
              <a:prstGeom prst="rect">
                <a:avLst/>
              </a:prstGeom>
              <a:solidFill>
                <a:srgbClr val="F6D7C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C6B55CC7-C9C1-51B6-79AD-628202878274}"/>
                  </a:ext>
                </a:extLst>
              </p:cNvPr>
              <p:cNvSpPr/>
              <p:nvPr/>
            </p:nvSpPr>
            <p:spPr>
              <a:xfrm>
                <a:off x="6481875" y="6330524"/>
                <a:ext cx="242888" cy="246888"/>
              </a:xfrm>
              <a:prstGeom prst="rect">
                <a:avLst/>
              </a:prstGeom>
              <a:solidFill>
                <a:srgbClr val="F8BDA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04B9EF8B-72CB-18B4-676B-BC05F064E73F}"/>
                  </a:ext>
                </a:extLst>
              </p:cNvPr>
              <p:cNvSpPr/>
              <p:nvPr/>
            </p:nvSpPr>
            <p:spPr>
              <a:xfrm>
                <a:off x="6731925" y="6330524"/>
                <a:ext cx="242888" cy="246888"/>
              </a:xfrm>
              <a:prstGeom prst="rect">
                <a:avLst/>
              </a:prstGeom>
              <a:solidFill>
                <a:srgbClr val="F7A3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F222BEA-BF4C-6050-AD0A-BDDC04CC1A16}"/>
                  </a:ext>
                </a:extLst>
              </p:cNvPr>
              <p:cNvSpPr/>
              <p:nvPr/>
            </p:nvSpPr>
            <p:spPr>
              <a:xfrm>
                <a:off x="6981975" y="6330524"/>
                <a:ext cx="242888" cy="246888"/>
              </a:xfrm>
              <a:prstGeom prst="rect">
                <a:avLst/>
              </a:prstGeom>
              <a:solidFill>
                <a:srgbClr val="F4886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03C08C08-B7E7-9FBC-48E2-628B50901472}"/>
                  </a:ext>
                </a:extLst>
              </p:cNvPr>
              <p:cNvSpPr/>
              <p:nvPr/>
            </p:nvSpPr>
            <p:spPr>
              <a:xfrm>
                <a:off x="7232027" y="6330524"/>
                <a:ext cx="242888" cy="246888"/>
              </a:xfrm>
              <a:prstGeom prst="rect">
                <a:avLst/>
              </a:prstGeom>
              <a:solidFill>
                <a:srgbClr val="EE6C4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FB8C4F6-9958-5EB8-ECE4-06C3CF04A4CC}"/>
              </a:ext>
            </a:extLst>
          </p:cNvPr>
          <p:cNvCxnSpPr>
            <a:cxnSpLocks/>
          </p:cNvCxnSpPr>
          <p:nvPr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0402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83DCE-1829-4615-5220-87AC224E8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7941FC4B-39BA-8ED5-E877-86FC28924A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4104" y="1631181"/>
            <a:ext cx="6737983" cy="4209716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595DA47-DE25-BBB3-E57A-EC013C31907E}"/>
              </a:ext>
            </a:extLst>
          </p:cNvPr>
          <p:cNvSpPr/>
          <p:nvPr/>
        </p:nvSpPr>
        <p:spPr>
          <a:xfrm>
            <a:off x="7452491" y="5318107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AB5F94-2341-D1EA-CF74-FD2FE5FEA88D}"/>
              </a:ext>
            </a:extLst>
          </p:cNvPr>
          <p:cNvSpPr/>
          <p:nvPr/>
        </p:nvSpPr>
        <p:spPr>
          <a:xfrm>
            <a:off x="7474915" y="5337258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pic>
        <p:nvPicPr>
          <p:cNvPr id="12" name="Picture 11" descr="A black and grey text&#10;&#10;Description automatically generated">
            <a:extLst>
              <a:ext uri="{FF2B5EF4-FFF2-40B4-BE49-F238E27FC236}">
                <a16:creationId xmlns:a16="http://schemas.microsoft.com/office/drawing/2014/main" id="{A6693565-FD31-4A6D-1250-14EB9AF0ABA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E2B3E8C-86A0-783F-32E8-2F780F27A1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00739" y="1733674"/>
            <a:ext cx="6328087" cy="395277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79E99-9853-F0DE-0FE4-1C04A6BE69D8}"/>
              </a:ext>
            </a:extLst>
          </p:cNvPr>
          <p:cNvCxnSpPr>
            <a:cxnSpLocks/>
          </p:cNvCxnSpPr>
          <p:nvPr/>
        </p:nvCxnSpPr>
        <p:spPr>
          <a:xfrm flipV="1">
            <a:off x="6162374" y="1730498"/>
            <a:ext cx="0" cy="3358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B975396-03BC-8FAD-9FF7-D0F3F10E78BC}"/>
              </a:ext>
            </a:extLst>
          </p:cNvPr>
          <p:cNvSpPr txBox="1"/>
          <p:nvPr/>
        </p:nvSpPr>
        <p:spPr>
          <a:xfrm>
            <a:off x="4164313" y="5250470"/>
            <a:ext cx="4163459" cy="523200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Household Income Percentile at Age 27 for Children with Parents at 25th Percentile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86CFAA79-A977-079E-68F1-BED5BCF1D590}"/>
              </a:ext>
            </a:extLst>
          </p:cNvPr>
          <p:cNvSpPr txBox="1">
            <a:spLocks/>
          </p:cNvSpPr>
          <p:nvPr/>
        </p:nvSpPr>
        <p:spPr>
          <a:xfrm>
            <a:off x="1829018" y="1415945"/>
            <a:ext cx="3064982" cy="408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+mn-cs"/>
              </a:rPr>
              <a:t>Black Children Born in 1992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054E579-166F-C023-99A6-46A7CA804EBA}"/>
              </a:ext>
            </a:extLst>
          </p:cNvPr>
          <p:cNvSpPr txBox="1">
            <a:spLocks/>
          </p:cNvSpPr>
          <p:nvPr/>
        </p:nvSpPr>
        <p:spPr>
          <a:xfrm>
            <a:off x="7825550" y="1415945"/>
            <a:ext cx="3133492" cy="408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+mn-cs"/>
              </a:rPr>
              <a:t>White Children Born in 1992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7" name="Rectangle 183">
            <a:extLst>
              <a:ext uri="{FF2B5EF4-FFF2-40B4-BE49-F238E27FC236}">
                <a16:creationId xmlns:a16="http://schemas.microsoft.com/office/drawing/2014/main" id="{1897B130-757A-5963-AF84-A6EF3C9CA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351" y="598576"/>
            <a:ext cx="10099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endParaRPr kumimoji="0" lang="en-US" alt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D9C578-9FE1-FDB6-984E-383FD87AD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36" y="375319"/>
            <a:ext cx="1049944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The Geography of Upward Mobility in the United States</a:t>
            </a: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Average Household Income at Age 27 for Children born in </a:t>
            </a: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1992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 whose Parents Earned $27K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2DC82A4-A138-24F0-5124-3895360A8D28}"/>
              </a:ext>
            </a:extLst>
          </p:cNvPr>
          <p:cNvGrpSpPr/>
          <p:nvPr/>
        </p:nvGrpSpPr>
        <p:grpSpPr>
          <a:xfrm>
            <a:off x="6587511" y="5686445"/>
            <a:ext cx="3252346" cy="568411"/>
            <a:chOff x="4560697" y="5719519"/>
            <a:chExt cx="3252346" cy="56841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8FF8CCB-55BC-60EE-7139-C196223C7018}"/>
                </a:ext>
              </a:extLst>
            </p:cNvPr>
            <p:cNvGrpSpPr/>
            <p:nvPr/>
          </p:nvGrpSpPr>
          <p:grpSpPr>
            <a:xfrm>
              <a:off x="4560697" y="5719519"/>
              <a:ext cx="3252346" cy="316397"/>
              <a:chOff x="7718178" y="5282287"/>
              <a:chExt cx="4413212" cy="429329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1B7EC45-E523-D86C-DB6C-C611966A55D5}"/>
                  </a:ext>
                </a:extLst>
              </p:cNvPr>
              <p:cNvSpPr txBox="1"/>
              <p:nvPr/>
            </p:nvSpPr>
            <p:spPr>
              <a:xfrm>
                <a:off x="10867819" y="5294012"/>
                <a:ext cx="1263571" cy="417604"/>
              </a:xfrm>
              <a:prstGeom prst="rect">
                <a:avLst/>
              </a:prstGeom>
              <a:noFill/>
            </p:spPr>
            <p:txBody>
              <a:bodyPr wrap="square" lIns="91034" tIns="45710" rIns="91034" bIns="45710" rtlCol="0">
                <a:spAutoFit/>
              </a:bodyPr>
              <a:lstStyle/>
              <a:p>
                <a:pPr marL="0" marR="0" lvl="0" indent="0" algn="ctr" defTabSz="121869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Lucida Sans" panose="020B0602030504020204" pitchFamily="34" charset="0"/>
                    <a:ea typeface="Lato" panose="020F0502020204030203" pitchFamily="34" charset="0"/>
                    <a:cs typeface="Arial" pitchFamily="34" charset="0"/>
                  </a:rPr>
                  <a:t>$40.9k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AAF44AB-A921-75E1-805F-FE7047781488}"/>
                  </a:ext>
                </a:extLst>
              </p:cNvPr>
              <p:cNvSpPr txBox="1"/>
              <p:nvPr/>
            </p:nvSpPr>
            <p:spPr>
              <a:xfrm>
                <a:off x="9471916" y="5294012"/>
                <a:ext cx="1154912" cy="417604"/>
              </a:xfrm>
              <a:prstGeom prst="rect">
                <a:avLst/>
              </a:prstGeom>
              <a:noFill/>
            </p:spPr>
            <p:txBody>
              <a:bodyPr wrap="square" lIns="91034" tIns="45710" rIns="91034" bIns="45710" rtlCol="0">
                <a:spAutoFit/>
              </a:bodyPr>
              <a:lstStyle/>
              <a:p>
                <a:pPr marL="0" marR="0" lvl="0" indent="0" algn="ctr" defTabSz="121869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Lucida Sans" panose="020B0602030504020204" pitchFamily="34" charset="0"/>
                    <a:ea typeface="Lato" panose="020F0502020204030203" pitchFamily="34" charset="0"/>
                    <a:cs typeface="Arial" pitchFamily="34" charset="0"/>
                  </a:rPr>
                  <a:t>$33.7k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578FBFA-2FE6-7C27-D4A2-754D65CE6456}"/>
                  </a:ext>
                </a:extLst>
              </p:cNvPr>
              <p:cNvSpPr txBox="1"/>
              <p:nvPr/>
            </p:nvSpPr>
            <p:spPr>
              <a:xfrm>
                <a:off x="7718178" y="5282287"/>
                <a:ext cx="1263571" cy="417604"/>
              </a:xfrm>
              <a:prstGeom prst="rect">
                <a:avLst/>
              </a:prstGeom>
              <a:noFill/>
            </p:spPr>
            <p:txBody>
              <a:bodyPr wrap="square" lIns="91034" tIns="45710" rIns="91034" bIns="45710" rtlCol="0">
                <a:spAutoFit/>
              </a:bodyPr>
              <a:lstStyle/>
              <a:p>
                <a:pPr marL="0" marR="0" lvl="0" indent="0" algn="ctr" defTabSz="121869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Lucida Sans" panose="020B0602030504020204" pitchFamily="34" charset="0"/>
                    <a:ea typeface="Lato" panose="020F0502020204030203" pitchFamily="34" charset="0"/>
                    <a:cs typeface="Arial" pitchFamily="34" charset="0"/>
                  </a:rPr>
                  <a:t> $30.8k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0CB37F4-109D-8913-A7EF-15097B723725}"/>
                </a:ext>
              </a:extLst>
            </p:cNvPr>
            <p:cNvGrpSpPr/>
            <p:nvPr/>
          </p:nvGrpSpPr>
          <p:grpSpPr>
            <a:xfrm>
              <a:off x="4981575" y="6041042"/>
              <a:ext cx="2493340" cy="246888"/>
              <a:chOff x="4981575" y="6041042"/>
              <a:chExt cx="2493340" cy="246888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3DDE736-17B9-B194-E8D0-B62F81C10A77}"/>
                  </a:ext>
                </a:extLst>
              </p:cNvPr>
              <p:cNvSpPr/>
              <p:nvPr/>
            </p:nvSpPr>
            <p:spPr>
              <a:xfrm>
                <a:off x="4981575" y="6041042"/>
                <a:ext cx="242888" cy="246888"/>
              </a:xfrm>
              <a:prstGeom prst="rect">
                <a:avLst/>
              </a:prstGeom>
              <a:solidFill>
                <a:srgbClr val="89002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596B12D-1517-993D-426D-CA57ED979A31}"/>
                  </a:ext>
                </a:extLst>
              </p:cNvPr>
              <p:cNvSpPr/>
              <p:nvPr/>
            </p:nvSpPr>
            <p:spPr>
              <a:xfrm>
                <a:off x="5231625" y="6041042"/>
                <a:ext cx="242888" cy="246888"/>
              </a:xfrm>
              <a:prstGeom prst="rect">
                <a:avLst/>
              </a:prstGeom>
              <a:solidFill>
                <a:srgbClr val="A941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709DDBC-1BA3-43B2-31D2-F916F2D03E51}"/>
                  </a:ext>
                </a:extLst>
              </p:cNvPr>
              <p:cNvSpPr/>
              <p:nvPr/>
            </p:nvSpPr>
            <p:spPr>
              <a:xfrm>
                <a:off x="5481675" y="6041042"/>
                <a:ext cx="242888" cy="246888"/>
              </a:xfrm>
              <a:prstGeom prst="rect">
                <a:avLst/>
              </a:prstGeom>
              <a:solidFill>
                <a:srgbClr val="C86E4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9E83F43-A0EC-2885-A24A-A68E56A2FBBE}"/>
                  </a:ext>
                </a:extLst>
              </p:cNvPr>
              <p:cNvSpPr/>
              <p:nvPr/>
            </p:nvSpPr>
            <p:spPr>
              <a:xfrm>
                <a:off x="5731725" y="6041042"/>
                <a:ext cx="242888" cy="246888"/>
              </a:xfrm>
              <a:prstGeom prst="rect">
                <a:avLst/>
              </a:prstGeom>
              <a:solidFill>
                <a:srgbClr val="F2CD9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7D7CED9-C9F2-1C36-D78B-39E16784C141}"/>
                  </a:ext>
                </a:extLst>
              </p:cNvPr>
              <p:cNvSpPr/>
              <p:nvPr/>
            </p:nvSpPr>
            <p:spPr>
              <a:xfrm>
                <a:off x="5981775" y="6041042"/>
                <a:ext cx="242888" cy="246888"/>
              </a:xfrm>
              <a:prstGeom prst="rect">
                <a:avLst/>
              </a:prstGeom>
              <a:solidFill>
                <a:srgbClr val="FFFFC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3859658-9F96-A58A-99EF-2F3D84A12FE0}"/>
                  </a:ext>
                </a:extLst>
              </p:cNvPr>
              <p:cNvSpPr/>
              <p:nvPr/>
            </p:nvSpPr>
            <p:spPr>
              <a:xfrm>
                <a:off x="6231825" y="6041042"/>
                <a:ext cx="242888" cy="246888"/>
              </a:xfrm>
              <a:prstGeom prst="rect">
                <a:avLst/>
              </a:prstGeom>
              <a:solidFill>
                <a:srgbClr val="C5D4A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8867E71-3A95-90D0-C56B-AB3B844F6BCE}"/>
                  </a:ext>
                </a:extLst>
              </p:cNvPr>
              <p:cNvSpPr/>
              <p:nvPr/>
            </p:nvSpPr>
            <p:spPr>
              <a:xfrm>
                <a:off x="6481875" y="6041042"/>
                <a:ext cx="242888" cy="246888"/>
              </a:xfrm>
              <a:prstGeom prst="rect">
                <a:avLst/>
              </a:prstGeom>
              <a:solidFill>
                <a:srgbClr val="8BB69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CA0CFA6-D8BC-6948-3899-CC94ECD23DF8}"/>
                  </a:ext>
                </a:extLst>
              </p:cNvPr>
              <p:cNvSpPr/>
              <p:nvPr/>
            </p:nvSpPr>
            <p:spPr>
              <a:xfrm>
                <a:off x="6731925" y="6041042"/>
                <a:ext cx="242888" cy="246888"/>
              </a:xfrm>
              <a:prstGeom prst="rect">
                <a:avLst/>
              </a:prstGeom>
              <a:solidFill>
                <a:srgbClr val="56979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F92046B-A8A3-EEA3-723A-24F62FD9C5EF}"/>
                  </a:ext>
                </a:extLst>
              </p:cNvPr>
              <p:cNvSpPr/>
              <p:nvPr/>
            </p:nvSpPr>
            <p:spPr>
              <a:xfrm>
                <a:off x="6981975" y="6041042"/>
                <a:ext cx="242888" cy="246888"/>
              </a:xfrm>
              <a:prstGeom prst="rect">
                <a:avLst/>
              </a:prstGeom>
              <a:solidFill>
                <a:srgbClr val="1954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24917CD-0F41-9D9B-1A7B-2F3CB2249303}"/>
                  </a:ext>
                </a:extLst>
              </p:cNvPr>
              <p:cNvSpPr/>
              <p:nvPr/>
            </p:nvSpPr>
            <p:spPr>
              <a:xfrm>
                <a:off x="7232027" y="6041042"/>
                <a:ext cx="242888" cy="246888"/>
              </a:xfrm>
              <a:prstGeom prst="rect">
                <a:avLst/>
              </a:prstGeom>
              <a:solidFill>
                <a:srgbClr val="1954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73FB729-6DA5-DDC4-4906-D24B493D339A}"/>
              </a:ext>
            </a:extLst>
          </p:cNvPr>
          <p:cNvGrpSpPr/>
          <p:nvPr/>
        </p:nvGrpSpPr>
        <p:grpSpPr>
          <a:xfrm>
            <a:off x="2352143" y="5686445"/>
            <a:ext cx="3252346" cy="568411"/>
            <a:chOff x="4560697" y="5719519"/>
            <a:chExt cx="3252346" cy="56841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3E70759-E24B-E2CD-6A5B-8E70A04C5332}"/>
                </a:ext>
              </a:extLst>
            </p:cNvPr>
            <p:cNvSpPr txBox="1"/>
            <p:nvPr/>
          </p:nvSpPr>
          <p:spPr>
            <a:xfrm>
              <a:off x="4560697" y="5719519"/>
              <a:ext cx="931197" cy="307756"/>
            </a:xfrm>
            <a:prstGeom prst="rect">
              <a:avLst/>
            </a:prstGeom>
            <a:noFill/>
          </p:spPr>
          <p:txBody>
            <a:bodyPr wrap="square" lIns="91034" tIns="45710" rIns="91034" bIns="45710" rtlCol="0">
              <a:spAutoFit/>
            </a:bodyPr>
            <a:lstStyle/>
            <a:p>
              <a:pPr marL="0" marR="0" lvl="0" indent="0" algn="ctr" defTabSz="121869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 panose="020B0602030504020204" pitchFamily="34" charset="0"/>
                  <a:ea typeface="Lato" panose="020F0502020204030203" pitchFamily="34" charset="0"/>
                  <a:cs typeface="Arial" pitchFamily="34" charset="0"/>
                </a:rPr>
                <a:t> $18.8k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11A1F37-D0C8-D7FB-384C-98C54B9BD8E6}"/>
                </a:ext>
              </a:extLst>
            </p:cNvPr>
            <p:cNvSpPr txBox="1"/>
            <p:nvPr/>
          </p:nvSpPr>
          <p:spPr>
            <a:xfrm>
              <a:off x="5853126" y="5728160"/>
              <a:ext cx="851120" cy="307756"/>
            </a:xfrm>
            <a:prstGeom prst="rect">
              <a:avLst/>
            </a:prstGeom>
            <a:noFill/>
          </p:spPr>
          <p:txBody>
            <a:bodyPr wrap="square" lIns="91034" tIns="45710" rIns="91034" bIns="45710" rtlCol="0">
              <a:spAutoFit/>
            </a:bodyPr>
            <a:lstStyle/>
            <a:p>
              <a:pPr marL="0" marR="0" lvl="0" indent="0" algn="ctr" defTabSz="121869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 panose="020B0602030504020204" pitchFamily="34" charset="0"/>
                  <a:ea typeface="Lato" panose="020F0502020204030203" pitchFamily="34" charset="0"/>
                  <a:cs typeface="Arial" pitchFamily="34" charset="0"/>
                </a:rPr>
                <a:t>$21.2k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AC1BBCC-2C24-1E67-C031-CAC5C9685D76}"/>
                </a:ext>
              </a:extLst>
            </p:cNvPr>
            <p:cNvSpPr txBox="1"/>
            <p:nvPr/>
          </p:nvSpPr>
          <p:spPr>
            <a:xfrm>
              <a:off x="6881846" y="5728160"/>
              <a:ext cx="931197" cy="307756"/>
            </a:xfrm>
            <a:prstGeom prst="rect">
              <a:avLst/>
            </a:prstGeom>
            <a:noFill/>
          </p:spPr>
          <p:txBody>
            <a:bodyPr wrap="square" lIns="91034" tIns="45710" rIns="91034" bIns="45710" rtlCol="0">
              <a:spAutoFit/>
            </a:bodyPr>
            <a:lstStyle/>
            <a:p>
              <a:pPr marL="0" marR="0" lvl="0" indent="0" algn="ctr" defTabSz="121869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 panose="020B0602030504020204" pitchFamily="34" charset="0"/>
                  <a:ea typeface="Lato" panose="020F0502020204030203" pitchFamily="34" charset="0"/>
                  <a:cs typeface="Arial" pitchFamily="34" charset="0"/>
                </a:rPr>
                <a:t>$25.6k</a:t>
              </a: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89177208-4B4B-B030-3E49-EAF79BA88CD4}"/>
                </a:ext>
              </a:extLst>
            </p:cNvPr>
            <p:cNvGrpSpPr/>
            <p:nvPr/>
          </p:nvGrpSpPr>
          <p:grpSpPr>
            <a:xfrm>
              <a:off x="4981575" y="6041042"/>
              <a:ext cx="2493340" cy="246888"/>
              <a:chOff x="4981575" y="6330524"/>
              <a:chExt cx="2493340" cy="246888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B26C5805-603D-7325-4177-A55546E44FF5}"/>
                  </a:ext>
                </a:extLst>
              </p:cNvPr>
              <p:cNvSpPr/>
              <p:nvPr/>
            </p:nvSpPr>
            <p:spPr>
              <a:xfrm>
                <a:off x="4981575" y="6330524"/>
                <a:ext cx="242888" cy="246888"/>
              </a:xfrm>
              <a:prstGeom prst="rect">
                <a:avLst/>
              </a:prstGeom>
              <a:solidFill>
                <a:srgbClr val="92229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BDF14043-E017-1CD2-90B1-56E801039005}"/>
                  </a:ext>
                </a:extLst>
              </p:cNvPr>
              <p:cNvSpPr/>
              <p:nvPr/>
            </p:nvSpPr>
            <p:spPr>
              <a:xfrm>
                <a:off x="5231625" y="6330524"/>
                <a:ext cx="242888" cy="246888"/>
              </a:xfrm>
              <a:prstGeom prst="rect">
                <a:avLst/>
              </a:prstGeom>
              <a:solidFill>
                <a:srgbClr val="A753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1DEF613F-A874-0E33-D0B7-14364028C1CB}"/>
                  </a:ext>
                </a:extLst>
              </p:cNvPr>
              <p:cNvSpPr/>
              <p:nvPr/>
            </p:nvSpPr>
            <p:spPr>
              <a:xfrm>
                <a:off x="5481675" y="6330524"/>
                <a:ext cx="242888" cy="246888"/>
              </a:xfrm>
              <a:prstGeom prst="rect">
                <a:avLst/>
              </a:prstGeom>
              <a:solidFill>
                <a:srgbClr val="CEA2D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E5D0ABAE-553A-6D4A-9BFF-BEB3579571F6}"/>
                  </a:ext>
                </a:extLst>
              </p:cNvPr>
              <p:cNvSpPr/>
              <p:nvPr/>
            </p:nvSpPr>
            <p:spPr>
              <a:xfrm>
                <a:off x="5731725" y="6330524"/>
                <a:ext cx="242888" cy="246888"/>
              </a:xfrm>
              <a:prstGeom prst="rect">
                <a:avLst/>
              </a:prstGeom>
              <a:solidFill>
                <a:srgbClr val="E0C9E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1AA65698-4651-6D26-76B7-AA628E76A1C2}"/>
                  </a:ext>
                </a:extLst>
              </p:cNvPr>
              <p:cNvSpPr/>
              <p:nvPr/>
            </p:nvSpPr>
            <p:spPr>
              <a:xfrm>
                <a:off x="5981775" y="6330524"/>
                <a:ext cx="242888" cy="246888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1E17E703-A25C-08FA-21E4-77D3E2EF9F74}"/>
                  </a:ext>
                </a:extLst>
              </p:cNvPr>
              <p:cNvSpPr/>
              <p:nvPr/>
            </p:nvSpPr>
            <p:spPr>
              <a:xfrm>
                <a:off x="6231825" y="6330524"/>
                <a:ext cx="242888" cy="246888"/>
              </a:xfrm>
              <a:prstGeom prst="rect">
                <a:avLst/>
              </a:prstGeom>
              <a:solidFill>
                <a:srgbClr val="F6D7C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603AEC46-CBCE-6ADF-ACBB-B46842FB50C7}"/>
                  </a:ext>
                </a:extLst>
              </p:cNvPr>
              <p:cNvSpPr/>
              <p:nvPr/>
            </p:nvSpPr>
            <p:spPr>
              <a:xfrm>
                <a:off x="6481875" y="6330524"/>
                <a:ext cx="242888" cy="246888"/>
              </a:xfrm>
              <a:prstGeom prst="rect">
                <a:avLst/>
              </a:prstGeom>
              <a:solidFill>
                <a:srgbClr val="F8BDA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7077E440-BE9F-2772-6DF9-973CDFBE7146}"/>
                  </a:ext>
                </a:extLst>
              </p:cNvPr>
              <p:cNvSpPr/>
              <p:nvPr/>
            </p:nvSpPr>
            <p:spPr>
              <a:xfrm>
                <a:off x="6731925" y="6330524"/>
                <a:ext cx="242888" cy="246888"/>
              </a:xfrm>
              <a:prstGeom prst="rect">
                <a:avLst/>
              </a:prstGeom>
              <a:solidFill>
                <a:srgbClr val="F7A3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3DDC63E7-CCD4-BDAE-13FE-ECCE33C72669}"/>
                  </a:ext>
                </a:extLst>
              </p:cNvPr>
              <p:cNvSpPr/>
              <p:nvPr/>
            </p:nvSpPr>
            <p:spPr>
              <a:xfrm>
                <a:off x="6981975" y="6330524"/>
                <a:ext cx="242888" cy="246888"/>
              </a:xfrm>
              <a:prstGeom prst="rect">
                <a:avLst/>
              </a:prstGeom>
              <a:solidFill>
                <a:srgbClr val="F4886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560E3F0-7225-8B00-E105-8549EC682CB5}"/>
                  </a:ext>
                </a:extLst>
              </p:cNvPr>
              <p:cNvSpPr/>
              <p:nvPr/>
            </p:nvSpPr>
            <p:spPr>
              <a:xfrm>
                <a:off x="7232027" y="6330524"/>
                <a:ext cx="242888" cy="246888"/>
              </a:xfrm>
              <a:prstGeom prst="rect">
                <a:avLst/>
              </a:prstGeom>
              <a:solidFill>
                <a:srgbClr val="EE6C4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B704254-EE36-4982-751E-A5F502D54184}"/>
              </a:ext>
            </a:extLst>
          </p:cNvPr>
          <p:cNvCxnSpPr>
            <a:cxnSpLocks/>
          </p:cNvCxnSpPr>
          <p:nvPr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071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186FA-A3DB-01D0-7544-1F9D71808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94">
            <a:extLst>
              <a:ext uri="{FF2B5EF4-FFF2-40B4-BE49-F238E27FC236}">
                <a16:creationId xmlns:a16="http://schemas.microsoft.com/office/drawing/2014/main" id="{91DA1587-5BF0-8AE0-4603-7751D4BB9354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524057" y="277836"/>
            <a:ext cx="9144001" cy="665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52" tIns="45718" rIns="91152" bIns="4571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3" name="Rectangle 183">
            <a:extLst>
              <a:ext uri="{FF2B5EF4-FFF2-40B4-BE49-F238E27FC236}">
                <a16:creationId xmlns:a16="http://schemas.microsoft.com/office/drawing/2014/main" id="{B46FD704-9CF7-8852-6CEA-C8DC89415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351" y="598576"/>
            <a:ext cx="10099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endParaRPr kumimoji="0" lang="en-US" alt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FCD73452-2854-AA78-39D2-8DC8EA159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36" y="375319"/>
            <a:ext cx="11101914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Changes in Upward Mobility in the United States</a:t>
            </a: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Average Change in Household Income at Age 27 for Children born in 1978 vs. 1992 to Low-Income Parents</a:t>
            </a:r>
          </a:p>
        </p:txBody>
      </p:sp>
      <p:pic>
        <p:nvPicPr>
          <p:cNvPr id="3" name="Picture 2" descr="A black and grey text&#10;&#10;Description automatically generated">
            <a:extLst>
              <a:ext uri="{FF2B5EF4-FFF2-40B4-BE49-F238E27FC236}">
                <a16:creationId xmlns:a16="http://schemas.microsoft.com/office/drawing/2014/main" id="{DCB138EA-FACB-7EE7-9A05-B9D1B227E7D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FA153D8-7620-4817-A831-43A886936407}"/>
              </a:ext>
            </a:extLst>
          </p:cNvPr>
          <p:cNvGraphicFramePr>
            <a:graphicFrameLocks/>
          </p:cNvGraphicFramePr>
          <p:nvPr/>
        </p:nvGraphicFramePr>
        <p:xfrm>
          <a:off x="613835" y="1076183"/>
          <a:ext cx="11101915" cy="538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C327ADB-46D8-6AE0-5984-DDF7D4880F7A}"/>
              </a:ext>
            </a:extLst>
          </p:cNvPr>
          <p:cNvSpPr txBox="1"/>
          <p:nvPr/>
        </p:nvSpPr>
        <p:spPr>
          <a:xfrm>
            <a:off x="568592" y="6483107"/>
            <a:ext cx="8839200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Chetty, Dobbie, Goldman, Porter, Yang 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(2024)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Lato" panose="020F0502020204030203" pitchFamily="34" charset="0"/>
              <a:cs typeface="Arial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BD2FCF4-0C19-BB1E-DCE3-7D4DC03D23FD}"/>
              </a:ext>
            </a:extLst>
          </p:cNvPr>
          <p:cNvCxnSpPr>
            <a:cxnSpLocks/>
          </p:cNvCxnSpPr>
          <p:nvPr/>
        </p:nvCxnSpPr>
        <p:spPr>
          <a:xfrm>
            <a:off x="620980" y="6483107"/>
            <a:ext cx="109536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46095CA-D479-210E-5B26-BB07EC54C123}"/>
              </a:ext>
            </a:extLst>
          </p:cNvPr>
          <p:cNvCxnSpPr>
            <a:cxnSpLocks/>
          </p:cNvCxnSpPr>
          <p:nvPr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350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F21DF-44E7-8B5D-EFEF-AE55EBE07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FA3A984-495C-02FA-6273-A200334BC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36" y="375319"/>
            <a:ext cx="115368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Changes in Mobility for Black vs. White Children with Low-Income Parents</a:t>
            </a:r>
          </a:p>
        </p:txBody>
      </p:sp>
      <p:pic>
        <p:nvPicPr>
          <p:cNvPr id="5" name="Picture 4" descr="A black and grey text&#10;&#10;Description automatically generated">
            <a:extLst>
              <a:ext uri="{FF2B5EF4-FFF2-40B4-BE49-F238E27FC236}">
                <a16:creationId xmlns:a16="http://schemas.microsoft.com/office/drawing/2014/main" id="{77952F87-7019-EE6D-1CCC-71F5504D3A5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06E9F6A-140E-D4E1-83D0-653F3B2BE437}"/>
              </a:ext>
            </a:extLst>
          </p:cNvPr>
          <p:cNvSpPr/>
          <p:nvPr/>
        </p:nvSpPr>
        <p:spPr>
          <a:xfrm>
            <a:off x="2884786" y="2678042"/>
            <a:ext cx="8260776" cy="2519153"/>
          </a:xfrm>
          <a:custGeom>
            <a:avLst/>
            <a:gdLst>
              <a:gd name="connsiteX0" fmla="*/ 0 w 7339350"/>
              <a:gd name="connsiteY0" fmla="*/ 2238162 h 2238161"/>
              <a:gd name="connsiteX1" fmla="*/ 3669676 w 7339350"/>
              <a:gd name="connsiteY1" fmla="*/ 1119081 h 2238161"/>
              <a:gd name="connsiteX2" fmla="*/ 7339351 w 7339350"/>
              <a:gd name="connsiteY2" fmla="*/ 0 h 223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9350" h="2238161">
                <a:moveTo>
                  <a:pt x="0" y="2238162"/>
                </a:moveTo>
                <a:lnTo>
                  <a:pt x="3669676" y="1119081"/>
                </a:lnTo>
                <a:lnTo>
                  <a:pt x="7339351" y="0"/>
                </a:lnTo>
              </a:path>
            </a:pathLst>
          </a:custGeom>
          <a:noFill/>
          <a:ln w="26896" cap="flat">
            <a:solidFill>
              <a:srgbClr val="29B6A4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0F0C6A06-F6B7-914D-2818-818EB3E6B2EF}"/>
              </a:ext>
            </a:extLst>
          </p:cNvPr>
          <p:cNvSpPr/>
          <p:nvPr/>
        </p:nvSpPr>
        <p:spPr>
          <a:xfrm>
            <a:off x="5311733" y="4369031"/>
            <a:ext cx="109728" cy="109728"/>
          </a:xfrm>
          <a:custGeom>
            <a:avLst/>
            <a:gdLst>
              <a:gd name="connsiteX0" fmla="*/ 101653 w 101653"/>
              <a:gd name="connsiteY0" fmla="*/ 50826 h 101653"/>
              <a:gd name="connsiteX1" fmla="*/ 50826 w 101653"/>
              <a:gd name="connsiteY1" fmla="*/ 101653 h 101653"/>
              <a:gd name="connsiteX2" fmla="*/ 0 w 101653"/>
              <a:gd name="connsiteY2" fmla="*/ 50826 h 101653"/>
              <a:gd name="connsiteX3" fmla="*/ 50826 w 101653"/>
              <a:gd name="connsiteY3" fmla="*/ 0 h 101653"/>
              <a:gd name="connsiteX4" fmla="*/ 101653 w 101653"/>
              <a:gd name="connsiteY4" fmla="*/ 50826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6"/>
                </a:moveTo>
                <a:cubicBezTo>
                  <a:pt x="101653" y="78897"/>
                  <a:pt x="78897" y="101653"/>
                  <a:pt x="50826" y="101653"/>
                </a:cubicBezTo>
                <a:cubicBezTo>
                  <a:pt x="22756" y="101653"/>
                  <a:pt x="0" y="78897"/>
                  <a:pt x="0" y="50826"/>
                </a:cubicBezTo>
                <a:cubicBezTo>
                  <a:pt x="0" y="22756"/>
                  <a:pt x="22756" y="0"/>
                  <a:pt x="50826" y="0"/>
                </a:cubicBezTo>
                <a:cubicBezTo>
                  <a:pt x="78897" y="0"/>
                  <a:pt x="101653" y="22756"/>
                  <a:pt x="101653" y="50826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D1AC0BCE-51DE-7157-4807-39BF65275E58}"/>
              </a:ext>
            </a:extLst>
          </p:cNvPr>
          <p:cNvSpPr/>
          <p:nvPr/>
        </p:nvSpPr>
        <p:spPr>
          <a:xfrm>
            <a:off x="6494248" y="3832626"/>
            <a:ext cx="109728" cy="109728"/>
          </a:xfrm>
          <a:custGeom>
            <a:avLst/>
            <a:gdLst>
              <a:gd name="connsiteX0" fmla="*/ 101653 w 101653"/>
              <a:gd name="connsiteY0" fmla="*/ 50827 h 101653"/>
              <a:gd name="connsiteX1" fmla="*/ 50826 w 101653"/>
              <a:gd name="connsiteY1" fmla="*/ 101653 h 101653"/>
              <a:gd name="connsiteX2" fmla="*/ 0 w 101653"/>
              <a:gd name="connsiteY2" fmla="*/ 50827 h 101653"/>
              <a:gd name="connsiteX3" fmla="*/ 50826 w 101653"/>
              <a:gd name="connsiteY3" fmla="*/ 0 h 101653"/>
              <a:gd name="connsiteX4" fmla="*/ 101653 w 101653"/>
              <a:gd name="connsiteY4" fmla="*/ 50827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7"/>
                </a:moveTo>
                <a:cubicBezTo>
                  <a:pt x="101653" y="78897"/>
                  <a:pt x="78897" y="101653"/>
                  <a:pt x="50826" y="101653"/>
                </a:cubicBezTo>
                <a:cubicBezTo>
                  <a:pt x="22756" y="101653"/>
                  <a:pt x="0" y="78897"/>
                  <a:pt x="0" y="50827"/>
                </a:cubicBezTo>
                <a:cubicBezTo>
                  <a:pt x="0" y="22756"/>
                  <a:pt x="22756" y="0"/>
                  <a:pt x="50826" y="0"/>
                </a:cubicBezTo>
                <a:cubicBezTo>
                  <a:pt x="78897" y="0"/>
                  <a:pt x="101653" y="22756"/>
                  <a:pt x="101653" y="50827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38FB21A0-16DE-01B5-59C4-AD5CF2873778}"/>
              </a:ext>
            </a:extLst>
          </p:cNvPr>
          <p:cNvSpPr/>
          <p:nvPr/>
        </p:nvSpPr>
        <p:spPr>
          <a:xfrm>
            <a:off x="6851627" y="3513272"/>
            <a:ext cx="109728" cy="109728"/>
          </a:xfrm>
          <a:custGeom>
            <a:avLst/>
            <a:gdLst>
              <a:gd name="connsiteX0" fmla="*/ 101653 w 101653"/>
              <a:gd name="connsiteY0" fmla="*/ 50826 h 101653"/>
              <a:gd name="connsiteX1" fmla="*/ 50826 w 101653"/>
              <a:gd name="connsiteY1" fmla="*/ 101653 h 101653"/>
              <a:gd name="connsiteX2" fmla="*/ 0 w 101653"/>
              <a:gd name="connsiteY2" fmla="*/ 50826 h 101653"/>
              <a:gd name="connsiteX3" fmla="*/ 50826 w 101653"/>
              <a:gd name="connsiteY3" fmla="*/ 0 h 101653"/>
              <a:gd name="connsiteX4" fmla="*/ 101653 w 101653"/>
              <a:gd name="connsiteY4" fmla="*/ 50826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6"/>
                </a:moveTo>
                <a:cubicBezTo>
                  <a:pt x="101653" y="78897"/>
                  <a:pt x="78897" y="101653"/>
                  <a:pt x="50826" y="101653"/>
                </a:cubicBezTo>
                <a:cubicBezTo>
                  <a:pt x="22756" y="101653"/>
                  <a:pt x="0" y="78897"/>
                  <a:pt x="0" y="50826"/>
                </a:cubicBezTo>
                <a:cubicBezTo>
                  <a:pt x="0" y="22756"/>
                  <a:pt x="22756" y="0"/>
                  <a:pt x="50826" y="0"/>
                </a:cubicBezTo>
                <a:cubicBezTo>
                  <a:pt x="78897" y="0"/>
                  <a:pt x="101653" y="22756"/>
                  <a:pt x="101653" y="50826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CF158A8F-0EAE-4CB9-CB3C-7DAA3AFFED45}"/>
              </a:ext>
            </a:extLst>
          </p:cNvPr>
          <p:cNvSpPr/>
          <p:nvPr/>
        </p:nvSpPr>
        <p:spPr>
          <a:xfrm>
            <a:off x="6539678" y="4139527"/>
            <a:ext cx="109728" cy="109728"/>
          </a:xfrm>
          <a:custGeom>
            <a:avLst/>
            <a:gdLst>
              <a:gd name="connsiteX0" fmla="*/ 74745 w 74744"/>
              <a:gd name="connsiteY0" fmla="*/ 37373 h 74744"/>
              <a:gd name="connsiteX1" fmla="*/ 37372 w 74744"/>
              <a:gd name="connsiteY1" fmla="*/ 74745 h 74744"/>
              <a:gd name="connsiteX2" fmla="*/ 0 w 74744"/>
              <a:gd name="connsiteY2" fmla="*/ 37373 h 74744"/>
              <a:gd name="connsiteX3" fmla="*/ 37372 w 74744"/>
              <a:gd name="connsiteY3" fmla="*/ 0 h 74744"/>
              <a:gd name="connsiteX4" fmla="*/ 74745 w 74744"/>
              <a:gd name="connsiteY4" fmla="*/ 37373 h 74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44" h="74744">
                <a:moveTo>
                  <a:pt x="74745" y="37373"/>
                </a:moveTo>
                <a:cubicBezTo>
                  <a:pt x="74745" y="58013"/>
                  <a:pt x="58013" y="74745"/>
                  <a:pt x="37372" y="74745"/>
                </a:cubicBezTo>
                <a:cubicBezTo>
                  <a:pt x="16732" y="74745"/>
                  <a:pt x="0" y="58013"/>
                  <a:pt x="0" y="37373"/>
                </a:cubicBezTo>
                <a:cubicBezTo>
                  <a:pt x="0" y="16732"/>
                  <a:pt x="16732" y="0"/>
                  <a:pt x="37372" y="0"/>
                </a:cubicBezTo>
                <a:cubicBezTo>
                  <a:pt x="58013" y="0"/>
                  <a:pt x="74745" y="16732"/>
                  <a:pt x="74745" y="37373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4DE354F4-8005-2D00-0790-696F6B8E3194}"/>
              </a:ext>
            </a:extLst>
          </p:cNvPr>
          <p:cNvSpPr/>
          <p:nvPr/>
        </p:nvSpPr>
        <p:spPr>
          <a:xfrm>
            <a:off x="4242288" y="4917214"/>
            <a:ext cx="109728" cy="109728"/>
          </a:xfrm>
          <a:custGeom>
            <a:avLst/>
            <a:gdLst>
              <a:gd name="connsiteX0" fmla="*/ 74745 w 74744"/>
              <a:gd name="connsiteY0" fmla="*/ 37373 h 74744"/>
              <a:gd name="connsiteX1" fmla="*/ 37372 w 74744"/>
              <a:gd name="connsiteY1" fmla="*/ 74745 h 74744"/>
              <a:gd name="connsiteX2" fmla="*/ 0 w 74744"/>
              <a:gd name="connsiteY2" fmla="*/ 37373 h 74744"/>
              <a:gd name="connsiteX3" fmla="*/ 37372 w 74744"/>
              <a:gd name="connsiteY3" fmla="*/ 0 h 74744"/>
              <a:gd name="connsiteX4" fmla="*/ 74745 w 74744"/>
              <a:gd name="connsiteY4" fmla="*/ 37373 h 74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44" h="74744">
                <a:moveTo>
                  <a:pt x="74745" y="37373"/>
                </a:moveTo>
                <a:cubicBezTo>
                  <a:pt x="74745" y="58013"/>
                  <a:pt x="58013" y="74745"/>
                  <a:pt x="37372" y="74745"/>
                </a:cubicBezTo>
                <a:cubicBezTo>
                  <a:pt x="16732" y="74745"/>
                  <a:pt x="0" y="58013"/>
                  <a:pt x="0" y="37373"/>
                </a:cubicBezTo>
                <a:cubicBezTo>
                  <a:pt x="0" y="16732"/>
                  <a:pt x="16732" y="0"/>
                  <a:pt x="37372" y="0"/>
                </a:cubicBezTo>
                <a:cubicBezTo>
                  <a:pt x="58013" y="0"/>
                  <a:pt x="74745" y="16732"/>
                  <a:pt x="74745" y="37373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79E97F3E-301E-470B-8D4F-C3E0B6D42239}"/>
              </a:ext>
            </a:extLst>
          </p:cNvPr>
          <p:cNvSpPr/>
          <p:nvPr/>
        </p:nvSpPr>
        <p:spPr>
          <a:xfrm>
            <a:off x="4957383" y="4707229"/>
            <a:ext cx="109728" cy="109728"/>
          </a:xfrm>
          <a:custGeom>
            <a:avLst/>
            <a:gdLst>
              <a:gd name="connsiteX0" fmla="*/ 74745 w 74744"/>
              <a:gd name="connsiteY0" fmla="*/ 37372 h 74744"/>
              <a:gd name="connsiteX1" fmla="*/ 37372 w 74744"/>
              <a:gd name="connsiteY1" fmla="*/ 74745 h 74744"/>
              <a:gd name="connsiteX2" fmla="*/ 0 w 74744"/>
              <a:gd name="connsiteY2" fmla="*/ 37372 h 74744"/>
              <a:gd name="connsiteX3" fmla="*/ 37372 w 74744"/>
              <a:gd name="connsiteY3" fmla="*/ 0 h 74744"/>
              <a:gd name="connsiteX4" fmla="*/ 74745 w 74744"/>
              <a:gd name="connsiteY4" fmla="*/ 37372 h 74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44" h="74744">
                <a:moveTo>
                  <a:pt x="74745" y="37372"/>
                </a:moveTo>
                <a:cubicBezTo>
                  <a:pt x="74745" y="58013"/>
                  <a:pt x="58013" y="74745"/>
                  <a:pt x="37372" y="74745"/>
                </a:cubicBezTo>
                <a:cubicBezTo>
                  <a:pt x="16732" y="74745"/>
                  <a:pt x="0" y="58013"/>
                  <a:pt x="0" y="37372"/>
                </a:cubicBezTo>
                <a:cubicBezTo>
                  <a:pt x="0" y="16732"/>
                  <a:pt x="16732" y="0"/>
                  <a:pt x="37372" y="0"/>
                </a:cubicBezTo>
                <a:cubicBezTo>
                  <a:pt x="58013" y="0"/>
                  <a:pt x="74745" y="16732"/>
                  <a:pt x="74745" y="37372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649874DA-9FF3-D7E2-955D-DE0021A5F8A9}"/>
              </a:ext>
            </a:extLst>
          </p:cNvPr>
          <p:cNvSpPr/>
          <p:nvPr/>
        </p:nvSpPr>
        <p:spPr>
          <a:xfrm>
            <a:off x="4319014" y="5047109"/>
            <a:ext cx="109728" cy="109728"/>
          </a:xfrm>
          <a:custGeom>
            <a:avLst/>
            <a:gdLst>
              <a:gd name="connsiteX0" fmla="*/ 74745 w 74744"/>
              <a:gd name="connsiteY0" fmla="*/ 37373 h 74744"/>
              <a:gd name="connsiteX1" fmla="*/ 37372 w 74744"/>
              <a:gd name="connsiteY1" fmla="*/ 74745 h 74744"/>
              <a:gd name="connsiteX2" fmla="*/ 0 w 74744"/>
              <a:gd name="connsiteY2" fmla="*/ 37373 h 74744"/>
              <a:gd name="connsiteX3" fmla="*/ 37372 w 74744"/>
              <a:gd name="connsiteY3" fmla="*/ 0 h 74744"/>
              <a:gd name="connsiteX4" fmla="*/ 74745 w 74744"/>
              <a:gd name="connsiteY4" fmla="*/ 37373 h 74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44" h="74744">
                <a:moveTo>
                  <a:pt x="74745" y="37373"/>
                </a:moveTo>
                <a:cubicBezTo>
                  <a:pt x="74745" y="58013"/>
                  <a:pt x="58013" y="74745"/>
                  <a:pt x="37372" y="74745"/>
                </a:cubicBezTo>
                <a:cubicBezTo>
                  <a:pt x="16732" y="74745"/>
                  <a:pt x="0" y="58013"/>
                  <a:pt x="0" y="37373"/>
                </a:cubicBezTo>
                <a:cubicBezTo>
                  <a:pt x="0" y="16732"/>
                  <a:pt x="16732" y="0"/>
                  <a:pt x="37372" y="0"/>
                </a:cubicBezTo>
                <a:cubicBezTo>
                  <a:pt x="58013" y="0"/>
                  <a:pt x="74745" y="16732"/>
                  <a:pt x="74745" y="37373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CC5F3801-02CA-80EC-683A-F2752F528815}"/>
              </a:ext>
            </a:extLst>
          </p:cNvPr>
          <p:cNvSpPr/>
          <p:nvPr/>
        </p:nvSpPr>
        <p:spPr>
          <a:xfrm>
            <a:off x="5222557" y="4803809"/>
            <a:ext cx="109728" cy="109728"/>
          </a:xfrm>
          <a:custGeom>
            <a:avLst/>
            <a:gdLst>
              <a:gd name="connsiteX0" fmla="*/ 74745 w 74744"/>
              <a:gd name="connsiteY0" fmla="*/ 37372 h 74744"/>
              <a:gd name="connsiteX1" fmla="*/ 37373 w 74744"/>
              <a:gd name="connsiteY1" fmla="*/ 74745 h 74744"/>
              <a:gd name="connsiteX2" fmla="*/ 0 w 74744"/>
              <a:gd name="connsiteY2" fmla="*/ 37372 h 74744"/>
              <a:gd name="connsiteX3" fmla="*/ 37373 w 74744"/>
              <a:gd name="connsiteY3" fmla="*/ 0 h 74744"/>
              <a:gd name="connsiteX4" fmla="*/ 74745 w 74744"/>
              <a:gd name="connsiteY4" fmla="*/ 37372 h 74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44" h="74744">
                <a:moveTo>
                  <a:pt x="74745" y="37372"/>
                </a:moveTo>
                <a:cubicBezTo>
                  <a:pt x="74745" y="58013"/>
                  <a:pt x="58013" y="74745"/>
                  <a:pt x="37373" y="74745"/>
                </a:cubicBezTo>
                <a:cubicBezTo>
                  <a:pt x="16732" y="74745"/>
                  <a:pt x="0" y="58013"/>
                  <a:pt x="0" y="37372"/>
                </a:cubicBezTo>
                <a:cubicBezTo>
                  <a:pt x="0" y="16732"/>
                  <a:pt x="16732" y="0"/>
                  <a:pt x="37373" y="0"/>
                </a:cubicBezTo>
                <a:cubicBezTo>
                  <a:pt x="58013" y="0"/>
                  <a:pt x="74745" y="16732"/>
                  <a:pt x="74745" y="37372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131171E4-4D8B-67D2-4B3A-7DDDCED673DB}"/>
              </a:ext>
            </a:extLst>
          </p:cNvPr>
          <p:cNvSpPr/>
          <p:nvPr/>
        </p:nvSpPr>
        <p:spPr>
          <a:xfrm>
            <a:off x="7787476" y="4799770"/>
            <a:ext cx="109728" cy="109728"/>
          </a:xfrm>
          <a:custGeom>
            <a:avLst/>
            <a:gdLst>
              <a:gd name="connsiteX0" fmla="*/ 101653 w 101653"/>
              <a:gd name="connsiteY0" fmla="*/ 50827 h 101653"/>
              <a:gd name="connsiteX1" fmla="*/ 50826 w 101653"/>
              <a:gd name="connsiteY1" fmla="*/ 101653 h 101653"/>
              <a:gd name="connsiteX2" fmla="*/ 0 w 101653"/>
              <a:gd name="connsiteY2" fmla="*/ 50827 h 101653"/>
              <a:gd name="connsiteX3" fmla="*/ 50826 w 101653"/>
              <a:gd name="connsiteY3" fmla="*/ 0 h 101653"/>
              <a:gd name="connsiteX4" fmla="*/ 101653 w 101653"/>
              <a:gd name="connsiteY4" fmla="*/ 50827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7"/>
                </a:moveTo>
                <a:cubicBezTo>
                  <a:pt x="101653" y="78897"/>
                  <a:pt x="78897" y="101653"/>
                  <a:pt x="50826" y="101653"/>
                </a:cubicBezTo>
                <a:cubicBezTo>
                  <a:pt x="22756" y="101653"/>
                  <a:pt x="0" y="78897"/>
                  <a:pt x="0" y="50827"/>
                </a:cubicBezTo>
                <a:cubicBezTo>
                  <a:pt x="0" y="22756"/>
                  <a:pt x="22756" y="0"/>
                  <a:pt x="50826" y="0"/>
                </a:cubicBezTo>
                <a:cubicBezTo>
                  <a:pt x="78897" y="0"/>
                  <a:pt x="101653" y="22756"/>
                  <a:pt x="101653" y="50827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AF5B7C1C-48CA-11FA-DEA6-7CED52051C0F}"/>
              </a:ext>
            </a:extLst>
          </p:cNvPr>
          <p:cNvSpPr/>
          <p:nvPr/>
        </p:nvSpPr>
        <p:spPr>
          <a:xfrm>
            <a:off x="4158495" y="4416816"/>
            <a:ext cx="109728" cy="109728"/>
          </a:xfrm>
          <a:custGeom>
            <a:avLst/>
            <a:gdLst>
              <a:gd name="connsiteX0" fmla="*/ 74745 w 74744"/>
              <a:gd name="connsiteY0" fmla="*/ 37372 h 74744"/>
              <a:gd name="connsiteX1" fmla="*/ 37372 w 74744"/>
              <a:gd name="connsiteY1" fmla="*/ 74745 h 74744"/>
              <a:gd name="connsiteX2" fmla="*/ 0 w 74744"/>
              <a:gd name="connsiteY2" fmla="*/ 37372 h 74744"/>
              <a:gd name="connsiteX3" fmla="*/ 37372 w 74744"/>
              <a:gd name="connsiteY3" fmla="*/ 0 h 74744"/>
              <a:gd name="connsiteX4" fmla="*/ 74745 w 74744"/>
              <a:gd name="connsiteY4" fmla="*/ 37372 h 74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44" h="74744">
                <a:moveTo>
                  <a:pt x="74745" y="37372"/>
                </a:moveTo>
                <a:cubicBezTo>
                  <a:pt x="74745" y="58013"/>
                  <a:pt x="58013" y="74745"/>
                  <a:pt x="37372" y="74745"/>
                </a:cubicBezTo>
                <a:cubicBezTo>
                  <a:pt x="16732" y="74745"/>
                  <a:pt x="0" y="58013"/>
                  <a:pt x="0" y="37372"/>
                </a:cubicBezTo>
                <a:cubicBezTo>
                  <a:pt x="0" y="16732"/>
                  <a:pt x="16732" y="0"/>
                  <a:pt x="37372" y="0"/>
                </a:cubicBezTo>
                <a:cubicBezTo>
                  <a:pt x="58013" y="0"/>
                  <a:pt x="74745" y="16732"/>
                  <a:pt x="74745" y="37372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06EE8B04-BEA4-3031-4D3F-ED5748DE1C25}"/>
              </a:ext>
            </a:extLst>
          </p:cNvPr>
          <p:cNvSpPr/>
          <p:nvPr/>
        </p:nvSpPr>
        <p:spPr>
          <a:xfrm>
            <a:off x="5308032" y="4999997"/>
            <a:ext cx="109728" cy="109728"/>
          </a:xfrm>
          <a:custGeom>
            <a:avLst/>
            <a:gdLst>
              <a:gd name="connsiteX0" fmla="*/ 101653 w 101653"/>
              <a:gd name="connsiteY0" fmla="*/ 50826 h 101653"/>
              <a:gd name="connsiteX1" fmla="*/ 50826 w 101653"/>
              <a:gd name="connsiteY1" fmla="*/ 101653 h 101653"/>
              <a:gd name="connsiteX2" fmla="*/ 0 w 101653"/>
              <a:gd name="connsiteY2" fmla="*/ 50826 h 101653"/>
              <a:gd name="connsiteX3" fmla="*/ 50826 w 101653"/>
              <a:gd name="connsiteY3" fmla="*/ 0 h 101653"/>
              <a:gd name="connsiteX4" fmla="*/ 101653 w 101653"/>
              <a:gd name="connsiteY4" fmla="*/ 50826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6"/>
                </a:moveTo>
                <a:cubicBezTo>
                  <a:pt x="101653" y="78897"/>
                  <a:pt x="78897" y="101653"/>
                  <a:pt x="50826" y="101653"/>
                </a:cubicBezTo>
                <a:cubicBezTo>
                  <a:pt x="22756" y="101653"/>
                  <a:pt x="0" y="78897"/>
                  <a:pt x="0" y="50826"/>
                </a:cubicBezTo>
                <a:cubicBezTo>
                  <a:pt x="0" y="22756"/>
                  <a:pt x="22756" y="0"/>
                  <a:pt x="50826" y="0"/>
                </a:cubicBezTo>
                <a:cubicBezTo>
                  <a:pt x="78897" y="0"/>
                  <a:pt x="101653" y="22756"/>
                  <a:pt x="101653" y="50826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3943AC0A-63FE-891A-DB36-6E13CB3527A4}"/>
              </a:ext>
            </a:extLst>
          </p:cNvPr>
          <p:cNvSpPr/>
          <p:nvPr/>
        </p:nvSpPr>
        <p:spPr>
          <a:xfrm>
            <a:off x="8035488" y="2213314"/>
            <a:ext cx="109728" cy="109728"/>
          </a:xfrm>
          <a:custGeom>
            <a:avLst/>
            <a:gdLst>
              <a:gd name="connsiteX0" fmla="*/ 101653 w 101653"/>
              <a:gd name="connsiteY0" fmla="*/ 50827 h 101653"/>
              <a:gd name="connsiteX1" fmla="*/ 50826 w 101653"/>
              <a:gd name="connsiteY1" fmla="*/ 101653 h 101653"/>
              <a:gd name="connsiteX2" fmla="*/ 0 w 101653"/>
              <a:gd name="connsiteY2" fmla="*/ 50827 h 101653"/>
              <a:gd name="connsiteX3" fmla="*/ 50826 w 101653"/>
              <a:gd name="connsiteY3" fmla="*/ 0 h 101653"/>
              <a:gd name="connsiteX4" fmla="*/ 101653 w 101653"/>
              <a:gd name="connsiteY4" fmla="*/ 50827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7"/>
                </a:moveTo>
                <a:cubicBezTo>
                  <a:pt x="101653" y="78897"/>
                  <a:pt x="78897" y="101653"/>
                  <a:pt x="50826" y="101653"/>
                </a:cubicBezTo>
                <a:cubicBezTo>
                  <a:pt x="22756" y="101653"/>
                  <a:pt x="0" y="78897"/>
                  <a:pt x="0" y="50827"/>
                </a:cubicBezTo>
                <a:cubicBezTo>
                  <a:pt x="0" y="22756"/>
                  <a:pt x="22756" y="0"/>
                  <a:pt x="50826" y="0"/>
                </a:cubicBezTo>
                <a:cubicBezTo>
                  <a:pt x="78897" y="0"/>
                  <a:pt x="101653" y="22756"/>
                  <a:pt x="101653" y="50827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7CC84A42-6B39-B56A-0C67-DD9E29E6111C}"/>
              </a:ext>
            </a:extLst>
          </p:cNvPr>
          <p:cNvSpPr/>
          <p:nvPr/>
        </p:nvSpPr>
        <p:spPr>
          <a:xfrm>
            <a:off x="6771873" y="5029947"/>
            <a:ext cx="109728" cy="109728"/>
          </a:xfrm>
          <a:custGeom>
            <a:avLst/>
            <a:gdLst>
              <a:gd name="connsiteX0" fmla="*/ 101653 w 101653"/>
              <a:gd name="connsiteY0" fmla="*/ 50827 h 101653"/>
              <a:gd name="connsiteX1" fmla="*/ 50826 w 101653"/>
              <a:gd name="connsiteY1" fmla="*/ 101653 h 101653"/>
              <a:gd name="connsiteX2" fmla="*/ 0 w 101653"/>
              <a:gd name="connsiteY2" fmla="*/ 50827 h 101653"/>
              <a:gd name="connsiteX3" fmla="*/ 50826 w 101653"/>
              <a:gd name="connsiteY3" fmla="*/ 0 h 101653"/>
              <a:gd name="connsiteX4" fmla="*/ 101653 w 101653"/>
              <a:gd name="connsiteY4" fmla="*/ 50827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7"/>
                </a:moveTo>
                <a:cubicBezTo>
                  <a:pt x="101653" y="78897"/>
                  <a:pt x="78897" y="101653"/>
                  <a:pt x="50826" y="101653"/>
                </a:cubicBezTo>
                <a:cubicBezTo>
                  <a:pt x="22756" y="101653"/>
                  <a:pt x="0" y="78897"/>
                  <a:pt x="0" y="50827"/>
                </a:cubicBezTo>
                <a:cubicBezTo>
                  <a:pt x="0" y="22756"/>
                  <a:pt x="22756" y="0"/>
                  <a:pt x="50826" y="0"/>
                </a:cubicBezTo>
                <a:cubicBezTo>
                  <a:pt x="78897" y="0"/>
                  <a:pt x="101653" y="22756"/>
                  <a:pt x="101653" y="50827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974BB04B-4C6D-F0EA-DCC6-55A4FFDC1758}"/>
              </a:ext>
            </a:extLst>
          </p:cNvPr>
          <p:cNvSpPr/>
          <p:nvPr/>
        </p:nvSpPr>
        <p:spPr>
          <a:xfrm>
            <a:off x="7756853" y="4177554"/>
            <a:ext cx="109728" cy="109728"/>
          </a:xfrm>
          <a:custGeom>
            <a:avLst/>
            <a:gdLst>
              <a:gd name="connsiteX0" fmla="*/ 101653 w 101653"/>
              <a:gd name="connsiteY0" fmla="*/ 50827 h 101653"/>
              <a:gd name="connsiteX1" fmla="*/ 50826 w 101653"/>
              <a:gd name="connsiteY1" fmla="*/ 101653 h 101653"/>
              <a:gd name="connsiteX2" fmla="*/ 0 w 101653"/>
              <a:gd name="connsiteY2" fmla="*/ 50827 h 101653"/>
              <a:gd name="connsiteX3" fmla="*/ 50826 w 101653"/>
              <a:gd name="connsiteY3" fmla="*/ 0 h 101653"/>
              <a:gd name="connsiteX4" fmla="*/ 101653 w 101653"/>
              <a:gd name="connsiteY4" fmla="*/ 50827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7"/>
                </a:moveTo>
                <a:cubicBezTo>
                  <a:pt x="101653" y="78897"/>
                  <a:pt x="78897" y="101653"/>
                  <a:pt x="50826" y="101653"/>
                </a:cubicBezTo>
                <a:cubicBezTo>
                  <a:pt x="22756" y="101653"/>
                  <a:pt x="0" y="78897"/>
                  <a:pt x="0" y="50827"/>
                </a:cubicBezTo>
                <a:cubicBezTo>
                  <a:pt x="0" y="22756"/>
                  <a:pt x="22756" y="0"/>
                  <a:pt x="50826" y="0"/>
                </a:cubicBezTo>
                <a:cubicBezTo>
                  <a:pt x="78897" y="0"/>
                  <a:pt x="101653" y="22756"/>
                  <a:pt x="101653" y="50827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C90FCF8C-3595-60CE-A3AA-5B1687003FC9}"/>
              </a:ext>
            </a:extLst>
          </p:cNvPr>
          <p:cNvSpPr/>
          <p:nvPr/>
        </p:nvSpPr>
        <p:spPr>
          <a:xfrm>
            <a:off x="6128793" y="4742226"/>
            <a:ext cx="109728" cy="109728"/>
          </a:xfrm>
          <a:custGeom>
            <a:avLst/>
            <a:gdLst>
              <a:gd name="connsiteX0" fmla="*/ 74745 w 74744"/>
              <a:gd name="connsiteY0" fmla="*/ 37372 h 74744"/>
              <a:gd name="connsiteX1" fmla="*/ 37373 w 74744"/>
              <a:gd name="connsiteY1" fmla="*/ 74745 h 74744"/>
              <a:gd name="connsiteX2" fmla="*/ 0 w 74744"/>
              <a:gd name="connsiteY2" fmla="*/ 37372 h 74744"/>
              <a:gd name="connsiteX3" fmla="*/ 37373 w 74744"/>
              <a:gd name="connsiteY3" fmla="*/ 0 h 74744"/>
              <a:gd name="connsiteX4" fmla="*/ 74745 w 74744"/>
              <a:gd name="connsiteY4" fmla="*/ 37372 h 74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44" h="74744">
                <a:moveTo>
                  <a:pt x="74745" y="37372"/>
                </a:moveTo>
                <a:cubicBezTo>
                  <a:pt x="74745" y="58013"/>
                  <a:pt x="58013" y="74745"/>
                  <a:pt x="37373" y="74745"/>
                </a:cubicBezTo>
                <a:cubicBezTo>
                  <a:pt x="16732" y="74745"/>
                  <a:pt x="0" y="58013"/>
                  <a:pt x="0" y="37372"/>
                </a:cubicBezTo>
                <a:cubicBezTo>
                  <a:pt x="0" y="16732"/>
                  <a:pt x="16732" y="0"/>
                  <a:pt x="37373" y="0"/>
                </a:cubicBezTo>
                <a:cubicBezTo>
                  <a:pt x="58013" y="0"/>
                  <a:pt x="74745" y="16732"/>
                  <a:pt x="74745" y="37372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77EE9F5B-0F8B-BD96-0F5E-D9E33639E4DB}"/>
              </a:ext>
            </a:extLst>
          </p:cNvPr>
          <p:cNvSpPr/>
          <p:nvPr/>
        </p:nvSpPr>
        <p:spPr>
          <a:xfrm>
            <a:off x="7140693" y="5545152"/>
            <a:ext cx="109728" cy="109728"/>
          </a:xfrm>
          <a:custGeom>
            <a:avLst/>
            <a:gdLst>
              <a:gd name="connsiteX0" fmla="*/ 74745 w 74744"/>
              <a:gd name="connsiteY0" fmla="*/ 37372 h 74744"/>
              <a:gd name="connsiteX1" fmla="*/ 37373 w 74744"/>
              <a:gd name="connsiteY1" fmla="*/ 74745 h 74744"/>
              <a:gd name="connsiteX2" fmla="*/ 0 w 74744"/>
              <a:gd name="connsiteY2" fmla="*/ 37372 h 74744"/>
              <a:gd name="connsiteX3" fmla="*/ 37373 w 74744"/>
              <a:gd name="connsiteY3" fmla="*/ 0 h 74744"/>
              <a:gd name="connsiteX4" fmla="*/ 74745 w 74744"/>
              <a:gd name="connsiteY4" fmla="*/ 37372 h 74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44" h="74744">
                <a:moveTo>
                  <a:pt x="74745" y="37372"/>
                </a:moveTo>
                <a:cubicBezTo>
                  <a:pt x="74745" y="58013"/>
                  <a:pt x="58013" y="74745"/>
                  <a:pt x="37373" y="74745"/>
                </a:cubicBezTo>
                <a:cubicBezTo>
                  <a:pt x="16732" y="74745"/>
                  <a:pt x="0" y="58013"/>
                  <a:pt x="0" y="37372"/>
                </a:cubicBezTo>
                <a:cubicBezTo>
                  <a:pt x="0" y="16732"/>
                  <a:pt x="16732" y="0"/>
                  <a:pt x="37373" y="0"/>
                </a:cubicBezTo>
                <a:cubicBezTo>
                  <a:pt x="58013" y="0"/>
                  <a:pt x="74745" y="16732"/>
                  <a:pt x="74745" y="37372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D728CD1D-190E-E890-DE8C-68390183BDFB}"/>
              </a:ext>
            </a:extLst>
          </p:cNvPr>
          <p:cNvSpPr/>
          <p:nvPr/>
        </p:nvSpPr>
        <p:spPr>
          <a:xfrm>
            <a:off x="7670705" y="3806713"/>
            <a:ext cx="109728" cy="109728"/>
          </a:xfrm>
          <a:custGeom>
            <a:avLst/>
            <a:gdLst>
              <a:gd name="connsiteX0" fmla="*/ 101653 w 101653"/>
              <a:gd name="connsiteY0" fmla="*/ 50827 h 101653"/>
              <a:gd name="connsiteX1" fmla="*/ 50826 w 101653"/>
              <a:gd name="connsiteY1" fmla="*/ 101653 h 101653"/>
              <a:gd name="connsiteX2" fmla="*/ 0 w 101653"/>
              <a:gd name="connsiteY2" fmla="*/ 50827 h 101653"/>
              <a:gd name="connsiteX3" fmla="*/ 50826 w 101653"/>
              <a:gd name="connsiteY3" fmla="*/ 0 h 101653"/>
              <a:gd name="connsiteX4" fmla="*/ 101653 w 101653"/>
              <a:gd name="connsiteY4" fmla="*/ 50827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7"/>
                </a:moveTo>
                <a:cubicBezTo>
                  <a:pt x="101653" y="78897"/>
                  <a:pt x="78897" y="101653"/>
                  <a:pt x="50826" y="101653"/>
                </a:cubicBezTo>
                <a:cubicBezTo>
                  <a:pt x="22756" y="101653"/>
                  <a:pt x="0" y="78897"/>
                  <a:pt x="0" y="50827"/>
                </a:cubicBezTo>
                <a:cubicBezTo>
                  <a:pt x="0" y="22756"/>
                  <a:pt x="22756" y="0"/>
                  <a:pt x="50826" y="0"/>
                </a:cubicBezTo>
                <a:cubicBezTo>
                  <a:pt x="78897" y="0"/>
                  <a:pt x="101653" y="22756"/>
                  <a:pt x="101653" y="50827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43" name="Freeform: Shape 142">
            <a:extLst>
              <a:ext uri="{FF2B5EF4-FFF2-40B4-BE49-F238E27FC236}">
                <a16:creationId xmlns:a16="http://schemas.microsoft.com/office/drawing/2014/main" id="{DEF7C3C3-1781-DBDD-1836-51FBE1E9B0A9}"/>
              </a:ext>
            </a:extLst>
          </p:cNvPr>
          <p:cNvSpPr/>
          <p:nvPr/>
        </p:nvSpPr>
        <p:spPr>
          <a:xfrm>
            <a:off x="8104810" y="4726409"/>
            <a:ext cx="109728" cy="109728"/>
          </a:xfrm>
          <a:custGeom>
            <a:avLst/>
            <a:gdLst>
              <a:gd name="connsiteX0" fmla="*/ 74745 w 74744"/>
              <a:gd name="connsiteY0" fmla="*/ 37372 h 74744"/>
              <a:gd name="connsiteX1" fmla="*/ 37373 w 74744"/>
              <a:gd name="connsiteY1" fmla="*/ 74745 h 74744"/>
              <a:gd name="connsiteX2" fmla="*/ 0 w 74744"/>
              <a:gd name="connsiteY2" fmla="*/ 37372 h 74744"/>
              <a:gd name="connsiteX3" fmla="*/ 37373 w 74744"/>
              <a:gd name="connsiteY3" fmla="*/ 0 h 74744"/>
              <a:gd name="connsiteX4" fmla="*/ 74745 w 74744"/>
              <a:gd name="connsiteY4" fmla="*/ 37372 h 74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44" h="74744">
                <a:moveTo>
                  <a:pt x="74745" y="37372"/>
                </a:moveTo>
                <a:cubicBezTo>
                  <a:pt x="74745" y="58013"/>
                  <a:pt x="58013" y="74745"/>
                  <a:pt x="37373" y="74745"/>
                </a:cubicBezTo>
                <a:cubicBezTo>
                  <a:pt x="16732" y="74745"/>
                  <a:pt x="0" y="58013"/>
                  <a:pt x="0" y="37372"/>
                </a:cubicBezTo>
                <a:cubicBezTo>
                  <a:pt x="0" y="16732"/>
                  <a:pt x="16732" y="0"/>
                  <a:pt x="37373" y="0"/>
                </a:cubicBezTo>
                <a:cubicBezTo>
                  <a:pt x="58013" y="0"/>
                  <a:pt x="74745" y="16732"/>
                  <a:pt x="74745" y="37372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B7BAAA77-5F8D-5711-4522-C818D13DFE8E}"/>
              </a:ext>
            </a:extLst>
          </p:cNvPr>
          <p:cNvSpPr/>
          <p:nvPr/>
        </p:nvSpPr>
        <p:spPr>
          <a:xfrm>
            <a:off x="9772916" y="4417489"/>
            <a:ext cx="109728" cy="109728"/>
          </a:xfrm>
          <a:custGeom>
            <a:avLst/>
            <a:gdLst>
              <a:gd name="connsiteX0" fmla="*/ 101653 w 101653"/>
              <a:gd name="connsiteY0" fmla="*/ 50826 h 101653"/>
              <a:gd name="connsiteX1" fmla="*/ 50826 w 101653"/>
              <a:gd name="connsiteY1" fmla="*/ 101653 h 101653"/>
              <a:gd name="connsiteX2" fmla="*/ -1 w 101653"/>
              <a:gd name="connsiteY2" fmla="*/ 50826 h 101653"/>
              <a:gd name="connsiteX3" fmla="*/ 50826 w 101653"/>
              <a:gd name="connsiteY3" fmla="*/ 0 h 101653"/>
              <a:gd name="connsiteX4" fmla="*/ 101653 w 101653"/>
              <a:gd name="connsiteY4" fmla="*/ 50826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6"/>
                </a:moveTo>
                <a:cubicBezTo>
                  <a:pt x="101653" y="78897"/>
                  <a:pt x="78897" y="101653"/>
                  <a:pt x="50826" y="101653"/>
                </a:cubicBezTo>
                <a:cubicBezTo>
                  <a:pt x="22755" y="101653"/>
                  <a:pt x="-1" y="78897"/>
                  <a:pt x="-1" y="50826"/>
                </a:cubicBezTo>
                <a:cubicBezTo>
                  <a:pt x="-1" y="22756"/>
                  <a:pt x="22755" y="0"/>
                  <a:pt x="50826" y="0"/>
                </a:cubicBezTo>
                <a:cubicBezTo>
                  <a:pt x="78897" y="0"/>
                  <a:pt x="101653" y="22756"/>
                  <a:pt x="101653" y="50826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6FE297B7-C022-6096-380D-43DA7186179A}"/>
              </a:ext>
            </a:extLst>
          </p:cNvPr>
          <p:cNvSpPr/>
          <p:nvPr/>
        </p:nvSpPr>
        <p:spPr>
          <a:xfrm>
            <a:off x="8709864" y="4478061"/>
            <a:ext cx="109728" cy="109728"/>
          </a:xfrm>
          <a:custGeom>
            <a:avLst/>
            <a:gdLst>
              <a:gd name="connsiteX0" fmla="*/ 101653 w 101653"/>
              <a:gd name="connsiteY0" fmla="*/ 50827 h 101653"/>
              <a:gd name="connsiteX1" fmla="*/ 50827 w 101653"/>
              <a:gd name="connsiteY1" fmla="*/ 101653 h 101653"/>
              <a:gd name="connsiteX2" fmla="*/ 0 w 101653"/>
              <a:gd name="connsiteY2" fmla="*/ 50827 h 101653"/>
              <a:gd name="connsiteX3" fmla="*/ 50827 w 101653"/>
              <a:gd name="connsiteY3" fmla="*/ 0 h 101653"/>
              <a:gd name="connsiteX4" fmla="*/ 101653 w 101653"/>
              <a:gd name="connsiteY4" fmla="*/ 50827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7"/>
                </a:moveTo>
                <a:cubicBezTo>
                  <a:pt x="101653" y="78897"/>
                  <a:pt x="78897" y="101653"/>
                  <a:pt x="50827" y="101653"/>
                </a:cubicBezTo>
                <a:cubicBezTo>
                  <a:pt x="22756" y="101653"/>
                  <a:pt x="0" y="78897"/>
                  <a:pt x="0" y="50827"/>
                </a:cubicBezTo>
                <a:cubicBezTo>
                  <a:pt x="0" y="22756"/>
                  <a:pt x="22756" y="0"/>
                  <a:pt x="50827" y="0"/>
                </a:cubicBezTo>
                <a:cubicBezTo>
                  <a:pt x="78897" y="0"/>
                  <a:pt x="101653" y="22756"/>
                  <a:pt x="101653" y="50827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738CF496-3717-23EB-17A3-5A8CAA9DB58E}"/>
              </a:ext>
            </a:extLst>
          </p:cNvPr>
          <p:cNvSpPr/>
          <p:nvPr/>
        </p:nvSpPr>
        <p:spPr>
          <a:xfrm>
            <a:off x="7160211" y="3405923"/>
            <a:ext cx="109728" cy="109728"/>
          </a:xfrm>
          <a:custGeom>
            <a:avLst/>
            <a:gdLst>
              <a:gd name="connsiteX0" fmla="*/ 101653 w 101653"/>
              <a:gd name="connsiteY0" fmla="*/ 50827 h 101653"/>
              <a:gd name="connsiteX1" fmla="*/ 50826 w 101653"/>
              <a:gd name="connsiteY1" fmla="*/ 101653 h 101653"/>
              <a:gd name="connsiteX2" fmla="*/ 0 w 101653"/>
              <a:gd name="connsiteY2" fmla="*/ 50827 h 101653"/>
              <a:gd name="connsiteX3" fmla="*/ 50826 w 101653"/>
              <a:gd name="connsiteY3" fmla="*/ 0 h 101653"/>
              <a:gd name="connsiteX4" fmla="*/ 101653 w 101653"/>
              <a:gd name="connsiteY4" fmla="*/ 50827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7"/>
                </a:moveTo>
                <a:cubicBezTo>
                  <a:pt x="101653" y="78897"/>
                  <a:pt x="78897" y="101653"/>
                  <a:pt x="50826" y="101653"/>
                </a:cubicBezTo>
                <a:cubicBezTo>
                  <a:pt x="22756" y="101653"/>
                  <a:pt x="0" y="78897"/>
                  <a:pt x="0" y="50827"/>
                </a:cubicBezTo>
                <a:cubicBezTo>
                  <a:pt x="0" y="22756"/>
                  <a:pt x="22756" y="0"/>
                  <a:pt x="50826" y="0"/>
                </a:cubicBezTo>
                <a:cubicBezTo>
                  <a:pt x="78897" y="0"/>
                  <a:pt x="101653" y="22756"/>
                  <a:pt x="101653" y="50827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D15CD4CF-EBB6-CB83-BC07-305FDA7E604F}"/>
              </a:ext>
            </a:extLst>
          </p:cNvPr>
          <p:cNvSpPr/>
          <p:nvPr/>
        </p:nvSpPr>
        <p:spPr>
          <a:xfrm>
            <a:off x="4430737" y="5316995"/>
            <a:ext cx="109728" cy="109728"/>
          </a:xfrm>
          <a:custGeom>
            <a:avLst/>
            <a:gdLst>
              <a:gd name="connsiteX0" fmla="*/ 101653 w 101653"/>
              <a:gd name="connsiteY0" fmla="*/ 50827 h 101653"/>
              <a:gd name="connsiteX1" fmla="*/ 50827 w 101653"/>
              <a:gd name="connsiteY1" fmla="*/ 101653 h 101653"/>
              <a:gd name="connsiteX2" fmla="*/ 0 w 101653"/>
              <a:gd name="connsiteY2" fmla="*/ 50827 h 101653"/>
              <a:gd name="connsiteX3" fmla="*/ 50827 w 101653"/>
              <a:gd name="connsiteY3" fmla="*/ 0 h 101653"/>
              <a:gd name="connsiteX4" fmla="*/ 101653 w 101653"/>
              <a:gd name="connsiteY4" fmla="*/ 50827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7"/>
                </a:moveTo>
                <a:cubicBezTo>
                  <a:pt x="101653" y="78897"/>
                  <a:pt x="78897" y="101653"/>
                  <a:pt x="50827" y="101653"/>
                </a:cubicBezTo>
                <a:cubicBezTo>
                  <a:pt x="22756" y="101653"/>
                  <a:pt x="0" y="78897"/>
                  <a:pt x="0" y="50827"/>
                </a:cubicBezTo>
                <a:cubicBezTo>
                  <a:pt x="0" y="22756"/>
                  <a:pt x="22756" y="0"/>
                  <a:pt x="50827" y="0"/>
                </a:cubicBezTo>
                <a:cubicBezTo>
                  <a:pt x="78898" y="0"/>
                  <a:pt x="101653" y="22756"/>
                  <a:pt x="101653" y="50827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B5339AED-831A-A671-7029-702D8034D399}"/>
              </a:ext>
            </a:extLst>
          </p:cNvPr>
          <p:cNvSpPr/>
          <p:nvPr/>
        </p:nvSpPr>
        <p:spPr>
          <a:xfrm>
            <a:off x="8265328" y="3672780"/>
            <a:ext cx="109728" cy="109728"/>
          </a:xfrm>
          <a:custGeom>
            <a:avLst/>
            <a:gdLst>
              <a:gd name="connsiteX0" fmla="*/ 101653 w 101653"/>
              <a:gd name="connsiteY0" fmla="*/ 50827 h 101653"/>
              <a:gd name="connsiteX1" fmla="*/ 50826 w 101653"/>
              <a:gd name="connsiteY1" fmla="*/ 101653 h 101653"/>
              <a:gd name="connsiteX2" fmla="*/ -1 w 101653"/>
              <a:gd name="connsiteY2" fmla="*/ 50827 h 101653"/>
              <a:gd name="connsiteX3" fmla="*/ 50826 w 101653"/>
              <a:gd name="connsiteY3" fmla="*/ 0 h 101653"/>
              <a:gd name="connsiteX4" fmla="*/ 101653 w 101653"/>
              <a:gd name="connsiteY4" fmla="*/ 50827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7"/>
                </a:moveTo>
                <a:cubicBezTo>
                  <a:pt x="101653" y="78897"/>
                  <a:pt x="78897" y="101653"/>
                  <a:pt x="50826" y="101653"/>
                </a:cubicBezTo>
                <a:cubicBezTo>
                  <a:pt x="22755" y="101653"/>
                  <a:pt x="-1" y="78897"/>
                  <a:pt x="-1" y="50827"/>
                </a:cubicBezTo>
                <a:cubicBezTo>
                  <a:pt x="-1" y="22756"/>
                  <a:pt x="22755" y="0"/>
                  <a:pt x="50826" y="0"/>
                </a:cubicBezTo>
                <a:cubicBezTo>
                  <a:pt x="78897" y="0"/>
                  <a:pt x="101653" y="22756"/>
                  <a:pt x="101653" y="50827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54" name="Freeform: Shape 153">
            <a:extLst>
              <a:ext uri="{FF2B5EF4-FFF2-40B4-BE49-F238E27FC236}">
                <a16:creationId xmlns:a16="http://schemas.microsoft.com/office/drawing/2014/main" id="{EC4AE2A1-F048-0370-C59F-7A88F3BFD8E5}"/>
              </a:ext>
            </a:extLst>
          </p:cNvPr>
          <p:cNvSpPr/>
          <p:nvPr/>
        </p:nvSpPr>
        <p:spPr>
          <a:xfrm>
            <a:off x="10596706" y="2909901"/>
            <a:ext cx="109728" cy="109728"/>
          </a:xfrm>
          <a:custGeom>
            <a:avLst/>
            <a:gdLst>
              <a:gd name="connsiteX0" fmla="*/ 101653 w 101653"/>
              <a:gd name="connsiteY0" fmla="*/ 50827 h 101653"/>
              <a:gd name="connsiteX1" fmla="*/ 50826 w 101653"/>
              <a:gd name="connsiteY1" fmla="*/ 101653 h 101653"/>
              <a:gd name="connsiteX2" fmla="*/ 0 w 101653"/>
              <a:gd name="connsiteY2" fmla="*/ 50827 h 101653"/>
              <a:gd name="connsiteX3" fmla="*/ 50826 w 101653"/>
              <a:gd name="connsiteY3" fmla="*/ 0 h 101653"/>
              <a:gd name="connsiteX4" fmla="*/ 101653 w 101653"/>
              <a:gd name="connsiteY4" fmla="*/ 50827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7"/>
                </a:moveTo>
                <a:cubicBezTo>
                  <a:pt x="101653" y="78897"/>
                  <a:pt x="78897" y="101653"/>
                  <a:pt x="50826" y="101653"/>
                </a:cubicBezTo>
                <a:cubicBezTo>
                  <a:pt x="22756" y="101653"/>
                  <a:pt x="0" y="78897"/>
                  <a:pt x="0" y="50827"/>
                </a:cubicBezTo>
                <a:cubicBezTo>
                  <a:pt x="0" y="22756"/>
                  <a:pt x="22756" y="0"/>
                  <a:pt x="50826" y="0"/>
                </a:cubicBezTo>
                <a:cubicBezTo>
                  <a:pt x="78897" y="0"/>
                  <a:pt x="101653" y="22756"/>
                  <a:pt x="101653" y="50827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57" name="Freeform: Shape 156">
            <a:extLst>
              <a:ext uri="{FF2B5EF4-FFF2-40B4-BE49-F238E27FC236}">
                <a16:creationId xmlns:a16="http://schemas.microsoft.com/office/drawing/2014/main" id="{43268002-D3C4-B5AD-5306-86D25FC884BA}"/>
              </a:ext>
            </a:extLst>
          </p:cNvPr>
          <p:cNvSpPr/>
          <p:nvPr/>
        </p:nvSpPr>
        <p:spPr>
          <a:xfrm>
            <a:off x="9699556" y="3139068"/>
            <a:ext cx="109728" cy="109728"/>
          </a:xfrm>
          <a:custGeom>
            <a:avLst/>
            <a:gdLst>
              <a:gd name="connsiteX0" fmla="*/ 74745 w 74744"/>
              <a:gd name="connsiteY0" fmla="*/ 37372 h 74744"/>
              <a:gd name="connsiteX1" fmla="*/ 37372 w 74744"/>
              <a:gd name="connsiteY1" fmla="*/ 74745 h 74744"/>
              <a:gd name="connsiteX2" fmla="*/ 0 w 74744"/>
              <a:gd name="connsiteY2" fmla="*/ 37372 h 74744"/>
              <a:gd name="connsiteX3" fmla="*/ 37372 w 74744"/>
              <a:gd name="connsiteY3" fmla="*/ 0 h 74744"/>
              <a:gd name="connsiteX4" fmla="*/ 74745 w 74744"/>
              <a:gd name="connsiteY4" fmla="*/ 37372 h 74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44" h="74744">
                <a:moveTo>
                  <a:pt x="74745" y="37372"/>
                </a:moveTo>
                <a:cubicBezTo>
                  <a:pt x="74745" y="58013"/>
                  <a:pt x="58012" y="74745"/>
                  <a:pt x="37372" y="74745"/>
                </a:cubicBezTo>
                <a:cubicBezTo>
                  <a:pt x="16732" y="74745"/>
                  <a:pt x="0" y="58013"/>
                  <a:pt x="0" y="37372"/>
                </a:cubicBezTo>
                <a:cubicBezTo>
                  <a:pt x="0" y="16732"/>
                  <a:pt x="16732" y="0"/>
                  <a:pt x="37372" y="0"/>
                </a:cubicBezTo>
                <a:cubicBezTo>
                  <a:pt x="58012" y="0"/>
                  <a:pt x="74745" y="16732"/>
                  <a:pt x="74745" y="37372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58" name="Freeform: Shape 157">
            <a:extLst>
              <a:ext uri="{FF2B5EF4-FFF2-40B4-BE49-F238E27FC236}">
                <a16:creationId xmlns:a16="http://schemas.microsoft.com/office/drawing/2014/main" id="{F59E23B5-53FE-0784-A92E-C95B5B3857FD}"/>
              </a:ext>
            </a:extLst>
          </p:cNvPr>
          <p:cNvSpPr/>
          <p:nvPr/>
        </p:nvSpPr>
        <p:spPr>
          <a:xfrm>
            <a:off x="9739265" y="2886681"/>
            <a:ext cx="109728" cy="109728"/>
          </a:xfrm>
          <a:custGeom>
            <a:avLst/>
            <a:gdLst>
              <a:gd name="connsiteX0" fmla="*/ 101653 w 101653"/>
              <a:gd name="connsiteY0" fmla="*/ 50827 h 101653"/>
              <a:gd name="connsiteX1" fmla="*/ 50826 w 101653"/>
              <a:gd name="connsiteY1" fmla="*/ 101653 h 101653"/>
              <a:gd name="connsiteX2" fmla="*/ -1 w 101653"/>
              <a:gd name="connsiteY2" fmla="*/ 50827 h 101653"/>
              <a:gd name="connsiteX3" fmla="*/ 50826 w 101653"/>
              <a:gd name="connsiteY3" fmla="*/ 0 h 101653"/>
              <a:gd name="connsiteX4" fmla="*/ 101653 w 101653"/>
              <a:gd name="connsiteY4" fmla="*/ 50827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7"/>
                </a:moveTo>
                <a:cubicBezTo>
                  <a:pt x="101653" y="78897"/>
                  <a:pt x="78897" y="101653"/>
                  <a:pt x="50826" y="101653"/>
                </a:cubicBezTo>
                <a:cubicBezTo>
                  <a:pt x="22755" y="101653"/>
                  <a:pt x="-1" y="78897"/>
                  <a:pt x="-1" y="50827"/>
                </a:cubicBezTo>
                <a:cubicBezTo>
                  <a:pt x="-1" y="22756"/>
                  <a:pt x="22755" y="0"/>
                  <a:pt x="50826" y="0"/>
                </a:cubicBezTo>
                <a:cubicBezTo>
                  <a:pt x="78897" y="0"/>
                  <a:pt x="101653" y="22756"/>
                  <a:pt x="101653" y="50827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60" name="Freeform: Shape 159">
            <a:extLst>
              <a:ext uri="{FF2B5EF4-FFF2-40B4-BE49-F238E27FC236}">
                <a16:creationId xmlns:a16="http://schemas.microsoft.com/office/drawing/2014/main" id="{D9321C59-2A2B-5CE7-8B6F-5D9CEE7029F2}"/>
              </a:ext>
            </a:extLst>
          </p:cNvPr>
          <p:cNvSpPr/>
          <p:nvPr/>
        </p:nvSpPr>
        <p:spPr>
          <a:xfrm>
            <a:off x="6898403" y="3124933"/>
            <a:ext cx="109728" cy="109728"/>
          </a:xfrm>
          <a:custGeom>
            <a:avLst/>
            <a:gdLst>
              <a:gd name="connsiteX0" fmla="*/ 101653 w 101653"/>
              <a:gd name="connsiteY0" fmla="*/ 50827 h 101653"/>
              <a:gd name="connsiteX1" fmla="*/ 50826 w 101653"/>
              <a:gd name="connsiteY1" fmla="*/ 101653 h 101653"/>
              <a:gd name="connsiteX2" fmla="*/ 0 w 101653"/>
              <a:gd name="connsiteY2" fmla="*/ 50827 h 101653"/>
              <a:gd name="connsiteX3" fmla="*/ 50826 w 101653"/>
              <a:gd name="connsiteY3" fmla="*/ 0 h 101653"/>
              <a:gd name="connsiteX4" fmla="*/ 101653 w 101653"/>
              <a:gd name="connsiteY4" fmla="*/ 50827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7"/>
                </a:moveTo>
                <a:cubicBezTo>
                  <a:pt x="101653" y="78897"/>
                  <a:pt x="78897" y="101653"/>
                  <a:pt x="50826" y="101653"/>
                </a:cubicBezTo>
                <a:cubicBezTo>
                  <a:pt x="22756" y="101653"/>
                  <a:pt x="0" y="78897"/>
                  <a:pt x="0" y="50827"/>
                </a:cubicBezTo>
                <a:cubicBezTo>
                  <a:pt x="0" y="22756"/>
                  <a:pt x="22756" y="0"/>
                  <a:pt x="50826" y="0"/>
                </a:cubicBezTo>
                <a:cubicBezTo>
                  <a:pt x="78897" y="0"/>
                  <a:pt x="101653" y="22756"/>
                  <a:pt x="101653" y="50827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62" name="Freeform: Shape 161">
            <a:extLst>
              <a:ext uri="{FF2B5EF4-FFF2-40B4-BE49-F238E27FC236}">
                <a16:creationId xmlns:a16="http://schemas.microsoft.com/office/drawing/2014/main" id="{AE1F5820-897F-22D0-AD6A-C68C6B6A2A5F}"/>
              </a:ext>
            </a:extLst>
          </p:cNvPr>
          <p:cNvSpPr/>
          <p:nvPr/>
        </p:nvSpPr>
        <p:spPr>
          <a:xfrm>
            <a:off x="4535392" y="5048792"/>
            <a:ext cx="109728" cy="109728"/>
          </a:xfrm>
          <a:custGeom>
            <a:avLst/>
            <a:gdLst>
              <a:gd name="connsiteX0" fmla="*/ 101653 w 101653"/>
              <a:gd name="connsiteY0" fmla="*/ 50827 h 101653"/>
              <a:gd name="connsiteX1" fmla="*/ 50826 w 101653"/>
              <a:gd name="connsiteY1" fmla="*/ 101653 h 101653"/>
              <a:gd name="connsiteX2" fmla="*/ 0 w 101653"/>
              <a:gd name="connsiteY2" fmla="*/ 50827 h 101653"/>
              <a:gd name="connsiteX3" fmla="*/ 50826 w 101653"/>
              <a:gd name="connsiteY3" fmla="*/ 0 h 101653"/>
              <a:gd name="connsiteX4" fmla="*/ 101653 w 101653"/>
              <a:gd name="connsiteY4" fmla="*/ 50827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7"/>
                </a:moveTo>
                <a:cubicBezTo>
                  <a:pt x="101653" y="78897"/>
                  <a:pt x="78897" y="101653"/>
                  <a:pt x="50826" y="101653"/>
                </a:cubicBezTo>
                <a:cubicBezTo>
                  <a:pt x="22756" y="101653"/>
                  <a:pt x="0" y="78897"/>
                  <a:pt x="0" y="50827"/>
                </a:cubicBezTo>
                <a:cubicBezTo>
                  <a:pt x="0" y="22756"/>
                  <a:pt x="22756" y="0"/>
                  <a:pt x="50826" y="0"/>
                </a:cubicBezTo>
                <a:cubicBezTo>
                  <a:pt x="78897" y="0"/>
                  <a:pt x="101653" y="22756"/>
                  <a:pt x="101653" y="50827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65" name="Freeform: Shape 164">
            <a:extLst>
              <a:ext uri="{FF2B5EF4-FFF2-40B4-BE49-F238E27FC236}">
                <a16:creationId xmlns:a16="http://schemas.microsoft.com/office/drawing/2014/main" id="{BF515985-31A9-67AC-68D4-DC241FD63EB9}"/>
              </a:ext>
            </a:extLst>
          </p:cNvPr>
          <p:cNvSpPr/>
          <p:nvPr/>
        </p:nvSpPr>
        <p:spPr>
          <a:xfrm>
            <a:off x="4408190" y="4337398"/>
            <a:ext cx="109728" cy="109728"/>
          </a:xfrm>
          <a:custGeom>
            <a:avLst/>
            <a:gdLst>
              <a:gd name="connsiteX0" fmla="*/ 74745 w 74744"/>
              <a:gd name="connsiteY0" fmla="*/ 37372 h 74744"/>
              <a:gd name="connsiteX1" fmla="*/ 37372 w 74744"/>
              <a:gd name="connsiteY1" fmla="*/ 74745 h 74744"/>
              <a:gd name="connsiteX2" fmla="*/ 0 w 74744"/>
              <a:gd name="connsiteY2" fmla="*/ 37372 h 74744"/>
              <a:gd name="connsiteX3" fmla="*/ 37372 w 74744"/>
              <a:gd name="connsiteY3" fmla="*/ 0 h 74744"/>
              <a:gd name="connsiteX4" fmla="*/ 74745 w 74744"/>
              <a:gd name="connsiteY4" fmla="*/ 37372 h 74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44" h="74744">
                <a:moveTo>
                  <a:pt x="74745" y="37372"/>
                </a:moveTo>
                <a:cubicBezTo>
                  <a:pt x="74745" y="58013"/>
                  <a:pt x="58013" y="74745"/>
                  <a:pt x="37372" y="74745"/>
                </a:cubicBezTo>
                <a:cubicBezTo>
                  <a:pt x="16732" y="74745"/>
                  <a:pt x="0" y="58013"/>
                  <a:pt x="0" y="37372"/>
                </a:cubicBezTo>
                <a:cubicBezTo>
                  <a:pt x="0" y="16732"/>
                  <a:pt x="16732" y="0"/>
                  <a:pt x="37372" y="0"/>
                </a:cubicBezTo>
                <a:cubicBezTo>
                  <a:pt x="58013" y="0"/>
                  <a:pt x="74745" y="16732"/>
                  <a:pt x="74745" y="37372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66" name="Freeform: Shape 165">
            <a:extLst>
              <a:ext uri="{FF2B5EF4-FFF2-40B4-BE49-F238E27FC236}">
                <a16:creationId xmlns:a16="http://schemas.microsoft.com/office/drawing/2014/main" id="{44B62D2E-0109-0790-5AE0-5CC168E0CB37}"/>
              </a:ext>
            </a:extLst>
          </p:cNvPr>
          <p:cNvSpPr/>
          <p:nvPr/>
        </p:nvSpPr>
        <p:spPr>
          <a:xfrm>
            <a:off x="8305037" y="4425902"/>
            <a:ext cx="109728" cy="109728"/>
          </a:xfrm>
          <a:custGeom>
            <a:avLst/>
            <a:gdLst>
              <a:gd name="connsiteX0" fmla="*/ 101653 w 101653"/>
              <a:gd name="connsiteY0" fmla="*/ 50826 h 101653"/>
              <a:gd name="connsiteX1" fmla="*/ 50827 w 101653"/>
              <a:gd name="connsiteY1" fmla="*/ 101653 h 101653"/>
              <a:gd name="connsiteX2" fmla="*/ 0 w 101653"/>
              <a:gd name="connsiteY2" fmla="*/ 50826 h 101653"/>
              <a:gd name="connsiteX3" fmla="*/ 50827 w 101653"/>
              <a:gd name="connsiteY3" fmla="*/ 0 h 101653"/>
              <a:gd name="connsiteX4" fmla="*/ 101653 w 101653"/>
              <a:gd name="connsiteY4" fmla="*/ 50826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6"/>
                </a:moveTo>
                <a:cubicBezTo>
                  <a:pt x="101653" y="78897"/>
                  <a:pt x="78897" y="101653"/>
                  <a:pt x="50827" y="101653"/>
                </a:cubicBezTo>
                <a:cubicBezTo>
                  <a:pt x="22756" y="101653"/>
                  <a:pt x="0" y="78897"/>
                  <a:pt x="0" y="50826"/>
                </a:cubicBezTo>
                <a:cubicBezTo>
                  <a:pt x="0" y="22756"/>
                  <a:pt x="22756" y="0"/>
                  <a:pt x="50827" y="0"/>
                </a:cubicBezTo>
                <a:cubicBezTo>
                  <a:pt x="78897" y="0"/>
                  <a:pt x="101653" y="22756"/>
                  <a:pt x="101653" y="50826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69" name="Freeform: Shape 168">
            <a:extLst>
              <a:ext uri="{FF2B5EF4-FFF2-40B4-BE49-F238E27FC236}">
                <a16:creationId xmlns:a16="http://schemas.microsoft.com/office/drawing/2014/main" id="{64975D1D-9FB9-CB14-DCCF-7AA2959E3D6E}"/>
              </a:ext>
            </a:extLst>
          </p:cNvPr>
          <p:cNvSpPr/>
          <p:nvPr/>
        </p:nvSpPr>
        <p:spPr>
          <a:xfrm>
            <a:off x="5973659" y="3800993"/>
            <a:ext cx="109728" cy="109728"/>
          </a:xfrm>
          <a:custGeom>
            <a:avLst/>
            <a:gdLst>
              <a:gd name="connsiteX0" fmla="*/ 74745 w 74744"/>
              <a:gd name="connsiteY0" fmla="*/ 37372 h 74744"/>
              <a:gd name="connsiteX1" fmla="*/ 37372 w 74744"/>
              <a:gd name="connsiteY1" fmla="*/ 74745 h 74744"/>
              <a:gd name="connsiteX2" fmla="*/ 0 w 74744"/>
              <a:gd name="connsiteY2" fmla="*/ 37372 h 74744"/>
              <a:gd name="connsiteX3" fmla="*/ 37372 w 74744"/>
              <a:gd name="connsiteY3" fmla="*/ 0 h 74744"/>
              <a:gd name="connsiteX4" fmla="*/ 74745 w 74744"/>
              <a:gd name="connsiteY4" fmla="*/ 37372 h 74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44" h="74744">
                <a:moveTo>
                  <a:pt x="74745" y="37372"/>
                </a:moveTo>
                <a:cubicBezTo>
                  <a:pt x="74745" y="58013"/>
                  <a:pt x="58013" y="74745"/>
                  <a:pt x="37372" y="74745"/>
                </a:cubicBezTo>
                <a:cubicBezTo>
                  <a:pt x="16732" y="74745"/>
                  <a:pt x="0" y="58013"/>
                  <a:pt x="0" y="37372"/>
                </a:cubicBezTo>
                <a:cubicBezTo>
                  <a:pt x="0" y="16732"/>
                  <a:pt x="16732" y="0"/>
                  <a:pt x="37372" y="0"/>
                </a:cubicBezTo>
                <a:cubicBezTo>
                  <a:pt x="58013" y="0"/>
                  <a:pt x="74745" y="16732"/>
                  <a:pt x="74745" y="37372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71" name="Freeform: Shape 170">
            <a:extLst>
              <a:ext uri="{FF2B5EF4-FFF2-40B4-BE49-F238E27FC236}">
                <a16:creationId xmlns:a16="http://schemas.microsoft.com/office/drawing/2014/main" id="{BE779BDD-8BB4-9B3A-8331-38BF51545CDD}"/>
              </a:ext>
            </a:extLst>
          </p:cNvPr>
          <p:cNvSpPr/>
          <p:nvPr/>
        </p:nvSpPr>
        <p:spPr>
          <a:xfrm>
            <a:off x="8378397" y="4132796"/>
            <a:ext cx="109728" cy="109728"/>
          </a:xfrm>
          <a:custGeom>
            <a:avLst/>
            <a:gdLst>
              <a:gd name="connsiteX0" fmla="*/ 74745 w 74744"/>
              <a:gd name="connsiteY0" fmla="*/ 37372 h 74744"/>
              <a:gd name="connsiteX1" fmla="*/ 37373 w 74744"/>
              <a:gd name="connsiteY1" fmla="*/ 74745 h 74744"/>
              <a:gd name="connsiteX2" fmla="*/ 0 w 74744"/>
              <a:gd name="connsiteY2" fmla="*/ 37372 h 74744"/>
              <a:gd name="connsiteX3" fmla="*/ 37373 w 74744"/>
              <a:gd name="connsiteY3" fmla="*/ 0 h 74744"/>
              <a:gd name="connsiteX4" fmla="*/ 74745 w 74744"/>
              <a:gd name="connsiteY4" fmla="*/ 37372 h 74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44" h="74744">
                <a:moveTo>
                  <a:pt x="74745" y="37372"/>
                </a:moveTo>
                <a:cubicBezTo>
                  <a:pt x="74745" y="58013"/>
                  <a:pt x="58013" y="74745"/>
                  <a:pt x="37373" y="74745"/>
                </a:cubicBezTo>
                <a:cubicBezTo>
                  <a:pt x="16733" y="74745"/>
                  <a:pt x="0" y="58013"/>
                  <a:pt x="0" y="37372"/>
                </a:cubicBezTo>
                <a:cubicBezTo>
                  <a:pt x="0" y="16732"/>
                  <a:pt x="16733" y="0"/>
                  <a:pt x="37373" y="0"/>
                </a:cubicBezTo>
                <a:cubicBezTo>
                  <a:pt x="58013" y="0"/>
                  <a:pt x="74745" y="16732"/>
                  <a:pt x="74745" y="37372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72" name="Freeform: Shape 171">
            <a:extLst>
              <a:ext uri="{FF2B5EF4-FFF2-40B4-BE49-F238E27FC236}">
                <a16:creationId xmlns:a16="http://schemas.microsoft.com/office/drawing/2014/main" id="{3C74BD24-0F6B-56A0-F694-100C1144BBC9}"/>
              </a:ext>
            </a:extLst>
          </p:cNvPr>
          <p:cNvSpPr/>
          <p:nvPr/>
        </p:nvSpPr>
        <p:spPr>
          <a:xfrm>
            <a:off x="6411129" y="3591344"/>
            <a:ext cx="109728" cy="109728"/>
          </a:xfrm>
          <a:custGeom>
            <a:avLst/>
            <a:gdLst>
              <a:gd name="connsiteX0" fmla="*/ 101653 w 101653"/>
              <a:gd name="connsiteY0" fmla="*/ 50827 h 101653"/>
              <a:gd name="connsiteX1" fmla="*/ 50827 w 101653"/>
              <a:gd name="connsiteY1" fmla="*/ 101653 h 101653"/>
              <a:gd name="connsiteX2" fmla="*/ 0 w 101653"/>
              <a:gd name="connsiteY2" fmla="*/ 50827 h 101653"/>
              <a:gd name="connsiteX3" fmla="*/ 50827 w 101653"/>
              <a:gd name="connsiteY3" fmla="*/ 0 h 101653"/>
              <a:gd name="connsiteX4" fmla="*/ 101653 w 101653"/>
              <a:gd name="connsiteY4" fmla="*/ 50827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7"/>
                </a:moveTo>
                <a:cubicBezTo>
                  <a:pt x="101653" y="78897"/>
                  <a:pt x="78897" y="101653"/>
                  <a:pt x="50827" y="101653"/>
                </a:cubicBezTo>
                <a:cubicBezTo>
                  <a:pt x="22756" y="101653"/>
                  <a:pt x="0" y="78897"/>
                  <a:pt x="0" y="50827"/>
                </a:cubicBezTo>
                <a:cubicBezTo>
                  <a:pt x="0" y="22756"/>
                  <a:pt x="22756" y="0"/>
                  <a:pt x="50827" y="0"/>
                </a:cubicBezTo>
                <a:cubicBezTo>
                  <a:pt x="78897" y="0"/>
                  <a:pt x="101653" y="22756"/>
                  <a:pt x="101653" y="50827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74" name="Freeform: Shape 173">
            <a:extLst>
              <a:ext uri="{FF2B5EF4-FFF2-40B4-BE49-F238E27FC236}">
                <a16:creationId xmlns:a16="http://schemas.microsoft.com/office/drawing/2014/main" id="{A4B78167-6517-16BD-94BD-0E5DC5902B4D}"/>
              </a:ext>
            </a:extLst>
          </p:cNvPr>
          <p:cNvSpPr/>
          <p:nvPr/>
        </p:nvSpPr>
        <p:spPr>
          <a:xfrm>
            <a:off x="5880781" y="3621293"/>
            <a:ext cx="109728" cy="109728"/>
          </a:xfrm>
          <a:custGeom>
            <a:avLst/>
            <a:gdLst>
              <a:gd name="connsiteX0" fmla="*/ 101653 w 101653"/>
              <a:gd name="connsiteY0" fmla="*/ 50827 h 101653"/>
              <a:gd name="connsiteX1" fmla="*/ 50826 w 101653"/>
              <a:gd name="connsiteY1" fmla="*/ 101653 h 101653"/>
              <a:gd name="connsiteX2" fmla="*/ 0 w 101653"/>
              <a:gd name="connsiteY2" fmla="*/ 50827 h 101653"/>
              <a:gd name="connsiteX3" fmla="*/ 50826 w 101653"/>
              <a:gd name="connsiteY3" fmla="*/ 0 h 101653"/>
              <a:gd name="connsiteX4" fmla="*/ 101653 w 101653"/>
              <a:gd name="connsiteY4" fmla="*/ 50827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7"/>
                </a:moveTo>
                <a:cubicBezTo>
                  <a:pt x="101653" y="78897"/>
                  <a:pt x="78897" y="101653"/>
                  <a:pt x="50826" y="101653"/>
                </a:cubicBezTo>
                <a:cubicBezTo>
                  <a:pt x="22756" y="101653"/>
                  <a:pt x="0" y="78897"/>
                  <a:pt x="0" y="50827"/>
                </a:cubicBezTo>
                <a:cubicBezTo>
                  <a:pt x="0" y="22756"/>
                  <a:pt x="22756" y="0"/>
                  <a:pt x="50826" y="0"/>
                </a:cubicBezTo>
                <a:cubicBezTo>
                  <a:pt x="78897" y="0"/>
                  <a:pt x="101653" y="22756"/>
                  <a:pt x="101653" y="50827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76" name="Freeform: Shape 175">
            <a:extLst>
              <a:ext uri="{FF2B5EF4-FFF2-40B4-BE49-F238E27FC236}">
                <a16:creationId xmlns:a16="http://schemas.microsoft.com/office/drawing/2014/main" id="{82F06B5F-CE17-F299-8DFB-C382CF146C7C}"/>
              </a:ext>
            </a:extLst>
          </p:cNvPr>
          <p:cNvSpPr/>
          <p:nvPr/>
        </p:nvSpPr>
        <p:spPr>
          <a:xfrm>
            <a:off x="4125853" y="3787868"/>
            <a:ext cx="109728" cy="109728"/>
          </a:xfrm>
          <a:custGeom>
            <a:avLst/>
            <a:gdLst>
              <a:gd name="connsiteX0" fmla="*/ 101653 w 101653"/>
              <a:gd name="connsiteY0" fmla="*/ 50826 h 101653"/>
              <a:gd name="connsiteX1" fmla="*/ 50826 w 101653"/>
              <a:gd name="connsiteY1" fmla="*/ 101653 h 101653"/>
              <a:gd name="connsiteX2" fmla="*/ 0 w 101653"/>
              <a:gd name="connsiteY2" fmla="*/ 50826 h 101653"/>
              <a:gd name="connsiteX3" fmla="*/ 50826 w 101653"/>
              <a:gd name="connsiteY3" fmla="*/ 0 h 101653"/>
              <a:gd name="connsiteX4" fmla="*/ 101653 w 101653"/>
              <a:gd name="connsiteY4" fmla="*/ 50826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6"/>
                </a:moveTo>
                <a:cubicBezTo>
                  <a:pt x="101653" y="78897"/>
                  <a:pt x="78897" y="101653"/>
                  <a:pt x="50826" y="101653"/>
                </a:cubicBezTo>
                <a:cubicBezTo>
                  <a:pt x="22756" y="101653"/>
                  <a:pt x="0" y="78897"/>
                  <a:pt x="0" y="50826"/>
                </a:cubicBezTo>
                <a:cubicBezTo>
                  <a:pt x="0" y="22756"/>
                  <a:pt x="22756" y="0"/>
                  <a:pt x="50826" y="0"/>
                </a:cubicBezTo>
                <a:cubicBezTo>
                  <a:pt x="78897" y="0"/>
                  <a:pt x="101653" y="22756"/>
                  <a:pt x="101653" y="50826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78" name="Freeform: Shape 177">
            <a:extLst>
              <a:ext uri="{FF2B5EF4-FFF2-40B4-BE49-F238E27FC236}">
                <a16:creationId xmlns:a16="http://schemas.microsoft.com/office/drawing/2014/main" id="{4D728569-8E68-428C-48BB-EEA863EB7349}"/>
              </a:ext>
            </a:extLst>
          </p:cNvPr>
          <p:cNvSpPr/>
          <p:nvPr/>
        </p:nvSpPr>
        <p:spPr>
          <a:xfrm>
            <a:off x="11088354" y="2708328"/>
            <a:ext cx="109728" cy="109728"/>
          </a:xfrm>
          <a:custGeom>
            <a:avLst/>
            <a:gdLst>
              <a:gd name="connsiteX0" fmla="*/ 101653 w 101653"/>
              <a:gd name="connsiteY0" fmla="*/ 50827 h 101653"/>
              <a:gd name="connsiteX1" fmla="*/ 50826 w 101653"/>
              <a:gd name="connsiteY1" fmla="*/ 101653 h 101653"/>
              <a:gd name="connsiteX2" fmla="*/ 0 w 101653"/>
              <a:gd name="connsiteY2" fmla="*/ 50827 h 101653"/>
              <a:gd name="connsiteX3" fmla="*/ 50826 w 101653"/>
              <a:gd name="connsiteY3" fmla="*/ 0 h 101653"/>
              <a:gd name="connsiteX4" fmla="*/ 101653 w 101653"/>
              <a:gd name="connsiteY4" fmla="*/ 50827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7"/>
                </a:moveTo>
                <a:cubicBezTo>
                  <a:pt x="101653" y="78897"/>
                  <a:pt x="78897" y="101653"/>
                  <a:pt x="50826" y="101653"/>
                </a:cubicBezTo>
                <a:cubicBezTo>
                  <a:pt x="22756" y="101653"/>
                  <a:pt x="0" y="78897"/>
                  <a:pt x="0" y="50827"/>
                </a:cubicBezTo>
                <a:cubicBezTo>
                  <a:pt x="0" y="22756"/>
                  <a:pt x="22756" y="0"/>
                  <a:pt x="50826" y="0"/>
                </a:cubicBezTo>
                <a:cubicBezTo>
                  <a:pt x="78897" y="0"/>
                  <a:pt x="101653" y="22756"/>
                  <a:pt x="101653" y="50827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81" name="Freeform: Shape 180">
            <a:extLst>
              <a:ext uri="{FF2B5EF4-FFF2-40B4-BE49-F238E27FC236}">
                <a16:creationId xmlns:a16="http://schemas.microsoft.com/office/drawing/2014/main" id="{BF290F00-F13B-93B4-AE7E-5FD332ABEBBA}"/>
              </a:ext>
            </a:extLst>
          </p:cNvPr>
          <p:cNvSpPr/>
          <p:nvPr/>
        </p:nvSpPr>
        <p:spPr>
          <a:xfrm>
            <a:off x="8043228" y="3248771"/>
            <a:ext cx="109728" cy="109728"/>
          </a:xfrm>
          <a:custGeom>
            <a:avLst/>
            <a:gdLst>
              <a:gd name="connsiteX0" fmla="*/ 74745 w 74744"/>
              <a:gd name="connsiteY0" fmla="*/ 37372 h 74744"/>
              <a:gd name="connsiteX1" fmla="*/ 37372 w 74744"/>
              <a:gd name="connsiteY1" fmla="*/ 74745 h 74744"/>
              <a:gd name="connsiteX2" fmla="*/ 0 w 74744"/>
              <a:gd name="connsiteY2" fmla="*/ 37372 h 74744"/>
              <a:gd name="connsiteX3" fmla="*/ 37372 w 74744"/>
              <a:gd name="connsiteY3" fmla="*/ 0 h 74744"/>
              <a:gd name="connsiteX4" fmla="*/ 74745 w 74744"/>
              <a:gd name="connsiteY4" fmla="*/ 37372 h 74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44" h="74744">
                <a:moveTo>
                  <a:pt x="74745" y="37372"/>
                </a:moveTo>
                <a:cubicBezTo>
                  <a:pt x="74745" y="58013"/>
                  <a:pt x="58013" y="74745"/>
                  <a:pt x="37372" y="74745"/>
                </a:cubicBezTo>
                <a:cubicBezTo>
                  <a:pt x="16732" y="74745"/>
                  <a:pt x="0" y="58013"/>
                  <a:pt x="0" y="37372"/>
                </a:cubicBezTo>
                <a:cubicBezTo>
                  <a:pt x="0" y="16732"/>
                  <a:pt x="16732" y="0"/>
                  <a:pt x="37372" y="0"/>
                </a:cubicBezTo>
                <a:cubicBezTo>
                  <a:pt x="58013" y="0"/>
                  <a:pt x="74745" y="16732"/>
                  <a:pt x="74745" y="37372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83" name="Freeform: Shape 182">
            <a:extLst>
              <a:ext uri="{FF2B5EF4-FFF2-40B4-BE49-F238E27FC236}">
                <a16:creationId xmlns:a16="http://schemas.microsoft.com/office/drawing/2014/main" id="{59158C94-1A8E-61E3-5141-A0EAD14ACA66}"/>
              </a:ext>
            </a:extLst>
          </p:cNvPr>
          <p:cNvSpPr/>
          <p:nvPr/>
        </p:nvSpPr>
        <p:spPr>
          <a:xfrm>
            <a:off x="8344745" y="2998404"/>
            <a:ext cx="109728" cy="109728"/>
          </a:xfrm>
          <a:custGeom>
            <a:avLst/>
            <a:gdLst>
              <a:gd name="connsiteX0" fmla="*/ 74745 w 74744"/>
              <a:gd name="connsiteY0" fmla="*/ 37372 h 74744"/>
              <a:gd name="connsiteX1" fmla="*/ 37373 w 74744"/>
              <a:gd name="connsiteY1" fmla="*/ 74745 h 74744"/>
              <a:gd name="connsiteX2" fmla="*/ 0 w 74744"/>
              <a:gd name="connsiteY2" fmla="*/ 37372 h 74744"/>
              <a:gd name="connsiteX3" fmla="*/ 37373 w 74744"/>
              <a:gd name="connsiteY3" fmla="*/ 0 h 74744"/>
              <a:gd name="connsiteX4" fmla="*/ 74745 w 74744"/>
              <a:gd name="connsiteY4" fmla="*/ 37372 h 74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44" h="74744">
                <a:moveTo>
                  <a:pt x="74745" y="37372"/>
                </a:moveTo>
                <a:cubicBezTo>
                  <a:pt x="74745" y="58013"/>
                  <a:pt x="58013" y="74745"/>
                  <a:pt x="37373" y="74745"/>
                </a:cubicBezTo>
                <a:cubicBezTo>
                  <a:pt x="16733" y="74745"/>
                  <a:pt x="0" y="58013"/>
                  <a:pt x="0" y="37372"/>
                </a:cubicBezTo>
                <a:cubicBezTo>
                  <a:pt x="0" y="16732"/>
                  <a:pt x="16733" y="0"/>
                  <a:pt x="37373" y="0"/>
                </a:cubicBezTo>
                <a:cubicBezTo>
                  <a:pt x="58013" y="0"/>
                  <a:pt x="74745" y="16732"/>
                  <a:pt x="74745" y="37372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84" name="Freeform: Shape 183">
            <a:extLst>
              <a:ext uri="{FF2B5EF4-FFF2-40B4-BE49-F238E27FC236}">
                <a16:creationId xmlns:a16="http://schemas.microsoft.com/office/drawing/2014/main" id="{AABF7AF3-C992-ED86-E6B1-5BDB5308F57E}"/>
              </a:ext>
            </a:extLst>
          </p:cNvPr>
          <p:cNvSpPr/>
          <p:nvPr/>
        </p:nvSpPr>
        <p:spPr>
          <a:xfrm>
            <a:off x="10018236" y="2708328"/>
            <a:ext cx="109728" cy="109728"/>
          </a:xfrm>
          <a:custGeom>
            <a:avLst/>
            <a:gdLst>
              <a:gd name="connsiteX0" fmla="*/ 101653 w 101653"/>
              <a:gd name="connsiteY0" fmla="*/ 50827 h 101653"/>
              <a:gd name="connsiteX1" fmla="*/ 50826 w 101653"/>
              <a:gd name="connsiteY1" fmla="*/ 101653 h 101653"/>
              <a:gd name="connsiteX2" fmla="*/ 0 w 101653"/>
              <a:gd name="connsiteY2" fmla="*/ 50827 h 101653"/>
              <a:gd name="connsiteX3" fmla="*/ 50826 w 101653"/>
              <a:gd name="connsiteY3" fmla="*/ 0 h 101653"/>
              <a:gd name="connsiteX4" fmla="*/ 101653 w 101653"/>
              <a:gd name="connsiteY4" fmla="*/ 50827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7"/>
                </a:moveTo>
                <a:cubicBezTo>
                  <a:pt x="101653" y="78897"/>
                  <a:pt x="78897" y="101653"/>
                  <a:pt x="50826" y="101653"/>
                </a:cubicBezTo>
                <a:cubicBezTo>
                  <a:pt x="22756" y="101653"/>
                  <a:pt x="0" y="78897"/>
                  <a:pt x="0" y="50827"/>
                </a:cubicBezTo>
                <a:cubicBezTo>
                  <a:pt x="0" y="22756"/>
                  <a:pt x="22756" y="0"/>
                  <a:pt x="50826" y="0"/>
                </a:cubicBezTo>
                <a:cubicBezTo>
                  <a:pt x="78897" y="0"/>
                  <a:pt x="101653" y="22756"/>
                  <a:pt x="101653" y="50827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86" name="Freeform: Shape 185">
            <a:extLst>
              <a:ext uri="{FF2B5EF4-FFF2-40B4-BE49-F238E27FC236}">
                <a16:creationId xmlns:a16="http://schemas.microsoft.com/office/drawing/2014/main" id="{8A46026C-EA25-BFEF-1F4A-B914FDB8ED74}"/>
              </a:ext>
            </a:extLst>
          </p:cNvPr>
          <p:cNvSpPr/>
          <p:nvPr/>
        </p:nvSpPr>
        <p:spPr>
          <a:xfrm>
            <a:off x="10295524" y="2921006"/>
            <a:ext cx="109728" cy="109728"/>
          </a:xfrm>
          <a:custGeom>
            <a:avLst/>
            <a:gdLst>
              <a:gd name="connsiteX0" fmla="*/ 101653 w 101653"/>
              <a:gd name="connsiteY0" fmla="*/ 50827 h 101653"/>
              <a:gd name="connsiteX1" fmla="*/ 50826 w 101653"/>
              <a:gd name="connsiteY1" fmla="*/ 101653 h 101653"/>
              <a:gd name="connsiteX2" fmla="*/ -1 w 101653"/>
              <a:gd name="connsiteY2" fmla="*/ 50827 h 101653"/>
              <a:gd name="connsiteX3" fmla="*/ 50826 w 101653"/>
              <a:gd name="connsiteY3" fmla="*/ 0 h 101653"/>
              <a:gd name="connsiteX4" fmla="*/ 101653 w 101653"/>
              <a:gd name="connsiteY4" fmla="*/ 50827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7"/>
                </a:moveTo>
                <a:cubicBezTo>
                  <a:pt x="101653" y="78897"/>
                  <a:pt x="78897" y="101653"/>
                  <a:pt x="50826" y="101653"/>
                </a:cubicBezTo>
                <a:cubicBezTo>
                  <a:pt x="22755" y="101653"/>
                  <a:pt x="-1" y="78897"/>
                  <a:pt x="-1" y="50827"/>
                </a:cubicBezTo>
                <a:cubicBezTo>
                  <a:pt x="-1" y="22756"/>
                  <a:pt x="22755" y="0"/>
                  <a:pt x="50826" y="0"/>
                </a:cubicBezTo>
                <a:cubicBezTo>
                  <a:pt x="78897" y="0"/>
                  <a:pt x="101653" y="22756"/>
                  <a:pt x="101653" y="50827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90" name="Freeform: Shape 189">
            <a:extLst>
              <a:ext uri="{FF2B5EF4-FFF2-40B4-BE49-F238E27FC236}">
                <a16:creationId xmlns:a16="http://schemas.microsoft.com/office/drawing/2014/main" id="{D81C4BA6-9CC8-6D72-1D5A-2A3CBE4C2F9D}"/>
              </a:ext>
            </a:extLst>
          </p:cNvPr>
          <p:cNvSpPr/>
          <p:nvPr/>
        </p:nvSpPr>
        <p:spPr>
          <a:xfrm>
            <a:off x="2842721" y="4334033"/>
            <a:ext cx="109728" cy="109728"/>
          </a:xfrm>
          <a:custGeom>
            <a:avLst/>
            <a:gdLst>
              <a:gd name="connsiteX0" fmla="*/ 74745 w 74744"/>
              <a:gd name="connsiteY0" fmla="*/ 37372 h 74744"/>
              <a:gd name="connsiteX1" fmla="*/ 37373 w 74744"/>
              <a:gd name="connsiteY1" fmla="*/ 74745 h 74744"/>
              <a:gd name="connsiteX2" fmla="*/ 0 w 74744"/>
              <a:gd name="connsiteY2" fmla="*/ 37372 h 74744"/>
              <a:gd name="connsiteX3" fmla="*/ 37373 w 74744"/>
              <a:gd name="connsiteY3" fmla="*/ 0 h 74744"/>
              <a:gd name="connsiteX4" fmla="*/ 74745 w 74744"/>
              <a:gd name="connsiteY4" fmla="*/ 37372 h 74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44" h="74744">
                <a:moveTo>
                  <a:pt x="74745" y="37372"/>
                </a:moveTo>
                <a:cubicBezTo>
                  <a:pt x="74745" y="58013"/>
                  <a:pt x="58013" y="74745"/>
                  <a:pt x="37373" y="74745"/>
                </a:cubicBezTo>
                <a:cubicBezTo>
                  <a:pt x="16732" y="74745"/>
                  <a:pt x="0" y="58013"/>
                  <a:pt x="0" y="37372"/>
                </a:cubicBezTo>
                <a:cubicBezTo>
                  <a:pt x="0" y="16732"/>
                  <a:pt x="16732" y="0"/>
                  <a:pt x="37373" y="0"/>
                </a:cubicBezTo>
                <a:cubicBezTo>
                  <a:pt x="58013" y="0"/>
                  <a:pt x="74745" y="16732"/>
                  <a:pt x="74745" y="37372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92" name="Freeform: Shape 191">
            <a:extLst>
              <a:ext uri="{FF2B5EF4-FFF2-40B4-BE49-F238E27FC236}">
                <a16:creationId xmlns:a16="http://schemas.microsoft.com/office/drawing/2014/main" id="{25B677C2-F3CB-4715-4E69-58B4FFF509B3}"/>
              </a:ext>
            </a:extLst>
          </p:cNvPr>
          <p:cNvSpPr/>
          <p:nvPr/>
        </p:nvSpPr>
        <p:spPr>
          <a:xfrm>
            <a:off x="7657918" y="3658310"/>
            <a:ext cx="109728" cy="109728"/>
          </a:xfrm>
          <a:custGeom>
            <a:avLst/>
            <a:gdLst>
              <a:gd name="connsiteX0" fmla="*/ 74745 w 74744"/>
              <a:gd name="connsiteY0" fmla="*/ 37372 h 74744"/>
              <a:gd name="connsiteX1" fmla="*/ 37372 w 74744"/>
              <a:gd name="connsiteY1" fmla="*/ 74745 h 74744"/>
              <a:gd name="connsiteX2" fmla="*/ 0 w 74744"/>
              <a:gd name="connsiteY2" fmla="*/ 37372 h 74744"/>
              <a:gd name="connsiteX3" fmla="*/ 37372 w 74744"/>
              <a:gd name="connsiteY3" fmla="*/ 0 h 74744"/>
              <a:gd name="connsiteX4" fmla="*/ 74745 w 74744"/>
              <a:gd name="connsiteY4" fmla="*/ 37372 h 74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44" h="74744">
                <a:moveTo>
                  <a:pt x="74745" y="37372"/>
                </a:moveTo>
                <a:cubicBezTo>
                  <a:pt x="74745" y="58013"/>
                  <a:pt x="58013" y="74745"/>
                  <a:pt x="37372" y="74745"/>
                </a:cubicBezTo>
                <a:cubicBezTo>
                  <a:pt x="16732" y="74745"/>
                  <a:pt x="0" y="58013"/>
                  <a:pt x="0" y="37372"/>
                </a:cubicBezTo>
                <a:cubicBezTo>
                  <a:pt x="0" y="16732"/>
                  <a:pt x="16732" y="0"/>
                  <a:pt x="37372" y="0"/>
                </a:cubicBezTo>
                <a:cubicBezTo>
                  <a:pt x="58013" y="0"/>
                  <a:pt x="74745" y="16732"/>
                  <a:pt x="74745" y="37372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93" name="Freeform: Shape 192">
            <a:extLst>
              <a:ext uri="{FF2B5EF4-FFF2-40B4-BE49-F238E27FC236}">
                <a16:creationId xmlns:a16="http://schemas.microsoft.com/office/drawing/2014/main" id="{2F65B708-ED9A-4F18-62D6-BCEAA00C5996}"/>
              </a:ext>
            </a:extLst>
          </p:cNvPr>
          <p:cNvSpPr/>
          <p:nvPr/>
        </p:nvSpPr>
        <p:spPr>
          <a:xfrm>
            <a:off x="7726904" y="1756999"/>
            <a:ext cx="109728" cy="109728"/>
          </a:xfrm>
          <a:custGeom>
            <a:avLst/>
            <a:gdLst>
              <a:gd name="connsiteX0" fmla="*/ 101653 w 101653"/>
              <a:gd name="connsiteY0" fmla="*/ 50827 h 101653"/>
              <a:gd name="connsiteX1" fmla="*/ 50826 w 101653"/>
              <a:gd name="connsiteY1" fmla="*/ 101653 h 101653"/>
              <a:gd name="connsiteX2" fmla="*/ -1 w 101653"/>
              <a:gd name="connsiteY2" fmla="*/ 50827 h 101653"/>
              <a:gd name="connsiteX3" fmla="*/ 50826 w 101653"/>
              <a:gd name="connsiteY3" fmla="*/ 0 h 101653"/>
              <a:gd name="connsiteX4" fmla="*/ 101653 w 101653"/>
              <a:gd name="connsiteY4" fmla="*/ 50827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7"/>
                </a:moveTo>
                <a:cubicBezTo>
                  <a:pt x="101653" y="78897"/>
                  <a:pt x="78897" y="101653"/>
                  <a:pt x="50826" y="101653"/>
                </a:cubicBezTo>
                <a:cubicBezTo>
                  <a:pt x="22755" y="101653"/>
                  <a:pt x="-1" y="78897"/>
                  <a:pt x="-1" y="50827"/>
                </a:cubicBezTo>
                <a:cubicBezTo>
                  <a:pt x="-1" y="22756"/>
                  <a:pt x="22755" y="0"/>
                  <a:pt x="50826" y="0"/>
                </a:cubicBezTo>
                <a:cubicBezTo>
                  <a:pt x="78897" y="0"/>
                  <a:pt x="101653" y="22756"/>
                  <a:pt x="101653" y="50827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96" name="Freeform: Shape 195">
            <a:extLst>
              <a:ext uri="{FF2B5EF4-FFF2-40B4-BE49-F238E27FC236}">
                <a16:creationId xmlns:a16="http://schemas.microsoft.com/office/drawing/2014/main" id="{6FED6498-E311-1E9F-2944-A00819F0650E}"/>
              </a:ext>
            </a:extLst>
          </p:cNvPr>
          <p:cNvSpPr/>
          <p:nvPr/>
        </p:nvSpPr>
        <p:spPr>
          <a:xfrm>
            <a:off x="8483726" y="2936485"/>
            <a:ext cx="109728" cy="109728"/>
          </a:xfrm>
          <a:custGeom>
            <a:avLst/>
            <a:gdLst>
              <a:gd name="connsiteX0" fmla="*/ 74745 w 74744"/>
              <a:gd name="connsiteY0" fmla="*/ 37372 h 74744"/>
              <a:gd name="connsiteX1" fmla="*/ 37372 w 74744"/>
              <a:gd name="connsiteY1" fmla="*/ 74745 h 74744"/>
              <a:gd name="connsiteX2" fmla="*/ 0 w 74744"/>
              <a:gd name="connsiteY2" fmla="*/ 37372 h 74744"/>
              <a:gd name="connsiteX3" fmla="*/ 37372 w 74744"/>
              <a:gd name="connsiteY3" fmla="*/ 0 h 74744"/>
              <a:gd name="connsiteX4" fmla="*/ 74745 w 74744"/>
              <a:gd name="connsiteY4" fmla="*/ 37372 h 74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44" h="74744">
                <a:moveTo>
                  <a:pt x="74745" y="37372"/>
                </a:moveTo>
                <a:cubicBezTo>
                  <a:pt x="74745" y="58013"/>
                  <a:pt x="58012" y="74745"/>
                  <a:pt x="37372" y="74745"/>
                </a:cubicBezTo>
                <a:cubicBezTo>
                  <a:pt x="16732" y="74745"/>
                  <a:pt x="0" y="58013"/>
                  <a:pt x="0" y="37372"/>
                </a:cubicBezTo>
                <a:cubicBezTo>
                  <a:pt x="0" y="16732"/>
                  <a:pt x="16732" y="0"/>
                  <a:pt x="37372" y="0"/>
                </a:cubicBezTo>
                <a:cubicBezTo>
                  <a:pt x="58012" y="0"/>
                  <a:pt x="74745" y="16732"/>
                  <a:pt x="74745" y="37372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97" name="Freeform: Shape 196">
            <a:extLst>
              <a:ext uri="{FF2B5EF4-FFF2-40B4-BE49-F238E27FC236}">
                <a16:creationId xmlns:a16="http://schemas.microsoft.com/office/drawing/2014/main" id="{A1E8D6FD-EBD3-5B21-BD67-3211B5C515F6}"/>
              </a:ext>
            </a:extLst>
          </p:cNvPr>
          <p:cNvSpPr/>
          <p:nvPr/>
        </p:nvSpPr>
        <p:spPr>
          <a:xfrm>
            <a:off x="7516245" y="3306988"/>
            <a:ext cx="109728" cy="109728"/>
          </a:xfrm>
          <a:custGeom>
            <a:avLst/>
            <a:gdLst>
              <a:gd name="connsiteX0" fmla="*/ 101653 w 101653"/>
              <a:gd name="connsiteY0" fmla="*/ 50827 h 101653"/>
              <a:gd name="connsiteX1" fmla="*/ 50826 w 101653"/>
              <a:gd name="connsiteY1" fmla="*/ 101653 h 101653"/>
              <a:gd name="connsiteX2" fmla="*/ 0 w 101653"/>
              <a:gd name="connsiteY2" fmla="*/ 50827 h 101653"/>
              <a:gd name="connsiteX3" fmla="*/ 50826 w 101653"/>
              <a:gd name="connsiteY3" fmla="*/ 0 h 101653"/>
              <a:gd name="connsiteX4" fmla="*/ 101653 w 101653"/>
              <a:gd name="connsiteY4" fmla="*/ 50827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7"/>
                </a:moveTo>
                <a:cubicBezTo>
                  <a:pt x="101653" y="78897"/>
                  <a:pt x="78897" y="101653"/>
                  <a:pt x="50826" y="101653"/>
                </a:cubicBezTo>
                <a:cubicBezTo>
                  <a:pt x="22756" y="101653"/>
                  <a:pt x="0" y="78897"/>
                  <a:pt x="0" y="50827"/>
                </a:cubicBezTo>
                <a:cubicBezTo>
                  <a:pt x="0" y="22756"/>
                  <a:pt x="22756" y="0"/>
                  <a:pt x="50826" y="0"/>
                </a:cubicBezTo>
                <a:cubicBezTo>
                  <a:pt x="78897" y="0"/>
                  <a:pt x="101653" y="22756"/>
                  <a:pt x="101653" y="50827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98" name="Freeform: Shape 197">
            <a:extLst>
              <a:ext uri="{FF2B5EF4-FFF2-40B4-BE49-F238E27FC236}">
                <a16:creationId xmlns:a16="http://schemas.microsoft.com/office/drawing/2014/main" id="{1133088F-B62E-97DE-F2FC-9C86A490E167}"/>
              </a:ext>
            </a:extLst>
          </p:cNvPr>
          <p:cNvSpPr/>
          <p:nvPr/>
        </p:nvSpPr>
        <p:spPr>
          <a:xfrm>
            <a:off x="7531388" y="3322132"/>
            <a:ext cx="109728" cy="109728"/>
          </a:xfrm>
          <a:custGeom>
            <a:avLst/>
            <a:gdLst>
              <a:gd name="connsiteX0" fmla="*/ 74745 w 74744"/>
              <a:gd name="connsiteY0" fmla="*/ 37372 h 74744"/>
              <a:gd name="connsiteX1" fmla="*/ 37373 w 74744"/>
              <a:gd name="connsiteY1" fmla="*/ 74745 h 74744"/>
              <a:gd name="connsiteX2" fmla="*/ 0 w 74744"/>
              <a:gd name="connsiteY2" fmla="*/ 37372 h 74744"/>
              <a:gd name="connsiteX3" fmla="*/ 37373 w 74744"/>
              <a:gd name="connsiteY3" fmla="*/ 0 h 74744"/>
              <a:gd name="connsiteX4" fmla="*/ 74745 w 74744"/>
              <a:gd name="connsiteY4" fmla="*/ 37372 h 74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44" h="74744">
                <a:moveTo>
                  <a:pt x="74745" y="37372"/>
                </a:moveTo>
                <a:cubicBezTo>
                  <a:pt x="74745" y="58013"/>
                  <a:pt x="58013" y="74745"/>
                  <a:pt x="37373" y="74745"/>
                </a:cubicBezTo>
                <a:cubicBezTo>
                  <a:pt x="16732" y="74745"/>
                  <a:pt x="0" y="58013"/>
                  <a:pt x="0" y="37372"/>
                </a:cubicBezTo>
                <a:cubicBezTo>
                  <a:pt x="0" y="16732"/>
                  <a:pt x="16732" y="0"/>
                  <a:pt x="37373" y="0"/>
                </a:cubicBezTo>
                <a:cubicBezTo>
                  <a:pt x="58013" y="0"/>
                  <a:pt x="74745" y="16732"/>
                  <a:pt x="74745" y="37372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00" name="Freeform: Shape 199">
            <a:extLst>
              <a:ext uri="{FF2B5EF4-FFF2-40B4-BE49-F238E27FC236}">
                <a16:creationId xmlns:a16="http://schemas.microsoft.com/office/drawing/2014/main" id="{2EC16BB5-4542-585A-29C0-6C4635BE042B}"/>
              </a:ext>
            </a:extLst>
          </p:cNvPr>
          <p:cNvSpPr/>
          <p:nvPr/>
        </p:nvSpPr>
        <p:spPr>
          <a:xfrm>
            <a:off x="8174132" y="2941197"/>
            <a:ext cx="109728" cy="109728"/>
          </a:xfrm>
          <a:custGeom>
            <a:avLst/>
            <a:gdLst>
              <a:gd name="connsiteX0" fmla="*/ 74745 w 74744"/>
              <a:gd name="connsiteY0" fmla="*/ 37372 h 74744"/>
              <a:gd name="connsiteX1" fmla="*/ 37372 w 74744"/>
              <a:gd name="connsiteY1" fmla="*/ 74745 h 74744"/>
              <a:gd name="connsiteX2" fmla="*/ 0 w 74744"/>
              <a:gd name="connsiteY2" fmla="*/ 37372 h 74744"/>
              <a:gd name="connsiteX3" fmla="*/ 37372 w 74744"/>
              <a:gd name="connsiteY3" fmla="*/ 0 h 74744"/>
              <a:gd name="connsiteX4" fmla="*/ 74745 w 74744"/>
              <a:gd name="connsiteY4" fmla="*/ 37372 h 74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44" h="74744">
                <a:moveTo>
                  <a:pt x="74745" y="37372"/>
                </a:moveTo>
                <a:cubicBezTo>
                  <a:pt x="74745" y="58013"/>
                  <a:pt x="58013" y="74745"/>
                  <a:pt x="37372" y="74745"/>
                </a:cubicBezTo>
                <a:cubicBezTo>
                  <a:pt x="16732" y="74745"/>
                  <a:pt x="0" y="58013"/>
                  <a:pt x="0" y="37372"/>
                </a:cubicBezTo>
                <a:cubicBezTo>
                  <a:pt x="0" y="16732"/>
                  <a:pt x="16732" y="0"/>
                  <a:pt x="37372" y="0"/>
                </a:cubicBezTo>
                <a:cubicBezTo>
                  <a:pt x="58013" y="0"/>
                  <a:pt x="74745" y="16732"/>
                  <a:pt x="74745" y="37372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02" name="Freeform: Shape 201">
            <a:extLst>
              <a:ext uri="{FF2B5EF4-FFF2-40B4-BE49-F238E27FC236}">
                <a16:creationId xmlns:a16="http://schemas.microsoft.com/office/drawing/2014/main" id="{08C60127-8FED-DF88-55AF-96ED4B5FC806}"/>
              </a:ext>
            </a:extLst>
          </p:cNvPr>
          <p:cNvSpPr/>
          <p:nvPr/>
        </p:nvSpPr>
        <p:spPr>
          <a:xfrm>
            <a:off x="10160582" y="1533889"/>
            <a:ext cx="109728" cy="109728"/>
          </a:xfrm>
          <a:custGeom>
            <a:avLst/>
            <a:gdLst>
              <a:gd name="connsiteX0" fmla="*/ 74745 w 74744"/>
              <a:gd name="connsiteY0" fmla="*/ 37372 h 74744"/>
              <a:gd name="connsiteX1" fmla="*/ 37372 w 74744"/>
              <a:gd name="connsiteY1" fmla="*/ 74745 h 74744"/>
              <a:gd name="connsiteX2" fmla="*/ 0 w 74744"/>
              <a:gd name="connsiteY2" fmla="*/ 37372 h 74744"/>
              <a:gd name="connsiteX3" fmla="*/ 37372 w 74744"/>
              <a:gd name="connsiteY3" fmla="*/ 0 h 74744"/>
              <a:gd name="connsiteX4" fmla="*/ 74745 w 74744"/>
              <a:gd name="connsiteY4" fmla="*/ 37372 h 74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44" h="74744">
                <a:moveTo>
                  <a:pt x="74745" y="37372"/>
                </a:moveTo>
                <a:cubicBezTo>
                  <a:pt x="74745" y="58013"/>
                  <a:pt x="58012" y="74745"/>
                  <a:pt x="37372" y="74745"/>
                </a:cubicBezTo>
                <a:cubicBezTo>
                  <a:pt x="16732" y="74745"/>
                  <a:pt x="0" y="58013"/>
                  <a:pt x="0" y="37372"/>
                </a:cubicBezTo>
                <a:cubicBezTo>
                  <a:pt x="0" y="16732"/>
                  <a:pt x="16732" y="0"/>
                  <a:pt x="37372" y="0"/>
                </a:cubicBezTo>
                <a:cubicBezTo>
                  <a:pt x="58012" y="0"/>
                  <a:pt x="74745" y="16732"/>
                  <a:pt x="74745" y="37372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03" name="Freeform: Shape 202">
            <a:extLst>
              <a:ext uri="{FF2B5EF4-FFF2-40B4-BE49-F238E27FC236}">
                <a16:creationId xmlns:a16="http://schemas.microsoft.com/office/drawing/2014/main" id="{2EF8E6D0-C2E5-54F0-A233-530BAB764C23}"/>
              </a:ext>
            </a:extLst>
          </p:cNvPr>
          <p:cNvSpPr/>
          <p:nvPr/>
        </p:nvSpPr>
        <p:spPr>
          <a:xfrm>
            <a:off x="8462525" y="2695204"/>
            <a:ext cx="109728" cy="109728"/>
          </a:xfrm>
          <a:custGeom>
            <a:avLst/>
            <a:gdLst>
              <a:gd name="connsiteX0" fmla="*/ 101653 w 101653"/>
              <a:gd name="connsiteY0" fmla="*/ 50827 h 101653"/>
              <a:gd name="connsiteX1" fmla="*/ 50826 w 101653"/>
              <a:gd name="connsiteY1" fmla="*/ 101653 h 101653"/>
              <a:gd name="connsiteX2" fmla="*/ -1 w 101653"/>
              <a:gd name="connsiteY2" fmla="*/ 50827 h 101653"/>
              <a:gd name="connsiteX3" fmla="*/ 50826 w 101653"/>
              <a:gd name="connsiteY3" fmla="*/ 0 h 101653"/>
              <a:gd name="connsiteX4" fmla="*/ 101653 w 101653"/>
              <a:gd name="connsiteY4" fmla="*/ 50827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7"/>
                </a:moveTo>
                <a:cubicBezTo>
                  <a:pt x="101653" y="78897"/>
                  <a:pt x="78897" y="101653"/>
                  <a:pt x="50826" y="101653"/>
                </a:cubicBezTo>
                <a:cubicBezTo>
                  <a:pt x="22755" y="101653"/>
                  <a:pt x="-1" y="78897"/>
                  <a:pt x="-1" y="50827"/>
                </a:cubicBezTo>
                <a:cubicBezTo>
                  <a:pt x="-1" y="22756"/>
                  <a:pt x="22755" y="0"/>
                  <a:pt x="50826" y="0"/>
                </a:cubicBezTo>
                <a:cubicBezTo>
                  <a:pt x="78897" y="0"/>
                  <a:pt x="101653" y="22756"/>
                  <a:pt x="101653" y="50827"/>
                </a:cubicBezTo>
                <a:close/>
              </a:path>
            </a:pathLst>
          </a:custGeom>
          <a:solidFill>
            <a:srgbClr val="2BB4A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06" name="Freeform: Shape 205">
            <a:extLst>
              <a:ext uri="{FF2B5EF4-FFF2-40B4-BE49-F238E27FC236}">
                <a16:creationId xmlns:a16="http://schemas.microsoft.com/office/drawing/2014/main" id="{6F063E61-513F-D4B2-08A3-2A89A7720192}"/>
              </a:ext>
            </a:extLst>
          </p:cNvPr>
          <p:cNvSpPr/>
          <p:nvPr/>
        </p:nvSpPr>
        <p:spPr>
          <a:xfrm>
            <a:off x="2920792" y="5401795"/>
            <a:ext cx="109728" cy="109728"/>
          </a:xfrm>
          <a:custGeom>
            <a:avLst/>
            <a:gdLst>
              <a:gd name="connsiteX0" fmla="*/ 74745 w 74744"/>
              <a:gd name="connsiteY0" fmla="*/ 37373 h 74744"/>
              <a:gd name="connsiteX1" fmla="*/ 37373 w 74744"/>
              <a:gd name="connsiteY1" fmla="*/ 74745 h 74744"/>
              <a:gd name="connsiteX2" fmla="*/ 0 w 74744"/>
              <a:gd name="connsiteY2" fmla="*/ 37373 h 74744"/>
              <a:gd name="connsiteX3" fmla="*/ 37373 w 74744"/>
              <a:gd name="connsiteY3" fmla="*/ 0 h 74744"/>
              <a:gd name="connsiteX4" fmla="*/ 74745 w 74744"/>
              <a:gd name="connsiteY4" fmla="*/ 37373 h 74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44" h="74744">
                <a:moveTo>
                  <a:pt x="74745" y="37373"/>
                </a:moveTo>
                <a:cubicBezTo>
                  <a:pt x="74745" y="58013"/>
                  <a:pt x="58013" y="74745"/>
                  <a:pt x="37373" y="74745"/>
                </a:cubicBezTo>
                <a:cubicBezTo>
                  <a:pt x="16732" y="74745"/>
                  <a:pt x="0" y="58013"/>
                  <a:pt x="0" y="37373"/>
                </a:cubicBezTo>
                <a:cubicBezTo>
                  <a:pt x="0" y="16732"/>
                  <a:pt x="16732" y="0"/>
                  <a:pt x="37373" y="0"/>
                </a:cubicBezTo>
                <a:cubicBezTo>
                  <a:pt x="58013" y="0"/>
                  <a:pt x="74745" y="16732"/>
                  <a:pt x="74745" y="37373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07" name="Freeform: Shape 206">
            <a:extLst>
              <a:ext uri="{FF2B5EF4-FFF2-40B4-BE49-F238E27FC236}">
                <a16:creationId xmlns:a16="http://schemas.microsoft.com/office/drawing/2014/main" id="{7A400CD2-1454-60B3-A730-E10B098B40E1}"/>
              </a:ext>
            </a:extLst>
          </p:cNvPr>
          <p:cNvSpPr/>
          <p:nvPr/>
        </p:nvSpPr>
        <p:spPr>
          <a:xfrm>
            <a:off x="9973816" y="2370803"/>
            <a:ext cx="109728" cy="109728"/>
          </a:xfrm>
          <a:custGeom>
            <a:avLst/>
            <a:gdLst>
              <a:gd name="connsiteX0" fmla="*/ 101653 w 101653"/>
              <a:gd name="connsiteY0" fmla="*/ 50827 h 101653"/>
              <a:gd name="connsiteX1" fmla="*/ 50827 w 101653"/>
              <a:gd name="connsiteY1" fmla="*/ 101653 h 101653"/>
              <a:gd name="connsiteX2" fmla="*/ 0 w 101653"/>
              <a:gd name="connsiteY2" fmla="*/ 50827 h 101653"/>
              <a:gd name="connsiteX3" fmla="*/ 50827 w 101653"/>
              <a:gd name="connsiteY3" fmla="*/ 0 h 101653"/>
              <a:gd name="connsiteX4" fmla="*/ 101653 w 101653"/>
              <a:gd name="connsiteY4" fmla="*/ 50827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7"/>
                </a:moveTo>
                <a:cubicBezTo>
                  <a:pt x="101653" y="78897"/>
                  <a:pt x="78897" y="101653"/>
                  <a:pt x="50827" y="101653"/>
                </a:cubicBezTo>
                <a:cubicBezTo>
                  <a:pt x="22756" y="101653"/>
                  <a:pt x="0" y="78897"/>
                  <a:pt x="0" y="50827"/>
                </a:cubicBezTo>
                <a:cubicBezTo>
                  <a:pt x="0" y="22756"/>
                  <a:pt x="22756" y="0"/>
                  <a:pt x="50827" y="0"/>
                </a:cubicBezTo>
                <a:cubicBezTo>
                  <a:pt x="78897" y="0"/>
                  <a:pt x="101653" y="22756"/>
                  <a:pt x="101653" y="50827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rgbClr val="29B6A4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09" name="Freeform: Shape 208">
            <a:extLst>
              <a:ext uri="{FF2B5EF4-FFF2-40B4-BE49-F238E27FC236}">
                <a16:creationId xmlns:a16="http://schemas.microsoft.com/office/drawing/2014/main" id="{A7D0960B-7199-049F-1D89-72CCBFF45ED4}"/>
              </a:ext>
            </a:extLst>
          </p:cNvPr>
          <p:cNvSpPr/>
          <p:nvPr/>
        </p:nvSpPr>
        <p:spPr>
          <a:xfrm>
            <a:off x="2154211" y="1325923"/>
            <a:ext cx="1868" cy="4409359"/>
          </a:xfrm>
          <a:custGeom>
            <a:avLst/>
            <a:gdLst>
              <a:gd name="connsiteX0" fmla="*/ 0 w 1660"/>
              <a:gd name="connsiteY0" fmla="*/ 3917530 h 3917529"/>
              <a:gd name="connsiteX1" fmla="*/ 0 w 1660"/>
              <a:gd name="connsiteY1" fmla="*/ 0 h 3917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0" h="3917529">
                <a:moveTo>
                  <a:pt x="0" y="3917530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10" name="Freeform: Shape 209">
            <a:extLst>
              <a:ext uri="{FF2B5EF4-FFF2-40B4-BE49-F238E27FC236}">
                <a16:creationId xmlns:a16="http://schemas.microsoft.com/office/drawing/2014/main" id="{92820002-709F-DDDF-CADD-75B4A9F51E10}"/>
              </a:ext>
            </a:extLst>
          </p:cNvPr>
          <p:cNvSpPr/>
          <p:nvPr/>
        </p:nvSpPr>
        <p:spPr>
          <a:xfrm>
            <a:off x="2060660" y="5188781"/>
            <a:ext cx="93551" cy="1868"/>
          </a:xfrm>
          <a:custGeom>
            <a:avLst/>
            <a:gdLst>
              <a:gd name="connsiteX0" fmla="*/ 83116 w 83116"/>
              <a:gd name="connsiteY0" fmla="*/ 0 h 1660"/>
              <a:gd name="connsiteX1" fmla="*/ 0 w 83116"/>
              <a:gd name="connsiteY1" fmla="*/ 0 h 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116" h="1660">
                <a:moveTo>
                  <a:pt x="83116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051DC23B-AA81-CB16-BF5C-7B5089AFB1C2}"/>
              </a:ext>
            </a:extLst>
          </p:cNvPr>
          <p:cNvSpPr txBox="1"/>
          <p:nvPr/>
        </p:nvSpPr>
        <p:spPr>
          <a:xfrm>
            <a:off x="1400558" y="5029790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  <a:sym typeface="Lucida Sans"/>
                <a:rtl val="0"/>
              </a:rPr>
              <a:t>-$2k</a:t>
            </a:r>
          </a:p>
        </p:txBody>
      </p:sp>
      <p:sp>
        <p:nvSpPr>
          <p:cNvPr id="212" name="Freeform: Shape 211">
            <a:extLst>
              <a:ext uri="{FF2B5EF4-FFF2-40B4-BE49-F238E27FC236}">
                <a16:creationId xmlns:a16="http://schemas.microsoft.com/office/drawing/2014/main" id="{87DA87DF-3759-9F1C-C81C-8AB91AD4A1C1}"/>
              </a:ext>
            </a:extLst>
          </p:cNvPr>
          <p:cNvSpPr/>
          <p:nvPr/>
        </p:nvSpPr>
        <p:spPr>
          <a:xfrm>
            <a:off x="2060660" y="4260000"/>
            <a:ext cx="93551" cy="1868"/>
          </a:xfrm>
          <a:custGeom>
            <a:avLst/>
            <a:gdLst>
              <a:gd name="connsiteX0" fmla="*/ 83116 w 83116"/>
              <a:gd name="connsiteY0" fmla="*/ 0 h 1660"/>
              <a:gd name="connsiteX1" fmla="*/ 0 w 83116"/>
              <a:gd name="connsiteY1" fmla="*/ 0 h 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116" h="1660">
                <a:moveTo>
                  <a:pt x="83116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116932C2-E6DC-AAC3-3780-F0A5E479B159}"/>
              </a:ext>
            </a:extLst>
          </p:cNvPr>
          <p:cNvSpPr txBox="1"/>
          <p:nvPr/>
        </p:nvSpPr>
        <p:spPr>
          <a:xfrm>
            <a:off x="1717952" y="410100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  <a:sym typeface="Lucida Sans"/>
                <a:rtl val="0"/>
              </a:rPr>
              <a:t>0</a:t>
            </a:r>
          </a:p>
        </p:txBody>
      </p:sp>
      <p:sp>
        <p:nvSpPr>
          <p:cNvPr id="214" name="Freeform: Shape 213">
            <a:extLst>
              <a:ext uri="{FF2B5EF4-FFF2-40B4-BE49-F238E27FC236}">
                <a16:creationId xmlns:a16="http://schemas.microsoft.com/office/drawing/2014/main" id="{9F279AAA-A2A3-9BE7-7E57-CD56072B81EB}"/>
              </a:ext>
            </a:extLst>
          </p:cNvPr>
          <p:cNvSpPr/>
          <p:nvPr/>
        </p:nvSpPr>
        <p:spPr>
          <a:xfrm>
            <a:off x="2060660" y="3331554"/>
            <a:ext cx="93551" cy="1868"/>
          </a:xfrm>
          <a:custGeom>
            <a:avLst/>
            <a:gdLst>
              <a:gd name="connsiteX0" fmla="*/ 83116 w 83116"/>
              <a:gd name="connsiteY0" fmla="*/ 0 h 1660"/>
              <a:gd name="connsiteX1" fmla="*/ 0 w 83116"/>
              <a:gd name="connsiteY1" fmla="*/ 0 h 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116" h="1660">
                <a:moveTo>
                  <a:pt x="83116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9CB67219-515B-219B-D53C-94390315BC46}"/>
              </a:ext>
            </a:extLst>
          </p:cNvPr>
          <p:cNvSpPr txBox="1"/>
          <p:nvPr/>
        </p:nvSpPr>
        <p:spPr>
          <a:xfrm>
            <a:off x="1465534" y="3172563"/>
            <a:ext cx="566928" cy="338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  <a:sym typeface="Lucida Sans"/>
                <a:rtl val="0"/>
              </a:rPr>
              <a:t>$2k</a:t>
            </a:r>
          </a:p>
        </p:txBody>
      </p:sp>
      <p:sp>
        <p:nvSpPr>
          <p:cNvPr id="216" name="Freeform: Shape 215">
            <a:extLst>
              <a:ext uri="{FF2B5EF4-FFF2-40B4-BE49-F238E27FC236}">
                <a16:creationId xmlns:a16="http://schemas.microsoft.com/office/drawing/2014/main" id="{C4ED0930-5C2D-BE5D-CDD4-46E14E5958FA}"/>
              </a:ext>
            </a:extLst>
          </p:cNvPr>
          <p:cNvSpPr/>
          <p:nvPr/>
        </p:nvSpPr>
        <p:spPr>
          <a:xfrm>
            <a:off x="2060660" y="2402772"/>
            <a:ext cx="93551" cy="1868"/>
          </a:xfrm>
          <a:custGeom>
            <a:avLst/>
            <a:gdLst>
              <a:gd name="connsiteX0" fmla="*/ 83116 w 83116"/>
              <a:gd name="connsiteY0" fmla="*/ 0 h 1660"/>
              <a:gd name="connsiteX1" fmla="*/ 0 w 83116"/>
              <a:gd name="connsiteY1" fmla="*/ 0 h 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116" h="1660">
                <a:moveTo>
                  <a:pt x="83116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E572799-D0A3-E387-9BEE-FDB842949E0A}"/>
              </a:ext>
            </a:extLst>
          </p:cNvPr>
          <p:cNvSpPr txBox="1"/>
          <p:nvPr/>
        </p:nvSpPr>
        <p:spPr>
          <a:xfrm>
            <a:off x="1467884" y="2243762"/>
            <a:ext cx="5645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  <a:sym typeface="Lucida Sans"/>
                <a:rtl val="0"/>
              </a:rPr>
              <a:t>$4k</a:t>
            </a:r>
          </a:p>
        </p:txBody>
      </p:sp>
      <p:sp>
        <p:nvSpPr>
          <p:cNvPr id="218" name="Freeform: Shape 217">
            <a:extLst>
              <a:ext uri="{FF2B5EF4-FFF2-40B4-BE49-F238E27FC236}">
                <a16:creationId xmlns:a16="http://schemas.microsoft.com/office/drawing/2014/main" id="{3E7E1F99-8666-C62C-C96F-DD4044A1E0B7}"/>
              </a:ext>
            </a:extLst>
          </p:cNvPr>
          <p:cNvSpPr/>
          <p:nvPr/>
        </p:nvSpPr>
        <p:spPr>
          <a:xfrm>
            <a:off x="2060660" y="1473990"/>
            <a:ext cx="93551" cy="1868"/>
          </a:xfrm>
          <a:custGeom>
            <a:avLst/>
            <a:gdLst>
              <a:gd name="connsiteX0" fmla="*/ 83116 w 83116"/>
              <a:gd name="connsiteY0" fmla="*/ 0 h 1660"/>
              <a:gd name="connsiteX1" fmla="*/ 0 w 83116"/>
              <a:gd name="connsiteY1" fmla="*/ 0 h 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116" h="1660">
                <a:moveTo>
                  <a:pt x="83116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A40CF55E-646A-6A3C-A039-B7F5758EAD4B}"/>
              </a:ext>
            </a:extLst>
          </p:cNvPr>
          <p:cNvSpPr txBox="1"/>
          <p:nvPr/>
        </p:nvSpPr>
        <p:spPr>
          <a:xfrm>
            <a:off x="1467884" y="1314999"/>
            <a:ext cx="5645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  <a:sym typeface="Lucida Sans"/>
                <a:rtl val="0"/>
              </a:rPr>
              <a:t>$6k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DE03A98C-37A3-31E7-BA38-82354A59209F}"/>
              </a:ext>
            </a:extLst>
          </p:cNvPr>
          <p:cNvSpPr txBox="1"/>
          <p:nvPr/>
        </p:nvSpPr>
        <p:spPr>
          <a:xfrm rot="16200000">
            <a:off x="-1060143" y="3298957"/>
            <a:ext cx="42835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  <a:sym typeface="Lucida Sans"/>
                <a:rtl val="0"/>
              </a:rPr>
              <a:t>Change in Avg. Household Income for </a:t>
            </a:r>
          </a:p>
          <a:p>
            <a:pPr marL="0" marR="0" lvl="0" indent="0" algn="ctr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/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  <a:sym typeface="Lucida Sans"/>
                <a:rtl val="0"/>
              </a:rPr>
              <a:t>Black</a:t>
            </a:r>
            <a:r>
              <a:rPr kumimoji="0" lang="en-US" sz="1600" b="0" i="0" u="none" strike="noStrike" kern="1200" cap="none" spc="0" normalizeH="0" baseline="0" noProof="0" dirty="0">
                <a:ln/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  <a:sym typeface="Lucida Sans"/>
                <a:rtl val="0"/>
              </a:rPr>
              <a:t> Children from Low-Income Families</a:t>
            </a:r>
          </a:p>
        </p:txBody>
      </p:sp>
      <p:sp>
        <p:nvSpPr>
          <p:cNvPr id="222" name="Freeform: Shape 221">
            <a:extLst>
              <a:ext uri="{FF2B5EF4-FFF2-40B4-BE49-F238E27FC236}">
                <a16:creationId xmlns:a16="http://schemas.microsoft.com/office/drawing/2014/main" id="{F0B00DAF-B3AB-2E83-6BAF-DED85B557C04}"/>
              </a:ext>
            </a:extLst>
          </p:cNvPr>
          <p:cNvSpPr/>
          <p:nvPr/>
        </p:nvSpPr>
        <p:spPr>
          <a:xfrm>
            <a:off x="2154211" y="5735282"/>
            <a:ext cx="9139417" cy="1868"/>
          </a:xfrm>
          <a:custGeom>
            <a:avLst/>
            <a:gdLst>
              <a:gd name="connsiteX0" fmla="*/ 0 w 8119986"/>
              <a:gd name="connsiteY0" fmla="*/ 0 h 1660"/>
              <a:gd name="connsiteX1" fmla="*/ 8119987 w 8119986"/>
              <a:gd name="connsiteY1" fmla="*/ 0 h 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119986" h="1660">
                <a:moveTo>
                  <a:pt x="0" y="0"/>
                </a:moveTo>
                <a:lnTo>
                  <a:pt x="8119987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23" name="Freeform: Shape 222">
            <a:extLst>
              <a:ext uri="{FF2B5EF4-FFF2-40B4-BE49-F238E27FC236}">
                <a16:creationId xmlns:a16="http://schemas.microsoft.com/office/drawing/2014/main" id="{EE8BBA42-9760-7452-FB65-B2E6C2C51791}"/>
              </a:ext>
            </a:extLst>
          </p:cNvPr>
          <p:cNvSpPr/>
          <p:nvPr/>
        </p:nvSpPr>
        <p:spPr>
          <a:xfrm>
            <a:off x="2302277" y="5735282"/>
            <a:ext cx="1868" cy="93214"/>
          </a:xfrm>
          <a:custGeom>
            <a:avLst/>
            <a:gdLst>
              <a:gd name="connsiteX0" fmla="*/ 0 w 1660"/>
              <a:gd name="connsiteY0" fmla="*/ 0 h 82817"/>
              <a:gd name="connsiteX1" fmla="*/ 0 w 1660"/>
              <a:gd name="connsiteY1" fmla="*/ 82817 h 82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0" h="82817">
                <a:moveTo>
                  <a:pt x="0" y="0"/>
                </a:moveTo>
                <a:lnTo>
                  <a:pt x="0" y="82817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D4819E73-793F-BB73-5AC5-A6EED723B8A8}"/>
              </a:ext>
            </a:extLst>
          </p:cNvPr>
          <p:cNvSpPr txBox="1"/>
          <p:nvPr/>
        </p:nvSpPr>
        <p:spPr>
          <a:xfrm>
            <a:off x="1928275" y="5768008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  <a:sym typeface="Lucida Sans"/>
                <a:rtl val="0"/>
              </a:rPr>
              <a:t>-$6k</a:t>
            </a:r>
          </a:p>
        </p:txBody>
      </p:sp>
      <p:sp>
        <p:nvSpPr>
          <p:cNvPr id="225" name="Freeform: Shape 224">
            <a:extLst>
              <a:ext uri="{FF2B5EF4-FFF2-40B4-BE49-F238E27FC236}">
                <a16:creationId xmlns:a16="http://schemas.microsoft.com/office/drawing/2014/main" id="{447F8492-865B-8800-D416-30EFF4FE7269}"/>
              </a:ext>
            </a:extLst>
          </p:cNvPr>
          <p:cNvSpPr/>
          <p:nvPr/>
        </p:nvSpPr>
        <p:spPr>
          <a:xfrm>
            <a:off x="5245103" y="5735282"/>
            <a:ext cx="1868" cy="93214"/>
          </a:xfrm>
          <a:custGeom>
            <a:avLst/>
            <a:gdLst>
              <a:gd name="connsiteX0" fmla="*/ 0 w 1660"/>
              <a:gd name="connsiteY0" fmla="*/ 0 h 82817"/>
              <a:gd name="connsiteX1" fmla="*/ 0 w 1660"/>
              <a:gd name="connsiteY1" fmla="*/ 82817 h 82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0" h="82817">
                <a:moveTo>
                  <a:pt x="0" y="0"/>
                </a:moveTo>
                <a:lnTo>
                  <a:pt x="0" y="82817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5E7EFBC6-7B89-9A9A-F388-6153727A99E8}"/>
              </a:ext>
            </a:extLst>
          </p:cNvPr>
          <p:cNvSpPr txBox="1"/>
          <p:nvPr/>
        </p:nvSpPr>
        <p:spPr>
          <a:xfrm>
            <a:off x="4871102" y="5768008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  <a:sym typeface="Lucida Sans"/>
                <a:rtl val="0"/>
              </a:rPr>
              <a:t>-$4k</a:t>
            </a:r>
          </a:p>
        </p:txBody>
      </p:sp>
      <p:sp>
        <p:nvSpPr>
          <p:cNvPr id="227" name="Freeform: Shape 226">
            <a:extLst>
              <a:ext uri="{FF2B5EF4-FFF2-40B4-BE49-F238E27FC236}">
                <a16:creationId xmlns:a16="http://schemas.microsoft.com/office/drawing/2014/main" id="{B7D1E8E9-F2FC-B641-4043-0B4BE1450C38}"/>
              </a:ext>
            </a:extLst>
          </p:cNvPr>
          <p:cNvSpPr/>
          <p:nvPr/>
        </p:nvSpPr>
        <p:spPr>
          <a:xfrm>
            <a:off x="8187929" y="5735282"/>
            <a:ext cx="1868" cy="93214"/>
          </a:xfrm>
          <a:custGeom>
            <a:avLst/>
            <a:gdLst>
              <a:gd name="connsiteX0" fmla="*/ 0 w 1660"/>
              <a:gd name="connsiteY0" fmla="*/ 0 h 82817"/>
              <a:gd name="connsiteX1" fmla="*/ 0 w 1660"/>
              <a:gd name="connsiteY1" fmla="*/ 82817 h 82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0" h="82817">
                <a:moveTo>
                  <a:pt x="0" y="0"/>
                </a:moveTo>
                <a:lnTo>
                  <a:pt x="0" y="82817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85B0EA37-7ABF-0B35-77B0-3BC233E12D0A}"/>
              </a:ext>
            </a:extLst>
          </p:cNvPr>
          <p:cNvSpPr txBox="1"/>
          <p:nvPr/>
        </p:nvSpPr>
        <p:spPr>
          <a:xfrm>
            <a:off x="7813927" y="5768008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  <a:sym typeface="Lucida Sans"/>
                <a:rtl val="0"/>
              </a:rPr>
              <a:t>-$2k</a:t>
            </a:r>
          </a:p>
        </p:txBody>
      </p:sp>
      <p:sp>
        <p:nvSpPr>
          <p:cNvPr id="229" name="Freeform: Shape 228">
            <a:extLst>
              <a:ext uri="{FF2B5EF4-FFF2-40B4-BE49-F238E27FC236}">
                <a16:creationId xmlns:a16="http://schemas.microsoft.com/office/drawing/2014/main" id="{F77DED8E-FD43-41B0-5B1A-581DBCFDA8E4}"/>
              </a:ext>
            </a:extLst>
          </p:cNvPr>
          <p:cNvSpPr/>
          <p:nvPr/>
        </p:nvSpPr>
        <p:spPr>
          <a:xfrm>
            <a:off x="11130756" y="5735282"/>
            <a:ext cx="1868" cy="93214"/>
          </a:xfrm>
          <a:custGeom>
            <a:avLst/>
            <a:gdLst>
              <a:gd name="connsiteX0" fmla="*/ 0 w 1660"/>
              <a:gd name="connsiteY0" fmla="*/ 0 h 82817"/>
              <a:gd name="connsiteX1" fmla="*/ 0 w 1660"/>
              <a:gd name="connsiteY1" fmla="*/ 82817 h 82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0" h="82817">
                <a:moveTo>
                  <a:pt x="0" y="0"/>
                </a:moveTo>
                <a:lnTo>
                  <a:pt x="0" y="82817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F7D58E1A-9D55-F4F9-6998-6E7D0E5B41B2}"/>
              </a:ext>
            </a:extLst>
          </p:cNvPr>
          <p:cNvSpPr txBox="1"/>
          <p:nvPr/>
        </p:nvSpPr>
        <p:spPr>
          <a:xfrm>
            <a:off x="10949315" y="576800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  <a:sym typeface="Lucida Sans"/>
                <a:rtl val="0"/>
              </a:rPr>
              <a:t>0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45979EFC-0BEF-7A6C-2868-82AA57AE495B}"/>
              </a:ext>
            </a:extLst>
          </p:cNvPr>
          <p:cNvSpPr txBox="1"/>
          <p:nvPr/>
        </p:nvSpPr>
        <p:spPr>
          <a:xfrm>
            <a:off x="2640910" y="6110821"/>
            <a:ext cx="81660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  <a:sym typeface="Lucida Sans"/>
                <a:rtl val="0"/>
              </a:rPr>
              <a:t>Change in Avg. Household Income for </a:t>
            </a:r>
            <a:r>
              <a:rPr kumimoji="0" lang="en-US" sz="1600" b="1" i="0" u="none" strike="noStrike" kern="1200" cap="none" spc="0" normalizeH="0" baseline="0" noProof="0" dirty="0">
                <a:ln/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  <a:sym typeface="Lucida Sans"/>
                <a:rtl val="0"/>
              </a:rPr>
              <a:t>White</a:t>
            </a:r>
            <a:r>
              <a:rPr kumimoji="0" lang="en-US" sz="1600" b="0" i="0" u="none" strike="noStrike" kern="1200" cap="none" spc="0" normalizeH="0" baseline="0" noProof="0" dirty="0">
                <a:ln/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  <a:sym typeface="Lucida Sans"/>
                <a:rtl val="0"/>
              </a:rPr>
              <a:t> Children from Low-Income Families</a:t>
            </a:r>
          </a:p>
        </p:txBody>
      </p: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09257FF2-6F80-F132-5018-9E27CD81F37B}"/>
              </a:ext>
            </a:extLst>
          </p:cNvPr>
          <p:cNvCxnSpPr>
            <a:cxnSpLocks/>
          </p:cNvCxnSpPr>
          <p:nvPr/>
        </p:nvCxnSpPr>
        <p:spPr>
          <a:xfrm flipV="1">
            <a:off x="-120596" y="3470997"/>
            <a:ext cx="0" cy="416493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04F291A-CFD5-8BE5-4767-764CE541FD70}"/>
              </a:ext>
            </a:extLst>
          </p:cNvPr>
          <p:cNvCxnSpPr>
            <a:cxnSpLocks/>
          </p:cNvCxnSpPr>
          <p:nvPr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0D63C3C-B941-4612-4B0A-74B420CC14F9}"/>
              </a:ext>
            </a:extLst>
          </p:cNvPr>
          <p:cNvSpPr txBox="1">
            <a:spLocks/>
          </p:cNvSpPr>
          <p:nvPr/>
        </p:nvSpPr>
        <p:spPr>
          <a:xfrm>
            <a:off x="8265328" y="2335629"/>
            <a:ext cx="16930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ln/>
                <a:solidFill>
                  <a:srgbClr val="000000"/>
                </a:solidFill>
                <a:latin typeface="Lucida Sans" panose="020B0602030504020204" pitchFamily="34" charset="0"/>
                <a:sym typeface="Lucida Sans"/>
                <a:rtl val="0"/>
              </a:rPr>
              <a:t>Forsyth County</a:t>
            </a:r>
            <a:endParaRPr kumimoji="0" lang="en-US" sz="1600" b="0" i="0" u="none" strike="noStrike" kern="1200" cap="none" spc="0" normalizeH="0" baseline="0" noProof="0" dirty="0">
              <a:ln/>
              <a:solidFill>
                <a:srgbClr val="000000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  <a:sym typeface="Lucida Sans"/>
              <a:rtl val="0"/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B37FB7F-7172-88A9-5CCD-59605B14CFEB}"/>
              </a:ext>
            </a:extLst>
          </p:cNvPr>
          <p:cNvSpPr/>
          <p:nvPr/>
        </p:nvSpPr>
        <p:spPr>
          <a:xfrm>
            <a:off x="8948118" y="2673497"/>
            <a:ext cx="109728" cy="109728"/>
          </a:xfrm>
          <a:custGeom>
            <a:avLst/>
            <a:gdLst>
              <a:gd name="connsiteX0" fmla="*/ 101653 w 101653"/>
              <a:gd name="connsiteY0" fmla="*/ 50827 h 101653"/>
              <a:gd name="connsiteX1" fmla="*/ 50826 w 101653"/>
              <a:gd name="connsiteY1" fmla="*/ 101653 h 101653"/>
              <a:gd name="connsiteX2" fmla="*/ -1 w 101653"/>
              <a:gd name="connsiteY2" fmla="*/ 50827 h 101653"/>
              <a:gd name="connsiteX3" fmla="*/ 50826 w 101653"/>
              <a:gd name="connsiteY3" fmla="*/ 0 h 101653"/>
              <a:gd name="connsiteX4" fmla="*/ 101653 w 101653"/>
              <a:gd name="connsiteY4" fmla="*/ 50827 h 10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53" h="101653">
                <a:moveTo>
                  <a:pt x="101653" y="50827"/>
                </a:moveTo>
                <a:cubicBezTo>
                  <a:pt x="101653" y="78897"/>
                  <a:pt x="78897" y="101653"/>
                  <a:pt x="50826" y="101653"/>
                </a:cubicBezTo>
                <a:cubicBezTo>
                  <a:pt x="22755" y="101653"/>
                  <a:pt x="-1" y="78897"/>
                  <a:pt x="-1" y="50827"/>
                </a:cubicBezTo>
                <a:cubicBezTo>
                  <a:pt x="-1" y="22756"/>
                  <a:pt x="22755" y="0"/>
                  <a:pt x="50826" y="0"/>
                </a:cubicBezTo>
                <a:cubicBezTo>
                  <a:pt x="78897" y="0"/>
                  <a:pt x="101653" y="22756"/>
                  <a:pt x="101653" y="50827"/>
                </a:cubicBezTo>
                <a:close/>
              </a:path>
            </a:pathLst>
          </a:custGeom>
          <a:solidFill>
            <a:srgbClr val="2BB4A2"/>
          </a:solidFill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2566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grey text&#10;&#10;Description automatically generated">
            <a:extLst>
              <a:ext uri="{FF2B5EF4-FFF2-40B4-BE49-F238E27FC236}">
                <a16:creationId xmlns:a16="http://schemas.microsoft.com/office/drawing/2014/main" id="{11B32693-AEC6-F0B3-6178-301D7AB0BC2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36F131-D33C-BFF1-B57B-97D7D75EC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36" y="375319"/>
            <a:ext cx="10957184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Trends in Economic Mobility by Group in Forsyth County </a:t>
            </a: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Change in Children’s Income in Adulthood born to Low-Income Parents, 1978 vs. 1992 Birth Cohorts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A6A2B66-A64B-D05E-E9F0-EB23F69133F6}"/>
              </a:ext>
            </a:extLst>
          </p:cNvPr>
          <p:cNvCxnSpPr>
            <a:cxnSpLocks/>
          </p:cNvCxnSpPr>
          <p:nvPr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2CEFBBC-421D-64A4-2926-5CD17817E868}"/>
              </a:ext>
            </a:extLst>
          </p:cNvPr>
          <p:cNvSpPr/>
          <p:nvPr/>
        </p:nvSpPr>
        <p:spPr>
          <a:xfrm>
            <a:off x="1377726" y="1424370"/>
            <a:ext cx="135473" cy="135473"/>
          </a:xfrm>
          <a:custGeom>
            <a:avLst/>
            <a:gdLst>
              <a:gd name="connsiteX0" fmla="*/ 0 w 135473"/>
              <a:gd name="connsiteY0" fmla="*/ 67642 h 135473"/>
              <a:gd name="connsiteX1" fmla="*/ 67832 w 135473"/>
              <a:gd name="connsiteY1" fmla="*/ 0 h 135473"/>
              <a:gd name="connsiteX2" fmla="*/ 135474 w 135473"/>
              <a:gd name="connsiteY2" fmla="*/ 67642 h 135473"/>
              <a:gd name="connsiteX3" fmla="*/ 67832 w 135473"/>
              <a:gd name="connsiteY3" fmla="*/ 135474 h 135473"/>
              <a:gd name="connsiteX4" fmla="*/ 0 w 135473"/>
              <a:gd name="connsiteY4" fmla="*/ 67642 h 135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473" h="135473">
                <a:moveTo>
                  <a:pt x="0" y="67642"/>
                </a:moveTo>
                <a:cubicBezTo>
                  <a:pt x="0" y="30486"/>
                  <a:pt x="30486" y="0"/>
                  <a:pt x="67832" y="0"/>
                </a:cubicBezTo>
                <a:cubicBezTo>
                  <a:pt x="105178" y="0"/>
                  <a:pt x="135474" y="30486"/>
                  <a:pt x="135474" y="67642"/>
                </a:cubicBezTo>
                <a:cubicBezTo>
                  <a:pt x="135474" y="104797"/>
                  <a:pt x="104987" y="135474"/>
                  <a:pt x="67832" y="135474"/>
                </a:cubicBezTo>
                <a:cubicBezTo>
                  <a:pt x="30677" y="135474"/>
                  <a:pt x="0" y="104987"/>
                  <a:pt x="0" y="67642"/>
                </a:cubicBezTo>
              </a:path>
            </a:pathLst>
          </a:custGeom>
          <a:solidFill>
            <a:srgbClr val="F8766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705F26-3951-6402-8FDA-434DFBFAE8A3}"/>
              </a:ext>
            </a:extLst>
          </p:cNvPr>
          <p:cNvSpPr txBox="1"/>
          <p:nvPr/>
        </p:nvSpPr>
        <p:spPr>
          <a:xfrm>
            <a:off x="1531529" y="1321114"/>
            <a:ext cx="14766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Lucida Sans"/>
                <a:ea typeface="+mn-ea"/>
                <a:cs typeface="+mn-cs"/>
                <a:sym typeface="Lucida Sans"/>
                <a:rtl val="0"/>
              </a:rPr>
              <a:t>Born in 1978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1371965-2ADC-3234-0DC8-088FFA5C849F}"/>
              </a:ext>
            </a:extLst>
          </p:cNvPr>
          <p:cNvSpPr txBox="1"/>
          <p:nvPr/>
        </p:nvSpPr>
        <p:spPr>
          <a:xfrm>
            <a:off x="3416407" y="1321114"/>
            <a:ext cx="14766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/>
                <a:ea typeface="+mn-ea"/>
                <a:cs typeface="+mn-cs"/>
                <a:sym typeface="Lucida Sans"/>
                <a:rtl val="0"/>
              </a:rPr>
              <a:t>Born in 1992</a:t>
            </a: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3F4EE41C-9D02-371C-EAF7-3D70FE44CC7C}"/>
              </a:ext>
            </a:extLst>
          </p:cNvPr>
          <p:cNvSpPr/>
          <p:nvPr/>
        </p:nvSpPr>
        <p:spPr>
          <a:xfrm>
            <a:off x="1377726" y="1424370"/>
            <a:ext cx="135473" cy="135473"/>
          </a:xfrm>
          <a:custGeom>
            <a:avLst/>
            <a:gdLst>
              <a:gd name="connsiteX0" fmla="*/ 0 w 135473"/>
              <a:gd name="connsiteY0" fmla="*/ 67642 h 135473"/>
              <a:gd name="connsiteX1" fmla="*/ 67832 w 135473"/>
              <a:gd name="connsiteY1" fmla="*/ 0 h 135473"/>
              <a:gd name="connsiteX2" fmla="*/ 135474 w 135473"/>
              <a:gd name="connsiteY2" fmla="*/ 67642 h 135473"/>
              <a:gd name="connsiteX3" fmla="*/ 67832 w 135473"/>
              <a:gd name="connsiteY3" fmla="*/ 135474 h 135473"/>
              <a:gd name="connsiteX4" fmla="*/ 0 w 135473"/>
              <a:gd name="connsiteY4" fmla="*/ 67642 h 135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473" h="135473">
                <a:moveTo>
                  <a:pt x="0" y="67642"/>
                </a:moveTo>
                <a:cubicBezTo>
                  <a:pt x="0" y="30486"/>
                  <a:pt x="30486" y="0"/>
                  <a:pt x="67832" y="0"/>
                </a:cubicBezTo>
                <a:cubicBezTo>
                  <a:pt x="105178" y="0"/>
                  <a:pt x="135474" y="30486"/>
                  <a:pt x="135474" y="67642"/>
                </a:cubicBezTo>
                <a:cubicBezTo>
                  <a:pt x="135474" y="104797"/>
                  <a:pt x="104987" y="135474"/>
                  <a:pt x="67832" y="135474"/>
                </a:cubicBezTo>
                <a:cubicBezTo>
                  <a:pt x="30677" y="135474"/>
                  <a:pt x="0" y="104987"/>
                  <a:pt x="0" y="67642"/>
                </a:cubicBezTo>
              </a:path>
            </a:pathLst>
          </a:custGeom>
          <a:solidFill>
            <a:srgbClr val="FAA523"/>
          </a:solidFill>
          <a:ln w="13526" cap="rnd">
            <a:solidFill>
              <a:srgbClr val="FAA523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46BEC5B4-6389-B3A4-1796-926B0AD8B950}"/>
              </a:ext>
            </a:extLst>
          </p:cNvPr>
          <p:cNvSpPr/>
          <p:nvPr/>
        </p:nvSpPr>
        <p:spPr>
          <a:xfrm>
            <a:off x="3262604" y="1424370"/>
            <a:ext cx="135473" cy="135473"/>
          </a:xfrm>
          <a:custGeom>
            <a:avLst/>
            <a:gdLst>
              <a:gd name="connsiteX0" fmla="*/ 0 w 135473"/>
              <a:gd name="connsiteY0" fmla="*/ 67642 h 135473"/>
              <a:gd name="connsiteX1" fmla="*/ 67642 w 135473"/>
              <a:gd name="connsiteY1" fmla="*/ 0 h 135473"/>
              <a:gd name="connsiteX2" fmla="*/ 135474 w 135473"/>
              <a:gd name="connsiteY2" fmla="*/ 67642 h 135473"/>
              <a:gd name="connsiteX3" fmla="*/ 67642 w 135473"/>
              <a:gd name="connsiteY3" fmla="*/ 135474 h 135473"/>
              <a:gd name="connsiteX4" fmla="*/ 0 w 135473"/>
              <a:gd name="connsiteY4" fmla="*/ 67642 h 135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473" h="135473">
                <a:moveTo>
                  <a:pt x="0" y="67642"/>
                </a:moveTo>
                <a:cubicBezTo>
                  <a:pt x="0" y="30486"/>
                  <a:pt x="30486" y="0"/>
                  <a:pt x="67642" y="0"/>
                </a:cubicBezTo>
                <a:cubicBezTo>
                  <a:pt x="104797" y="0"/>
                  <a:pt x="135474" y="30486"/>
                  <a:pt x="135474" y="67642"/>
                </a:cubicBezTo>
                <a:cubicBezTo>
                  <a:pt x="135474" y="104797"/>
                  <a:pt x="104987" y="135474"/>
                  <a:pt x="67642" y="135474"/>
                </a:cubicBezTo>
                <a:cubicBezTo>
                  <a:pt x="30296" y="135474"/>
                  <a:pt x="0" y="104987"/>
                  <a:pt x="0" y="67642"/>
                </a:cubicBezTo>
              </a:path>
            </a:pathLst>
          </a:custGeom>
          <a:solidFill>
            <a:srgbClr val="29B6A4"/>
          </a:solidFill>
          <a:ln w="13526" cap="rnd">
            <a:solidFill>
              <a:srgbClr val="29B6A4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2547542-E08F-0E68-C432-C29E15D1A871}"/>
              </a:ext>
            </a:extLst>
          </p:cNvPr>
          <p:cNvSpPr/>
          <p:nvPr/>
        </p:nvSpPr>
        <p:spPr>
          <a:xfrm>
            <a:off x="2048865" y="3737492"/>
            <a:ext cx="7782968" cy="19053"/>
          </a:xfrm>
          <a:custGeom>
            <a:avLst/>
            <a:gdLst>
              <a:gd name="connsiteX0" fmla="*/ 0 w 7782968"/>
              <a:gd name="connsiteY0" fmla="*/ 0 h 19053"/>
              <a:gd name="connsiteX1" fmla="*/ 7782969 w 7782968"/>
              <a:gd name="connsiteY1" fmla="*/ 0 h 19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782968" h="19053">
                <a:moveTo>
                  <a:pt x="0" y="0"/>
                </a:moveTo>
                <a:lnTo>
                  <a:pt x="7782969" y="0"/>
                </a:lnTo>
              </a:path>
            </a:pathLst>
          </a:custGeom>
          <a:ln w="20384" cap="flat">
            <a:solidFill>
              <a:srgbClr val="EBEBEB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666EE4-1F5D-23ED-1A3D-F94F5D0CC039}"/>
              </a:ext>
            </a:extLst>
          </p:cNvPr>
          <p:cNvSpPr txBox="1"/>
          <p:nvPr/>
        </p:nvSpPr>
        <p:spPr>
          <a:xfrm>
            <a:off x="1381553" y="3566595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Lucida Sans"/>
                <a:ea typeface="+mn-ea"/>
                <a:cs typeface="+mn-cs"/>
                <a:sym typeface="Lucida Sans"/>
                <a:rtl val="0"/>
              </a:rPr>
              <a:t>Black</a:t>
            </a: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04A43CB8-6A5E-E45D-1256-8AFE43FBE729}"/>
              </a:ext>
            </a:extLst>
          </p:cNvPr>
          <p:cNvSpPr/>
          <p:nvPr/>
        </p:nvSpPr>
        <p:spPr>
          <a:xfrm>
            <a:off x="4101836" y="3669660"/>
            <a:ext cx="135473" cy="135473"/>
          </a:xfrm>
          <a:custGeom>
            <a:avLst/>
            <a:gdLst>
              <a:gd name="connsiteX0" fmla="*/ 0 w 135473"/>
              <a:gd name="connsiteY0" fmla="*/ 67832 h 135473"/>
              <a:gd name="connsiteX1" fmla="*/ 67832 w 135473"/>
              <a:gd name="connsiteY1" fmla="*/ 0 h 135473"/>
              <a:gd name="connsiteX2" fmla="*/ 135474 w 135473"/>
              <a:gd name="connsiteY2" fmla="*/ 67832 h 135473"/>
              <a:gd name="connsiteX3" fmla="*/ 67832 w 135473"/>
              <a:gd name="connsiteY3" fmla="*/ 135474 h 135473"/>
              <a:gd name="connsiteX4" fmla="*/ 0 w 135473"/>
              <a:gd name="connsiteY4" fmla="*/ 67832 h 135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473" h="135473">
                <a:moveTo>
                  <a:pt x="0" y="67832"/>
                </a:moveTo>
                <a:cubicBezTo>
                  <a:pt x="0" y="30486"/>
                  <a:pt x="30486" y="0"/>
                  <a:pt x="67832" y="0"/>
                </a:cubicBezTo>
                <a:cubicBezTo>
                  <a:pt x="105178" y="0"/>
                  <a:pt x="135474" y="30486"/>
                  <a:pt x="135474" y="67832"/>
                </a:cubicBezTo>
                <a:cubicBezTo>
                  <a:pt x="135474" y="105178"/>
                  <a:pt x="104987" y="135474"/>
                  <a:pt x="67832" y="135474"/>
                </a:cubicBezTo>
                <a:cubicBezTo>
                  <a:pt x="30677" y="135474"/>
                  <a:pt x="0" y="104987"/>
                  <a:pt x="0" y="67832"/>
                </a:cubicBezTo>
              </a:path>
            </a:pathLst>
          </a:custGeom>
          <a:solidFill>
            <a:srgbClr val="FAA523"/>
          </a:solidFill>
          <a:ln w="13526" cap="rnd">
            <a:solidFill>
              <a:srgbClr val="FAA523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F2367399-801A-73C8-20A0-9B227A393C86}"/>
              </a:ext>
            </a:extLst>
          </p:cNvPr>
          <p:cNvSpPr/>
          <p:nvPr/>
        </p:nvSpPr>
        <p:spPr>
          <a:xfrm>
            <a:off x="5068520" y="3669660"/>
            <a:ext cx="135473" cy="135473"/>
          </a:xfrm>
          <a:custGeom>
            <a:avLst/>
            <a:gdLst>
              <a:gd name="connsiteX0" fmla="*/ 0 w 135473"/>
              <a:gd name="connsiteY0" fmla="*/ 67832 h 135473"/>
              <a:gd name="connsiteX1" fmla="*/ 67832 w 135473"/>
              <a:gd name="connsiteY1" fmla="*/ 0 h 135473"/>
              <a:gd name="connsiteX2" fmla="*/ 135474 w 135473"/>
              <a:gd name="connsiteY2" fmla="*/ 67832 h 135473"/>
              <a:gd name="connsiteX3" fmla="*/ 67832 w 135473"/>
              <a:gd name="connsiteY3" fmla="*/ 135474 h 135473"/>
              <a:gd name="connsiteX4" fmla="*/ 0 w 135473"/>
              <a:gd name="connsiteY4" fmla="*/ 67832 h 135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473" h="135473">
                <a:moveTo>
                  <a:pt x="0" y="67832"/>
                </a:moveTo>
                <a:cubicBezTo>
                  <a:pt x="0" y="30486"/>
                  <a:pt x="30486" y="0"/>
                  <a:pt x="67832" y="0"/>
                </a:cubicBezTo>
                <a:cubicBezTo>
                  <a:pt x="105178" y="0"/>
                  <a:pt x="135474" y="30486"/>
                  <a:pt x="135474" y="67832"/>
                </a:cubicBezTo>
                <a:cubicBezTo>
                  <a:pt x="135474" y="105178"/>
                  <a:pt x="104987" y="135474"/>
                  <a:pt x="67832" y="135474"/>
                </a:cubicBezTo>
                <a:cubicBezTo>
                  <a:pt x="30677" y="135474"/>
                  <a:pt x="0" y="104987"/>
                  <a:pt x="0" y="67832"/>
                </a:cubicBezTo>
              </a:path>
            </a:pathLst>
          </a:custGeom>
          <a:solidFill>
            <a:srgbClr val="29B6A4"/>
          </a:solidFill>
          <a:ln w="13526" cap="rnd">
            <a:solidFill>
              <a:srgbClr val="29B6A4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9F12CB7-C2FF-6E11-72F9-5F908F663355}"/>
              </a:ext>
            </a:extLst>
          </p:cNvPr>
          <p:cNvSpPr txBox="1"/>
          <p:nvPr/>
        </p:nvSpPr>
        <p:spPr>
          <a:xfrm>
            <a:off x="3439724" y="3342170"/>
            <a:ext cx="907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/>
                <a:solidFill>
                  <a:srgbClr val="FAA523"/>
                </a:solidFill>
                <a:effectLst/>
                <a:uLnTx/>
                <a:uFillTx/>
                <a:latin typeface="Lucida Sans"/>
                <a:ea typeface="+mn-ea"/>
                <a:cs typeface="+mn-cs"/>
                <a:sym typeface="Lucida Sans"/>
                <a:rtl val="0"/>
              </a:rPr>
              <a:t>$18.9K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B533F5-82D8-EC71-9603-892B5346869A}"/>
              </a:ext>
            </a:extLst>
          </p:cNvPr>
          <p:cNvSpPr txBox="1"/>
          <p:nvPr/>
        </p:nvSpPr>
        <p:spPr>
          <a:xfrm>
            <a:off x="4773499" y="3342170"/>
            <a:ext cx="907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/>
                <a:solidFill>
                  <a:srgbClr val="29B6A4"/>
                </a:solidFill>
                <a:effectLst/>
                <a:uLnTx/>
                <a:uFillTx/>
                <a:latin typeface="Lucida Sans"/>
                <a:ea typeface="+mn-ea"/>
                <a:cs typeface="+mn-cs"/>
                <a:sym typeface="Lucida Sans"/>
                <a:rtl val="0"/>
              </a:rPr>
              <a:t>$22.1K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4366BC1-7773-518D-B0C5-AB5CB4B6DBE2}"/>
              </a:ext>
            </a:extLst>
          </p:cNvPr>
          <p:cNvSpPr txBox="1"/>
          <p:nvPr/>
        </p:nvSpPr>
        <p:spPr>
          <a:xfrm>
            <a:off x="217772" y="5178670"/>
            <a:ext cx="19046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Lucida Sans"/>
                <a:ea typeface="+mn-ea"/>
                <a:cs typeface="+mn-cs"/>
                <a:sym typeface="Lucida Sans"/>
                <a:rtl val="0"/>
              </a:rPr>
              <a:t>American Indian</a:t>
            </a: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CF9DBB30-31DB-957F-9D60-092228238807}"/>
              </a:ext>
            </a:extLst>
          </p:cNvPr>
          <p:cNvSpPr/>
          <p:nvPr/>
        </p:nvSpPr>
        <p:spPr>
          <a:xfrm>
            <a:off x="2048865" y="5349568"/>
            <a:ext cx="7782968" cy="19053"/>
          </a:xfrm>
          <a:custGeom>
            <a:avLst/>
            <a:gdLst>
              <a:gd name="connsiteX0" fmla="*/ 0 w 7782968"/>
              <a:gd name="connsiteY0" fmla="*/ 0 h 19053"/>
              <a:gd name="connsiteX1" fmla="*/ 7782969 w 7782968"/>
              <a:gd name="connsiteY1" fmla="*/ 0 h 19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782968" h="19053">
                <a:moveTo>
                  <a:pt x="0" y="0"/>
                </a:moveTo>
                <a:lnTo>
                  <a:pt x="7782969" y="0"/>
                </a:lnTo>
              </a:path>
            </a:pathLst>
          </a:custGeom>
          <a:ln w="20384" cap="flat">
            <a:solidFill>
              <a:srgbClr val="EBEBEB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69BBB38E-310E-CD66-42D3-ED689615D18C}"/>
              </a:ext>
            </a:extLst>
          </p:cNvPr>
          <p:cNvSpPr/>
          <p:nvPr/>
        </p:nvSpPr>
        <p:spPr>
          <a:xfrm>
            <a:off x="5902297" y="5281736"/>
            <a:ext cx="135473" cy="135664"/>
          </a:xfrm>
          <a:custGeom>
            <a:avLst/>
            <a:gdLst>
              <a:gd name="connsiteX0" fmla="*/ 0 w 135473"/>
              <a:gd name="connsiteY0" fmla="*/ 67832 h 135664"/>
              <a:gd name="connsiteX1" fmla="*/ 67832 w 135473"/>
              <a:gd name="connsiteY1" fmla="*/ 0 h 135664"/>
              <a:gd name="connsiteX2" fmla="*/ 135474 w 135473"/>
              <a:gd name="connsiteY2" fmla="*/ 67832 h 135664"/>
              <a:gd name="connsiteX3" fmla="*/ 67832 w 135473"/>
              <a:gd name="connsiteY3" fmla="*/ 135664 h 135664"/>
              <a:gd name="connsiteX4" fmla="*/ 0 w 135473"/>
              <a:gd name="connsiteY4" fmla="*/ 67832 h 13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473" h="135664">
                <a:moveTo>
                  <a:pt x="0" y="67832"/>
                </a:moveTo>
                <a:cubicBezTo>
                  <a:pt x="0" y="30486"/>
                  <a:pt x="30486" y="0"/>
                  <a:pt x="67832" y="0"/>
                </a:cubicBezTo>
                <a:cubicBezTo>
                  <a:pt x="105178" y="0"/>
                  <a:pt x="135474" y="30486"/>
                  <a:pt x="135474" y="67832"/>
                </a:cubicBezTo>
                <a:cubicBezTo>
                  <a:pt x="135474" y="105178"/>
                  <a:pt x="104987" y="135664"/>
                  <a:pt x="67832" y="135664"/>
                </a:cubicBezTo>
                <a:cubicBezTo>
                  <a:pt x="30677" y="135664"/>
                  <a:pt x="0" y="105178"/>
                  <a:pt x="0" y="67832"/>
                </a:cubicBezTo>
              </a:path>
            </a:pathLst>
          </a:custGeom>
          <a:solidFill>
            <a:srgbClr val="FAA523"/>
          </a:solidFill>
          <a:ln w="13526" cap="rnd">
            <a:solidFill>
              <a:srgbClr val="FAA523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2A080270-78C4-9B58-7F11-07F9C00AC824}"/>
              </a:ext>
            </a:extLst>
          </p:cNvPr>
          <p:cNvSpPr/>
          <p:nvPr/>
        </p:nvSpPr>
        <p:spPr>
          <a:xfrm>
            <a:off x="2316170" y="5281736"/>
            <a:ext cx="135473" cy="135664"/>
          </a:xfrm>
          <a:custGeom>
            <a:avLst/>
            <a:gdLst>
              <a:gd name="connsiteX0" fmla="*/ 0 w 135473"/>
              <a:gd name="connsiteY0" fmla="*/ 67832 h 135664"/>
              <a:gd name="connsiteX1" fmla="*/ 67641 w 135473"/>
              <a:gd name="connsiteY1" fmla="*/ 0 h 135664"/>
              <a:gd name="connsiteX2" fmla="*/ 135474 w 135473"/>
              <a:gd name="connsiteY2" fmla="*/ 67832 h 135664"/>
              <a:gd name="connsiteX3" fmla="*/ 67641 w 135473"/>
              <a:gd name="connsiteY3" fmla="*/ 135664 h 135664"/>
              <a:gd name="connsiteX4" fmla="*/ 0 w 135473"/>
              <a:gd name="connsiteY4" fmla="*/ 67832 h 13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473" h="135664">
                <a:moveTo>
                  <a:pt x="0" y="67832"/>
                </a:moveTo>
                <a:cubicBezTo>
                  <a:pt x="0" y="30486"/>
                  <a:pt x="30486" y="0"/>
                  <a:pt x="67641" y="0"/>
                </a:cubicBezTo>
                <a:cubicBezTo>
                  <a:pt x="104797" y="0"/>
                  <a:pt x="135474" y="30486"/>
                  <a:pt x="135474" y="67832"/>
                </a:cubicBezTo>
                <a:cubicBezTo>
                  <a:pt x="135474" y="105178"/>
                  <a:pt x="104987" y="135664"/>
                  <a:pt x="67641" y="135664"/>
                </a:cubicBezTo>
                <a:cubicBezTo>
                  <a:pt x="30296" y="135664"/>
                  <a:pt x="0" y="105178"/>
                  <a:pt x="0" y="67832"/>
                </a:cubicBezTo>
              </a:path>
            </a:pathLst>
          </a:custGeom>
          <a:solidFill>
            <a:srgbClr val="29B6A4"/>
          </a:solidFill>
          <a:ln w="13526" cap="rnd">
            <a:solidFill>
              <a:srgbClr val="29B6A4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DF60486-1256-735B-0375-3CF059721A25}"/>
              </a:ext>
            </a:extLst>
          </p:cNvPr>
          <p:cNvSpPr txBox="1"/>
          <p:nvPr/>
        </p:nvSpPr>
        <p:spPr>
          <a:xfrm>
            <a:off x="5478514" y="4990728"/>
            <a:ext cx="907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/>
                <a:solidFill>
                  <a:srgbClr val="FAA523"/>
                </a:solidFill>
                <a:effectLst/>
                <a:uLnTx/>
                <a:uFillTx/>
                <a:latin typeface="Lucida Sans"/>
                <a:ea typeface="+mn-ea"/>
                <a:cs typeface="+mn-cs"/>
                <a:sym typeface="Lucida Sans"/>
                <a:rtl val="0"/>
              </a:rPr>
              <a:t>$25.1K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CB66B6F-02E5-C79E-F242-8E79C5D758DD}"/>
              </a:ext>
            </a:extLst>
          </p:cNvPr>
          <p:cNvSpPr txBox="1"/>
          <p:nvPr/>
        </p:nvSpPr>
        <p:spPr>
          <a:xfrm>
            <a:off x="2051023" y="4990728"/>
            <a:ext cx="907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/>
                <a:solidFill>
                  <a:srgbClr val="29B6A4"/>
                </a:solidFill>
                <a:effectLst/>
                <a:uLnTx/>
                <a:uFillTx/>
                <a:latin typeface="Lucida Sans"/>
                <a:ea typeface="+mn-ea"/>
                <a:cs typeface="+mn-cs"/>
                <a:sym typeface="Lucida Sans"/>
                <a:rtl val="0"/>
              </a:rPr>
              <a:t>$12.1K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C233769-090A-A89D-5A2E-D780F8254D99}"/>
              </a:ext>
            </a:extLst>
          </p:cNvPr>
          <p:cNvCxnSpPr>
            <a:cxnSpLocks/>
            <a:stCxn id="80" idx="0"/>
            <a:endCxn id="81" idx="2"/>
          </p:cNvCxnSpPr>
          <p:nvPr/>
        </p:nvCxnSpPr>
        <p:spPr>
          <a:xfrm flipH="1">
            <a:off x="2451644" y="5349568"/>
            <a:ext cx="34506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337AB7C-023D-A595-6EBE-9AA2F6D87163}"/>
              </a:ext>
            </a:extLst>
          </p:cNvPr>
          <p:cNvSpPr/>
          <p:nvPr/>
        </p:nvSpPr>
        <p:spPr>
          <a:xfrm>
            <a:off x="2048865" y="2895592"/>
            <a:ext cx="7782968" cy="19053"/>
          </a:xfrm>
          <a:custGeom>
            <a:avLst/>
            <a:gdLst>
              <a:gd name="connsiteX0" fmla="*/ 0 w 7782968"/>
              <a:gd name="connsiteY0" fmla="*/ 0 h 19053"/>
              <a:gd name="connsiteX1" fmla="*/ 7782969 w 7782968"/>
              <a:gd name="connsiteY1" fmla="*/ 0 h 19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782968" h="19053">
                <a:moveTo>
                  <a:pt x="0" y="0"/>
                </a:moveTo>
                <a:lnTo>
                  <a:pt x="7782969" y="0"/>
                </a:lnTo>
              </a:path>
            </a:pathLst>
          </a:custGeom>
          <a:ln w="20384" cap="flat">
            <a:solidFill>
              <a:srgbClr val="EBEBEB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816EEB-9703-BFC9-832C-6A217E9EADB8}"/>
              </a:ext>
            </a:extLst>
          </p:cNvPr>
          <p:cNvSpPr txBox="1"/>
          <p:nvPr/>
        </p:nvSpPr>
        <p:spPr>
          <a:xfrm>
            <a:off x="1027289" y="2724885"/>
            <a:ext cx="1095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Lucida Sans"/>
                <a:ea typeface="+mn-ea"/>
                <a:cs typeface="+mn-cs"/>
                <a:sym typeface="Lucida Sans"/>
                <a:rtl val="0"/>
              </a:rPr>
              <a:t>Hispanic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C213EA6F-A061-4283-3119-2ADD77252B1A}"/>
              </a:ext>
            </a:extLst>
          </p:cNvPr>
          <p:cNvSpPr/>
          <p:nvPr/>
        </p:nvSpPr>
        <p:spPr>
          <a:xfrm>
            <a:off x="5682154" y="2827950"/>
            <a:ext cx="135473" cy="135473"/>
          </a:xfrm>
          <a:custGeom>
            <a:avLst/>
            <a:gdLst>
              <a:gd name="connsiteX0" fmla="*/ 0 w 135473"/>
              <a:gd name="connsiteY0" fmla="*/ 67642 h 135473"/>
              <a:gd name="connsiteX1" fmla="*/ 67641 w 135473"/>
              <a:gd name="connsiteY1" fmla="*/ 0 h 135473"/>
              <a:gd name="connsiteX2" fmla="*/ 135473 w 135473"/>
              <a:gd name="connsiteY2" fmla="*/ 67642 h 135473"/>
              <a:gd name="connsiteX3" fmla="*/ 67641 w 135473"/>
              <a:gd name="connsiteY3" fmla="*/ 135474 h 135473"/>
              <a:gd name="connsiteX4" fmla="*/ 0 w 135473"/>
              <a:gd name="connsiteY4" fmla="*/ 67642 h 135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473" h="135473">
                <a:moveTo>
                  <a:pt x="0" y="67642"/>
                </a:moveTo>
                <a:cubicBezTo>
                  <a:pt x="0" y="30486"/>
                  <a:pt x="30486" y="0"/>
                  <a:pt x="67641" y="0"/>
                </a:cubicBezTo>
                <a:cubicBezTo>
                  <a:pt x="104797" y="0"/>
                  <a:pt x="135473" y="30486"/>
                  <a:pt x="135473" y="67642"/>
                </a:cubicBezTo>
                <a:cubicBezTo>
                  <a:pt x="135473" y="104797"/>
                  <a:pt x="104987" y="135474"/>
                  <a:pt x="67641" y="135474"/>
                </a:cubicBezTo>
                <a:cubicBezTo>
                  <a:pt x="30296" y="135474"/>
                  <a:pt x="0" y="104987"/>
                  <a:pt x="0" y="67642"/>
                </a:cubicBezTo>
              </a:path>
            </a:pathLst>
          </a:custGeom>
          <a:solidFill>
            <a:srgbClr val="FAA523"/>
          </a:solidFill>
          <a:ln w="13526" cap="rnd">
            <a:solidFill>
              <a:srgbClr val="FAA523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BA54CABF-45D2-20FE-2707-8D3806210B49}"/>
              </a:ext>
            </a:extLst>
          </p:cNvPr>
          <p:cNvSpPr/>
          <p:nvPr/>
        </p:nvSpPr>
        <p:spPr>
          <a:xfrm>
            <a:off x="7742070" y="2827950"/>
            <a:ext cx="135473" cy="135473"/>
          </a:xfrm>
          <a:custGeom>
            <a:avLst/>
            <a:gdLst>
              <a:gd name="connsiteX0" fmla="*/ 0 w 135473"/>
              <a:gd name="connsiteY0" fmla="*/ 67642 h 135473"/>
              <a:gd name="connsiteX1" fmla="*/ 67832 w 135473"/>
              <a:gd name="connsiteY1" fmla="*/ 0 h 135473"/>
              <a:gd name="connsiteX2" fmla="*/ 135474 w 135473"/>
              <a:gd name="connsiteY2" fmla="*/ 67642 h 135473"/>
              <a:gd name="connsiteX3" fmla="*/ 67832 w 135473"/>
              <a:gd name="connsiteY3" fmla="*/ 135474 h 135473"/>
              <a:gd name="connsiteX4" fmla="*/ 0 w 135473"/>
              <a:gd name="connsiteY4" fmla="*/ 67642 h 135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473" h="135473">
                <a:moveTo>
                  <a:pt x="0" y="67642"/>
                </a:moveTo>
                <a:cubicBezTo>
                  <a:pt x="0" y="30486"/>
                  <a:pt x="30486" y="0"/>
                  <a:pt x="67832" y="0"/>
                </a:cubicBezTo>
                <a:cubicBezTo>
                  <a:pt x="105178" y="0"/>
                  <a:pt x="135474" y="30486"/>
                  <a:pt x="135474" y="67642"/>
                </a:cubicBezTo>
                <a:cubicBezTo>
                  <a:pt x="135474" y="104797"/>
                  <a:pt x="105178" y="135474"/>
                  <a:pt x="67832" y="135474"/>
                </a:cubicBezTo>
                <a:cubicBezTo>
                  <a:pt x="30486" y="135474"/>
                  <a:pt x="0" y="104987"/>
                  <a:pt x="0" y="67642"/>
                </a:cubicBezTo>
              </a:path>
            </a:pathLst>
          </a:custGeom>
          <a:solidFill>
            <a:srgbClr val="29B6A4"/>
          </a:solidFill>
          <a:ln w="13526" cap="rnd">
            <a:solidFill>
              <a:srgbClr val="29B6A4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9F8E592-0724-C7AE-AB8A-321E95E95F9C}"/>
              </a:ext>
            </a:extLst>
          </p:cNvPr>
          <p:cNvSpPr txBox="1"/>
          <p:nvPr/>
        </p:nvSpPr>
        <p:spPr>
          <a:xfrm>
            <a:off x="4854183" y="2514513"/>
            <a:ext cx="907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/>
                <a:solidFill>
                  <a:srgbClr val="FAA523"/>
                </a:solidFill>
                <a:effectLst/>
                <a:uLnTx/>
                <a:uFillTx/>
                <a:latin typeface="Lucida Sans"/>
                <a:ea typeface="+mn-ea"/>
                <a:cs typeface="+mn-cs"/>
                <a:sym typeface="Lucida Sans"/>
                <a:rtl val="0"/>
              </a:rPr>
              <a:t>$24.7K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AC8E8DD-4645-D69F-82C0-D83CE0D9A704}"/>
              </a:ext>
            </a:extLst>
          </p:cNvPr>
          <p:cNvSpPr txBox="1"/>
          <p:nvPr/>
        </p:nvSpPr>
        <p:spPr>
          <a:xfrm>
            <a:off x="7054232" y="2514513"/>
            <a:ext cx="907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/>
                <a:solidFill>
                  <a:srgbClr val="29B6A4"/>
                </a:solidFill>
                <a:effectLst/>
                <a:uLnTx/>
                <a:uFillTx/>
                <a:latin typeface="Lucida Sans"/>
                <a:ea typeface="+mn-ea"/>
                <a:cs typeface="+mn-cs"/>
                <a:sym typeface="Lucida Sans"/>
                <a:rtl val="0"/>
              </a:rPr>
              <a:t>$31.0K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DDD4694-7705-37A6-1D44-ED9DDE2743F9}"/>
              </a:ext>
            </a:extLst>
          </p:cNvPr>
          <p:cNvCxnSpPr>
            <a:cxnSpLocks/>
            <a:stCxn id="47" idx="2"/>
            <a:endCxn id="54" idx="0"/>
          </p:cNvCxnSpPr>
          <p:nvPr/>
        </p:nvCxnSpPr>
        <p:spPr>
          <a:xfrm>
            <a:off x="5817627" y="2895592"/>
            <a:ext cx="19244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BF64330-4AC2-AB57-FFB6-B43DC54F15DE}"/>
              </a:ext>
            </a:extLst>
          </p:cNvPr>
          <p:cNvSpPr/>
          <p:nvPr/>
        </p:nvSpPr>
        <p:spPr>
          <a:xfrm>
            <a:off x="2048865" y="2068316"/>
            <a:ext cx="7782968" cy="19053"/>
          </a:xfrm>
          <a:custGeom>
            <a:avLst/>
            <a:gdLst>
              <a:gd name="connsiteX0" fmla="*/ 0 w 7782968"/>
              <a:gd name="connsiteY0" fmla="*/ 0 h 19053"/>
              <a:gd name="connsiteX1" fmla="*/ 7782969 w 7782968"/>
              <a:gd name="connsiteY1" fmla="*/ 0 h 19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782968" h="19053">
                <a:moveTo>
                  <a:pt x="0" y="0"/>
                </a:moveTo>
                <a:lnTo>
                  <a:pt x="7782969" y="0"/>
                </a:lnTo>
              </a:path>
            </a:pathLst>
          </a:custGeom>
          <a:ln w="20384" cap="flat">
            <a:solidFill>
              <a:srgbClr val="EBEBEB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64B3C7-5ED0-3F9A-69C9-F4BFDC8744C9}"/>
              </a:ext>
            </a:extLst>
          </p:cNvPr>
          <p:cNvSpPr txBox="1"/>
          <p:nvPr/>
        </p:nvSpPr>
        <p:spPr>
          <a:xfrm>
            <a:off x="1346286" y="1897228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Lucida Sans"/>
                <a:ea typeface="+mn-ea"/>
                <a:cs typeface="+mn-cs"/>
                <a:sym typeface="Lucida Sans"/>
                <a:rtl val="0"/>
              </a:rPr>
              <a:t>White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423EDB80-8927-9578-55DB-E8A1F3426A20}"/>
              </a:ext>
            </a:extLst>
          </p:cNvPr>
          <p:cNvSpPr/>
          <p:nvPr/>
        </p:nvSpPr>
        <p:spPr>
          <a:xfrm>
            <a:off x="7830831" y="2000484"/>
            <a:ext cx="135473" cy="135473"/>
          </a:xfrm>
          <a:custGeom>
            <a:avLst/>
            <a:gdLst>
              <a:gd name="connsiteX0" fmla="*/ 0 w 135473"/>
              <a:gd name="connsiteY0" fmla="*/ 67832 h 135473"/>
              <a:gd name="connsiteX1" fmla="*/ 67832 w 135473"/>
              <a:gd name="connsiteY1" fmla="*/ 0 h 135473"/>
              <a:gd name="connsiteX2" fmla="*/ 135474 w 135473"/>
              <a:gd name="connsiteY2" fmla="*/ 67832 h 135473"/>
              <a:gd name="connsiteX3" fmla="*/ 67832 w 135473"/>
              <a:gd name="connsiteY3" fmla="*/ 135474 h 135473"/>
              <a:gd name="connsiteX4" fmla="*/ 0 w 135473"/>
              <a:gd name="connsiteY4" fmla="*/ 67832 h 135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473" h="135473">
                <a:moveTo>
                  <a:pt x="0" y="67832"/>
                </a:moveTo>
                <a:cubicBezTo>
                  <a:pt x="0" y="30486"/>
                  <a:pt x="30486" y="0"/>
                  <a:pt x="67832" y="0"/>
                </a:cubicBezTo>
                <a:cubicBezTo>
                  <a:pt x="105178" y="0"/>
                  <a:pt x="135474" y="30486"/>
                  <a:pt x="135474" y="67832"/>
                </a:cubicBezTo>
                <a:cubicBezTo>
                  <a:pt x="135474" y="105178"/>
                  <a:pt x="104987" y="135474"/>
                  <a:pt x="67832" y="135474"/>
                </a:cubicBezTo>
                <a:cubicBezTo>
                  <a:pt x="30677" y="135474"/>
                  <a:pt x="0" y="104987"/>
                  <a:pt x="0" y="67832"/>
                </a:cubicBezTo>
              </a:path>
            </a:pathLst>
          </a:custGeom>
          <a:solidFill>
            <a:srgbClr val="FAA523"/>
          </a:solidFill>
          <a:ln w="13526" cap="rnd">
            <a:solidFill>
              <a:srgbClr val="FAA523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FE31807C-CEFD-6755-D0F5-C820B368B710}"/>
              </a:ext>
            </a:extLst>
          </p:cNvPr>
          <p:cNvSpPr/>
          <p:nvPr/>
        </p:nvSpPr>
        <p:spPr>
          <a:xfrm>
            <a:off x="7251066" y="2000484"/>
            <a:ext cx="135473" cy="135473"/>
          </a:xfrm>
          <a:custGeom>
            <a:avLst/>
            <a:gdLst>
              <a:gd name="connsiteX0" fmla="*/ 0 w 135473"/>
              <a:gd name="connsiteY0" fmla="*/ 67832 h 135473"/>
              <a:gd name="connsiteX1" fmla="*/ 67641 w 135473"/>
              <a:gd name="connsiteY1" fmla="*/ 0 h 135473"/>
              <a:gd name="connsiteX2" fmla="*/ 135473 w 135473"/>
              <a:gd name="connsiteY2" fmla="*/ 67832 h 135473"/>
              <a:gd name="connsiteX3" fmla="*/ 67641 w 135473"/>
              <a:gd name="connsiteY3" fmla="*/ 135474 h 135473"/>
              <a:gd name="connsiteX4" fmla="*/ 0 w 135473"/>
              <a:gd name="connsiteY4" fmla="*/ 67832 h 135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473" h="135473">
                <a:moveTo>
                  <a:pt x="0" y="67832"/>
                </a:moveTo>
                <a:cubicBezTo>
                  <a:pt x="0" y="30486"/>
                  <a:pt x="30486" y="0"/>
                  <a:pt x="67641" y="0"/>
                </a:cubicBezTo>
                <a:cubicBezTo>
                  <a:pt x="104797" y="0"/>
                  <a:pt x="135473" y="30486"/>
                  <a:pt x="135473" y="67832"/>
                </a:cubicBezTo>
                <a:cubicBezTo>
                  <a:pt x="135473" y="105178"/>
                  <a:pt x="104987" y="135474"/>
                  <a:pt x="67641" y="135474"/>
                </a:cubicBezTo>
                <a:cubicBezTo>
                  <a:pt x="30296" y="135474"/>
                  <a:pt x="0" y="104987"/>
                  <a:pt x="0" y="67832"/>
                </a:cubicBezTo>
              </a:path>
            </a:pathLst>
          </a:custGeom>
          <a:solidFill>
            <a:srgbClr val="29B6A4"/>
          </a:solidFill>
          <a:ln w="13526" cap="rnd">
            <a:solidFill>
              <a:srgbClr val="29B6A4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5D82DB4-31E7-3348-5E41-95DD9338E51B}"/>
              </a:ext>
            </a:extLst>
          </p:cNvPr>
          <p:cNvSpPr txBox="1"/>
          <p:nvPr/>
        </p:nvSpPr>
        <p:spPr>
          <a:xfrm>
            <a:off x="7729735" y="1697844"/>
            <a:ext cx="907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/>
                <a:solidFill>
                  <a:srgbClr val="FAA523"/>
                </a:solidFill>
                <a:effectLst/>
                <a:uLnTx/>
                <a:uFillTx/>
                <a:latin typeface="Lucida Sans"/>
                <a:ea typeface="+mn-ea"/>
                <a:cs typeface="+mn-cs"/>
                <a:sym typeface="Lucida Sans"/>
                <a:rtl val="0"/>
              </a:rPr>
              <a:t>$31.4K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7728059-24FC-B967-B8BB-1C3AB2A2CC80}"/>
              </a:ext>
            </a:extLst>
          </p:cNvPr>
          <p:cNvSpPr txBox="1"/>
          <p:nvPr/>
        </p:nvSpPr>
        <p:spPr>
          <a:xfrm>
            <a:off x="6615333" y="1697844"/>
            <a:ext cx="907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/>
                <a:solidFill>
                  <a:srgbClr val="29B6A4"/>
                </a:solidFill>
                <a:effectLst/>
                <a:uLnTx/>
                <a:uFillTx/>
                <a:latin typeface="Lucida Sans"/>
                <a:ea typeface="+mn-ea"/>
                <a:cs typeface="+mn-cs"/>
                <a:sym typeface="Lucida Sans"/>
                <a:rtl val="0"/>
              </a:rPr>
              <a:t>$29.8K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9339A81-5F93-AD1E-6955-92F8DC6A4C38}"/>
              </a:ext>
            </a:extLst>
          </p:cNvPr>
          <p:cNvCxnSpPr>
            <a:cxnSpLocks/>
            <a:stCxn id="48" idx="0"/>
            <a:endCxn id="55" idx="2"/>
          </p:cNvCxnSpPr>
          <p:nvPr/>
        </p:nvCxnSpPr>
        <p:spPr>
          <a:xfrm flipH="1">
            <a:off x="7386539" y="2068316"/>
            <a:ext cx="44429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D1A3192-D83A-8F62-1659-F729D8AD3755}"/>
              </a:ext>
            </a:extLst>
          </p:cNvPr>
          <p:cNvSpPr/>
          <p:nvPr/>
        </p:nvSpPr>
        <p:spPr>
          <a:xfrm>
            <a:off x="2048865" y="4556255"/>
            <a:ext cx="7782968" cy="19053"/>
          </a:xfrm>
          <a:custGeom>
            <a:avLst/>
            <a:gdLst>
              <a:gd name="connsiteX0" fmla="*/ 0 w 7782968"/>
              <a:gd name="connsiteY0" fmla="*/ 0 h 19053"/>
              <a:gd name="connsiteX1" fmla="*/ 7782969 w 7782968"/>
              <a:gd name="connsiteY1" fmla="*/ 0 h 19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782968" h="19053">
                <a:moveTo>
                  <a:pt x="0" y="0"/>
                </a:moveTo>
                <a:lnTo>
                  <a:pt x="7782969" y="0"/>
                </a:lnTo>
              </a:path>
            </a:pathLst>
          </a:custGeom>
          <a:ln w="20384" cap="flat">
            <a:solidFill>
              <a:srgbClr val="EBEBEB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06EAD990-0212-602C-30F5-1B786936B9BD}"/>
              </a:ext>
            </a:extLst>
          </p:cNvPr>
          <p:cNvSpPr/>
          <p:nvPr/>
        </p:nvSpPr>
        <p:spPr>
          <a:xfrm>
            <a:off x="7893794" y="4488613"/>
            <a:ext cx="135473" cy="135473"/>
          </a:xfrm>
          <a:custGeom>
            <a:avLst/>
            <a:gdLst>
              <a:gd name="connsiteX0" fmla="*/ 0 w 135473"/>
              <a:gd name="connsiteY0" fmla="*/ 67642 h 135473"/>
              <a:gd name="connsiteX1" fmla="*/ 67641 w 135473"/>
              <a:gd name="connsiteY1" fmla="*/ 0 h 135473"/>
              <a:gd name="connsiteX2" fmla="*/ 135474 w 135473"/>
              <a:gd name="connsiteY2" fmla="*/ 67642 h 135473"/>
              <a:gd name="connsiteX3" fmla="*/ 67641 w 135473"/>
              <a:gd name="connsiteY3" fmla="*/ 135474 h 135473"/>
              <a:gd name="connsiteX4" fmla="*/ 0 w 135473"/>
              <a:gd name="connsiteY4" fmla="*/ 67642 h 135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473" h="135473">
                <a:moveTo>
                  <a:pt x="0" y="67642"/>
                </a:moveTo>
                <a:cubicBezTo>
                  <a:pt x="0" y="30486"/>
                  <a:pt x="30486" y="0"/>
                  <a:pt x="67641" y="0"/>
                </a:cubicBezTo>
                <a:cubicBezTo>
                  <a:pt x="104797" y="0"/>
                  <a:pt x="135474" y="30486"/>
                  <a:pt x="135474" y="67642"/>
                </a:cubicBezTo>
                <a:cubicBezTo>
                  <a:pt x="135474" y="104797"/>
                  <a:pt x="104987" y="135474"/>
                  <a:pt x="67641" y="135474"/>
                </a:cubicBezTo>
                <a:cubicBezTo>
                  <a:pt x="30296" y="135474"/>
                  <a:pt x="0" y="104987"/>
                  <a:pt x="0" y="67642"/>
                </a:cubicBezTo>
              </a:path>
            </a:pathLst>
          </a:custGeom>
          <a:solidFill>
            <a:srgbClr val="FAA523"/>
          </a:solidFill>
          <a:ln w="13526" cap="rnd">
            <a:solidFill>
              <a:srgbClr val="FAA523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E8474B9D-898E-39D6-2485-4DA8D0CDCCAC}"/>
              </a:ext>
            </a:extLst>
          </p:cNvPr>
          <p:cNvSpPr/>
          <p:nvPr/>
        </p:nvSpPr>
        <p:spPr>
          <a:xfrm>
            <a:off x="9066709" y="4488613"/>
            <a:ext cx="135473" cy="135473"/>
          </a:xfrm>
          <a:custGeom>
            <a:avLst/>
            <a:gdLst>
              <a:gd name="connsiteX0" fmla="*/ 0 w 135473"/>
              <a:gd name="connsiteY0" fmla="*/ 67642 h 135473"/>
              <a:gd name="connsiteX1" fmla="*/ 67832 w 135473"/>
              <a:gd name="connsiteY1" fmla="*/ 0 h 135473"/>
              <a:gd name="connsiteX2" fmla="*/ 135474 w 135473"/>
              <a:gd name="connsiteY2" fmla="*/ 67642 h 135473"/>
              <a:gd name="connsiteX3" fmla="*/ 67832 w 135473"/>
              <a:gd name="connsiteY3" fmla="*/ 135474 h 135473"/>
              <a:gd name="connsiteX4" fmla="*/ 0 w 135473"/>
              <a:gd name="connsiteY4" fmla="*/ 67642 h 135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473" h="135473">
                <a:moveTo>
                  <a:pt x="0" y="67642"/>
                </a:moveTo>
                <a:cubicBezTo>
                  <a:pt x="0" y="30486"/>
                  <a:pt x="30486" y="0"/>
                  <a:pt x="67832" y="0"/>
                </a:cubicBezTo>
                <a:cubicBezTo>
                  <a:pt x="105178" y="0"/>
                  <a:pt x="135474" y="30486"/>
                  <a:pt x="135474" y="67642"/>
                </a:cubicBezTo>
                <a:cubicBezTo>
                  <a:pt x="135474" y="104797"/>
                  <a:pt x="104987" y="135474"/>
                  <a:pt x="67832" y="135474"/>
                </a:cubicBezTo>
                <a:cubicBezTo>
                  <a:pt x="30677" y="135474"/>
                  <a:pt x="0" y="104987"/>
                  <a:pt x="0" y="67642"/>
                </a:cubicBezTo>
              </a:path>
            </a:pathLst>
          </a:custGeom>
          <a:solidFill>
            <a:srgbClr val="29B6A4"/>
          </a:solidFill>
          <a:ln w="13526" cap="rnd">
            <a:solidFill>
              <a:srgbClr val="29B6A4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7A63D62-A245-9E02-68FD-DA7414EA7102}"/>
              </a:ext>
            </a:extLst>
          </p:cNvPr>
          <p:cNvSpPr txBox="1"/>
          <p:nvPr/>
        </p:nvSpPr>
        <p:spPr>
          <a:xfrm>
            <a:off x="1349492" y="4373443"/>
            <a:ext cx="772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Lucida Sans"/>
                <a:ea typeface="+mn-ea"/>
                <a:cs typeface="+mn-cs"/>
                <a:sym typeface="Lucida Sans"/>
                <a:rtl val="0"/>
              </a:rPr>
              <a:t>Asian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C9A25CE-DA12-EDA3-D3DB-2742490F1E7D}"/>
              </a:ext>
            </a:extLst>
          </p:cNvPr>
          <p:cNvSpPr txBox="1"/>
          <p:nvPr/>
        </p:nvSpPr>
        <p:spPr>
          <a:xfrm>
            <a:off x="7310467" y="4183880"/>
            <a:ext cx="907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/>
                <a:solidFill>
                  <a:srgbClr val="FAA523"/>
                </a:solidFill>
                <a:effectLst/>
                <a:uLnTx/>
                <a:uFillTx/>
                <a:latin typeface="Lucida Sans"/>
                <a:ea typeface="+mn-ea"/>
                <a:cs typeface="+mn-cs"/>
                <a:sym typeface="Lucida Sans"/>
                <a:rtl val="0"/>
              </a:rPr>
              <a:t>$31.3K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EC90C71-A386-680D-0485-AB38EB3C9AF1}"/>
              </a:ext>
            </a:extLst>
          </p:cNvPr>
          <p:cNvSpPr txBox="1"/>
          <p:nvPr/>
        </p:nvSpPr>
        <p:spPr>
          <a:xfrm>
            <a:off x="9075447" y="4183880"/>
            <a:ext cx="907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/>
                <a:solidFill>
                  <a:srgbClr val="29B6A4"/>
                </a:solidFill>
                <a:effectLst/>
                <a:uLnTx/>
                <a:uFillTx/>
                <a:latin typeface="Lucida Sans"/>
                <a:ea typeface="+mn-ea"/>
                <a:cs typeface="+mn-cs"/>
                <a:sym typeface="Lucida Sans"/>
                <a:rtl val="0"/>
              </a:rPr>
              <a:t>$35.0K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8615651-E17E-4AB4-DB23-676EBE52780F}"/>
              </a:ext>
            </a:extLst>
          </p:cNvPr>
          <p:cNvCxnSpPr>
            <a:cxnSpLocks/>
            <a:stCxn id="49" idx="2"/>
            <a:endCxn id="56" idx="0"/>
          </p:cNvCxnSpPr>
          <p:nvPr/>
        </p:nvCxnSpPr>
        <p:spPr>
          <a:xfrm>
            <a:off x="8029268" y="4556255"/>
            <a:ext cx="103744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370300C-5CC1-AC5C-6293-38E8BBBEFD02}"/>
              </a:ext>
            </a:extLst>
          </p:cNvPr>
          <p:cNvSpPr/>
          <p:nvPr/>
        </p:nvSpPr>
        <p:spPr>
          <a:xfrm>
            <a:off x="2048865" y="6168426"/>
            <a:ext cx="7782968" cy="19053"/>
          </a:xfrm>
          <a:custGeom>
            <a:avLst/>
            <a:gdLst>
              <a:gd name="connsiteX0" fmla="*/ 0 w 7782968"/>
              <a:gd name="connsiteY0" fmla="*/ 0 h 19053"/>
              <a:gd name="connsiteX1" fmla="*/ 7782969 w 7782968"/>
              <a:gd name="connsiteY1" fmla="*/ 0 h 19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782968" h="19053">
                <a:moveTo>
                  <a:pt x="0" y="0"/>
                </a:moveTo>
                <a:lnTo>
                  <a:pt x="7782969" y="0"/>
                </a:lnTo>
              </a:path>
            </a:pathLst>
          </a:custGeom>
          <a:ln w="20384" cap="flat">
            <a:solidFill>
              <a:srgbClr val="EBEBEB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7AC1C2-8E41-EB4E-1561-5AB339123498}"/>
              </a:ext>
            </a:extLst>
          </p:cNvPr>
          <p:cNvSpPr txBox="1"/>
          <p:nvPr/>
        </p:nvSpPr>
        <p:spPr>
          <a:xfrm>
            <a:off x="1674903" y="5997528"/>
            <a:ext cx="4700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Lucida Sans"/>
                <a:ea typeface="+mn-ea"/>
                <a:cs typeface="+mn-cs"/>
                <a:sym typeface="Lucida Sans"/>
                <a:rtl val="0"/>
              </a:rPr>
              <a:t>All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470682A3-FEFB-5039-33D8-332E61A67608}"/>
              </a:ext>
            </a:extLst>
          </p:cNvPr>
          <p:cNvSpPr/>
          <p:nvPr/>
        </p:nvSpPr>
        <p:spPr>
          <a:xfrm>
            <a:off x="6479860" y="6100594"/>
            <a:ext cx="135473" cy="135473"/>
          </a:xfrm>
          <a:custGeom>
            <a:avLst/>
            <a:gdLst>
              <a:gd name="connsiteX0" fmla="*/ 0 w 135473"/>
              <a:gd name="connsiteY0" fmla="*/ 67832 h 135473"/>
              <a:gd name="connsiteX1" fmla="*/ 67832 w 135473"/>
              <a:gd name="connsiteY1" fmla="*/ 0 h 135473"/>
              <a:gd name="connsiteX2" fmla="*/ 135474 w 135473"/>
              <a:gd name="connsiteY2" fmla="*/ 67832 h 135473"/>
              <a:gd name="connsiteX3" fmla="*/ 67832 w 135473"/>
              <a:gd name="connsiteY3" fmla="*/ 135474 h 135473"/>
              <a:gd name="connsiteX4" fmla="*/ 0 w 135473"/>
              <a:gd name="connsiteY4" fmla="*/ 67832 h 135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473" h="135473">
                <a:moveTo>
                  <a:pt x="0" y="67832"/>
                </a:moveTo>
                <a:cubicBezTo>
                  <a:pt x="0" y="30486"/>
                  <a:pt x="30486" y="0"/>
                  <a:pt x="67832" y="0"/>
                </a:cubicBezTo>
                <a:cubicBezTo>
                  <a:pt x="105178" y="0"/>
                  <a:pt x="135474" y="30486"/>
                  <a:pt x="135474" y="67832"/>
                </a:cubicBezTo>
                <a:cubicBezTo>
                  <a:pt x="135474" y="105178"/>
                  <a:pt x="104987" y="135474"/>
                  <a:pt x="67832" y="135474"/>
                </a:cubicBezTo>
                <a:cubicBezTo>
                  <a:pt x="30677" y="135474"/>
                  <a:pt x="0" y="104987"/>
                  <a:pt x="0" y="67832"/>
                </a:cubicBezTo>
              </a:path>
            </a:pathLst>
          </a:custGeom>
          <a:solidFill>
            <a:srgbClr val="29B6A4"/>
          </a:solidFill>
          <a:ln w="13526" cap="rnd">
            <a:solidFill>
              <a:srgbClr val="29B6A4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9F7BF2F0-656E-4356-38F5-C21CD60BC1CE}"/>
              </a:ext>
            </a:extLst>
          </p:cNvPr>
          <p:cNvSpPr/>
          <p:nvPr/>
        </p:nvSpPr>
        <p:spPr>
          <a:xfrm>
            <a:off x="6014154" y="6100594"/>
            <a:ext cx="135473" cy="135473"/>
          </a:xfrm>
          <a:custGeom>
            <a:avLst/>
            <a:gdLst>
              <a:gd name="connsiteX0" fmla="*/ 0 w 135473"/>
              <a:gd name="connsiteY0" fmla="*/ 67832 h 135473"/>
              <a:gd name="connsiteX1" fmla="*/ 67832 w 135473"/>
              <a:gd name="connsiteY1" fmla="*/ 0 h 135473"/>
              <a:gd name="connsiteX2" fmla="*/ 135474 w 135473"/>
              <a:gd name="connsiteY2" fmla="*/ 67832 h 135473"/>
              <a:gd name="connsiteX3" fmla="*/ 67832 w 135473"/>
              <a:gd name="connsiteY3" fmla="*/ 135474 h 135473"/>
              <a:gd name="connsiteX4" fmla="*/ 0 w 135473"/>
              <a:gd name="connsiteY4" fmla="*/ 67832 h 135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473" h="135473">
                <a:moveTo>
                  <a:pt x="0" y="67832"/>
                </a:moveTo>
                <a:cubicBezTo>
                  <a:pt x="0" y="30486"/>
                  <a:pt x="30486" y="0"/>
                  <a:pt x="67832" y="0"/>
                </a:cubicBezTo>
                <a:cubicBezTo>
                  <a:pt x="105178" y="0"/>
                  <a:pt x="135474" y="30486"/>
                  <a:pt x="135474" y="67832"/>
                </a:cubicBezTo>
                <a:cubicBezTo>
                  <a:pt x="135474" y="105178"/>
                  <a:pt x="104987" y="135474"/>
                  <a:pt x="67832" y="135474"/>
                </a:cubicBezTo>
                <a:cubicBezTo>
                  <a:pt x="30677" y="135474"/>
                  <a:pt x="0" y="104987"/>
                  <a:pt x="0" y="67832"/>
                </a:cubicBezTo>
              </a:path>
            </a:pathLst>
          </a:custGeom>
          <a:solidFill>
            <a:srgbClr val="FAA523"/>
          </a:solidFill>
          <a:ln w="13526" cap="rnd">
            <a:solidFill>
              <a:srgbClr val="FAA523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CDA1781-218D-2A51-5F6A-3AE529470E33}"/>
              </a:ext>
            </a:extLst>
          </p:cNvPr>
          <p:cNvSpPr txBox="1"/>
          <p:nvPr/>
        </p:nvSpPr>
        <p:spPr>
          <a:xfrm>
            <a:off x="6349612" y="5795956"/>
            <a:ext cx="907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/>
                <a:solidFill>
                  <a:srgbClr val="29B6A4"/>
                </a:solidFill>
                <a:effectLst/>
                <a:uLnTx/>
                <a:uFillTx/>
                <a:latin typeface="Lucida Sans"/>
                <a:ea typeface="+mn-ea"/>
                <a:cs typeface="+mn-cs"/>
                <a:sym typeface="Lucida Sans"/>
                <a:rtl val="0"/>
              </a:rPr>
              <a:t>$</a:t>
            </a:r>
            <a:r>
              <a:rPr lang="en-US" sz="1600" b="1" dirty="0">
                <a:ln/>
                <a:solidFill>
                  <a:srgbClr val="29B6A4"/>
                </a:solidFill>
                <a:latin typeface="Lucida Sans"/>
                <a:sym typeface="Lucida Sans"/>
                <a:rtl val="0"/>
              </a:rPr>
              <a:t>26.3</a:t>
            </a:r>
            <a:r>
              <a:rPr kumimoji="0" lang="en-US" sz="1600" b="1" i="0" u="none" strike="noStrike" kern="1200" cap="none" spc="0" normalizeH="0" baseline="0" noProof="0" dirty="0">
                <a:ln/>
                <a:solidFill>
                  <a:srgbClr val="29B6A4"/>
                </a:solidFill>
                <a:effectLst/>
                <a:uLnTx/>
                <a:uFillTx/>
                <a:latin typeface="Lucida Sans"/>
                <a:ea typeface="+mn-ea"/>
                <a:cs typeface="+mn-cs"/>
                <a:sym typeface="Lucida Sans"/>
                <a:rtl val="0"/>
              </a:rPr>
              <a:t>K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C5B2E6F-C0FC-8494-AE24-CAE6CFBB2E6E}"/>
              </a:ext>
            </a:extLst>
          </p:cNvPr>
          <p:cNvSpPr txBox="1"/>
          <p:nvPr/>
        </p:nvSpPr>
        <p:spPr>
          <a:xfrm>
            <a:off x="5184807" y="5795956"/>
            <a:ext cx="907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/>
                <a:solidFill>
                  <a:srgbClr val="FAA523"/>
                </a:solidFill>
                <a:effectLst/>
                <a:uLnTx/>
                <a:uFillTx/>
                <a:latin typeface="Lucida Sans"/>
                <a:ea typeface="+mn-ea"/>
                <a:cs typeface="+mn-cs"/>
                <a:sym typeface="Lucida Sans"/>
                <a:rtl val="0"/>
              </a:rPr>
              <a:t>$</a:t>
            </a:r>
            <a:r>
              <a:rPr lang="en-US" sz="1600" b="1" dirty="0">
                <a:ln/>
                <a:solidFill>
                  <a:srgbClr val="FAA523"/>
                </a:solidFill>
                <a:latin typeface="Lucida Sans"/>
                <a:sym typeface="Lucida Sans"/>
                <a:rtl val="0"/>
              </a:rPr>
              <a:t>25.7</a:t>
            </a:r>
            <a:r>
              <a:rPr kumimoji="0" lang="en-US" sz="1600" b="1" i="0" u="none" strike="noStrike" kern="1200" cap="none" spc="0" normalizeH="0" baseline="0" noProof="0" dirty="0">
                <a:ln/>
                <a:solidFill>
                  <a:srgbClr val="FAA523"/>
                </a:solidFill>
                <a:effectLst/>
                <a:uLnTx/>
                <a:uFillTx/>
                <a:latin typeface="Lucida Sans"/>
                <a:ea typeface="+mn-ea"/>
                <a:cs typeface="+mn-cs"/>
                <a:sym typeface="Lucida Sans"/>
                <a:rtl val="0"/>
              </a:rPr>
              <a:t>K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0543EC5-FCA8-93A9-8C03-78EED4429406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6149627" y="6168426"/>
            <a:ext cx="33023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3C65207-97CF-5599-ABBE-CA7D8DB4FE4E}"/>
              </a:ext>
            </a:extLst>
          </p:cNvPr>
          <p:cNvCxnSpPr>
            <a:cxnSpLocks/>
          </p:cNvCxnSpPr>
          <p:nvPr/>
        </p:nvCxnSpPr>
        <p:spPr>
          <a:xfrm>
            <a:off x="620980" y="6483107"/>
            <a:ext cx="109536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F4B69A3D-9D95-B90B-1DB8-AA418DC13AAB}"/>
              </a:ext>
            </a:extLst>
          </p:cNvPr>
          <p:cNvSpPr txBox="1"/>
          <p:nvPr/>
        </p:nvSpPr>
        <p:spPr>
          <a:xfrm>
            <a:off x="568592" y="6483107"/>
            <a:ext cx="8839200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Opportunity Atlas,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Opportunity Insights and the US Census Bureau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663C7D9-9BB8-0802-8A94-C38CD5A6A6D2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4237310" y="3737492"/>
            <a:ext cx="8204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01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9FB03-3ABA-F873-1AF0-D58B5A5A4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94">
            <a:extLst>
              <a:ext uri="{FF2B5EF4-FFF2-40B4-BE49-F238E27FC236}">
                <a16:creationId xmlns:a16="http://schemas.microsoft.com/office/drawing/2014/main" id="{68216FE9-C9DE-2529-EA76-DFBF01E8B84C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 bwMode="auto">
          <a:xfrm>
            <a:off x="1524057" y="277836"/>
            <a:ext cx="9144001" cy="665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52" tIns="45718" rIns="91152" bIns="4571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3" name="Rectangle 183">
            <a:extLst>
              <a:ext uri="{FF2B5EF4-FFF2-40B4-BE49-F238E27FC236}">
                <a16:creationId xmlns:a16="http://schemas.microsoft.com/office/drawing/2014/main" id="{BCC7107F-5732-BD59-F4D4-702193BDE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351" y="598576"/>
            <a:ext cx="10099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endParaRPr kumimoji="0" lang="en-US" alt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32C9878-D8D4-FC7B-FE54-50C5B7CC0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42" y="375323"/>
            <a:ext cx="11221341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Changes in Economic Mobility vs. Changes in Parent Employment Rates</a:t>
            </a: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By County, Race, and Class</a:t>
            </a:r>
          </a:p>
        </p:txBody>
      </p:sp>
      <p:pic>
        <p:nvPicPr>
          <p:cNvPr id="8" name="Picture 7" descr="A black and grey text&#10;&#10;Description automatically generated">
            <a:extLst>
              <a:ext uri="{FF2B5EF4-FFF2-40B4-BE49-F238E27FC236}">
                <a16:creationId xmlns:a16="http://schemas.microsoft.com/office/drawing/2014/main" id="{39B8E7E8-AFC6-D5AF-55F7-5D85BB9498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93" name="AutoShape 112">
            <a:extLst>
              <a:ext uri="{FF2B5EF4-FFF2-40B4-BE49-F238E27FC236}">
                <a16:creationId xmlns:a16="http://schemas.microsoft.com/office/drawing/2014/main" id="{7CA60E8A-517D-9F82-E880-534B920DCABA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737568" y="827532"/>
            <a:ext cx="8627719" cy="5392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4441E0D-7C90-962C-A153-C51063339CB7}"/>
              </a:ext>
            </a:extLst>
          </p:cNvPr>
          <p:cNvGrpSpPr/>
          <p:nvPr/>
        </p:nvGrpSpPr>
        <p:grpSpPr>
          <a:xfrm>
            <a:off x="876513" y="1513216"/>
            <a:ext cx="10858152" cy="4588125"/>
            <a:chOff x="876513" y="1513216"/>
            <a:chExt cx="10858152" cy="4588125"/>
          </a:xfrm>
        </p:grpSpPr>
        <p:sp>
          <p:nvSpPr>
            <p:cNvPr id="6" name="Line 119">
              <a:extLst>
                <a:ext uri="{FF2B5EF4-FFF2-40B4-BE49-F238E27FC236}">
                  <a16:creationId xmlns:a16="http://schemas.microsoft.com/office/drawing/2014/main" id="{F7A84293-6DA4-4D72-A1E8-9F732C77C67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683097" y="5289350"/>
              <a:ext cx="108817" cy="108817"/>
            </a:xfrm>
            <a:prstGeom prst="line">
              <a:avLst/>
            </a:prstGeom>
            <a:noFill/>
            <a:ln w="3175">
              <a:noFill/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+mn-cs"/>
              </a:endParaRPr>
            </a:p>
          </p:txBody>
        </p:sp>
        <p:sp>
          <p:nvSpPr>
            <p:cNvPr id="7" name="Line 120">
              <a:extLst>
                <a:ext uri="{FF2B5EF4-FFF2-40B4-BE49-F238E27FC236}">
                  <a16:creationId xmlns:a16="http://schemas.microsoft.com/office/drawing/2014/main" id="{954D960A-623E-F59A-C6BB-923015116B0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683097" y="5124377"/>
              <a:ext cx="108817" cy="108817"/>
            </a:xfrm>
            <a:prstGeom prst="line">
              <a:avLst/>
            </a:prstGeom>
            <a:noFill/>
            <a:ln w="3175">
              <a:noFill/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+mn-cs"/>
              </a:endParaRPr>
            </a:p>
          </p:txBody>
        </p:sp>
        <p:sp>
          <p:nvSpPr>
            <p:cNvPr id="90" name="Rectangle 214">
              <a:extLst>
                <a:ext uri="{FF2B5EF4-FFF2-40B4-BE49-F238E27FC236}">
                  <a16:creationId xmlns:a16="http://schemas.microsoft.com/office/drawing/2014/main" id="{8F348B51-900F-ECC7-4C2F-F63458F75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6076" y="4890878"/>
              <a:ext cx="108817" cy="108817"/>
            </a:xfrm>
            <a:prstGeom prst="rect">
              <a:avLst/>
            </a:prstGeom>
            <a:solidFill>
              <a:srgbClr val="FFFFFF"/>
            </a:solidFill>
            <a:ln w="1428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+mn-cs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102AEB51-C734-8DFC-A8EA-0FAE72190317}"/>
                </a:ext>
              </a:extLst>
            </p:cNvPr>
            <p:cNvSpPr>
              <a:spLocks/>
            </p:cNvSpPr>
            <p:nvPr/>
          </p:nvSpPr>
          <p:spPr>
            <a:xfrm>
              <a:off x="1596305" y="1521020"/>
              <a:ext cx="1965" cy="4208839"/>
            </a:xfrm>
            <a:custGeom>
              <a:avLst/>
              <a:gdLst>
                <a:gd name="connsiteX0" fmla="*/ 0 w 1905"/>
                <a:gd name="connsiteY0" fmla="*/ 4493680 h 4493680"/>
                <a:gd name="connsiteX1" fmla="*/ 0 w 1905"/>
                <a:gd name="connsiteY1" fmla="*/ 0 h 449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" h="4493680">
                  <a:moveTo>
                    <a:pt x="0" y="4493680"/>
                  </a:moveTo>
                  <a:lnTo>
                    <a:pt x="0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FCB24DB-6375-4298-04C2-B7CE845AE8FA}"/>
                </a:ext>
              </a:extLst>
            </p:cNvPr>
            <p:cNvSpPr>
              <a:spLocks/>
            </p:cNvSpPr>
            <p:nvPr/>
          </p:nvSpPr>
          <p:spPr>
            <a:xfrm>
              <a:off x="1596305" y="5729860"/>
              <a:ext cx="10138360" cy="1784"/>
            </a:xfrm>
            <a:custGeom>
              <a:avLst/>
              <a:gdLst>
                <a:gd name="connsiteX0" fmla="*/ 0 w 9827246"/>
                <a:gd name="connsiteY0" fmla="*/ 0 h 1905"/>
                <a:gd name="connsiteX1" fmla="*/ 9827247 w 9827246"/>
                <a:gd name="connsiteY1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827246" h="1905">
                  <a:moveTo>
                    <a:pt x="0" y="0"/>
                  </a:moveTo>
                  <a:lnTo>
                    <a:pt x="9827247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768677A3-4FC3-C710-2460-017C06B321E3}"/>
                </a:ext>
              </a:extLst>
            </p:cNvPr>
            <p:cNvSpPr>
              <a:spLocks/>
            </p:cNvSpPr>
            <p:nvPr/>
          </p:nvSpPr>
          <p:spPr>
            <a:xfrm>
              <a:off x="1690985" y="5361472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2 w 116603"/>
                <a:gd name="connsiteY1" fmla="*/ 116604 h 116603"/>
                <a:gd name="connsiteX2" fmla="*/ 0 w 116603"/>
                <a:gd name="connsiteY2" fmla="*/ 58302 h 116603"/>
                <a:gd name="connsiteX3" fmla="*/ 58302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1" y="116604"/>
                    <a:pt x="58302" y="116604"/>
                  </a:cubicBezTo>
                  <a:cubicBezTo>
                    <a:pt x="26103" y="116604"/>
                    <a:pt x="0" y="90501"/>
                    <a:pt x="0" y="58302"/>
                  </a:cubicBezTo>
                  <a:cubicBezTo>
                    <a:pt x="0" y="26103"/>
                    <a:pt x="26103" y="0"/>
                    <a:pt x="58302" y="0"/>
                  </a:cubicBezTo>
                  <a:cubicBezTo>
                    <a:pt x="90501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0807E08-6597-29CB-B6D6-F3603CBE71E3}"/>
                </a:ext>
              </a:extLst>
            </p:cNvPr>
            <p:cNvSpPr>
              <a:spLocks/>
            </p:cNvSpPr>
            <p:nvPr/>
          </p:nvSpPr>
          <p:spPr>
            <a:xfrm>
              <a:off x="2426944" y="5153092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2 w 116603"/>
                <a:gd name="connsiteY1" fmla="*/ 116604 h 116603"/>
                <a:gd name="connsiteX2" fmla="*/ 0 w 116603"/>
                <a:gd name="connsiteY2" fmla="*/ 58302 h 116603"/>
                <a:gd name="connsiteX3" fmla="*/ 58302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1" y="116604"/>
                    <a:pt x="58302" y="116604"/>
                  </a:cubicBezTo>
                  <a:cubicBezTo>
                    <a:pt x="26103" y="116604"/>
                    <a:pt x="0" y="90501"/>
                    <a:pt x="0" y="58302"/>
                  </a:cubicBezTo>
                  <a:cubicBezTo>
                    <a:pt x="0" y="26103"/>
                    <a:pt x="26103" y="0"/>
                    <a:pt x="58302" y="0"/>
                  </a:cubicBezTo>
                  <a:cubicBezTo>
                    <a:pt x="90501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6B5BE81-9E37-B66E-1C42-B19413821824}"/>
                </a:ext>
              </a:extLst>
            </p:cNvPr>
            <p:cNvSpPr>
              <a:spLocks/>
            </p:cNvSpPr>
            <p:nvPr/>
          </p:nvSpPr>
          <p:spPr>
            <a:xfrm>
              <a:off x="2753687" y="5167749"/>
              <a:ext cx="108817" cy="108817"/>
            </a:xfrm>
            <a:custGeom>
              <a:avLst/>
              <a:gdLst>
                <a:gd name="connsiteX0" fmla="*/ 116603 w 116603"/>
                <a:gd name="connsiteY0" fmla="*/ 58301 h 116603"/>
                <a:gd name="connsiteX1" fmla="*/ 58302 w 116603"/>
                <a:gd name="connsiteY1" fmla="*/ 116603 h 116603"/>
                <a:gd name="connsiteX2" fmla="*/ 0 w 116603"/>
                <a:gd name="connsiteY2" fmla="*/ 58301 h 116603"/>
                <a:gd name="connsiteX3" fmla="*/ 58302 w 116603"/>
                <a:gd name="connsiteY3" fmla="*/ 0 h 116603"/>
                <a:gd name="connsiteX4" fmla="*/ 116603 w 116603"/>
                <a:gd name="connsiteY4" fmla="*/ 58301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1"/>
                  </a:moveTo>
                  <a:cubicBezTo>
                    <a:pt x="116603" y="90500"/>
                    <a:pt x="90501" y="116603"/>
                    <a:pt x="58302" y="116603"/>
                  </a:cubicBezTo>
                  <a:cubicBezTo>
                    <a:pt x="26103" y="116603"/>
                    <a:pt x="0" y="90500"/>
                    <a:pt x="0" y="58301"/>
                  </a:cubicBezTo>
                  <a:cubicBezTo>
                    <a:pt x="0" y="26102"/>
                    <a:pt x="26103" y="0"/>
                    <a:pt x="58302" y="0"/>
                  </a:cubicBezTo>
                  <a:cubicBezTo>
                    <a:pt x="90501" y="0"/>
                    <a:pt x="116603" y="26102"/>
                    <a:pt x="116603" y="58301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F173750B-7D51-BB0A-5870-997C414858B5}"/>
                </a:ext>
              </a:extLst>
            </p:cNvPr>
            <p:cNvSpPr>
              <a:spLocks/>
            </p:cNvSpPr>
            <p:nvPr/>
          </p:nvSpPr>
          <p:spPr>
            <a:xfrm>
              <a:off x="2942150" y="5248043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2 w 116603"/>
                <a:gd name="connsiteY1" fmla="*/ 116603 h 116603"/>
                <a:gd name="connsiteX2" fmla="*/ 0 w 116603"/>
                <a:gd name="connsiteY2" fmla="*/ 58302 h 116603"/>
                <a:gd name="connsiteX3" fmla="*/ 58302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1" y="116603"/>
                    <a:pt x="58302" y="116603"/>
                  </a:cubicBezTo>
                  <a:cubicBezTo>
                    <a:pt x="26103" y="116603"/>
                    <a:pt x="0" y="90501"/>
                    <a:pt x="0" y="58302"/>
                  </a:cubicBezTo>
                  <a:cubicBezTo>
                    <a:pt x="0" y="26103"/>
                    <a:pt x="26103" y="0"/>
                    <a:pt x="58302" y="0"/>
                  </a:cubicBezTo>
                  <a:cubicBezTo>
                    <a:pt x="90501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BAB42522-6E98-F605-1522-B0E64BFEBE0D}"/>
                </a:ext>
              </a:extLst>
            </p:cNvPr>
            <p:cNvSpPr>
              <a:spLocks/>
            </p:cNvSpPr>
            <p:nvPr/>
          </p:nvSpPr>
          <p:spPr>
            <a:xfrm>
              <a:off x="3080428" y="5522060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2 w 116603"/>
                <a:gd name="connsiteY1" fmla="*/ 116603 h 116603"/>
                <a:gd name="connsiteX2" fmla="*/ 0 w 116603"/>
                <a:gd name="connsiteY2" fmla="*/ 58302 h 116603"/>
                <a:gd name="connsiteX3" fmla="*/ 58302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1" y="116603"/>
                    <a:pt x="58302" y="116603"/>
                  </a:cubicBezTo>
                  <a:cubicBezTo>
                    <a:pt x="26102" y="116603"/>
                    <a:pt x="0" y="90501"/>
                    <a:pt x="0" y="58302"/>
                  </a:cubicBezTo>
                  <a:cubicBezTo>
                    <a:pt x="0" y="26103"/>
                    <a:pt x="26102" y="0"/>
                    <a:pt x="58302" y="0"/>
                  </a:cubicBezTo>
                  <a:cubicBezTo>
                    <a:pt x="90501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156D29C6-ADB7-3437-4A13-669823F66A23}"/>
                </a:ext>
              </a:extLst>
            </p:cNvPr>
            <p:cNvSpPr>
              <a:spLocks/>
            </p:cNvSpPr>
            <p:nvPr/>
          </p:nvSpPr>
          <p:spPr>
            <a:xfrm>
              <a:off x="3186067" y="4978805"/>
              <a:ext cx="108817" cy="108817"/>
            </a:xfrm>
            <a:custGeom>
              <a:avLst/>
              <a:gdLst>
                <a:gd name="connsiteX0" fmla="*/ 116603 w 116603"/>
                <a:gd name="connsiteY0" fmla="*/ 58301 h 116603"/>
                <a:gd name="connsiteX1" fmla="*/ 58302 w 116603"/>
                <a:gd name="connsiteY1" fmla="*/ 116603 h 116603"/>
                <a:gd name="connsiteX2" fmla="*/ 0 w 116603"/>
                <a:gd name="connsiteY2" fmla="*/ 58301 h 116603"/>
                <a:gd name="connsiteX3" fmla="*/ 58302 w 116603"/>
                <a:gd name="connsiteY3" fmla="*/ 0 h 116603"/>
                <a:gd name="connsiteX4" fmla="*/ 116603 w 116603"/>
                <a:gd name="connsiteY4" fmla="*/ 58301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1"/>
                  </a:moveTo>
                  <a:cubicBezTo>
                    <a:pt x="116603" y="90500"/>
                    <a:pt x="90501" y="116603"/>
                    <a:pt x="58302" y="116603"/>
                  </a:cubicBezTo>
                  <a:cubicBezTo>
                    <a:pt x="26103" y="116603"/>
                    <a:pt x="0" y="90500"/>
                    <a:pt x="0" y="58301"/>
                  </a:cubicBezTo>
                  <a:cubicBezTo>
                    <a:pt x="0" y="26102"/>
                    <a:pt x="26103" y="0"/>
                    <a:pt x="58302" y="0"/>
                  </a:cubicBezTo>
                  <a:cubicBezTo>
                    <a:pt x="90501" y="0"/>
                    <a:pt x="116603" y="26102"/>
                    <a:pt x="116603" y="58301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6B968AF2-A059-9AEB-FC4D-5B7804EE1963}"/>
                </a:ext>
              </a:extLst>
            </p:cNvPr>
            <p:cNvSpPr>
              <a:spLocks/>
            </p:cNvSpPr>
            <p:nvPr/>
          </p:nvSpPr>
          <p:spPr>
            <a:xfrm>
              <a:off x="3362949" y="4680252"/>
              <a:ext cx="108817" cy="108817"/>
            </a:xfrm>
            <a:custGeom>
              <a:avLst/>
              <a:gdLst>
                <a:gd name="connsiteX0" fmla="*/ 85738 w 85737"/>
                <a:gd name="connsiteY0" fmla="*/ 42869 h 85737"/>
                <a:gd name="connsiteX1" fmla="*/ 42869 w 85737"/>
                <a:gd name="connsiteY1" fmla="*/ 85737 h 85737"/>
                <a:gd name="connsiteX2" fmla="*/ 0 w 85737"/>
                <a:gd name="connsiteY2" fmla="*/ 42869 h 85737"/>
                <a:gd name="connsiteX3" fmla="*/ 42869 w 85737"/>
                <a:gd name="connsiteY3" fmla="*/ 0 h 85737"/>
                <a:gd name="connsiteX4" fmla="*/ 85738 w 85737"/>
                <a:gd name="connsiteY4" fmla="*/ 42869 h 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37" h="85737">
                  <a:moveTo>
                    <a:pt x="85738" y="42869"/>
                  </a:moveTo>
                  <a:cubicBezTo>
                    <a:pt x="85738" y="66545"/>
                    <a:pt x="66545" y="85737"/>
                    <a:pt x="42869" y="85737"/>
                  </a:cubicBezTo>
                  <a:cubicBezTo>
                    <a:pt x="19193" y="85737"/>
                    <a:pt x="0" y="66545"/>
                    <a:pt x="0" y="42869"/>
                  </a:cubicBezTo>
                  <a:cubicBezTo>
                    <a:pt x="0" y="19193"/>
                    <a:pt x="19193" y="0"/>
                    <a:pt x="42869" y="0"/>
                  </a:cubicBezTo>
                  <a:cubicBezTo>
                    <a:pt x="66545" y="0"/>
                    <a:pt x="85738" y="19193"/>
                    <a:pt x="85738" y="42869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4A00C401-C7EF-2FC8-336C-6BA77E36A88F}"/>
                </a:ext>
              </a:extLst>
            </p:cNvPr>
            <p:cNvSpPr>
              <a:spLocks/>
            </p:cNvSpPr>
            <p:nvPr/>
          </p:nvSpPr>
          <p:spPr>
            <a:xfrm>
              <a:off x="3535622" y="4695547"/>
              <a:ext cx="108817" cy="108817"/>
            </a:xfrm>
            <a:custGeom>
              <a:avLst/>
              <a:gdLst>
                <a:gd name="connsiteX0" fmla="*/ 116603 w 116603"/>
                <a:gd name="connsiteY0" fmla="*/ 58301 h 116603"/>
                <a:gd name="connsiteX1" fmla="*/ 58302 w 116603"/>
                <a:gd name="connsiteY1" fmla="*/ 116603 h 116603"/>
                <a:gd name="connsiteX2" fmla="*/ 0 w 116603"/>
                <a:gd name="connsiteY2" fmla="*/ 58301 h 116603"/>
                <a:gd name="connsiteX3" fmla="*/ 58302 w 116603"/>
                <a:gd name="connsiteY3" fmla="*/ 0 h 116603"/>
                <a:gd name="connsiteX4" fmla="*/ 116603 w 116603"/>
                <a:gd name="connsiteY4" fmla="*/ 58301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1"/>
                  </a:moveTo>
                  <a:cubicBezTo>
                    <a:pt x="116603" y="90500"/>
                    <a:pt x="90501" y="116603"/>
                    <a:pt x="58302" y="116603"/>
                  </a:cubicBezTo>
                  <a:cubicBezTo>
                    <a:pt x="26103" y="116603"/>
                    <a:pt x="0" y="90500"/>
                    <a:pt x="0" y="58301"/>
                  </a:cubicBezTo>
                  <a:cubicBezTo>
                    <a:pt x="0" y="26102"/>
                    <a:pt x="26103" y="0"/>
                    <a:pt x="58302" y="0"/>
                  </a:cubicBezTo>
                  <a:cubicBezTo>
                    <a:pt x="90501" y="0"/>
                    <a:pt x="116603" y="26102"/>
                    <a:pt x="116603" y="58301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E9C2B13-237C-7B66-8C29-C6974A29F892}"/>
                </a:ext>
              </a:extLst>
            </p:cNvPr>
            <p:cNvSpPr>
              <a:spLocks/>
            </p:cNvSpPr>
            <p:nvPr/>
          </p:nvSpPr>
          <p:spPr>
            <a:xfrm>
              <a:off x="3646172" y="4665914"/>
              <a:ext cx="108817" cy="108817"/>
            </a:xfrm>
            <a:custGeom>
              <a:avLst/>
              <a:gdLst>
                <a:gd name="connsiteX0" fmla="*/ 116603 w 116603"/>
                <a:gd name="connsiteY0" fmla="*/ 58301 h 116603"/>
                <a:gd name="connsiteX1" fmla="*/ 58302 w 116603"/>
                <a:gd name="connsiteY1" fmla="*/ 116603 h 116603"/>
                <a:gd name="connsiteX2" fmla="*/ 0 w 116603"/>
                <a:gd name="connsiteY2" fmla="*/ 58301 h 116603"/>
                <a:gd name="connsiteX3" fmla="*/ 58302 w 116603"/>
                <a:gd name="connsiteY3" fmla="*/ 0 h 116603"/>
                <a:gd name="connsiteX4" fmla="*/ 116603 w 116603"/>
                <a:gd name="connsiteY4" fmla="*/ 58301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1"/>
                  </a:moveTo>
                  <a:cubicBezTo>
                    <a:pt x="116603" y="90500"/>
                    <a:pt x="90501" y="116603"/>
                    <a:pt x="58302" y="116603"/>
                  </a:cubicBezTo>
                  <a:cubicBezTo>
                    <a:pt x="26103" y="116603"/>
                    <a:pt x="0" y="90500"/>
                    <a:pt x="0" y="58301"/>
                  </a:cubicBezTo>
                  <a:cubicBezTo>
                    <a:pt x="0" y="26102"/>
                    <a:pt x="26103" y="0"/>
                    <a:pt x="58302" y="0"/>
                  </a:cubicBezTo>
                  <a:cubicBezTo>
                    <a:pt x="90501" y="0"/>
                    <a:pt x="116603" y="26102"/>
                    <a:pt x="116603" y="58301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EE473133-65F4-ED9C-9F23-A7362A978405}"/>
                </a:ext>
              </a:extLst>
            </p:cNvPr>
            <p:cNvSpPr>
              <a:spLocks/>
            </p:cNvSpPr>
            <p:nvPr/>
          </p:nvSpPr>
          <p:spPr>
            <a:xfrm>
              <a:off x="3761288" y="4447656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2 w 116603"/>
                <a:gd name="connsiteY1" fmla="*/ 116604 h 116603"/>
                <a:gd name="connsiteX2" fmla="*/ 0 w 116603"/>
                <a:gd name="connsiteY2" fmla="*/ 58302 h 116603"/>
                <a:gd name="connsiteX3" fmla="*/ 58302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1" y="116604"/>
                    <a:pt x="58302" y="116604"/>
                  </a:cubicBezTo>
                  <a:cubicBezTo>
                    <a:pt x="26103" y="116604"/>
                    <a:pt x="0" y="90501"/>
                    <a:pt x="0" y="58302"/>
                  </a:cubicBezTo>
                  <a:cubicBezTo>
                    <a:pt x="0" y="26103"/>
                    <a:pt x="26103" y="0"/>
                    <a:pt x="58302" y="0"/>
                  </a:cubicBezTo>
                  <a:cubicBezTo>
                    <a:pt x="90501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DF0E077E-550C-CC41-B4D7-88BFE8F71FDB}"/>
                </a:ext>
              </a:extLst>
            </p:cNvPr>
            <p:cNvSpPr>
              <a:spLocks/>
            </p:cNvSpPr>
            <p:nvPr/>
          </p:nvSpPr>
          <p:spPr>
            <a:xfrm>
              <a:off x="3876051" y="4488758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2 w 116603"/>
                <a:gd name="connsiteY1" fmla="*/ 116603 h 116603"/>
                <a:gd name="connsiteX2" fmla="*/ 0 w 116603"/>
                <a:gd name="connsiteY2" fmla="*/ 58302 h 116603"/>
                <a:gd name="connsiteX3" fmla="*/ 58302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1" y="116603"/>
                    <a:pt x="58302" y="116603"/>
                  </a:cubicBezTo>
                  <a:cubicBezTo>
                    <a:pt x="26103" y="116603"/>
                    <a:pt x="0" y="90501"/>
                    <a:pt x="0" y="58302"/>
                  </a:cubicBezTo>
                  <a:cubicBezTo>
                    <a:pt x="0" y="26103"/>
                    <a:pt x="26103" y="0"/>
                    <a:pt x="58302" y="0"/>
                  </a:cubicBezTo>
                  <a:cubicBezTo>
                    <a:pt x="90501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27DC68D0-1C69-EBCC-8F6C-500C2C499235}"/>
                </a:ext>
              </a:extLst>
            </p:cNvPr>
            <p:cNvSpPr>
              <a:spLocks/>
            </p:cNvSpPr>
            <p:nvPr/>
          </p:nvSpPr>
          <p:spPr>
            <a:xfrm>
              <a:off x="3982040" y="4670057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2 w 116603"/>
                <a:gd name="connsiteY1" fmla="*/ 116603 h 116603"/>
                <a:gd name="connsiteX2" fmla="*/ 0 w 116603"/>
                <a:gd name="connsiteY2" fmla="*/ 58302 h 116603"/>
                <a:gd name="connsiteX3" fmla="*/ 58302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1" y="116603"/>
                    <a:pt x="58302" y="116603"/>
                  </a:cubicBezTo>
                  <a:cubicBezTo>
                    <a:pt x="26103" y="116603"/>
                    <a:pt x="0" y="90501"/>
                    <a:pt x="0" y="58302"/>
                  </a:cubicBezTo>
                  <a:cubicBezTo>
                    <a:pt x="0" y="26102"/>
                    <a:pt x="26103" y="0"/>
                    <a:pt x="58302" y="0"/>
                  </a:cubicBezTo>
                  <a:cubicBezTo>
                    <a:pt x="90501" y="0"/>
                    <a:pt x="116603" y="26102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937C43B3-006D-CB9D-6CE1-359377065F91}"/>
                </a:ext>
              </a:extLst>
            </p:cNvPr>
            <p:cNvSpPr>
              <a:spLocks/>
            </p:cNvSpPr>
            <p:nvPr/>
          </p:nvSpPr>
          <p:spPr>
            <a:xfrm>
              <a:off x="4152255" y="4732826"/>
              <a:ext cx="108817" cy="108817"/>
            </a:xfrm>
            <a:custGeom>
              <a:avLst/>
              <a:gdLst>
                <a:gd name="connsiteX0" fmla="*/ 116603 w 116603"/>
                <a:gd name="connsiteY0" fmla="*/ 58301 h 116603"/>
                <a:gd name="connsiteX1" fmla="*/ 58302 w 116603"/>
                <a:gd name="connsiteY1" fmla="*/ 116603 h 116603"/>
                <a:gd name="connsiteX2" fmla="*/ 0 w 116603"/>
                <a:gd name="connsiteY2" fmla="*/ 58301 h 116603"/>
                <a:gd name="connsiteX3" fmla="*/ 58302 w 116603"/>
                <a:gd name="connsiteY3" fmla="*/ 0 h 116603"/>
                <a:gd name="connsiteX4" fmla="*/ 116603 w 116603"/>
                <a:gd name="connsiteY4" fmla="*/ 58301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1"/>
                  </a:moveTo>
                  <a:cubicBezTo>
                    <a:pt x="116603" y="90501"/>
                    <a:pt x="90501" y="116603"/>
                    <a:pt x="58302" y="116603"/>
                  </a:cubicBezTo>
                  <a:cubicBezTo>
                    <a:pt x="26103" y="116603"/>
                    <a:pt x="0" y="90501"/>
                    <a:pt x="0" y="58301"/>
                  </a:cubicBezTo>
                  <a:cubicBezTo>
                    <a:pt x="0" y="26102"/>
                    <a:pt x="26103" y="0"/>
                    <a:pt x="58302" y="0"/>
                  </a:cubicBezTo>
                  <a:cubicBezTo>
                    <a:pt x="90501" y="0"/>
                    <a:pt x="116603" y="26102"/>
                    <a:pt x="116603" y="58301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D5FB1B2-3105-B5D0-53AD-C43D81EE7AD8}"/>
                </a:ext>
              </a:extLst>
            </p:cNvPr>
            <p:cNvSpPr>
              <a:spLocks/>
            </p:cNvSpPr>
            <p:nvPr/>
          </p:nvSpPr>
          <p:spPr>
            <a:xfrm>
              <a:off x="4322469" y="4404960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2 w 116603"/>
                <a:gd name="connsiteY1" fmla="*/ 116603 h 116603"/>
                <a:gd name="connsiteX2" fmla="*/ 0 w 116603"/>
                <a:gd name="connsiteY2" fmla="*/ 58302 h 116603"/>
                <a:gd name="connsiteX3" fmla="*/ 58302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1" y="116603"/>
                    <a:pt x="58302" y="116603"/>
                  </a:cubicBezTo>
                  <a:cubicBezTo>
                    <a:pt x="26103" y="116603"/>
                    <a:pt x="0" y="90501"/>
                    <a:pt x="0" y="58302"/>
                  </a:cubicBezTo>
                  <a:cubicBezTo>
                    <a:pt x="0" y="26102"/>
                    <a:pt x="26103" y="0"/>
                    <a:pt x="58302" y="0"/>
                  </a:cubicBezTo>
                  <a:cubicBezTo>
                    <a:pt x="90501" y="0"/>
                    <a:pt x="116603" y="26102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9FA83CE-9ECF-0B39-4B92-264E11287A5C}"/>
                </a:ext>
              </a:extLst>
            </p:cNvPr>
            <p:cNvSpPr>
              <a:spLocks/>
            </p:cNvSpPr>
            <p:nvPr/>
          </p:nvSpPr>
          <p:spPr>
            <a:xfrm>
              <a:off x="4524620" y="4367045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1 w 116603"/>
                <a:gd name="connsiteY1" fmla="*/ 116603 h 116603"/>
                <a:gd name="connsiteX2" fmla="*/ 0 w 116603"/>
                <a:gd name="connsiteY2" fmla="*/ 58302 h 116603"/>
                <a:gd name="connsiteX3" fmla="*/ 58301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0" y="116603"/>
                    <a:pt x="58301" y="116603"/>
                  </a:cubicBezTo>
                  <a:cubicBezTo>
                    <a:pt x="26102" y="116603"/>
                    <a:pt x="0" y="90501"/>
                    <a:pt x="0" y="58302"/>
                  </a:cubicBezTo>
                  <a:cubicBezTo>
                    <a:pt x="0" y="26103"/>
                    <a:pt x="26102" y="0"/>
                    <a:pt x="58301" y="0"/>
                  </a:cubicBezTo>
                  <a:cubicBezTo>
                    <a:pt x="90501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0264CC-6695-B62D-70DF-62D3E4A6E3D1}"/>
                </a:ext>
              </a:extLst>
            </p:cNvPr>
            <p:cNvSpPr>
              <a:spLocks/>
            </p:cNvSpPr>
            <p:nvPr/>
          </p:nvSpPr>
          <p:spPr>
            <a:xfrm>
              <a:off x="4808898" y="4381064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1 w 116603"/>
                <a:gd name="connsiteY1" fmla="*/ 116603 h 116603"/>
                <a:gd name="connsiteX2" fmla="*/ 0 w 116603"/>
                <a:gd name="connsiteY2" fmla="*/ 58302 h 116603"/>
                <a:gd name="connsiteX3" fmla="*/ 58301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0" y="116603"/>
                    <a:pt x="58301" y="116603"/>
                  </a:cubicBezTo>
                  <a:cubicBezTo>
                    <a:pt x="26102" y="116603"/>
                    <a:pt x="0" y="90501"/>
                    <a:pt x="0" y="58302"/>
                  </a:cubicBezTo>
                  <a:cubicBezTo>
                    <a:pt x="0" y="26102"/>
                    <a:pt x="26102" y="0"/>
                    <a:pt x="58301" y="0"/>
                  </a:cubicBezTo>
                  <a:cubicBezTo>
                    <a:pt x="90500" y="0"/>
                    <a:pt x="116603" y="26102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A1A90D3-E4D0-F7A5-CD67-56107B2BA7E6}"/>
                </a:ext>
              </a:extLst>
            </p:cNvPr>
            <p:cNvSpPr>
              <a:spLocks/>
            </p:cNvSpPr>
            <p:nvPr/>
          </p:nvSpPr>
          <p:spPr>
            <a:xfrm>
              <a:off x="5132481" y="4160576"/>
              <a:ext cx="108817" cy="108817"/>
            </a:xfrm>
            <a:custGeom>
              <a:avLst/>
              <a:gdLst>
                <a:gd name="connsiteX0" fmla="*/ 116603 w 116603"/>
                <a:gd name="connsiteY0" fmla="*/ 58301 h 116603"/>
                <a:gd name="connsiteX1" fmla="*/ 58301 w 116603"/>
                <a:gd name="connsiteY1" fmla="*/ 116603 h 116603"/>
                <a:gd name="connsiteX2" fmla="*/ -1 w 116603"/>
                <a:gd name="connsiteY2" fmla="*/ 58301 h 116603"/>
                <a:gd name="connsiteX3" fmla="*/ 58301 w 116603"/>
                <a:gd name="connsiteY3" fmla="*/ 0 h 116603"/>
                <a:gd name="connsiteX4" fmla="*/ 116603 w 116603"/>
                <a:gd name="connsiteY4" fmla="*/ 58301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1"/>
                  </a:moveTo>
                  <a:cubicBezTo>
                    <a:pt x="116603" y="90500"/>
                    <a:pt x="90500" y="116603"/>
                    <a:pt x="58301" y="116603"/>
                  </a:cubicBezTo>
                  <a:cubicBezTo>
                    <a:pt x="26102" y="116603"/>
                    <a:pt x="-1" y="90500"/>
                    <a:pt x="-1" y="58301"/>
                  </a:cubicBezTo>
                  <a:cubicBezTo>
                    <a:pt x="-1" y="26102"/>
                    <a:pt x="26102" y="0"/>
                    <a:pt x="58301" y="0"/>
                  </a:cubicBezTo>
                  <a:cubicBezTo>
                    <a:pt x="90500" y="0"/>
                    <a:pt x="116603" y="26102"/>
                    <a:pt x="116603" y="58301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37DE488E-70A8-BF5D-9A55-4A43B9385182}"/>
                </a:ext>
              </a:extLst>
            </p:cNvPr>
            <p:cNvSpPr>
              <a:spLocks/>
            </p:cNvSpPr>
            <p:nvPr/>
          </p:nvSpPr>
          <p:spPr>
            <a:xfrm>
              <a:off x="5509759" y="4015282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1 w 116603"/>
                <a:gd name="connsiteY1" fmla="*/ 116604 h 116603"/>
                <a:gd name="connsiteX2" fmla="*/ -1 w 116603"/>
                <a:gd name="connsiteY2" fmla="*/ 58302 h 116603"/>
                <a:gd name="connsiteX3" fmla="*/ 58301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0" y="116604"/>
                    <a:pt x="58301" y="116604"/>
                  </a:cubicBezTo>
                  <a:cubicBezTo>
                    <a:pt x="26102" y="116604"/>
                    <a:pt x="-1" y="90501"/>
                    <a:pt x="-1" y="58302"/>
                  </a:cubicBezTo>
                  <a:cubicBezTo>
                    <a:pt x="-1" y="26103"/>
                    <a:pt x="26102" y="0"/>
                    <a:pt x="58301" y="0"/>
                  </a:cubicBezTo>
                  <a:cubicBezTo>
                    <a:pt x="90500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AD75613-8998-30B5-C59D-F6673024E677}"/>
                </a:ext>
              </a:extLst>
            </p:cNvPr>
            <p:cNvSpPr>
              <a:spLocks/>
            </p:cNvSpPr>
            <p:nvPr/>
          </p:nvSpPr>
          <p:spPr>
            <a:xfrm>
              <a:off x="6087437" y="4144006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1 w 116603"/>
                <a:gd name="connsiteY1" fmla="*/ 116603 h 116603"/>
                <a:gd name="connsiteX2" fmla="*/ -1 w 116603"/>
                <a:gd name="connsiteY2" fmla="*/ 58302 h 116603"/>
                <a:gd name="connsiteX3" fmla="*/ 58301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0" y="116603"/>
                    <a:pt x="58301" y="116603"/>
                  </a:cubicBezTo>
                  <a:cubicBezTo>
                    <a:pt x="26102" y="116603"/>
                    <a:pt x="-1" y="90501"/>
                    <a:pt x="-1" y="58302"/>
                  </a:cubicBezTo>
                  <a:cubicBezTo>
                    <a:pt x="-1" y="26103"/>
                    <a:pt x="26102" y="0"/>
                    <a:pt x="58301" y="0"/>
                  </a:cubicBezTo>
                  <a:cubicBezTo>
                    <a:pt x="90500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4E3F603B-0FA7-F049-AFB5-254C1D390A17}"/>
                </a:ext>
              </a:extLst>
            </p:cNvPr>
            <p:cNvSpPr>
              <a:spLocks/>
            </p:cNvSpPr>
            <p:nvPr/>
          </p:nvSpPr>
          <p:spPr>
            <a:xfrm>
              <a:off x="7278238" y="3719598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1 w 116603"/>
                <a:gd name="connsiteY1" fmla="*/ 116603 h 116603"/>
                <a:gd name="connsiteX2" fmla="*/ -1 w 116603"/>
                <a:gd name="connsiteY2" fmla="*/ 58302 h 116603"/>
                <a:gd name="connsiteX3" fmla="*/ 58301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0" y="116603"/>
                    <a:pt x="58301" y="116603"/>
                  </a:cubicBezTo>
                  <a:cubicBezTo>
                    <a:pt x="26102" y="116603"/>
                    <a:pt x="-1" y="90501"/>
                    <a:pt x="-1" y="58302"/>
                  </a:cubicBezTo>
                  <a:cubicBezTo>
                    <a:pt x="-1" y="26103"/>
                    <a:pt x="26102" y="0"/>
                    <a:pt x="58301" y="0"/>
                  </a:cubicBezTo>
                  <a:cubicBezTo>
                    <a:pt x="90500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061988DE-DE04-EEAD-D102-8E6BB568B37E}"/>
                </a:ext>
              </a:extLst>
            </p:cNvPr>
            <p:cNvSpPr>
              <a:spLocks/>
            </p:cNvSpPr>
            <p:nvPr/>
          </p:nvSpPr>
          <p:spPr>
            <a:xfrm>
              <a:off x="1499011" y="5580049"/>
              <a:ext cx="97566" cy="1770"/>
            </a:xfrm>
            <a:custGeom>
              <a:avLst/>
              <a:gdLst>
                <a:gd name="connsiteX0" fmla="*/ 95340 w 95340"/>
                <a:gd name="connsiteY0" fmla="*/ 0 h 1905"/>
                <a:gd name="connsiteX1" fmla="*/ 0 w 95340"/>
                <a:gd name="connsiteY1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340" h="1905">
                  <a:moveTo>
                    <a:pt x="95340" y="0"/>
                  </a:moveTo>
                  <a:lnTo>
                    <a:pt x="0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5765FB1B-E1DA-C90D-EFA0-96E2C7DC4E62}"/>
                </a:ext>
              </a:extLst>
            </p:cNvPr>
            <p:cNvSpPr txBox="1">
              <a:spLocks/>
            </p:cNvSpPr>
            <p:nvPr/>
          </p:nvSpPr>
          <p:spPr>
            <a:xfrm>
              <a:off x="876513" y="5407768"/>
              <a:ext cx="6319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-$4k</a:t>
              </a:r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B0AC79E7-F249-D97C-C4EA-07BB85FCCF93}"/>
                </a:ext>
              </a:extLst>
            </p:cNvPr>
            <p:cNvSpPr>
              <a:spLocks/>
            </p:cNvSpPr>
            <p:nvPr/>
          </p:nvSpPr>
          <p:spPr>
            <a:xfrm>
              <a:off x="1499011" y="4606332"/>
              <a:ext cx="97566" cy="1770"/>
            </a:xfrm>
            <a:custGeom>
              <a:avLst/>
              <a:gdLst>
                <a:gd name="connsiteX0" fmla="*/ 95340 w 95340"/>
                <a:gd name="connsiteY0" fmla="*/ 0 h 1905"/>
                <a:gd name="connsiteX1" fmla="*/ 0 w 95340"/>
                <a:gd name="connsiteY1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340" h="1905">
                  <a:moveTo>
                    <a:pt x="95340" y="0"/>
                  </a:moveTo>
                  <a:lnTo>
                    <a:pt x="0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32F09E7E-7A92-F239-05C3-B205D962428C}"/>
                </a:ext>
              </a:extLst>
            </p:cNvPr>
            <p:cNvSpPr txBox="1">
              <a:spLocks/>
            </p:cNvSpPr>
            <p:nvPr/>
          </p:nvSpPr>
          <p:spPr>
            <a:xfrm>
              <a:off x="876513" y="4434051"/>
              <a:ext cx="6319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-$2k</a:t>
              </a:r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1D3DDE72-D94F-E8B5-9C75-279EDDF0261E}"/>
                </a:ext>
              </a:extLst>
            </p:cNvPr>
            <p:cNvSpPr>
              <a:spLocks/>
            </p:cNvSpPr>
            <p:nvPr/>
          </p:nvSpPr>
          <p:spPr>
            <a:xfrm>
              <a:off x="1499011" y="3632932"/>
              <a:ext cx="97566" cy="1770"/>
            </a:xfrm>
            <a:custGeom>
              <a:avLst/>
              <a:gdLst>
                <a:gd name="connsiteX0" fmla="*/ 95340 w 95340"/>
                <a:gd name="connsiteY0" fmla="*/ 0 h 1905"/>
                <a:gd name="connsiteX1" fmla="*/ 0 w 95340"/>
                <a:gd name="connsiteY1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340" h="1905">
                  <a:moveTo>
                    <a:pt x="95340" y="0"/>
                  </a:moveTo>
                  <a:lnTo>
                    <a:pt x="0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730FE362-3D49-9CC1-779A-4B54E8164C7E}"/>
                </a:ext>
              </a:extLst>
            </p:cNvPr>
            <p:cNvSpPr txBox="1">
              <a:spLocks/>
            </p:cNvSpPr>
            <p:nvPr/>
          </p:nvSpPr>
          <p:spPr>
            <a:xfrm>
              <a:off x="1082527" y="3460651"/>
              <a:ext cx="4443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$0</a:t>
              </a:r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AA6CC02-CAE3-27F6-9BD9-A53C9EDAA40E}"/>
                </a:ext>
              </a:extLst>
            </p:cNvPr>
            <p:cNvSpPr>
              <a:spLocks/>
            </p:cNvSpPr>
            <p:nvPr/>
          </p:nvSpPr>
          <p:spPr>
            <a:xfrm>
              <a:off x="1499011" y="2659214"/>
              <a:ext cx="97566" cy="1770"/>
            </a:xfrm>
            <a:custGeom>
              <a:avLst/>
              <a:gdLst>
                <a:gd name="connsiteX0" fmla="*/ 95340 w 95340"/>
                <a:gd name="connsiteY0" fmla="*/ 0 h 1905"/>
                <a:gd name="connsiteX1" fmla="*/ 0 w 95340"/>
                <a:gd name="connsiteY1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340" h="1905">
                  <a:moveTo>
                    <a:pt x="95340" y="0"/>
                  </a:moveTo>
                  <a:lnTo>
                    <a:pt x="0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0A0EC0A5-7548-6498-DF8F-F80765CE07AE}"/>
                </a:ext>
              </a:extLst>
            </p:cNvPr>
            <p:cNvSpPr txBox="1">
              <a:spLocks/>
            </p:cNvSpPr>
            <p:nvPr/>
          </p:nvSpPr>
          <p:spPr>
            <a:xfrm>
              <a:off x="962301" y="2486934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$2k</a:t>
              </a:r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4547E997-8675-0078-A259-831507591517}"/>
                </a:ext>
              </a:extLst>
            </p:cNvPr>
            <p:cNvSpPr>
              <a:spLocks/>
            </p:cNvSpPr>
            <p:nvPr/>
          </p:nvSpPr>
          <p:spPr>
            <a:xfrm>
              <a:off x="1499011" y="1685497"/>
              <a:ext cx="97566" cy="1770"/>
            </a:xfrm>
            <a:custGeom>
              <a:avLst/>
              <a:gdLst>
                <a:gd name="connsiteX0" fmla="*/ 95340 w 95340"/>
                <a:gd name="connsiteY0" fmla="*/ 0 h 1905"/>
                <a:gd name="connsiteX1" fmla="*/ 0 w 95340"/>
                <a:gd name="connsiteY1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340" h="1905">
                  <a:moveTo>
                    <a:pt x="95340" y="0"/>
                  </a:moveTo>
                  <a:lnTo>
                    <a:pt x="0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AAC7D2C4-081F-FC59-75DB-181D7FC14D51}"/>
                </a:ext>
              </a:extLst>
            </p:cNvPr>
            <p:cNvSpPr txBox="1">
              <a:spLocks/>
            </p:cNvSpPr>
            <p:nvPr/>
          </p:nvSpPr>
          <p:spPr>
            <a:xfrm>
              <a:off x="962301" y="1513216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$4k</a:t>
              </a:r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F7E84DF-3347-F231-5D8E-F97FB3B5F0B4}"/>
                </a:ext>
              </a:extLst>
            </p:cNvPr>
            <p:cNvSpPr>
              <a:spLocks/>
            </p:cNvSpPr>
            <p:nvPr/>
          </p:nvSpPr>
          <p:spPr>
            <a:xfrm>
              <a:off x="2344469" y="5729926"/>
              <a:ext cx="83901" cy="76172"/>
            </a:xfrm>
            <a:custGeom>
              <a:avLst/>
              <a:gdLst>
                <a:gd name="connsiteX0" fmla="*/ 0 w 1905"/>
                <a:gd name="connsiteY0" fmla="*/ 0 h 94997"/>
                <a:gd name="connsiteX1" fmla="*/ 0 w 1905"/>
                <a:gd name="connsiteY1" fmla="*/ 94997 h 9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" h="94997">
                  <a:moveTo>
                    <a:pt x="0" y="0"/>
                  </a:moveTo>
                  <a:lnTo>
                    <a:pt x="0" y="94997"/>
                  </a:lnTo>
                </a:path>
              </a:pathLst>
            </a:custGeom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1128BE8A-ED79-65B8-15F2-FB04879CB364}"/>
                </a:ext>
              </a:extLst>
            </p:cNvPr>
            <p:cNvSpPr>
              <a:spLocks/>
            </p:cNvSpPr>
            <p:nvPr/>
          </p:nvSpPr>
          <p:spPr>
            <a:xfrm>
              <a:off x="4644297" y="5729926"/>
              <a:ext cx="83901" cy="76172"/>
            </a:xfrm>
            <a:custGeom>
              <a:avLst/>
              <a:gdLst>
                <a:gd name="connsiteX0" fmla="*/ 0 w 1905"/>
                <a:gd name="connsiteY0" fmla="*/ 0 h 94997"/>
                <a:gd name="connsiteX1" fmla="*/ 0 w 1905"/>
                <a:gd name="connsiteY1" fmla="*/ 94997 h 9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" h="94997">
                  <a:moveTo>
                    <a:pt x="0" y="0"/>
                  </a:moveTo>
                  <a:lnTo>
                    <a:pt x="0" y="94997"/>
                  </a:lnTo>
                </a:path>
              </a:pathLst>
            </a:custGeom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B6C8472-E144-06F3-6810-26B5E096508B}"/>
                </a:ext>
              </a:extLst>
            </p:cNvPr>
            <p:cNvSpPr>
              <a:spLocks/>
            </p:cNvSpPr>
            <p:nvPr/>
          </p:nvSpPr>
          <p:spPr>
            <a:xfrm>
              <a:off x="6944479" y="5729926"/>
              <a:ext cx="1949" cy="88259"/>
            </a:xfrm>
            <a:custGeom>
              <a:avLst/>
              <a:gdLst>
                <a:gd name="connsiteX0" fmla="*/ 0 w 1905"/>
                <a:gd name="connsiteY0" fmla="*/ 0 h 94997"/>
                <a:gd name="connsiteX1" fmla="*/ 0 w 1905"/>
                <a:gd name="connsiteY1" fmla="*/ 94997 h 9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" h="94997">
                  <a:moveTo>
                    <a:pt x="0" y="0"/>
                  </a:moveTo>
                  <a:lnTo>
                    <a:pt x="0" y="94997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3974C52-A4CE-325B-BFA9-09CDB8C558BE}"/>
                </a:ext>
              </a:extLst>
            </p:cNvPr>
            <p:cNvSpPr>
              <a:spLocks/>
            </p:cNvSpPr>
            <p:nvPr/>
          </p:nvSpPr>
          <p:spPr>
            <a:xfrm>
              <a:off x="9244308" y="5729926"/>
              <a:ext cx="1949" cy="88259"/>
            </a:xfrm>
            <a:custGeom>
              <a:avLst/>
              <a:gdLst>
                <a:gd name="connsiteX0" fmla="*/ 0 w 1905"/>
                <a:gd name="connsiteY0" fmla="*/ 0 h 94997"/>
                <a:gd name="connsiteX1" fmla="*/ 0 w 1905"/>
                <a:gd name="connsiteY1" fmla="*/ 94997 h 9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" h="94997">
                  <a:moveTo>
                    <a:pt x="0" y="0"/>
                  </a:moveTo>
                  <a:lnTo>
                    <a:pt x="0" y="94997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F48D1F98-D643-663F-AA14-5967B4F59FF0}"/>
                </a:ext>
              </a:extLst>
            </p:cNvPr>
            <p:cNvSpPr>
              <a:spLocks/>
            </p:cNvSpPr>
            <p:nvPr/>
          </p:nvSpPr>
          <p:spPr>
            <a:xfrm>
              <a:off x="11544486" y="5729926"/>
              <a:ext cx="1949" cy="88259"/>
            </a:xfrm>
            <a:custGeom>
              <a:avLst/>
              <a:gdLst>
                <a:gd name="connsiteX0" fmla="*/ 0 w 1905"/>
                <a:gd name="connsiteY0" fmla="*/ 0 h 94997"/>
                <a:gd name="connsiteX1" fmla="*/ 0 w 1905"/>
                <a:gd name="connsiteY1" fmla="*/ 94997 h 9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" h="94997">
                  <a:moveTo>
                    <a:pt x="0" y="0"/>
                  </a:moveTo>
                  <a:lnTo>
                    <a:pt x="0" y="94997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E4851D5-749D-FCBF-4D05-E20E04E89970}"/>
                </a:ext>
              </a:extLst>
            </p:cNvPr>
            <p:cNvSpPr txBox="1">
              <a:spLocks/>
            </p:cNvSpPr>
            <p:nvPr/>
          </p:nvSpPr>
          <p:spPr>
            <a:xfrm>
              <a:off x="2026531" y="5762787"/>
              <a:ext cx="5116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-15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F3B2696-E8D4-4F45-09AD-922F33AC1040}"/>
                </a:ext>
              </a:extLst>
            </p:cNvPr>
            <p:cNvSpPr txBox="1">
              <a:spLocks/>
            </p:cNvSpPr>
            <p:nvPr/>
          </p:nvSpPr>
          <p:spPr>
            <a:xfrm>
              <a:off x="4326359" y="5762787"/>
              <a:ext cx="5116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-10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BD276EB-4630-6924-DA9D-DFD32F29B72A}"/>
                </a:ext>
              </a:extLst>
            </p:cNvPr>
            <p:cNvSpPr txBox="1">
              <a:spLocks/>
            </p:cNvSpPr>
            <p:nvPr/>
          </p:nvSpPr>
          <p:spPr>
            <a:xfrm>
              <a:off x="6754436" y="5762787"/>
              <a:ext cx="3818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-5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2FA9068-FA2E-A510-4FB1-86AB618BFBDA}"/>
                </a:ext>
              </a:extLst>
            </p:cNvPr>
            <p:cNvSpPr txBox="1">
              <a:spLocks/>
            </p:cNvSpPr>
            <p:nvPr/>
          </p:nvSpPr>
          <p:spPr>
            <a:xfrm>
              <a:off x="9097159" y="5762787"/>
              <a:ext cx="314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75A391-6550-7907-3F37-8DBCC9BC25E8}"/>
                </a:ext>
              </a:extLst>
            </p:cNvPr>
            <p:cNvSpPr txBox="1">
              <a:spLocks/>
            </p:cNvSpPr>
            <p:nvPr/>
          </p:nvSpPr>
          <p:spPr>
            <a:xfrm>
              <a:off x="11397338" y="5762787"/>
              <a:ext cx="314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5708840-66A7-9F57-E9CE-C8D3ED5207A7}"/>
                </a:ext>
              </a:extLst>
            </p:cNvPr>
            <p:cNvSpPr txBox="1">
              <a:spLocks/>
            </p:cNvSpPr>
            <p:nvPr/>
          </p:nvSpPr>
          <p:spPr>
            <a:xfrm>
              <a:off x="8876601" y="4302328"/>
              <a:ext cx="28520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White, Low-Income Parents</a:t>
              </a:r>
            </a:p>
          </p:txBody>
        </p:sp>
      </p:grp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023F090-AE06-D355-7B5E-6AF9BE248702}"/>
              </a:ext>
            </a:extLst>
          </p:cNvPr>
          <p:cNvSpPr>
            <a:spLocks/>
          </p:cNvSpPr>
          <p:nvPr/>
        </p:nvSpPr>
        <p:spPr>
          <a:xfrm>
            <a:off x="8718794" y="4410714"/>
            <a:ext cx="108817" cy="108817"/>
          </a:xfrm>
          <a:custGeom>
            <a:avLst/>
            <a:gdLst>
              <a:gd name="connsiteX0" fmla="*/ 116603 w 116603"/>
              <a:gd name="connsiteY0" fmla="*/ 58302 h 116603"/>
              <a:gd name="connsiteX1" fmla="*/ 58302 w 116603"/>
              <a:gd name="connsiteY1" fmla="*/ 116603 h 116603"/>
              <a:gd name="connsiteX2" fmla="*/ 0 w 116603"/>
              <a:gd name="connsiteY2" fmla="*/ 58302 h 116603"/>
              <a:gd name="connsiteX3" fmla="*/ 58302 w 116603"/>
              <a:gd name="connsiteY3" fmla="*/ 0 h 116603"/>
              <a:gd name="connsiteX4" fmla="*/ 116603 w 116603"/>
              <a:gd name="connsiteY4" fmla="*/ 58302 h 11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603" h="116603">
                <a:moveTo>
                  <a:pt x="116603" y="58302"/>
                </a:moveTo>
                <a:cubicBezTo>
                  <a:pt x="116603" y="90501"/>
                  <a:pt x="90501" y="116603"/>
                  <a:pt x="58302" y="116603"/>
                </a:cubicBezTo>
                <a:cubicBezTo>
                  <a:pt x="26103" y="116603"/>
                  <a:pt x="0" y="90501"/>
                  <a:pt x="0" y="58302"/>
                </a:cubicBezTo>
                <a:cubicBezTo>
                  <a:pt x="0" y="26103"/>
                  <a:pt x="26103" y="0"/>
                  <a:pt x="58302" y="0"/>
                </a:cubicBezTo>
                <a:cubicBezTo>
                  <a:pt x="90501" y="0"/>
                  <a:pt x="116603" y="26103"/>
                  <a:pt x="116603" y="58302"/>
                </a:cubicBezTo>
                <a:close/>
              </a:path>
            </a:pathLst>
          </a:custGeom>
          <a:solidFill>
            <a:srgbClr val="FAA623"/>
          </a:solidFill>
          <a:ln w="190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182">
            <a:extLst>
              <a:ext uri="{FF2B5EF4-FFF2-40B4-BE49-F238E27FC236}">
                <a16:creationId xmlns:a16="http://schemas.microsoft.com/office/drawing/2014/main" id="{39FE0D7C-4558-DE21-47D0-EAF24BA8B740}"/>
              </a:ext>
            </a:extLst>
          </p:cNvPr>
          <p:cNvSpPr>
            <a:spLocks/>
          </p:cNvSpPr>
          <p:nvPr/>
        </p:nvSpPr>
        <p:spPr bwMode="auto">
          <a:xfrm>
            <a:off x="3165328" y="6108731"/>
            <a:ext cx="700031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Change in County-Level Parent Employment Rate (1978-1992 Cohorts)</a:t>
            </a:r>
          </a:p>
        </p:txBody>
      </p:sp>
      <p:sp>
        <p:nvSpPr>
          <p:cNvPr id="5" name="Rectangle 170">
            <a:extLst>
              <a:ext uri="{FF2B5EF4-FFF2-40B4-BE49-F238E27FC236}">
                <a16:creationId xmlns:a16="http://schemas.microsoft.com/office/drawing/2014/main" id="{E95C3BCB-FE81-044C-D1B9-7F48DA1AA39A}"/>
              </a:ext>
            </a:extLst>
          </p:cNvPr>
          <p:cNvSpPr>
            <a:spLocks/>
          </p:cNvSpPr>
          <p:nvPr/>
        </p:nvSpPr>
        <p:spPr bwMode="auto">
          <a:xfrm rot="16200000">
            <a:off x="-1742180" y="3288345"/>
            <a:ext cx="439057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121869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Change in</a:t>
            </a:r>
            <a:r>
              <a:rPr kumimoji="0" lang="el-G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Avg. Household Income for Children in Adulthood (1978-1992 Cohorts)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DCCED4-6A2C-E758-8F14-5D9E7786F7FA}"/>
              </a:ext>
            </a:extLst>
          </p:cNvPr>
          <p:cNvCxnSpPr>
            <a:cxnSpLocks/>
          </p:cNvCxnSpPr>
          <p:nvPr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5C9F386-DF12-CD68-A109-FF87BD87E3A2}"/>
              </a:ext>
            </a:extLst>
          </p:cNvPr>
          <p:cNvCxnSpPr>
            <a:cxnSpLocks/>
          </p:cNvCxnSpPr>
          <p:nvPr/>
        </p:nvCxnSpPr>
        <p:spPr>
          <a:xfrm>
            <a:off x="620980" y="6483107"/>
            <a:ext cx="109536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60052A5-BB58-0C03-CC91-297A465CFEBB}"/>
              </a:ext>
            </a:extLst>
          </p:cNvPr>
          <p:cNvSpPr txBox="1"/>
          <p:nvPr/>
        </p:nvSpPr>
        <p:spPr>
          <a:xfrm>
            <a:off x="568592" y="6483107"/>
            <a:ext cx="8839200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Chetty, </a:t>
            </a:r>
            <a:r>
              <a:rPr lang="en-US" sz="1400" dirty="0">
                <a:solidFill>
                  <a:prstClr val="black"/>
                </a:solidFill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Dobbie, Goldman, Porter, Yang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(2024)</a:t>
            </a:r>
          </a:p>
        </p:txBody>
      </p:sp>
    </p:spTree>
    <p:extLst>
      <p:ext uri="{BB962C8B-B14F-4D97-AF65-F5344CB8AC3E}">
        <p14:creationId xmlns:p14="http://schemas.microsoft.com/office/powerpoint/2010/main" val="850535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9FB03-3ABA-F873-1AF0-D58B5A5A4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94">
            <a:extLst>
              <a:ext uri="{FF2B5EF4-FFF2-40B4-BE49-F238E27FC236}">
                <a16:creationId xmlns:a16="http://schemas.microsoft.com/office/drawing/2014/main" id="{68216FE9-C9DE-2529-EA76-DFBF01E8B84C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 bwMode="auto">
          <a:xfrm>
            <a:off x="1524057" y="277836"/>
            <a:ext cx="9144001" cy="665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52" tIns="45718" rIns="91152" bIns="4571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3" name="Rectangle 183">
            <a:extLst>
              <a:ext uri="{FF2B5EF4-FFF2-40B4-BE49-F238E27FC236}">
                <a16:creationId xmlns:a16="http://schemas.microsoft.com/office/drawing/2014/main" id="{BCC7107F-5732-BD59-F4D4-702193BDE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351" y="598576"/>
            <a:ext cx="10099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endParaRPr kumimoji="0" lang="en-US" alt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pic>
        <p:nvPicPr>
          <p:cNvPr id="8" name="Picture 7" descr="A black and grey text&#10;&#10;Description automatically generated">
            <a:extLst>
              <a:ext uri="{FF2B5EF4-FFF2-40B4-BE49-F238E27FC236}">
                <a16:creationId xmlns:a16="http://schemas.microsoft.com/office/drawing/2014/main" id="{39B8E7E8-AFC6-D5AF-55F7-5D85BB9498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93" name="AutoShape 112">
            <a:extLst>
              <a:ext uri="{FF2B5EF4-FFF2-40B4-BE49-F238E27FC236}">
                <a16:creationId xmlns:a16="http://schemas.microsoft.com/office/drawing/2014/main" id="{7CA60E8A-517D-9F82-E880-534B920DCABA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737568" y="827532"/>
            <a:ext cx="8627719" cy="5392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F4B1CB-5C89-3FC7-CED5-5B8F1FFEC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42" y="375323"/>
            <a:ext cx="11221341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Changes in Economic Mobility vs. Changes in Parent Employment Rates</a:t>
            </a: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By County, Race, and Class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965F434-A934-55D7-485A-8C5958552349}"/>
              </a:ext>
            </a:extLst>
          </p:cNvPr>
          <p:cNvCxnSpPr>
            <a:cxnSpLocks/>
          </p:cNvCxnSpPr>
          <p:nvPr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393860C-C4FF-1568-4518-AF3911C301B2}"/>
              </a:ext>
            </a:extLst>
          </p:cNvPr>
          <p:cNvCxnSpPr>
            <a:cxnSpLocks/>
          </p:cNvCxnSpPr>
          <p:nvPr/>
        </p:nvCxnSpPr>
        <p:spPr>
          <a:xfrm>
            <a:off x="620980" y="6483107"/>
            <a:ext cx="109536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8C61817-52F6-5C6B-595E-0C9C03169419}"/>
              </a:ext>
            </a:extLst>
          </p:cNvPr>
          <p:cNvSpPr txBox="1"/>
          <p:nvPr/>
        </p:nvSpPr>
        <p:spPr>
          <a:xfrm>
            <a:off x="568592" y="6483107"/>
            <a:ext cx="8839200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Chetty, </a:t>
            </a:r>
            <a:r>
              <a:rPr lang="en-US" sz="1400" dirty="0">
                <a:solidFill>
                  <a:prstClr val="black"/>
                </a:solidFill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Dobbie, Goldman, Porter, Yang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(2024)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E94A914-66BE-336A-E5C3-7015E9982A0E}"/>
              </a:ext>
            </a:extLst>
          </p:cNvPr>
          <p:cNvGrpSpPr/>
          <p:nvPr/>
        </p:nvGrpSpPr>
        <p:grpSpPr>
          <a:xfrm>
            <a:off x="206887" y="1339278"/>
            <a:ext cx="11527778" cy="5015674"/>
            <a:chOff x="206887" y="1339278"/>
            <a:chExt cx="11527778" cy="5015674"/>
          </a:xfrm>
        </p:grpSpPr>
        <p:sp>
          <p:nvSpPr>
            <p:cNvPr id="6" name="Line 119">
              <a:extLst>
                <a:ext uri="{FF2B5EF4-FFF2-40B4-BE49-F238E27FC236}">
                  <a16:creationId xmlns:a16="http://schemas.microsoft.com/office/drawing/2014/main" id="{F7A84293-6DA4-4D72-A1E8-9F732C77C67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683097" y="5289350"/>
              <a:ext cx="108817" cy="108817"/>
            </a:xfrm>
            <a:prstGeom prst="line">
              <a:avLst/>
            </a:prstGeom>
            <a:noFill/>
            <a:ln w="3175">
              <a:noFill/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+mn-cs"/>
              </a:endParaRPr>
            </a:p>
          </p:txBody>
        </p:sp>
        <p:sp>
          <p:nvSpPr>
            <p:cNvPr id="7" name="Line 120">
              <a:extLst>
                <a:ext uri="{FF2B5EF4-FFF2-40B4-BE49-F238E27FC236}">
                  <a16:creationId xmlns:a16="http://schemas.microsoft.com/office/drawing/2014/main" id="{954D960A-623E-F59A-C6BB-923015116B0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683097" y="5124377"/>
              <a:ext cx="108817" cy="108817"/>
            </a:xfrm>
            <a:prstGeom prst="line">
              <a:avLst/>
            </a:prstGeom>
            <a:noFill/>
            <a:ln w="3175">
              <a:noFill/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+mn-cs"/>
              </a:endParaRPr>
            </a:p>
          </p:txBody>
        </p:sp>
        <p:sp>
          <p:nvSpPr>
            <p:cNvPr id="90" name="Rectangle 214">
              <a:extLst>
                <a:ext uri="{FF2B5EF4-FFF2-40B4-BE49-F238E27FC236}">
                  <a16:creationId xmlns:a16="http://schemas.microsoft.com/office/drawing/2014/main" id="{8F348B51-900F-ECC7-4C2F-F63458F75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6076" y="4890878"/>
              <a:ext cx="108817" cy="108817"/>
            </a:xfrm>
            <a:prstGeom prst="rect">
              <a:avLst/>
            </a:prstGeom>
            <a:solidFill>
              <a:srgbClr val="FFFFFF"/>
            </a:solidFill>
            <a:ln w="1428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+mn-cs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102AEB51-C734-8DFC-A8EA-0FAE72190317}"/>
                </a:ext>
              </a:extLst>
            </p:cNvPr>
            <p:cNvSpPr>
              <a:spLocks/>
            </p:cNvSpPr>
            <p:nvPr/>
          </p:nvSpPr>
          <p:spPr>
            <a:xfrm>
              <a:off x="1596305" y="1521020"/>
              <a:ext cx="1965" cy="4208839"/>
            </a:xfrm>
            <a:custGeom>
              <a:avLst/>
              <a:gdLst>
                <a:gd name="connsiteX0" fmla="*/ 0 w 1905"/>
                <a:gd name="connsiteY0" fmla="*/ 4493680 h 4493680"/>
                <a:gd name="connsiteX1" fmla="*/ 0 w 1905"/>
                <a:gd name="connsiteY1" fmla="*/ 0 h 449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" h="4493680">
                  <a:moveTo>
                    <a:pt x="0" y="4493680"/>
                  </a:moveTo>
                  <a:lnTo>
                    <a:pt x="0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FCB24DB-6375-4298-04C2-B7CE845AE8FA}"/>
                </a:ext>
              </a:extLst>
            </p:cNvPr>
            <p:cNvSpPr>
              <a:spLocks/>
            </p:cNvSpPr>
            <p:nvPr/>
          </p:nvSpPr>
          <p:spPr>
            <a:xfrm>
              <a:off x="1596305" y="5729860"/>
              <a:ext cx="10138360" cy="1784"/>
            </a:xfrm>
            <a:custGeom>
              <a:avLst/>
              <a:gdLst>
                <a:gd name="connsiteX0" fmla="*/ 0 w 9827246"/>
                <a:gd name="connsiteY0" fmla="*/ 0 h 1905"/>
                <a:gd name="connsiteX1" fmla="*/ 9827247 w 9827246"/>
                <a:gd name="connsiteY1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827246" h="1905">
                  <a:moveTo>
                    <a:pt x="0" y="0"/>
                  </a:moveTo>
                  <a:lnTo>
                    <a:pt x="9827247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768677A3-4FC3-C710-2460-017C06B321E3}"/>
                </a:ext>
              </a:extLst>
            </p:cNvPr>
            <p:cNvSpPr>
              <a:spLocks/>
            </p:cNvSpPr>
            <p:nvPr/>
          </p:nvSpPr>
          <p:spPr>
            <a:xfrm>
              <a:off x="1690985" y="5361472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2 w 116603"/>
                <a:gd name="connsiteY1" fmla="*/ 116604 h 116603"/>
                <a:gd name="connsiteX2" fmla="*/ 0 w 116603"/>
                <a:gd name="connsiteY2" fmla="*/ 58302 h 116603"/>
                <a:gd name="connsiteX3" fmla="*/ 58302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1" y="116604"/>
                    <a:pt x="58302" y="116604"/>
                  </a:cubicBezTo>
                  <a:cubicBezTo>
                    <a:pt x="26103" y="116604"/>
                    <a:pt x="0" y="90501"/>
                    <a:pt x="0" y="58302"/>
                  </a:cubicBezTo>
                  <a:cubicBezTo>
                    <a:pt x="0" y="26103"/>
                    <a:pt x="26103" y="0"/>
                    <a:pt x="58302" y="0"/>
                  </a:cubicBezTo>
                  <a:cubicBezTo>
                    <a:pt x="90501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0807E08-6597-29CB-B6D6-F3603CBE71E3}"/>
                </a:ext>
              </a:extLst>
            </p:cNvPr>
            <p:cNvSpPr>
              <a:spLocks/>
            </p:cNvSpPr>
            <p:nvPr/>
          </p:nvSpPr>
          <p:spPr>
            <a:xfrm>
              <a:off x="2426944" y="5153092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2 w 116603"/>
                <a:gd name="connsiteY1" fmla="*/ 116604 h 116603"/>
                <a:gd name="connsiteX2" fmla="*/ 0 w 116603"/>
                <a:gd name="connsiteY2" fmla="*/ 58302 h 116603"/>
                <a:gd name="connsiteX3" fmla="*/ 58302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1" y="116604"/>
                    <a:pt x="58302" y="116604"/>
                  </a:cubicBezTo>
                  <a:cubicBezTo>
                    <a:pt x="26103" y="116604"/>
                    <a:pt x="0" y="90501"/>
                    <a:pt x="0" y="58302"/>
                  </a:cubicBezTo>
                  <a:cubicBezTo>
                    <a:pt x="0" y="26103"/>
                    <a:pt x="26103" y="0"/>
                    <a:pt x="58302" y="0"/>
                  </a:cubicBezTo>
                  <a:cubicBezTo>
                    <a:pt x="90501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6B5BE81-9E37-B66E-1C42-B19413821824}"/>
                </a:ext>
              </a:extLst>
            </p:cNvPr>
            <p:cNvSpPr>
              <a:spLocks/>
            </p:cNvSpPr>
            <p:nvPr/>
          </p:nvSpPr>
          <p:spPr>
            <a:xfrm>
              <a:off x="2753687" y="5167749"/>
              <a:ext cx="108817" cy="108817"/>
            </a:xfrm>
            <a:custGeom>
              <a:avLst/>
              <a:gdLst>
                <a:gd name="connsiteX0" fmla="*/ 116603 w 116603"/>
                <a:gd name="connsiteY0" fmla="*/ 58301 h 116603"/>
                <a:gd name="connsiteX1" fmla="*/ 58302 w 116603"/>
                <a:gd name="connsiteY1" fmla="*/ 116603 h 116603"/>
                <a:gd name="connsiteX2" fmla="*/ 0 w 116603"/>
                <a:gd name="connsiteY2" fmla="*/ 58301 h 116603"/>
                <a:gd name="connsiteX3" fmla="*/ 58302 w 116603"/>
                <a:gd name="connsiteY3" fmla="*/ 0 h 116603"/>
                <a:gd name="connsiteX4" fmla="*/ 116603 w 116603"/>
                <a:gd name="connsiteY4" fmla="*/ 58301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1"/>
                  </a:moveTo>
                  <a:cubicBezTo>
                    <a:pt x="116603" y="90500"/>
                    <a:pt x="90501" y="116603"/>
                    <a:pt x="58302" y="116603"/>
                  </a:cubicBezTo>
                  <a:cubicBezTo>
                    <a:pt x="26103" y="116603"/>
                    <a:pt x="0" y="90500"/>
                    <a:pt x="0" y="58301"/>
                  </a:cubicBezTo>
                  <a:cubicBezTo>
                    <a:pt x="0" y="26102"/>
                    <a:pt x="26103" y="0"/>
                    <a:pt x="58302" y="0"/>
                  </a:cubicBezTo>
                  <a:cubicBezTo>
                    <a:pt x="90501" y="0"/>
                    <a:pt x="116603" y="26102"/>
                    <a:pt x="116603" y="58301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F173750B-7D51-BB0A-5870-997C414858B5}"/>
                </a:ext>
              </a:extLst>
            </p:cNvPr>
            <p:cNvSpPr>
              <a:spLocks/>
            </p:cNvSpPr>
            <p:nvPr/>
          </p:nvSpPr>
          <p:spPr>
            <a:xfrm>
              <a:off x="2942150" y="5248043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2 w 116603"/>
                <a:gd name="connsiteY1" fmla="*/ 116603 h 116603"/>
                <a:gd name="connsiteX2" fmla="*/ 0 w 116603"/>
                <a:gd name="connsiteY2" fmla="*/ 58302 h 116603"/>
                <a:gd name="connsiteX3" fmla="*/ 58302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1" y="116603"/>
                    <a:pt x="58302" y="116603"/>
                  </a:cubicBezTo>
                  <a:cubicBezTo>
                    <a:pt x="26103" y="116603"/>
                    <a:pt x="0" y="90501"/>
                    <a:pt x="0" y="58302"/>
                  </a:cubicBezTo>
                  <a:cubicBezTo>
                    <a:pt x="0" y="26103"/>
                    <a:pt x="26103" y="0"/>
                    <a:pt x="58302" y="0"/>
                  </a:cubicBezTo>
                  <a:cubicBezTo>
                    <a:pt x="90501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BAB42522-6E98-F605-1522-B0E64BFEBE0D}"/>
                </a:ext>
              </a:extLst>
            </p:cNvPr>
            <p:cNvSpPr>
              <a:spLocks/>
            </p:cNvSpPr>
            <p:nvPr/>
          </p:nvSpPr>
          <p:spPr>
            <a:xfrm>
              <a:off x="3080428" y="5522060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2 w 116603"/>
                <a:gd name="connsiteY1" fmla="*/ 116603 h 116603"/>
                <a:gd name="connsiteX2" fmla="*/ 0 w 116603"/>
                <a:gd name="connsiteY2" fmla="*/ 58302 h 116603"/>
                <a:gd name="connsiteX3" fmla="*/ 58302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1" y="116603"/>
                    <a:pt x="58302" y="116603"/>
                  </a:cubicBezTo>
                  <a:cubicBezTo>
                    <a:pt x="26102" y="116603"/>
                    <a:pt x="0" y="90501"/>
                    <a:pt x="0" y="58302"/>
                  </a:cubicBezTo>
                  <a:cubicBezTo>
                    <a:pt x="0" y="26103"/>
                    <a:pt x="26102" y="0"/>
                    <a:pt x="58302" y="0"/>
                  </a:cubicBezTo>
                  <a:cubicBezTo>
                    <a:pt x="90501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156D29C6-ADB7-3437-4A13-669823F66A23}"/>
                </a:ext>
              </a:extLst>
            </p:cNvPr>
            <p:cNvSpPr>
              <a:spLocks/>
            </p:cNvSpPr>
            <p:nvPr/>
          </p:nvSpPr>
          <p:spPr>
            <a:xfrm>
              <a:off x="3186067" y="4978805"/>
              <a:ext cx="108817" cy="108817"/>
            </a:xfrm>
            <a:custGeom>
              <a:avLst/>
              <a:gdLst>
                <a:gd name="connsiteX0" fmla="*/ 116603 w 116603"/>
                <a:gd name="connsiteY0" fmla="*/ 58301 h 116603"/>
                <a:gd name="connsiteX1" fmla="*/ 58302 w 116603"/>
                <a:gd name="connsiteY1" fmla="*/ 116603 h 116603"/>
                <a:gd name="connsiteX2" fmla="*/ 0 w 116603"/>
                <a:gd name="connsiteY2" fmla="*/ 58301 h 116603"/>
                <a:gd name="connsiteX3" fmla="*/ 58302 w 116603"/>
                <a:gd name="connsiteY3" fmla="*/ 0 h 116603"/>
                <a:gd name="connsiteX4" fmla="*/ 116603 w 116603"/>
                <a:gd name="connsiteY4" fmla="*/ 58301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1"/>
                  </a:moveTo>
                  <a:cubicBezTo>
                    <a:pt x="116603" y="90500"/>
                    <a:pt x="90501" y="116603"/>
                    <a:pt x="58302" y="116603"/>
                  </a:cubicBezTo>
                  <a:cubicBezTo>
                    <a:pt x="26103" y="116603"/>
                    <a:pt x="0" y="90500"/>
                    <a:pt x="0" y="58301"/>
                  </a:cubicBezTo>
                  <a:cubicBezTo>
                    <a:pt x="0" y="26102"/>
                    <a:pt x="26103" y="0"/>
                    <a:pt x="58302" y="0"/>
                  </a:cubicBezTo>
                  <a:cubicBezTo>
                    <a:pt x="90501" y="0"/>
                    <a:pt x="116603" y="26102"/>
                    <a:pt x="116603" y="58301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6B968AF2-A059-9AEB-FC4D-5B7804EE1963}"/>
                </a:ext>
              </a:extLst>
            </p:cNvPr>
            <p:cNvSpPr>
              <a:spLocks/>
            </p:cNvSpPr>
            <p:nvPr/>
          </p:nvSpPr>
          <p:spPr>
            <a:xfrm>
              <a:off x="3362949" y="4680252"/>
              <a:ext cx="108817" cy="108817"/>
            </a:xfrm>
            <a:custGeom>
              <a:avLst/>
              <a:gdLst>
                <a:gd name="connsiteX0" fmla="*/ 85738 w 85737"/>
                <a:gd name="connsiteY0" fmla="*/ 42869 h 85737"/>
                <a:gd name="connsiteX1" fmla="*/ 42869 w 85737"/>
                <a:gd name="connsiteY1" fmla="*/ 85737 h 85737"/>
                <a:gd name="connsiteX2" fmla="*/ 0 w 85737"/>
                <a:gd name="connsiteY2" fmla="*/ 42869 h 85737"/>
                <a:gd name="connsiteX3" fmla="*/ 42869 w 85737"/>
                <a:gd name="connsiteY3" fmla="*/ 0 h 85737"/>
                <a:gd name="connsiteX4" fmla="*/ 85738 w 85737"/>
                <a:gd name="connsiteY4" fmla="*/ 42869 h 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37" h="85737">
                  <a:moveTo>
                    <a:pt x="85738" y="42869"/>
                  </a:moveTo>
                  <a:cubicBezTo>
                    <a:pt x="85738" y="66545"/>
                    <a:pt x="66545" y="85737"/>
                    <a:pt x="42869" y="85737"/>
                  </a:cubicBezTo>
                  <a:cubicBezTo>
                    <a:pt x="19193" y="85737"/>
                    <a:pt x="0" y="66545"/>
                    <a:pt x="0" y="42869"/>
                  </a:cubicBezTo>
                  <a:cubicBezTo>
                    <a:pt x="0" y="19193"/>
                    <a:pt x="19193" y="0"/>
                    <a:pt x="42869" y="0"/>
                  </a:cubicBezTo>
                  <a:cubicBezTo>
                    <a:pt x="66545" y="0"/>
                    <a:pt x="85738" y="19193"/>
                    <a:pt x="85738" y="42869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4A00C401-C7EF-2FC8-336C-6BA77E36A88F}"/>
                </a:ext>
              </a:extLst>
            </p:cNvPr>
            <p:cNvSpPr>
              <a:spLocks/>
            </p:cNvSpPr>
            <p:nvPr/>
          </p:nvSpPr>
          <p:spPr>
            <a:xfrm>
              <a:off x="3535622" y="4695547"/>
              <a:ext cx="108817" cy="108817"/>
            </a:xfrm>
            <a:custGeom>
              <a:avLst/>
              <a:gdLst>
                <a:gd name="connsiteX0" fmla="*/ 116603 w 116603"/>
                <a:gd name="connsiteY0" fmla="*/ 58301 h 116603"/>
                <a:gd name="connsiteX1" fmla="*/ 58302 w 116603"/>
                <a:gd name="connsiteY1" fmla="*/ 116603 h 116603"/>
                <a:gd name="connsiteX2" fmla="*/ 0 w 116603"/>
                <a:gd name="connsiteY2" fmla="*/ 58301 h 116603"/>
                <a:gd name="connsiteX3" fmla="*/ 58302 w 116603"/>
                <a:gd name="connsiteY3" fmla="*/ 0 h 116603"/>
                <a:gd name="connsiteX4" fmla="*/ 116603 w 116603"/>
                <a:gd name="connsiteY4" fmla="*/ 58301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1"/>
                  </a:moveTo>
                  <a:cubicBezTo>
                    <a:pt x="116603" y="90500"/>
                    <a:pt x="90501" y="116603"/>
                    <a:pt x="58302" y="116603"/>
                  </a:cubicBezTo>
                  <a:cubicBezTo>
                    <a:pt x="26103" y="116603"/>
                    <a:pt x="0" y="90500"/>
                    <a:pt x="0" y="58301"/>
                  </a:cubicBezTo>
                  <a:cubicBezTo>
                    <a:pt x="0" y="26102"/>
                    <a:pt x="26103" y="0"/>
                    <a:pt x="58302" y="0"/>
                  </a:cubicBezTo>
                  <a:cubicBezTo>
                    <a:pt x="90501" y="0"/>
                    <a:pt x="116603" y="26102"/>
                    <a:pt x="116603" y="58301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E9C2B13-237C-7B66-8C29-C6974A29F892}"/>
                </a:ext>
              </a:extLst>
            </p:cNvPr>
            <p:cNvSpPr>
              <a:spLocks/>
            </p:cNvSpPr>
            <p:nvPr/>
          </p:nvSpPr>
          <p:spPr>
            <a:xfrm>
              <a:off x="3646172" y="4665914"/>
              <a:ext cx="108817" cy="108817"/>
            </a:xfrm>
            <a:custGeom>
              <a:avLst/>
              <a:gdLst>
                <a:gd name="connsiteX0" fmla="*/ 116603 w 116603"/>
                <a:gd name="connsiteY0" fmla="*/ 58301 h 116603"/>
                <a:gd name="connsiteX1" fmla="*/ 58302 w 116603"/>
                <a:gd name="connsiteY1" fmla="*/ 116603 h 116603"/>
                <a:gd name="connsiteX2" fmla="*/ 0 w 116603"/>
                <a:gd name="connsiteY2" fmla="*/ 58301 h 116603"/>
                <a:gd name="connsiteX3" fmla="*/ 58302 w 116603"/>
                <a:gd name="connsiteY3" fmla="*/ 0 h 116603"/>
                <a:gd name="connsiteX4" fmla="*/ 116603 w 116603"/>
                <a:gd name="connsiteY4" fmla="*/ 58301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1"/>
                  </a:moveTo>
                  <a:cubicBezTo>
                    <a:pt x="116603" y="90500"/>
                    <a:pt x="90501" y="116603"/>
                    <a:pt x="58302" y="116603"/>
                  </a:cubicBezTo>
                  <a:cubicBezTo>
                    <a:pt x="26103" y="116603"/>
                    <a:pt x="0" y="90500"/>
                    <a:pt x="0" y="58301"/>
                  </a:cubicBezTo>
                  <a:cubicBezTo>
                    <a:pt x="0" y="26102"/>
                    <a:pt x="26103" y="0"/>
                    <a:pt x="58302" y="0"/>
                  </a:cubicBezTo>
                  <a:cubicBezTo>
                    <a:pt x="90501" y="0"/>
                    <a:pt x="116603" y="26102"/>
                    <a:pt x="116603" y="58301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EE473133-65F4-ED9C-9F23-A7362A978405}"/>
                </a:ext>
              </a:extLst>
            </p:cNvPr>
            <p:cNvSpPr>
              <a:spLocks/>
            </p:cNvSpPr>
            <p:nvPr/>
          </p:nvSpPr>
          <p:spPr>
            <a:xfrm>
              <a:off x="3761288" y="4447656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2 w 116603"/>
                <a:gd name="connsiteY1" fmla="*/ 116604 h 116603"/>
                <a:gd name="connsiteX2" fmla="*/ 0 w 116603"/>
                <a:gd name="connsiteY2" fmla="*/ 58302 h 116603"/>
                <a:gd name="connsiteX3" fmla="*/ 58302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1" y="116604"/>
                    <a:pt x="58302" y="116604"/>
                  </a:cubicBezTo>
                  <a:cubicBezTo>
                    <a:pt x="26103" y="116604"/>
                    <a:pt x="0" y="90501"/>
                    <a:pt x="0" y="58302"/>
                  </a:cubicBezTo>
                  <a:cubicBezTo>
                    <a:pt x="0" y="26103"/>
                    <a:pt x="26103" y="0"/>
                    <a:pt x="58302" y="0"/>
                  </a:cubicBezTo>
                  <a:cubicBezTo>
                    <a:pt x="90501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DF0E077E-550C-CC41-B4D7-88BFE8F71FDB}"/>
                </a:ext>
              </a:extLst>
            </p:cNvPr>
            <p:cNvSpPr>
              <a:spLocks/>
            </p:cNvSpPr>
            <p:nvPr/>
          </p:nvSpPr>
          <p:spPr>
            <a:xfrm>
              <a:off x="3876051" y="4488758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2 w 116603"/>
                <a:gd name="connsiteY1" fmla="*/ 116603 h 116603"/>
                <a:gd name="connsiteX2" fmla="*/ 0 w 116603"/>
                <a:gd name="connsiteY2" fmla="*/ 58302 h 116603"/>
                <a:gd name="connsiteX3" fmla="*/ 58302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1" y="116603"/>
                    <a:pt x="58302" y="116603"/>
                  </a:cubicBezTo>
                  <a:cubicBezTo>
                    <a:pt x="26103" y="116603"/>
                    <a:pt x="0" y="90501"/>
                    <a:pt x="0" y="58302"/>
                  </a:cubicBezTo>
                  <a:cubicBezTo>
                    <a:pt x="0" y="26103"/>
                    <a:pt x="26103" y="0"/>
                    <a:pt x="58302" y="0"/>
                  </a:cubicBezTo>
                  <a:cubicBezTo>
                    <a:pt x="90501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27DC68D0-1C69-EBCC-8F6C-500C2C499235}"/>
                </a:ext>
              </a:extLst>
            </p:cNvPr>
            <p:cNvSpPr>
              <a:spLocks/>
            </p:cNvSpPr>
            <p:nvPr/>
          </p:nvSpPr>
          <p:spPr>
            <a:xfrm>
              <a:off x="3982040" y="4670057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2 w 116603"/>
                <a:gd name="connsiteY1" fmla="*/ 116603 h 116603"/>
                <a:gd name="connsiteX2" fmla="*/ 0 w 116603"/>
                <a:gd name="connsiteY2" fmla="*/ 58302 h 116603"/>
                <a:gd name="connsiteX3" fmla="*/ 58302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1" y="116603"/>
                    <a:pt x="58302" y="116603"/>
                  </a:cubicBezTo>
                  <a:cubicBezTo>
                    <a:pt x="26103" y="116603"/>
                    <a:pt x="0" y="90501"/>
                    <a:pt x="0" y="58302"/>
                  </a:cubicBezTo>
                  <a:cubicBezTo>
                    <a:pt x="0" y="26102"/>
                    <a:pt x="26103" y="0"/>
                    <a:pt x="58302" y="0"/>
                  </a:cubicBezTo>
                  <a:cubicBezTo>
                    <a:pt x="90501" y="0"/>
                    <a:pt x="116603" y="26102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937C43B3-006D-CB9D-6CE1-359377065F91}"/>
                </a:ext>
              </a:extLst>
            </p:cNvPr>
            <p:cNvSpPr>
              <a:spLocks/>
            </p:cNvSpPr>
            <p:nvPr/>
          </p:nvSpPr>
          <p:spPr>
            <a:xfrm>
              <a:off x="4152255" y="4732826"/>
              <a:ext cx="108817" cy="108817"/>
            </a:xfrm>
            <a:custGeom>
              <a:avLst/>
              <a:gdLst>
                <a:gd name="connsiteX0" fmla="*/ 116603 w 116603"/>
                <a:gd name="connsiteY0" fmla="*/ 58301 h 116603"/>
                <a:gd name="connsiteX1" fmla="*/ 58302 w 116603"/>
                <a:gd name="connsiteY1" fmla="*/ 116603 h 116603"/>
                <a:gd name="connsiteX2" fmla="*/ 0 w 116603"/>
                <a:gd name="connsiteY2" fmla="*/ 58301 h 116603"/>
                <a:gd name="connsiteX3" fmla="*/ 58302 w 116603"/>
                <a:gd name="connsiteY3" fmla="*/ 0 h 116603"/>
                <a:gd name="connsiteX4" fmla="*/ 116603 w 116603"/>
                <a:gd name="connsiteY4" fmla="*/ 58301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1"/>
                  </a:moveTo>
                  <a:cubicBezTo>
                    <a:pt x="116603" y="90501"/>
                    <a:pt x="90501" y="116603"/>
                    <a:pt x="58302" y="116603"/>
                  </a:cubicBezTo>
                  <a:cubicBezTo>
                    <a:pt x="26103" y="116603"/>
                    <a:pt x="0" y="90501"/>
                    <a:pt x="0" y="58301"/>
                  </a:cubicBezTo>
                  <a:cubicBezTo>
                    <a:pt x="0" y="26102"/>
                    <a:pt x="26103" y="0"/>
                    <a:pt x="58302" y="0"/>
                  </a:cubicBezTo>
                  <a:cubicBezTo>
                    <a:pt x="90501" y="0"/>
                    <a:pt x="116603" y="26102"/>
                    <a:pt x="116603" y="58301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D5FB1B2-3105-B5D0-53AD-C43D81EE7AD8}"/>
                </a:ext>
              </a:extLst>
            </p:cNvPr>
            <p:cNvSpPr>
              <a:spLocks/>
            </p:cNvSpPr>
            <p:nvPr/>
          </p:nvSpPr>
          <p:spPr>
            <a:xfrm>
              <a:off x="4322469" y="4404960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2 w 116603"/>
                <a:gd name="connsiteY1" fmla="*/ 116603 h 116603"/>
                <a:gd name="connsiteX2" fmla="*/ 0 w 116603"/>
                <a:gd name="connsiteY2" fmla="*/ 58302 h 116603"/>
                <a:gd name="connsiteX3" fmla="*/ 58302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1" y="116603"/>
                    <a:pt x="58302" y="116603"/>
                  </a:cubicBezTo>
                  <a:cubicBezTo>
                    <a:pt x="26103" y="116603"/>
                    <a:pt x="0" y="90501"/>
                    <a:pt x="0" y="58302"/>
                  </a:cubicBezTo>
                  <a:cubicBezTo>
                    <a:pt x="0" y="26102"/>
                    <a:pt x="26103" y="0"/>
                    <a:pt x="58302" y="0"/>
                  </a:cubicBezTo>
                  <a:cubicBezTo>
                    <a:pt x="90501" y="0"/>
                    <a:pt x="116603" y="26102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9FA83CE-9ECF-0B39-4B92-264E11287A5C}"/>
                </a:ext>
              </a:extLst>
            </p:cNvPr>
            <p:cNvSpPr>
              <a:spLocks/>
            </p:cNvSpPr>
            <p:nvPr/>
          </p:nvSpPr>
          <p:spPr>
            <a:xfrm>
              <a:off x="4524620" y="4367045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1 w 116603"/>
                <a:gd name="connsiteY1" fmla="*/ 116603 h 116603"/>
                <a:gd name="connsiteX2" fmla="*/ 0 w 116603"/>
                <a:gd name="connsiteY2" fmla="*/ 58302 h 116603"/>
                <a:gd name="connsiteX3" fmla="*/ 58301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0" y="116603"/>
                    <a:pt x="58301" y="116603"/>
                  </a:cubicBezTo>
                  <a:cubicBezTo>
                    <a:pt x="26102" y="116603"/>
                    <a:pt x="0" y="90501"/>
                    <a:pt x="0" y="58302"/>
                  </a:cubicBezTo>
                  <a:cubicBezTo>
                    <a:pt x="0" y="26103"/>
                    <a:pt x="26102" y="0"/>
                    <a:pt x="58301" y="0"/>
                  </a:cubicBezTo>
                  <a:cubicBezTo>
                    <a:pt x="90501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0264CC-6695-B62D-70DF-62D3E4A6E3D1}"/>
                </a:ext>
              </a:extLst>
            </p:cNvPr>
            <p:cNvSpPr>
              <a:spLocks/>
            </p:cNvSpPr>
            <p:nvPr/>
          </p:nvSpPr>
          <p:spPr>
            <a:xfrm>
              <a:off x="4808898" y="4381064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1 w 116603"/>
                <a:gd name="connsiteY1" fmla="*/ 116603 h 116603"/>
                <a:gd name="connsiteX2" fmla="*/ 0 w 116603"/>
                <a:gd name="connsiteY2" fmla="*/ 58302 h 116603"/>
                <a:gd name="connsiteX3" fmla="*/ 58301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0" y="116603"/>
                    <a:pt x="58301" y="116603"/>
                  </a:cubicBezTo>
                  <a:cubicBezTo>
                    <a:pt x="26102" y="116603"/>
                    <a:pt x="0" y="90501"/>
                    <a:pt x="0" y="58302"/>
                  </a:cubicBezTo>
                  <a:cubicBezTo>
                    <a:pt x="0" y="26102"/>
                    <a:pt x="26102" y="0"/>
                    <a:pt x="58301" y="0"/>
                  </a:cubicBezTo>
                  <a:cubicBezTo>
                    <a:pt x="90500" y="0"/>
                    <a:pt x="116603" y="26102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A1A90D3-E4D0-F7A5-CD67-56107B2BA7E6}"/>
                </a:ext>
              </a:extLst>
            </p:cNvPr>
            <p:cNvSpPr>
              <a:spLocks/>
            </p:cNvSpPr>
            <p:nvPr/>
          </p:nvSpPr>
          <p:spPr>
            <a:xfrm>
              <a:off x="5132481" y="4160576"/>
              <a:ext cx="108817" cy="108817"/>
            </a:xfrm>
            <a:custGeom>
              <a:avLst/>
              <a:gdLst>
                <a:gd name="connsiteX0" fmla="*/ 116603 w 116603"/>
                <a:gd name="connsiteY0" fmla="*/ 58301 h 116603"/>
                <a:gd name="connsiteX1" fmla="*/ 58301 w 116603"/>
                <a:gd name="connsiteY1" fmla="*/ 116603 h 116603"/>
                <a:gd name="connsiteX2" fmla="*/ -1 w 116603"/>
                <a:gd name="connsiteY2" fmla="*/ 58301 h 116603"/>
                <a:gd name="connsiteX3" fmla="*/ 58301 w 116603"/>
                <a:gd name="connsiteY3" fmla="*/ 0 h 116603"/>
                <a:gd name="connsiteX4" fmla="*/ 116603 w 116603"/>
                <a:gd name="connsiteY4" fmla="*/ 58301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1"/>
                  </a:moveTo>
                  <a:cubicBezTo>
                    <a:pt x="116603" y="90500"/>
                    <a:pt x="90500" y="116603"/>
                    <a:pt x="58301" y="116603"/>
                  </a:cubicBezTo>
                  <a:cubicBezTo>
                    <a:pt x="26102" y="116603"/>
                    <a:pt x="-1" y="90500"/>
                    <a:pt x="-1" y="58301"/>
                  </a:cubicBezTo>
                  <a:cubicBezTo>
                    <a:pt x="-1" y="26102"/>
                    <a:pt x="26102" y="0"/>
                    <a:pt x="58301" y="0"/>
                  </a:cubicBezTo>
                  <a:cubicBezTo>
                    <a:pt x="90500" y="0"/>
                    <a:pt x="116603" y="26102"/>
                    <a:pt x="116603" y="58301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37DE488E-70A8-BF5D-9A55-4A43B9385182}"/>
                </a:ext>
              </a:extLst>
            </p:cNvPr>
            <p:cNvSpPr>
              <a:spLocks/>
            </p:cNvSpPr>
            <p:nvPr/>
          </p:nvSpPr>
          <p:spPr>
            <a:xfrm>
              <a:off x="5509759" y="4015282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1 w 116603"/>
                <a:gd name="connsiteY1" fmla="*/ 116604 h 116603"/>
                <a:gd name="connsiteX2" fmla="*/ -1 w 116603"/>
                <a:gd name="connsiteY2" fmla="*/ 58302 h 116603"/>
                <a:gd name="connsiteX3" fmla="*/ 58301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0" y="116604"/>
                    <a:pt x="58301" y="116604"/>
                  </a:cubicBezTo>
                  <a:cubicBezTo>
                    <a:pt x="26102" y="116604"/>
                    <a:pt x="-1" y="90501"/>
                    <a:pt x="-1" y="58302"/>
                  </a:cubicBezTo>
                  <a:cubicBezTo>
                    <a:pt x="-1" y="26103"/>
                    <a:pt x="26102" y="0"/>
                    <a:pt x="58301" y="0"/>
                  </a:cubicBezTo>
                  <a:cubicBezTo>
                    <a:pt x="90500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AD75613-8998-30B5-C59D-F6673024E677}"/>
                </a:ext>
              </a:extLst>
            </p:cNvPr>
            <p:cNvSpPr>
              <a:spLocks/>
            </p:cNvSpPr>
            <p:nvPr/>
          </p:nvSpPr>
          <p:spPr>
            <a:xfrm>
              <a:off x="6087437" y="4144006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1 w 116603"/>
                <a:gd name="connsiteY1" fmla="*/ 116603 h 116603"/>
                <a:gd name="connsiteX2" fmla="*/ -1 w 116603"/>
                <a:gd name="connsiteY2" fmla="*/ 58302 h 116603"/>
                <a:gd name="connsiteX3" fmla="*/ 58301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0" y="116603"/>
                    <a:pt x="58301" y="116603"/>
                  </a:cubicBezTo>
                  <a:cubicBezTo>
                    <a:pt x="26102" y="116603"/>
                    <a:pt x="-1" y="90501"/>
                    <a:pt x="-1" y="58302"/>
                  </a:cubicBezTo>
                  <a:cubicBezTo>
                    <a:pt x="-1" y="26103"/>
                    <a:pt x="26102" y="0"/>
                    <a:pt x="58301" y="0"/>
                  </a:cubicBezTo>
                  <a:cubicBezTo>
                    <a:pt x="90500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4E3F603B-0FA7-F049-AFB5-254C1D390A17}"/>
                </a:ext>
              </a:extLst>
            </p:cNvPr>
            <p:cNvSpPr>
              <a:spLocks/>
            </p:cNvSpPr>
            <p:nvPr/>
          </p:nvSpPr>
          <p:spPr>
            <a:xfrm>
              <a:off x="7278238" y="3719598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1 w 116603"/>
                <a:gd name="connsiteY1" fmla="*/ 116603 h 116603"/>
                <a:gd name="connsiteX2" fmla="*/ -1 w 116603"/>
                <a:gd name="connsiteY2" fmla="*/ 58302 h 116603"/>
                <a:gd name="connsiteX3" fmla="*/ 58301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0" y="116603"/>
                    <a:pt x="58301" y="116603"/>
                  </a:cubicBezTo>
                  <a:cubicBezTo>
                    <a:pt x="26102" y="116603"/>
                    <a:pt x="-1" y="90501"/>
                    <a:pt x="-1" y="58302"/>
                  </a:cubicBezTo>
                  <a:cubicBezTo>
                    <a:pt x="-1" y="26103"/>
                    <a:pt x="26102" y="0"/>
                    <a:pt x="58301" y="0"/>
                  </a:cubicBezTo>
                  <a:cubicBezTo>
                    <a:pt x="90500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2C3CC0B6-C2D0-C056-F33A-F0D2672A39FF}"/>
                </a:ext>
              </a:extLst>
            </p:cNvPr>
            <p:cNvSpPr>
              <a:spLocks/>
            </p:cNvSpPr>
            <p:nvPr/>
          </p:nvSpPr>
          <p:spPr>
            <a:xfrm>
              <a:off x="4733441" y="3154356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7C3F4E79-1384-93F3-7481-8531AD607E93}"/>
                </a:ext>
              </a:extLst>
            </p:cNvPr>
            <p:cNvSpPr>
              <a:spLocks/>
            </p:cNvSpPr>
            <p:nvPr/>
          </p:nvSpPr>
          <p:spPr>
            <a:xfrm>
              <a:off x="5697521" y="3521413"/>
              <a:ext cx="108817" cy="108817"/>
            </a:xfrm>
            <a:prstGeom prst="ellipse">
              <a:avLst/>
            </a:prstGeom>
            <a:solidFill>
              <a:srgbClr val="2BB4A2"/>
            </a:solidFill>
            <a:ln w="3086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FBC5113D-F6C7-3337-6D97-03FAC655D6F3}"/>
                </a:ext>
              </a:extLst>
            </p:cNvPr>
            <p:cNvSpPr>
              <a:spLocks/>
            </p:cNvSpPr>
            <p:nvPr/>
          </p:nvSpPr>
          <p:spPr>
            <a:xfrm>
              <a:off x="5982852" y="3616043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911EE74C-87F4-B20A-DE03-32F08B4B78C0}"/>
                </a:ext>
              </a:extLst>
            </p:cNvPr>
            <p:cNvSpPr>
              <a:spLocks/>
            </p:cNvSpPr>
            <p:nvPr/>
          </p:nvSpPr>
          <p:spPr>
            <a:xfrm>
              <a:off x="6281517" y="2849114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1854CDF4-96E2-F53D-F93D-96F36217C604}"/>
                </a:ext>
              </a:extLst>
            </p:cNvPr>
            <p:cNvSpPr>
              <a:spLocks/>
            </p:cNvSpPr>
            <p:nvPr/>
          </p:nvSpPr>
          <p:spPr>
            <a:xfrm>
              <a:off x="6509990" y="3246758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31BBD757-5274-63CB-CBC9-F9E192A4579C}"/>
                </a:ext>
              </a:extLst>
            </p:cNvPr>
            <p:cNvSpPr>
              <a:spLocks/>
            </p:cNvSpPr>
            <p:nvPr/>
          </p:nvSpPr>
          <p:spPr>
            <a:xfrm>
              <a:off x="6735656" y="3858836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445D7DB3-8004-ADA9-BBF8-CBFCBC37551B}"/>
                </a:ext>
              </a:extLst>
            </p:cNvPr>
            <p:cNvSpPr>
              <a:spLocks/>
            </p:cNvSpPr>
            <p:nvPr/>
          </p:nvSpPr>
          <p:spPr>
            <a:xfrm>
              <a:off x="6860950" y="3653961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6CEB8EFB-5D1E-BE0D-4C2C-F7A7BFF675E2}"/>
                </a:ext>
              </a:extLst>
            </p:cNvPr>
            <p:cNvSpPr>
              <a:spLocks/>
            </p:cNvSpPr>
            <p:nvPr/>
          </p:nvSpPr>
          <p:spPr>
            <a:xfrm>
              <a:off x="7064856" y="3142567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4F32F514-EEA8-F9B1-239B-59E7ACD55019}"/>
                </a:ext>
              </a:extLst>
            </p:cNvPr>
            <p:cNvSpPr>
              <a:spLocks/>
            </p:cNvSpPr>
            <p:nvPr/>
          </p:nvSpPr>
          <p:spPr>
            <a:xfrm>
              <a:off x="7230158" y="2779335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A2B5D186-71FC-CCD2-C958-8F84974AE036}"/>
                </a:ext>
              </a:extLst>
            </p:cNvPr>
            <p:cNvSpPr>
              <a:spLocks/>
            </p:cNvSpPr>
            <p:nvPr/>
          </p:nvSpPr>
          <p:spPr>
            <a:xfrm>
              <a:off x="7397565" y="3011613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4C2B6355-F024-7F57-356B-0F5C5107DA6B}"/>
                </a:ext>
              </a:extLst>
            </p:cNvPr>
            <p:cNvSpPr>
              <a:spLocks/>
            </p:cNvSpPr>
            <p:nvPr/>
          </p:nvSpPr>
          <p:spPr>
            <a:xfrm>
              <a:off x="7563920" y="2837962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A11FFFF5-33C3-83E4-A742-6D483C3DB135}"/>
                </a:ext>
              </a:extLst>
            </p:cNvPr>
            <p:cNvSpPr>
              <a:spLocks/>
            </p:cNvSpPr>
            <p:nvPr/>
          </p:nvSpPr>
          <p:spPr>
            <a:xfrm>
              <a:off x="7769929" y="2585611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C8A344B7-5244-9316-1980-0371BF51E115}"/>
                </a:ext>
              </a:extLst>
            </p:cNvPr>
            <p:cNvSpPr>
              <a:spLocks/>
            </p:cNvSpPr>
            <p:nvPr/>
          </p:nvSpPr>
          <p:spPr>
            <a:xfrm>
              <a:off x="7947165" y="2691713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B387E827-7C0A-E9BC-BE63-994045FA6667}"/>
                </a:ext>
              </a:extLst>
            </p:cNvPr>
            <p:cNvSpPr>
              <a:spLocks/>
            </p:cNvSpPr>
            <p:nvPr/>
          </p:nvSpPr>
          <p:spPr>
            <a:xfrm>
              <a:off x="8078423" y="2773601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18A4EF22-E2EB-33E5-1AA6-E3B844B89C34}"/>
                </a:ext>
              </a:extLst>
            </p:cNvPr>
            <p:cNvSpPr>
              <a:spLocks/>
            </p:cNvSpPr>
            <p:nvPr/>
          </p:nvSpPr>
          <p:spPr>
            <a:xfrm>
              <a:off x="8253201" y="2228433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FDFD7240-F551-5904-BFB6-4FC4AAD96EB5}"/>
                </a:ext>
              </a:extLst>
            </p:cNvPr>
            <p:cNvSpPr>
              <a:spLocks/>
            </p:cNvSpPr>
            <p:nvPr/>
          </p:nvSpPr>
          <p:spPr>
            <a:xfrm>
              <a:off x="8505189" y="2556617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CA56EB26-AD4A-05A4-7D1B-0CB3B9A578A1}"/>
                </a:ext>
              </a:extLst>
            </p:cNvPr>
            <p:cNvSpPr>
              <a:spLocks/>
            </p:cNvSpPr>
            <p:nvPr/>
          </p:nvSpPr>
          <p:spPr>
            <a:xfrm>
              <a:off x="8678210" y="2117869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55A6D55F-7835-2F73-CD81-AC29E91EE22E}"/>
                </a:ext>
              </a:extLst>
            </p:cNvPr>
            <p:cNvSpPr>
              <a:spLocks/>
            </p:cNvSpPr>
            <p:nvPr/>
          </p:nvSpPr>
          <p:spPr>
            <a:xfrm>
              <a:off x="8995477" y="2222698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833E7821-F98F-9DFA-9A18-3D1D4173A110}"/>
                </a:ext>
              </a:extLst>
            </p:cNvPr>
            <p:cNvSpPr>
              <a:spLocks/>
            </p:cNvSpPr>
            <p:nvPr/>
          </p:nvSpPr>
          <p:spPr>
            <a:xfrm>
              <a:off x="9485063" y="2045860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B60B34A5-85CD-911B-A05D-1C7CF793FDBA}"/>
                </a:ext>
              </a:extLst>
            </p:cNvPr>
            <p:cNvSpPr>
              <a:spLocks/>
            </p:cNvSpPr>
            <p:nvPr/>
          </p:nvSpPr>
          <p:spPr>
            <a:xfrm>
              <a:off x="11162291" y="2245957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061988DE-DE04-EEAD-D102-8E6BB568B37E}"/>
                </a:ext>
              </a:extLst>
            </p:cNvPr>
            <p:cNvSpPr>
              <a:spLocks/>
            </p:cNvSpPr>
            <p:nvPr/>
          </p:nvSpPr>
          <p:spPr>
            <a:xfrm>
              <a:off x="1499011" y="5580049"/>
              <a:ext cx="97566" cy="1770"/>
            </a:xfrm>
            <a:custGeom>
              <a:avLst/>
              <a:gdLst>
                <a:gd name="connsiteX0" fmla="*/ 95340 w 95340"/>
                <a:gd name="connsiteY0" fmla="*/ 0 h 1905"/>
                <a:gd name="connsiteX1" fmla="*/ 0 w 95340"/>
                <a:gd name="connsiteY1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340" h="1905">
                  <a:moveTo>
                    <a:pt x="95340" y="0"/>
                  </a:moveTo>
                  <a:lnTo>
                    <a:pt x="0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5765FB1B-E1DA-C90D-EFA0-96E2C7DC4E62}"/>
                </a:ext>
              </a:extLst>
            </p:cNvPr>
            <p:cNvSpPr txBox="1">
              <a:spLocks/>
            </p:cNvSpPr>
            <p:nvPr/>
          </p:nvSpPr>
          <p:spPr>
            <a:xfrm>
              <a:off x="876513" y="5407768"/>
              <a:ext cx="6319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-$4k</a:t>
              </a:r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B0AC79E7-F249-D97C-C4EA-07BB85FCCF93}"/>
                </a:ext>
              </a:extLst>
            </p:cNvPr>
            <p:cNvSpPr>
              <a:spLocks/>
            </p:cNvSpPr>
            <p:nvPr/>
          </p:nvSpPr>
          <p:spPr>
            <a:xfrm>
              <a:off x="1499011" y="4606332"/>
              <a:ext cx="97566" cy="1770"/>
            </a:xfrm>
            <a:custGeom>
              <a:avLst/>
              <a:gdLst>
                <a:gd name="connsiteX0" fmla="*/ 95340 w 95340"/>
                <a:gd name="connsiteY0" fmla="*/ 0 h 1905"/>
                <a:gd name="connsiteX1" fmla="*/ 0 w 95340"/>
                <a:gd name="connsiteY1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340" h="1905">
                  <a:moveTo>
                    <a:pt x="95340" y="0"/>
                  </a:moveTo>
                  <a:lnTo>
                    <a:pt x="0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32F09E7E-7A92-F239-05C3-B205D962428C}"/>
                </a:ext>
              </a:extLst>
            </p:cNvPr>
            <p:cNvSpPr txBox="1">
              <a:spLocks/>
            </p:cNvSpPr>
            <p:nvPr/>
          </p:nvSpPr>
          <p:spPr>
            <a:xfrm>
              <a:off x="876513" y="4434051"/>
              <a:ext cx="6319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-$2k</a:t>
              </a:r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1D3DDE72-D94F-E8B5-9C75-279EDDF0261E}"/>
                </a:ext>
              </a:extLst>
            </p:cNvPr>
            <p:cNvSpPr>
              <a:spLocks/>
            </p:cNvSpPr>
            <p:nvPr/>
          </p:nvSpPr>
          <p:spPr>
            <a:xfrm>
              <a:off x="1499011" y="3632932"/>
              <a:ext cx="97566" cy="1770"/>
            </a:xfrm>
            <a:custGeom>
              <a:avLst/>
              <a:gdLst>
                <a:gd name="connsiteX0" fmla="*/ 95340 w 95340"/>
                <a:gd name="connsiteY0" fmla="*/ 0 h 1905"/>
                <a:gd name="connsiteX1" fmla="*/ 0 w 95340"/>
                <a:gd name="connsiteY1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340" h="1905">
                  <a:moveTo>
                    <a:pt x="95340" y="0"/>
                  </a:moveTo>
                  <a:lnTo>
                    <a:pt x="0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730FE362-3D49-9CC1-779A-4B54E8164C7E}"/>
                </a:ext>
              </a:extLst>
            </p:cNvPr>
            <p:cNvSpPr txBox="1">
              <a:spLocks/>
            </p:cNvSpPr>
            <p:nvPr/>
          </p:nvSpPr>
          <p:spPr>
            <a:xfrm>
              <a:off x="1082527" y="3460651"/>
              <a:ext cx="4443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$0</a:t>
              </a:r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AA6CC02-CAE3-27F6-9BD9-A53C9EDAA40E}"/>
                </a:ext>
              </a:extLst>
            </p:cNvPr>
            <p:cNvSpPr>
              <a:spLocks/>
            </p:cNvSpPr>
            <p:nvPr/>
          </p:nvSpPr>
          <p:spPr>
            <a:xfrm>
              <a:off x="1499011" y="2659214"/>
              <a:ext cx="97566" cy="1770"/>
            </a:xfrm>
            <a:custGeom>
              <a:avLst/>
              <a:gdLst>
                <a:gd name="connsiteX0" fmla="*/ 95340 w 95340"/>
                <a:gd name="connsiteY0" fmla="*/ 0 h 1905"/>
                <a:gd name="connsiteX1" fmla="*/ 0 w 95340"/>
                <a:gd name="connsiteY1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340" h="1905">
                  <a:moveTo>
                    <a:pt x="95340" y="0"/>
                  </a:moveTo>
                  <a:lnTo>
                    <a:pt x="0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0A0EC0A5-7548-6498-DF8F-F80765CE07AE}"/>
                </a:ext>
              </a:extLst>
            </p:cNvPr>
            <p:cNvSpPr txBox="1">
              <a:spLocks/>
            </p:cNvSpPr>
            <p:nvPr/>
          </p:nvSpPr>
          <p:spPr>
            <a:xfrm>
              <a:off x="962301" y="2486934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$2k</a:t>
              </a:r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4547E997-8675-0078-A259-831507591517}"/>
                </a:ext>
              </a:extLst>
            </p:cNvPr>
            <p:cNvSpPr>
              <a:spLocks/>
            </p:cNvSpPr>
            <p:nvPr/>
          </p:nvSpPr>
          <p:spPr>
            <a:xfrm>
              <a:off x="1499011" y="1685497"/>
              <a:ext cx="97566" cy="1770"/>
            </a:xfrm>
            <a:custGeom>
              <a:avLst/>
              <a:gdLst>
                <a:gd name="connsiteX0" fmla="*/ 95340 w 95340"/>
                <a:gd name="connsiteY0" fmla="*/ 0 h 1905"/>
                <a:gd name="connsiteX1" fmla="*/ 0 w 95340"/>
                <a:gd name="connsiteY1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340" h="1905">
                  <a:moveTo>
                    <a:pt x="95340" y="0"/>
                  </a:moveTo>
                  <a:lnTo>
                    <a:pt x="0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AAC7D2C4-081F-FC59-75DB-181D7FC14D51}"/>
                </a:ext>
              </a:extLst>
            </p:cNvPr>
            <p:cNvSpPr txBox="1">
              <a:spLocks/>
            </p:cNvSpPr>
            <p:nvPr/>
          </p:nvSpPr>
          <p:spPr>
            <a:xfrm>
              <a:off x="962301" y="1513216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$4k</a:t>
              </a:r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F7E84DF-3347-F231-5D8E-F97FB3B5F0B4}"/>
                </a:ext>
              </a:extLst>
            </p:cNvPr>
            <p:cNvSpPr>
              <a:spLocks/>
            </p:cNvSpPr>
            <p:nvPr/>
          </p:nvSpPr>
          <p:spPr>
            <a:xfrm>
              <a:off x="2344469" y="5729926"/>
              <a:ext cx="83901" cy="76172"/>
            </a:xfrm>
            <a:custGeom>
              <a:avLst/>
              <a:gdLst>
                <a:gd name="connsiteX0" fmla="*/ 0 w 1905"/>
                <a:gd name="connsiteY0" fmla="*/ 0 h 94997"/>
                <a:gd name="connsiteX1" fmla="*/ 0 w 1905"/>
                <a:gd name="connsiteY1" fmla="*/ 94997 h 9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" h="94997">
                  <a:moveTo>
                    <a:pt x="0" y="0"/>
                  </a:moveTo>
                  <a:lnTo>
                    <a:pt x="0" y="94997"/>
                  </a:lnTo>
                </a:path>
              </a:pathLst>
            </a:custGeom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1128BE8A-ED79-65B8-15F2-FB04879CB364}"/>
                </a:ext>
              </a:extLst>
            </p:cNvPr>
            <p:cNvSpPr>
              <a:spLocks/>
            </p:cNvSpPr>
            <p:nvPr/>
          </p:nvSpPr>
          <p:spPr>
            <a:xfrm>
              <a:off x="4644297" y="5729926"/>
              <a:ext cx="83901" cy="76172"/>
            </a:xfrm>
            <a:custGeom>
              <a:avLst/>
              <a:gdLst>
                <a:gd name="connsiteX0" fmla="*/ 0 w 1905"/>
                <a:gd name="connsiteY0" fmla="*/ 0 h 94997"/>
                <a:gd name="connsiteX1" fmla="*/ 0 w 1905"/>
                <a:gd name="connsiteY1" fmla="*/ 94997 h 9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" h="94997">
                  <a:moveTo>
                    <a:pt x="0" y="0"/>
                  </a:moveTo>
                  <a:lnTo>
                    <a:pt x="0" y="94997"/>
                  </a:lnTo>
                </a:path>
              </a:pathLst>
            </a:custGeom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B6C8472-E144-06F3-6810-26B5E096508B}"/>
                </a:ext>
              </a:extLst>
            </p:cNvPr>
            <p:cNvSpPr>
              <a:spLocks/>
            </p:cNvSpPr>
            <p:nvPr/>
          </p:nvSpPr>
          <p:spPr>
            <a:xfrm>
              <a:off x="6944479" y="5729926"/>
              <a:ext cx="1949" cy="88259"/>
            </a:xfrm>
            <a:custGeom>
              <a:avLst/>
              <a:gdLst>
                <a:gd name="connsiteX0" fmla="*/ 0 w 1905"/>
                <a:gd name="connsiteY0" fmla="*/ 0 h 94997"/>
                <a:gd name="connsiteX1" fmla="*/ 0 w 1905"/>
                <a:gd name="connsiteY1" fmla="*/ 94997 h 9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" h="94997">
                  <a:moveTo>
                    <a:pt x="0" y="0"/>
                  </a:moveTo>
                  <a:lnTo>
                    <a:pt x="0" y="94997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3974C52-A4CE-325B-BFA9-09CDB8C558BE}"/>
                </a:ext>
              </a:extLst>
            </p:cNvPr>
            <p:cNvSpPr>
              <a:spLocks/>
            </p:cNvSpPr>
            <p:nvPr/>
          </p:nvSpPr>
          <p:spPr>
            <a:xfrm>
              <a:off x="9244308" y="5729926"/>
              <a:ext cx="1949" cy="88259"/>
            </a:xfrm>
            <a:custGeom>
              <a:avLst/>
              <a:gdLst>
                <a:gd name="connsiteX0" fmla="*/ 0 w 1905"/>
                <a:gd name="connsiteY0" fmla="*/ 0 h 94997"/>
                <a:gd name="connsiteX1" fmla="*/ 0 w 1905"/>
                <a:gd name="connsiteY1" fmla="*/ 94997 h 9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" h="94997">
                  <a:moveTo>
                    <a:pt x="0" y="0"/>
                  </a:moveTo>
                  <a:lnTo>
                    <a:pt x="0" y="94997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F48D1F98-D643-663F-AA14-5967B4F59FF0}"/>
                </a:ext>
              </a:extLst>
            </p:cNvPr>
            <p:cNvSpPr>
              <a:spLocks/>
            </p:cNvSpPr>
            <p:nvPr/>
          </p:nvSpPr>
          <p:spPr>
            <a:xfrm>
              <a:off x="11544486" y="5729926"/>
              <a:ext cx="1949" cy="88259"/>
            </a:xfrm>
            <a:custGeom>
              <a:avLst/>
              <a:gdLst>
                <a:gd name="connsiteX0" fmla="*/ 0 w 1905"/>
                <a:gd name="connsiteY0" fmla="*/ 0 h 94997"/>
                <a:gd name="connsiteX1" fmla="*/ 0 w 1905"/>
                <a:gd name="connsiteY1" fmla="*/ 94997 h 9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" h="94997">
                  <a:moveTo>
                    <a:pt x="0" y="0"/>
                  </a:moveTo>
                  <a:lnTo>
                    <a:pt x="0" y="94997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1F68D89-17ED-924C-60E0-55FC8F94FF5C}"/>
                </a:ext>
              </a:extLst>
            </p:cNvPr>
            <p:cNvSpPr txBox="1">
              <a:spLocks/>
            </p:cNvSpPr>
            <p:nvPr/>
          </p:nvSpPr>
          <p:spPr>
            <a:xfrm>
              <a:off x="2026531" y="5762787"/>
              <a:ext cx="5116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-15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5428B4D-C84E-8802-63D2-2ECC8FB6C943}"/>
                </a:ext>
              </a:extLst>
            </p:cNvPr>
            <p:cNvSpPr txBox="1">
              <a:spLocks/>
            </p:cNvSpPr>
            <p:nvPr/>
          </p:nvSpPr>
          <p:spPr>
            <a:xfrm>
              <a:off x="4326359" y="5762787"/>
              <a:ext cx="5116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-10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27DC5DE-1AE9-9FD4-CAB7-095B98CFC035}"/>
                </a:ext>
              </a:extLst>
            </p:cNvPr>
            <p:cNvSpPr txBox="1">
              <a:spLocks/>
            </p:cNvSpPr>
            <p:nvPr/>
          </p:nvSpPr>
          <p:spPr>
            <a:xfrm>
              <a:off x="6754436" y="5762787"/>
              <a:ext cx="3818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-5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2209059-4297-3F75-2E83-29B60FD73DF4}"/>
                </a:ext>
              </a:extLst>
            </p:cNvPr>
            <p:cNvSpPr txBox="1">
              <a:spLocks/>
            </p:cNvSpPr>
            <p:nvPr/>
          </p:nvSpPr>
          <p:spPr>
            <a:xfrm>
              <a:off x="9097159" y="5762787"/>
              <a:ext cx="314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64395F2-3352-FAE9-7EDA-83CEB8BF6C8E}"/>
                </a:ext>
              </a:extLst>
            </p:cNvPr>
            <p:cNvSpPr txBox="1">
              <a:spLocks/>
            </p:cNvSpPr>
            <p:nvPr/>
          </p:nvSpPr>
          <p:spPr>
            <a:xfrm>
              <a:off x="11397338" y="5762787"/>
              <a:ext cx="314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5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59CF0D7-87DA-130B-2914-F09F3351A552}"/>
                </a:ext>
              </a:extLst>
            </p:cNvPr>
            <p:cNvSpPr txBox="1">
              <a:spLocks/>
            </p:cNvSpPr>
            <p:nvPr/>
          </p:nvSpPr>
          <p:spPr>
            <a:xfrm>
              <a:off x="8876601" y="4302328"/>
              <a:ext cx="28520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White, Low-Income Parents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179722C-E0AA-D002-DB68-E6A793678692}"/>
                </a:ext>
              </a:extLst>
            </p:cNvPr>
            <p:cNvSpPr txBox="1">
              <a:spLocks/>
            </p:cNvSpPr>
            <p:nvPr/>
          </p:nvSpPr>
          <p:spPr>
            <a:xfrm>
              <a:off x="8876601" y="4612032"/>
              <a:ext cx="28167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Black, Low-Income Parents</a:t>
              </a:r>
            </a:p>
          </p:txBody>
        </p:sp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037801B2-3D6A-EF3B-261B-AE969A008B18}"/>
                </a:ext>
              </a:extLst>
            </p:cNvPr>
            <p:cNvSpPr>
              <a:spLocks/>
            </p:cNvSpPr>
            <p:nvPr/>
          </p:nvSpPr>
          <p:spPr>
            <a:xfrm>
              <a:off x="8718794" y="4410714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2 w 116603"/>
                <a:gd name="connsiteY1" fmla="*/ 116603 h 116603"/>
                <a:gd name="connsiteX2" fmla="*/ 0 w 116603"/>
                <a:gd name="connsiteY2" fmla="*/ 58302 h 116603"/>
                <a:gd name="connsiteX3" fmla="*/ 58302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1" y="116603"/>
                    <a:pt x="58302" y="116603"/>
                  </a:cubicBezTo>
                  <a:cubicBezTo>
                    <a:pt x="26103" y="116603"/>
                    <a:pt x="0" y="90501"/>
                    <a:pt x="0" y="58302"/>
                  </a:cubicBezTo>
                  <a:cubicBezTo>
                    <a:pt x="0" y="26103"/>
                    <a:pt x="26103" y="0"/>
                    <a:pt x="58302" y="0"/>
                  </a:cubicBezTo>
                  <a:cubicBezTo>
                    <a:pt x="90501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F9B9C7F-ED18-8C71-375C-6B6732299DF4}"/>
                </a:ext>
              </a:extLst>
            </p:cNvPr>
            <p:cNvSpPr>
              <a:spLocks/>
            </p:cNvSpPr>
            <p:nvPr/>
          </p:nvSpPr>
          <p:spPr>
            <a:xfrm>
              <a:off x="8718794" y="4720417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170">
              <a:extLst>
                <a:ext uri="{FF2B5EF4-FFF2-40B4-BE49-F238E27FC236}">
                  <a16:creationId xmlns:a16="http://schemas.microsoft.com/office/drawing/2014/main" id="{05712CCD-D6C4-7760-8135-19DACAC5B1CD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-1742180" y="3288345"/>
              <a:ext cx="4390577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121869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  <a:t>Change in</a:t>
              </a:r>
              <a:r>
                <a:rPr kumimoji="0" lang="el-G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  <a:t>Avg. Household Income for Children in Adulthood (1978-1992 Cohorts)</a:t>
              </a:r>
            </a:p>
          </p:txBody>
        </p:sp>
        <p:sp>
          <p:nvSpPr>
            <p:cNvPr id="13" name="Rectangle 182">
              <a:extLst>
                <a:ext uri="{FF2B5EF4-FFF2-40B4-BE49-F238E27FC236}">
                  <a16:creationId xmlns:a16="http://schemas.microsoft.com/office/drawing/2014/main" id="{BF700204-586E-65C7-E6AE-DB750F04A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5328" y="6108731"/>
              <a:ext cx="700031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121914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  <a:t>Change in County-Level Parent Employment Rate (1978-1992 Cohorts)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2232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9FB03-3ABA-F873-1AF0-D58B5A5A4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94">
            <a:extLst>
              <a:ext uri="{FF2B5EF4-FFF2-40B4-BE49-F238E27FC236}">
                <a16:creationId xmlns:a16="http://schemas.microsoft.com/office/drawing/2014/main" id="{68216FE9-C9DE-2529-EA76-DFBF01E8B84C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 bwMode="auto">
          <a:xfrm>
            <a:off x="1524057" y="277836"/>
            <a:ext cx="9144001" cy="665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52" tIns="45718" rIns="91152" bIns="4571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3" name="Rectangle 183">
            <a:extLst>
              <a:ext uri="{FF2B5EF4-FFF2-40B4-BE49-F238E27FC236}">
                <a16:creationId xmlns:a16="http://schemas.microsoft.com/office/drawing/2014/main" id="{BCC7107F-5732-BD59-F4D4-702193BDE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351" y="598576"/>
            <a:ext cx="10099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endParaRPr kumimoji="0" lang="en-US" alt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pic>
        <p:nvPicPr>
          <p:cNvPr id="8" name="Picture 7" descr="A black and grey text&#10;&#10;Description automatically generated">
            <a:extLst>
              <a:ext uri="{FF2B5EF4-FFF2-40B4-BE49-F238E27FC236}">
                <a16:creationId xmlns:a16="http://schemas.microsoft.com/office/drawing/2014/main" id="{39B8E7E8-AFC6-D5AF-55F7-5D85BB9498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93" name="AutoShape 112">
            <a:extLst>
              <a:ext uri="{FF2B5EF4-FFF2-40B4-BE49-F238E27FC236}">
                <a16:creationId xmlns:a16="http://schemas.microsoft.com/office/drawing/2014/main" id="{7CA60E8A-517D-9F82-E880-534B920DCABA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737568" y="827532"/>
            <a:ext cx="8627719" cy="5392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F4B1CB-5C89-3FC7-CED5-5B8F1FFEC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42" y="375323"/>
            <a:ext cx="11221341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Changes in Economic Mobility vs. Changes in Parent Employment Rates</a:t>
            </a: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By County, Race, and Class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BA8C614-AC0A-20C1-76DC-647C4D9BA57D}"/>
              </a:ext>
            </a:extLst>
          </p:cNvPr>
          <p:cNvGrpSpPr/>
          <p:nvPr/>
        </p:nvGrpSpPr>
        <p:grpSpPr>
          <a:xfrm>
            <a:off x="206887" y="1339278"/>
            <a:ext cx="11527778" cy="4762063"/>
            <a:chOff x="206887" y="1339278"/>
            <a:chExt cx="11527778" cy="4762063"/>
          </a:xfrm>
        </p:grpSpPr>
        <p:sp>
          <p:nvSpPr>
            <p:cNvPr id="6" name="Line 119">
              <a:extLst>
                <a:ext uri="{FF2B5EF4-FFF2-40B4-BE49-F238E27FC236}">
                  <a16:creationId xmlns:a16="http://schemas.microsoft.com/office/drawing/2014/main" id="{F7A84293-6DA4-4D72-A1E8-9F732C77C67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683097" y="5289350"/>
              <a:ext cx="108817" cy="108817"/>
            </a:xfrm>
            <a:prstGeom prst="line">
              <a:avLst/>
            </a:prstGeom>
            <a:noFill/>
            <a:ln w="3175">
              <a:noFill/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+mn-cs"/>
              </a:endParaRPr>
            </a:p>
          </p:txBody>
        </p:sp>
        <p:sp>
          <p:nvSpPr>
            <p:cNvPr id="7" name="Line 120">
              <a:extLst>
                <a:ext uri="{FF2B5EF4-FFF2-40B4-BE49-F238E27FC236}">
                  <a16:creationId xmlns:a16="http://schemas.microsoft.com/office/drawing/2014/main" id="{954D960A-623E-F59A-C6BB-923015116B0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683097" y="5124377"/>
              <a:ext cx="108817" cy="108817"/>
            </a:xfrm>
            <a:prstGeom prst="line">
              <a:avLst/>
            </a:prstGeom>
            <a:noFill/>
            <a:ln w="3175">
              <a:noFill/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+mn-cs"/>
              </a:endParaRPr>
            </a:p>
          </p:txBody>
        </p:sp>
        <p:sp>
          <p:nvSpPr>
            <p:cNvPr id="90" name="Rectangle 214">
              <a:extLst>
                <a:ext uri="{FF2B5EF4-FFF2-40B4-BE49-F238E27FC236}">
                  <a16:creationId xmlns:a16="http://schemas.microsoft.com/office/drawing/2014/main" id="{8F348B51-900F-ECC7-4C2F-F63458F75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6076" y="4890878"/>
              <a:ext cx="108817" cy="108817"/>
            </a:xfrm>
            <a:prstGeom prst="rect">
              <a:avLst/>
            </a:prstGeom>
            <a:solidFill>
              <a:srgbClr val="FFFFFF"/>
            </a:solidFill>
            <a:ln w="1428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+mn-cs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102AEB51-C734-8DFC-A8EA-0FAE72190317}"/>
                </a:ext>
              </a:extLst>
            </p:cNvPr>
            <p:cNvSpPr>
              <a:spLocks/>
            </p:cNvSpPr>
            <p:nvPr/>
          </p:nvSpPr>
          <p:spPr>
            <a:xfrm>
              <a:off x="1596305" y="1521020"/>
              <a:ext cx="1965" cy="4208839"/>
            </a:xfrm>
            <a:custGeom>
              <a:avLst/>
              <a:gdLst>
                <a:gd name="connsiteX0" fmla="*/ 0 w 1905"/>
                <a:gd name="connsiteY0" fmla="*/ 4493680 h 4493680"/>
                <a:gd name="connsiteX1" fmla="*/ 0 w 1905"/>
                <a:gd name="connsiteY1" fmla="*/ 0 h 449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" h="4493680">
                  <a:moveTo>
                    <a:pt x="0" y="4493680"/>
                  </a:moveTo>
                  <a:lnTo>
                    <a:pt x="0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FCB24DB-6375-4298-04C2-B7CE845AE8FA}"/>
                </a:ext>
              </a:extLst>
            </p:cNvPr>
            <p:cNvSpPr>
              <a:spLocks/>
            </p:cNvSpPr>
            <p:nvPr/>
          </p:nvSpPr>
          <p:spPr>
            <a:xfrm>
              <a:off x="1596305" y="5729860"/>
              <a:ext cx="10138360" cy="1784"/>
            </a:xfrm>
            <a:custGeom>
              <a:avLst/>
              <a:gdLst>
                <a:gd name="connsiteX0" fmla="*/ 0 w 9827246"/>
                <a:gd name="connsiteY0" fmla="*/ 0 h 1905"/>
                <a:gd name="connsiteX1" fmla="*/ 9827247 w 9827246"/>
                <a:gd name="connsiteY1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827246" h="1905">
                  <a:moveTo>
                    <a:pt x="0" y="0"/>
                  </a:moveTo>
                  <a:lnTo>
                    <a:pt x="9827247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768677A3-4FC3-C710-2460-017C06B321E3}"/>
                </a:ext>
              </a:extLst>
            </p:cNvPr>
            <p:cNvSpPr>
              <a:spLocks/>
            </p:cNvSpPr>
            <p:nvPr/>
          </p:nvSpPr>
          <p:spPr>
            <a:xfrm>
              <a:off x="1690985" y="5361472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2 w 116603"/>
                <a:gd name="connsiteY1" fmla="*/ 116604 h 116603"/>
                <a:gd name="connsiteX2" fmla="*/ 0 w 116603"/>
                <a:gd name="connsiteY2" fmla="*/ 58302 h 116603"/>
                <a:gd name="connsiteX3" fmla="*/ 58302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1" y="116604"/>
                    <a:pt x="58302" y="116604"/>
                  </a:cubicBezTo>
                  <a:cubicBezTo>
                    <a:pt x="26103" y="116604"/>
                    <a:pt x="0" y="90501"/>
                    <a:pt x="0" y="58302"/>
                  </a:cubicBezTo>
                  <a:cubicBezTo>
                    <a:pt x="0" y="26103"/>
                    <a:pt x="26103" y="0"/>
                    <a:pt x="58302" y="0"/>
                  </a:cubicBezTo>
                  <a:cubicBezTo>
                    <a:pt x="90501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0807E08-6597-29CB-B6D6-F3603CBE71E3}"/>
                </a:ext>
              </a:extLst>
            </p:cNvPr>
            <p:cNvSpPr>
              <a:spLocks/>
            </p:cNvSpPr>
            <p:nvPr/>
          </p:nvSpPr>
          <p:spPr>
            <a:xfrm>
              <a:off x="2426944" y="5153092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2 w 116603"/>
                <a:gd name="connsiteY1" fmla="*/ 116604 h 116603"/>
                <a:gd name="connsiteX2" fmla="*/ 0 w 116603"/>
                <a:gd name="connsiteY2" fmla="*/ 58302 h 116603"/>
                <a:gd name="connsiteX3" fmla="*/ 58302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1" y="116604"/>
                    <a:pt x="58302" y="116604"/>
                  </a:cubicBezTo>
                  <a:cubicBezTo>
                    <a:pt x="26103" y="116604"/>
                    <a:pt x="0" y="90501"/>
                    <a:pt x="0" y="58302"/>
                  </a:cubicBezTo>
                  <a:cubicBezTo>
                    <a:pt x="0" y="26103"/>
                    <a:pt x="26103" y="0"/>
                    <a:pt x="58302" y="0"/>
                  </a:cubicBezTo>
                  <a:cubicBezTo>
                    <a:pt x="90501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6B5BE81-9E37-B66E-1C42-B19413821824}"/>
                </a:ext>
              </a:extLst>
            </p:cNvPr>
            <p:cNvSpPr>
              <a:spLocks/>
            </p:cNvSpPr>
            <p:nvPr/>
          </p:nvSpPr>
          <p:spPr>
            <a:xfrm>
              <a:off x="2753687" y="5167749"/>
              <a:ext cx="108817" cy="108817"/>
            </a:xfrm>
            <a:custGeom>
              <a:avLst/>
              <a:gdLst>
                <a:gd name="connsiteX0" fmla="*/ 116603 w 116603"/>
                <a:gd name="connsiteY0" fmla="*/ 58301 h 116603"/>
                <a:gd name="connsiteX1" fmla="*/ 58302 w 116603"/>
                <a:gd name="connsiteY1" fmla="*/ 116603 h 116603"/>
                <a:gd name="connsiteX2" fmla="*/ 0 w 116603"/>
                <a:gd name="connsiteY2" fmla="*/ 58301 h 116603"/>
                <a:gd name="connsiteX3" fmla="*/ 58302 w 116603"/>
                <a:gd name="connsiteY3" fmla="*/ 0 h 116603"/>
                <a:gd name="connsiteX4" fmla="*/ 116603 w 116603"/>
                <a:gd name="connsiteY4" fmla="*/ 58301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1"/>
                  </a:moveTo>
                  <a:cubicBezTo>
                    <a:pt x="116603" y="90500"/>
                    <a:pt x="90501" y="116603"/>
                    <a:pt x="58302" y="116603"/>
                  </a:cubicBezTo>
                  <a:cubicBezTo>
                    <a:pt x="26103" y="116603"/>
                    <a:pt x="0" y="90500"/>
                    <a:pt x="0" y="58301"/>
                  </a:cubicBezTo>
                  <a:cubicBezTo>
                    <a:pt x="0" y="26102"/>
                    <a:pt x="26103" y="0"/>
                    <a:pt x="58302" y="0"/>
                  </a:cubicBezTo>
                  <a:cubicBezTo>
                    <a:pt x="90501" y="0"/>
                    <a:pt x="116603" y="26102"/>
                    <a:pt x="116603" y="58301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F173750B-7D51-BB0A-5870-997C414858B5}"/>
                </a:ext>
              </a:extLst>
            </p:cNvPr>
            <p:cNvSpPr>
              <a:spLocks/>
            </p:cNvSpPr>
            <p:nvPr/>
          </p:nvSpPr>
          <p:spPr>
            <a:xfrm>
              <a:off x="2942150" y="5248043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2 w 116603"/>
                <a:gd name="connsiteY1" fmla="*/ 116603 h 116603"/>
                <a:gd name="connsiteX2" fmla="*/ 0 w 116603"/>
                <a:gd name="connsiteY2" fmla="*/ 58302 h 116603"/>
                <a:gd name="connsiteX3" fmla="*/ 58302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1" y="116603"/>
                    <a:pt x="58302" y="116603"/>
                  </a:cubicBezTo>
                  <a:cubicBezTo>
                    <a:pt x="26103" y="116603"/>
                    <a:pt x="0" y="90501"/>
                    <a:pt x="0" y="58302"/>
                  </a:cubicBezTo>
                  <a:cubicBezTo>
                    <a:pt x="0" y="26103"/>
                    <a:pt x="26103" y="0"/>
                    <a:pt x="58302" y="0"/>
                  </a:cubicBezTo>
                  <a:cubicBezTo>
                    <a:pt x="90501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BAB42522-6E98-F605-1522-B0E64BFEBE0D}"/>
                </a:ext>
              </a:extLst>
            </p:cNvPr>
            <p:cNvSpPr>
              <a:spLocks/>
            </p:cNvSpPr>
            <p:nvPr/>
          </p:nvSpPr>
          <p:spPr>
            <a:xfrm>
              <a:off x="3080428" y="5522060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2 w 116603"/>
                <a:gd name="connsiteY1" fmla="*/ 116603 h 116603"/>
                <a:gd name="connsiteX2" fmla="*/ 0 w 116603"/>
                <a:gd name="connsiteY2" fmla="*/ 58302 h 116603"/>
                <a:gd name="connsiteX3" fmla="*/ 58302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1" y="116603"/>
                    <a:pt x="58302" y="116603"/>
                  </a:cubicBezTo>
                  <a:cubicBezTo>
                    <a:pt x="26102" y="116603"/>
                    <a:pt x="0" y="90501"/>
                    <a:pt x="0" y="58302"/>
                  </a:cubicBezTo>
                  <a:cubicBezTo>
                    <a:pt x="0" y="26103"/>
                    <a:pt x="26102" y="0"/>
                    <a:pt x="58302" y="0"/>
                  </a:cubicBezTo>
                  <a:cubicBezTo>
                    <a:pt x="90501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156D29C6-ADB7-3437-4A13-669823F66A23}"/>
                </a:ext>
              </a:extLst>
            </p:cNvPr>
            <p:cNvSpPr>
              <a:spLocks/>
            </p:cNvSpPr>
            <p:nvPr/>
          </p:nvSpPr>
          <p:spPr>
            <a:xfrm>
              <a:off x="3186067" y="4978805"/>
              <a:ext cx="108817" cy="108817"/>
            </a:xfrm>
            <a:custGeom>
              <a:avLst/>
              <a:gdLst>
                <a:gd name="connsiteX0" fmla="*/ 116603 w 116603"/>
                <a:gd name="connsiteY0" fmla="*/ 58301 h 116603"/>
                <a:gd name="connsiteX1" fmla="*/ 58302 w 116603"/>
                <a:gd name="connsiteY1" fmla="*/ 116603 h 116603"/>
                <a:gd name="connsiteX2" fmla="*/ 0 w 116603"/>
                <a:gd name="connsiteY2" fmla="*/ 58301 h 116603"/>
                <a:gd name="connsiteX3" fmla="*/ 58302 w 116603"/>
                <a:gd name="connsiteY3" fmla="*/ 0 h 116603"/>
                <a:gd name="connsiteX4" fmla="*/ 116603 w 116603"/>
                <a:gd name="connsiteY4" fmla="*/ 58301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1"/>
                  </a:moveTo>
                  <a:cubicBezTo>
                    <a:pt x="116603" y="90500"/>
                    <a:pt x="90501" y="116603"/>
                    <a:pt x="58302" y="116603"/>
                  </a:cubicBezTo>
                  <a:cubicBezTo>
                    <a:pt x="26103" y="116603"/>
                    <a:pt x="0" y="90500"/>
                    <a:pt x="0" y="58301"/>
                  </a:cubicBezTo>
                  <a:cubicBezTo>
                    <a:pt x="0" y="26102"/>
                    <a:pt x="26103" y="0"/>
                    <a:pt x="58302" y="0"/>
                  </a:cubicBezTo>
                  <a:cubicBezTo>
                    <a:pt x="90501" y="0"/>
                    <a:pt x="116603" y="26102"/>
                    <a:pt x="116603" y="58301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6B968AF2-A059-9AEB-FC4D-5B7804EE1963}"/>
                </a:ext>
              </a:extLst>
            </p:cNvPr>
            <p:cNvSpPr>
              <a:spLocks/>
            </p:cNvSpPr>
            <p:nvPr/>
          </p:nvSpPr>
          <p:spPr>
            <a:xfrm>
              <a:off x="3362949" y="4680252"/>
              <a:ext cx="108817" cy="108817"/>
            </a:xfrm>
            <a:custGeom>
              <a:avLst/>
              <a:gdLst>
                <a:gd name="connsiteX0" fmla="*/ 85738 w 85737"/>
                <a:gd name="connsiteY0" fmla="*/ 42869 h 85737"/>
                <a:gd name="connsiteX1" fmla="*/ 42869 w 85737"/>
                <a:gd name="connsiteY1" fmla="*/ 85737 h 85737"/>
                <a:gd name="connsiteX2" fmla="*/ 0 w 85737"/>
                <a:gd name="connsiteY2" fmla="*/ 42869 h 85737"/>
                <a:gd name="connsiteX3" fmla="*/ 42869 w 85737"/>
                <a:gd name="connsiteY3" fmla="*/ 0 h 85737"/>
                <a:gd name="connsiteX4" fmla="*/ 85738 w 85737"/>
                <a:gd name="connsiteY4" fmla="*/ 42869 h 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37" h="85737">
                  <a:moveTo>
                    <a:pt x="85738" y="42869"/>
                  </a:moveTo>
                  <a:cubicBezTo>
                    <a:pt x="85738" y="66545"/>
                    <a:pt x="66545" y="85737"/>
                    <a:pt x="42869" y="85737"/>
                  </a:cubicBezTo>
                  <a:cubicBezTo>
                    <a:pt x="19193" y="85737"/>
                    <a:pt x="0" y="66545"/>
                    <a:pt x="0" y="42869"/>
                  </a:cubicBezTo>
                  <a:cubicBezTo>
                    <a:pt x="0" y="19193"/>
                    <a:pt x="19193" y="0"/>
                    <a:pt x="42869" y="0"/>
                  </a:cubicBezTo>
                  <a:cubicBezTo>
                    <a:pt x="66545" y="0"/>
                    <a:pt x="85738" y="19193"/>
                    <a:pt x="85738" y="42869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4A00C401-C7EF-2FC8-336C-6BA77E36A88F}"/>
                </a:ext>
              </a:extLst>
            </p:cNvPr>
            <p:cNvSpPr>
              <a:spLocks/>
            </p:cNvSpPr>
            <p:nvPr/>
          </p:nvSpPr>
          <p:spPr>
            <a:xfrm>
              <a:off x="3535622" y="4695547"/>
              <a:ext cx="108817" cy="108817"/>
            </a:xfrm>
            <a:custGeom>
              <a:avLst/>
              <a:gdLst>
                <a:gd name="connsiteX0" fmla="*/ 116603 w 116603"/>
                <a:gd name="connsiteY0" fmla="*/ 58301 h 116603"/>
                <a:gd name="connsiteX1" fmla="*/ 58302 w 116603"/>
                <a:gd name="connsiteY1" fmla="*/ 116603 h 116603"/>
                <a:gd name="connsiteX2" fmla="*/ 0 w 116603"/>
                <a:gd name="connsiteY2" fmla="*/ 58301 h 116603"/>
                <a:gd name="connsiteX3" fmla="*/ 58302 w 116603"/>
                <a:gd name="connsiteY3" fmla="*/ 0 h 116603"/>
                <a:gd name="connsiteX4" fmla="*/ 116603 w 116603"/>
                <a:gd name="connsiteY4" fmla="*/ 58301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1"/>
                  </a:moveTo>
                  <a:cubicBezTo>
                    <a:pt x="116603" y="90500"/>
                    <a:pt x="90501" y="116603"/>
                    <a:pt x="58302" y="116603"/>
                  </a:cubicBezTo>
                  <a:cubicBezTo>
                    <a:pt x="26103" y="116603"/>
                    <a:pt x="0" y="90500"/>
                    <a:pt x="0" y="58301"/>
                  </a:cubicBezTo>
                  <a:cubicBezTo>
                    <a:pt x="0" y="26102"/>
                    <a:pt x="26103" y="0"/>
                    <a:pt x="58302" y="0"/>
                  </a:cubicBezTo>
                  <a:cubicBezTo>
                    <a:pt x="90501" y="0"/>
                    <a:pt x="116603" y="26102"/>
                    <a:pt x="116603" y="58301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E9C2B13-237C-7B66-8C29-C6974A29F892}"/>
                </a:ext>
              </a:extLst>
            </p:cNvPr>
            <p:cNvSpPr>
              <a:spLocks/>
            </p:cNvSpPr>
            <p:nvPr/>
          </p:nvSpPr>
          <p:spPr>
            <a:xfrm>
              <a:off x="3646172" y="4665914"/>
              <a:ext cx="108817" cy="108817"/>
            </a:xfrm>
            <a:custGeom>
              <a:avLst/>
              <a:gdLst>
                <a:gd name="connsiteX0" fmla="*/ 116603 w 116603"/>
                <a:gd name="connsiteY0" fmla="*/ 58301 h 116603"/>
                <a:gd name="connsiteX1" fmla="*/ 58302 w 116603"/>
                <a:gd name="connsiteY1" fmla="*/ 116603 h 116603"/>
                <a:gd name="connsiteX2" fmla="*/ 0 w 116603"/>
                <a:gd name="connsiteY2" fmla="*/ 58301 h 116603"/>
                <a:gd name="connsiteX3" fmla="*/ 58302 w 116603"/>
                <a:gd name="connsiteY3" fmla="*/ 0 h 116603"/>
                <a:gd name="connsiteX4" fmla="*/ 116603 w 116603"/>
                <a:gd name="connsiteY4" fmla="*/ 58301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1"/>
                  </a:moveTo>
                  <a:cubicBezTo>
                    <a:pt x="116603" y="90500"/>
                    <a:pt x="90501" y="116603"/>
                    <a:pt x="58302" y="116603"/>
                  </a:cubicBezTo>
                  <a:cubicBezTo>
                    <a:pt x="26103" y="116603"/>
                    <a:pt x="0" y="90500"/>
                    <a:pt x="0" y="58301"/>
                  </a:cubicBezTo>
                  <a:cubicBezTo>
                    <a:pt x="0" y="26102"/>
                    <a:pt x="26103" y="0"/>
                    <a:pt x="58302" y="0"/>
                  </a:cubicBezTo>
                  <a:cubicBezTo>
                    <a:pt x="90501" y="0"/>
                    <a:pt x="116603" y="26102"/>
                    <a:pt x="116603" y="58301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EE473133-65F4-ED9C-9F23-A7362A978405}"/>
                </a:ext>
              </a:extLst>
            </p:cNvPr>
            <p:cNvSpPr>
              <a:spLocks/>
            </p:cNvSpPr>
            <p:nvPr/>
          </p:nvSpPr>
          <p:spPr>
            <a:xfrm>
              <a:off x="3761288" y="4447656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2 w 116603"/>
                <a:gd name="connsiteY1" fmla="*/ 116604 h 116603"/>
                <a:gd name="connsiteX2" fmla="*/ 0 w 116603"/>
                <a:gd name="connsiteY2" fmla="*/ 58302 h 116603"/>
                <a:gd name="connsiteX3" fmla="*/ 58302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1" y="116604"/>
                    <a:pt x="58302" y="116604"/>
                  </a:cubicBezTo>
                  <a:cubicBezTo>
                    <a:pt x="26103" y="116604"/>
                    <a:pt x="0" y="90501"/>
                    <a:pt x="0" y="58302"/>
                  </a:cubicBezTo>
                  <a:cubicBezTo>
                    <a:pt x="0" y="26103"/>
                    <a:pt x="26103" y="0"/>
                    <a:pt x="58302" y="0"/>
                  </a:cubicBezTo>
                  <a:cubicBezTo>
                    <a:pt x="90501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DF0E077E-550C-CC41-B4D7-88BFE8F71FDB}"/>
                </a:ext>
              </a:extLst>
            </p:cNvPr>
            <p:cNvSpPr>
              <a:spLocks/>
            </p:cNvSpPr>
            <p:nvPr/>
          </p:nvSpPr>
          <p:spPr>
            <a:xfrm>
              <a:off x="3876051" y="4488758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2 w 116603"/>
                <a:gd name="connsiteY1" fmla="*/ 116603 h 116603"/>
                <a:gd name="connsiteX2" fmla="*/ 0 w 116603"/>
                <a:gd name="connsiteY2" fmla="*/ 58302 h 116603"/>
                <a:gd name="connsiteX3" fmla="*/ 58302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1" y="116603"/>
                    <a:pt x="58302" y="116603"/>
                  </a:cubicBezTo>
                  <a:cubicBezTo>
                    <a:pt x="26103" y="116603"/>
                    <a:pt x="0" y="90501"/>
                    <a:pt x="0" y="58302"/>
                  </a:cubicBezTo>
                  <a:cubicBezTo>
                    <a:pt x="0" y="26103"/>
                    <a:pt x="26103" y="0"/>
                    <a:pt x="58302" y="0"/>
                  </a:cubicBezTo>
                  <a:cubicBezTo>
                    <a:pt x="90501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27DC68D0-1C69-EBCC-8F6C-500C2C499235}"/>
                </a:ext>
              </a:extLst>
            </p:cNvPr>
            <p:cNvSpPr>
              <a:spLocks/>
            </p:cNvSpPr>
            <p:nvPr/>
          </p:nvSpPr>
          <p:spPr>
            <a:xfrm>
              <a:off x="3982040" y="4670057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2 w 116603"/>
                <a:gd name="connsiteY1" fmla="*/ 116603 h 116603"/>
                <a:gd name="connsiteX2" fmla="*/ 0 w 116603"/>
                <a:gd name="connsiteY2" fmla="*/ 58302 h 116603"/>
                <a:gd name="connsiteX3" fmla="*/ 58302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1" y="116603"/>
                    <a:pt x="58302" y="116603"/>
                  </a:cubicBezTo>
                  <a:cubicBezTo>
                    <a:pt x="26103" y="116603"/>
                    <a:pt x="0" y="90501"/>
                    <a:pt x="0" y="58302"/>
                  </a:cubicBezTo>
                  <a:cubicBezTo>
                    <a:pt x="0" y="26102"/>
                    <a:pt x="26103" y="0"/>
                    <a:pt x="58302" y="0"/>
                  </a:cubicBezTo>
                  <a:cubicBezTo>
                    <a:pt x="90501" y="0"/>
                    <a:pt x="116603" y="26102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937C43B3-006D-CB9D-6CE1-359377065F91}"/>
                </a:ext>
              </a:extLst>
            </p:cNvPr>
            <p:cNvSpPr>
              <a:spLocks/>
            </p:cNvSpPr>
            <p:nvPr/>
          </p:nvSpPr>
          <p:spPr>
            <a:xfrm>
              <a:off x="4152255" y="4732826"/>
              <a:ext cx="108817" cy="108817"/>
            </a:xfrm>
            <a:custGeom>
              <a:avLst/>
              <a:gdLst>
                <a:gd name="connsiteX0" fmla="*/ 116603 w 116603"/>
                <a:gd name="connsiteY0" fmla="*/ 58301 h 116603"/>
                <a:gd name="connsiteX1" fmla="*/ 58302 w 116603"/>
                <a:gd name="connsiteY1" fmla="*/ 116603 h 116603"/>
                <a:gd name="connsiteX2" fmla="*/ 0 w 116603"/>
                <a:gd name="connsiteY2" fmla="*/ 58301 h 116603"/>
                <a:gd name="connsiteX3" fmla="*/ 58302 w 116603"/>
                <a:gd name="connsiteY3" fmla="*/ 0 h 116603"/>
                <a:gd name="connsiteX4" fmla="*/ 116603 w 116603"/>
                <a:gd name="connsiteY4" fmla="*/ 58301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1"/>
                  </a:moveTo>
                  <a:cubicBezTo>
                    <a:pt x="116603" y="90501"/>
                    <a:pt x="90501" y="116603"/>
                    <a:pt x="58302" y="116603"/>
                  </a:cubicBezTo>
                  <a:cubicBezTo>
                    <a:pt x="26103" y="116603"/>
                    <a:pt x="0" y="90501"/>
                    <a:pt x="0" y="58301"/>
                  </a:cubicBezTo>
                  <a:cubicBezTo>
                    <a:pt x="0" y="26102"/>
                    <a:pt x="26103" y="0"/>
                    <a:pt x="58302" y="0"/>
                  </a:cubicBezTo>
                  <a:cubicBezTo>
                    <a:pt x="90501" y="0"/>
                    <a:pt x="116603" y="26102"/>
                    <a:pt x="116603" y="58301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D5FB1B2-3105-B5D0-53AD-C43D81EE7AD8}"/>
                </a:ext>
              </a:extLst>
            </p:cNvPr>
            <p:cNvSpPr>
              <a:spLocks/>
            </p:cNvSpPr>
            <p:nvPr/>
          </p:nvSpPr>
          <p:spPr>
            <a:xfrm>
              <a:off x="4322469" y="4404960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2 w 116603"/>
                <a:gd name="connsiteY1" fmla="*/ 116603 h 116603"/>
                <a:gd name="connsiteX2" fmla="*/ 0 w 116603"/>
                <a:gd name="connsiteY2" fmla="*/ 58302 h 116603"/>
                <a:gd name="connsiteX3" fmla="*/ 58302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1" y="116603"/>
                    <a:pt x="58302" y="116603"/>
                  </a:cubicBezTo>
                  <a:cubicBezTo>
                    <a:pt x="26103" y="116603"/>
                    <a:pt x="0" y="90501"/>
                    <a:pt x="0" y="58302"/>
                  </a:cubicBezTo>
                  <a:cubicBezTo>
                    <a:pt x="0" y="26102"/>
                    <a:pt x="26103" y="0"/>
                    <a:pt x="58302" y="0"/>
                  </a:cubicBezTo>
                  <a:cubicBezTo>
                    <a:pt x="90501" y="0"/>
                    <a:pt x="116603" y="26102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9FA83CE-9ECF-0B39-4B92-264E11287A5C}"/>
                </a:ext>
              </a:extLst>
            </p:cNvPr>
            <p:cNvSpPr>
              <a:spLocks/>
            </p:cNvSpPr>
            <p:nvPr/>
          </p:nvSpPr>
          <p:spPr>
            <a:xfrm>
              <a:off x="4524620" y="4367045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1 w 116603"/>
                <a:gd name="connsiteY1" fmla="*/ 116603 h 116603"/>
                <a:gd name="connsiteX2" fmla="*/ 0 w 116603"/>
                <a:gd name="connsiteY2" fmla="*/ 58302 h 116603"/>
                <a:gd name="connsiteX3" fmla="*/ 58301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0" y="116603"/>
                    <a:pt x="58301" y="116603"/>
                  </a:cubicBezTo>
                  <a:cubicBezTo>
                    <a:pt x="26102" y="116603"/>
                    <a:pt x="0" y="90501"/>
                    <a:pt x="0" y="58302"/>
                  </a:cubicBezTo>
                  <a:cubicBezTo>
                    <a:pt x="0" y="26103"/>
                    <a:pt x="26102" y="0"/>
                    <a:pt x="58301" y="0"/>
                  </a:cubicBezTo>
                  <a:cubicBezTo>
                    <a:pt x="90501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0264CC-6695-B62D-70DF-62D3E4A6E3D1}"/>
                </a:ext>
              </a:extLst>
            </p:cNvPr>
            <p:cNvSpPr>
              <a:spLocks/>
            </p:cNvSpPr>
            <p:nvPr/>
          </p:nvSpPr>
          <p:spPr>
            <a:xfrm>
              <a:off x="4808898" y="4381064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1 w 116603"/>
                <a:gd name="connsiteY1" fmla="*/ 116603 h 116603"/>
                <a:gd name="connsiteX2" fmla="*/ 0 w 116603"/>
                <a:gd name="connsiteY2" fmla="*/ 58302 h 116603"/>
                <a:gd name="connsiteX3" fmla="*/ 58301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0" y="116603"/>
                    <a:pt x="58301" y="116603"/>
                  </a:cubicBezTo>
                  <a:cubicBezTo>
                    <a:pt x="26102" y="116603"/>
                    <a:pt x="0" y="90501"/>
                    <a:pt x="0" y="58302"/>
                  </a:cubicBezTo>
                  <a:cubicBezTo>
                    <a:pt x="0" y="26102"/>
                    <a:pt x="26102" y="0"/>
                    <a:pt x="58301" y="0"/>
                  </a:cubicBezTo>
                  <a:cubicBezTo>
                    <a:pt x="90500" y="0"/>
                    <a:pt x="116603" y="26102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A1A90D3-E4D0-F7A5-CD67-56107B2BA7E6}"/>
                </a:ext>
              </a:extLst>
            </p:cNvPr>
            <p:cNvSpPr>
              <a:spLocks/>
            </p:cNvSpPr>
            <p:nvPr/>
          </p:nvSpPr>
          <p:spPr>
            <a:xfrm>
              <a:off x="5132481" y="4160576"/>
              <a:ext cx="108817" cy="108817"/>
            </a:xfrm>
            <a:custGeom>
              <a:avLst/>
              <a:gdLst>
                <a:gd name="connsiteX0" fmla="*/ 116603 w 116603"/>
                <a:gd name="connsiteY0" fmla="*/ 58301 h 116603"/>
                <a:gd name="connsiteX1" fmla="*/ 58301 w 116603"/>
                <a:gd name="connsiteY1" fmla="*/ 116603 h 116603"/>
                <a:gd name="connsiteX2" fmla="*/ -1 w 116603"/>
                <a:gd name="connsiteY2" fmla="*/ 58301 h 116603"/>
                <a:gd name="connsiteX3" fmla="*/ 58301 w 116603"/>
                <a:gd name="connsiteY3" fmla="*/ 0 h 116603"/>
                <a:gd name="connsiteX4" fmla="*/ 116603 w 116603"/>
                <a:gd name="connsiteY4" fmla="*/ 58301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1"/>
                  </a:moveTo>
                  <a:cubicBezTo>
                    <a:pt x="116603" y="90500"/>
                    <a:pt x="90500" y="116603"/>
                    <a:pt x="58301" y="116603"/>
                  </a:cubicBezTo>
                  <a:cubicBezTo>
                    <a:pt x="26102" y="116603"/>
                    <a:pt x="-1" y="90500"/>
                    <a:pt x="-1" y="58301"/>
                  </a:cubicBezTo>
                  <a:cubicBezTo>
                    <a:pt x="-1" y="26102"/>
                    <a:pt x="26102" y="0"/>
                    <a:pt x="58301" y="0"/>
                  </a:cubicBezTo>
                  <a:cubicBezTo>
                    <a:pt x="90500" y="0"/>
                    <a:pt x="116603" y="26102"/>
                    <a:pt x="116603" y="58301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37DE488E-70A8-BF5D-9A55-4A43B9385182}"/>
                </a:ext>
              </a:extLst>
            </p:cNvPr>
            <p:cNvSpPr>
              <a:spLocks/>
            </p:cNvSpPr>
            <p:nvPr/>
          </p:nvSpPr>
          <p:spPr>
            <a:xfrm>
              <a:off x="5509759" y="4015282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1 w 116603"/>
                <a:gd name="connsiteY1" fmla="*/ 116604 h 116603"/>
                <a:gd name="connsiteX2" fmla="*/ -1 w 116603"/>
                <a:gd name="connsiteY2" fmla="*/ 58302 h 116603"/>
                <a:gd name="connsiteX3" fmla="*/ 58301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0" y="116604"/>
                    <a:pt x="58301" y="116604"/>
                  </a:cubicBezTo>
                  <a:cubicBezTo>
                    <a:pt x="26102" y="116604"/>
                    <a:pt x="-1" y="90501"/>
                    <a:pt x="-1" y="58302"/>
                  </a:cubicBezTo>
                  <a:cubicBezTo>
                    <a:pt x="-1" y="26103"/>
                    <a:pt x="26102" y="0"/>
                    <a:pt x="58301" y="0"/>
                  </a:cubicBezTo>
                  <a:cubicBezTo>
                    <a:pt x="90500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AD75613-8998-30B5-C59D-F6673024E677}"/>
                </a:ext>
              </a:extLst>
            </p:cNvPr>
            <p:cNvSpPr>
              <a:spLocks/>
            </p:cNvSpPr>
            <p:nvPr/>
          </p:nvSpPr>
          <p:spPr>
            <a:xfrm>
              <a:off x="6087437" y="4144006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1 w 116603"/>
                <a:gd name="connsiteY1" fmla="*/ 116603 h 116603"/>
                <a:gd name="connsiteX2" fmla="*/ -1 w 116603"/>
                <a:gd name="connsiteY2" fmla="*/ 58302 h 116603"/>
                <a:gd name="connsiteX3" fmla="*/ 58301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0" y="116603"/>
                    <a:pt x="58301" y="116603"/>
                  </a:cubicBezTo>
                  <a:cubicBezTo>
                    <a:pt x="26102" y="116603"/>
                    <a:pt x="-1" y="90501"/>
                    <a:pt x="-1" y="58302"/>
                  </a:cubicBezTo>
                  <a:cubicBezTo>
                    <a:pt x="-1" y="26103"/>
                    <a:pt x="26102" y="0"/>
                    <a:pt x="58301" y="0"/>
                  </a:cubicBezTo>
                  <a:cubicBezTo>
                    <a:pt x="90500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4E3F603B-0FA7-F049-AFB5-254C1D390A17}"/>
                </a:ext>
              </a:extLst>
            </p:cNvPr>
            <p:cNvSpPr>
              <a:spLocks/>
            </p:cNvSpPr>
            <p:nvPr/>
          </p:nvSpPr>
          <p:spPr>
            <a:xfrm>
              <a:off x="7278238" y="3719598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1 w 116603"/>
                <a:gd name="connsiteY1" fmla="*/ 116603 h 116603"/>
                <a:gd name="connsiteX2" fmla="*/ -1 w 116603"/>
                <a:gd name="connsiteY2" fmla="*/ 58302 h 116603"/>
                <a:gd name="connsiteX3" fmla="*/ 58301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0" y="116603"/>
                    <a:pt x="58301" y="116603"/>
                  </a:cubicBezTo>
                  <a:cubicBezTo>
                    <a:pt x="26102" y="116603"/>
                    <a:pt x="-1" y="90501"/>
                    <a:pt x="-1" y="58302"/>
                  </a:cubicBezTo>
                  <a:cubicBezTo>
                    <a:pt x="-1" y="26103"/>
                    <a:pt x="26102" y="0"/>
                    <a:pt x="58301" y="0"/>
                  </a:cubicBezTo>
                  <a:cubicBezTo>
                    <a:pt x="90500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2C3CC0B6-C2D0-C056-F33A-F0D2672A39FF}"/>
                </a:ext>
              </a:extLst>
            </p:cNvPr>
            <p:cNvSpPr>
              <a:spLocks/>
            </p:cNvSpPr>
            <p:nvPr/>
          </p:nvSpPr>
          <p:spPr>
            <a:xfrm>
              <a:off x="4733441" y="3154356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7C3F4E79-1384-93F3-7481-8531AD607E93}"/>
                </a:ext>
              </a:extLst>
            </p:cNvPr>
            <p:cNvSpPr>
              <a:spLocks/>
            </p:cNvSpPr>
            <p:nvPr/>
          </p:nvSpPr>
          <p:spPr>
            <a:xfrm>
              <a:off x="5697521" y="3521413"/>
              <a:ext cx="108817" cy="108817"/>
            </a:xfrm>
            <a:prstGeom prst="ellipse">
              <a:avLst/>
            </a:prstGeom>
            <a:solidFill>
              <a:srgbClr val="2BB4A2"/>
            </a:solidFill>
            <a:ln w="3086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FBC5113D-F6C7-3337-6D97-03FAC655D6F3}"/>
                </a:ext>
              </a:extLst>
            </p:cNvPr>
            <p:cNvSpPr>
              <a:spLocks/>
            </p:cNvSpPr>
            <p:nvPr/>
          </p:nvSpPr>
          <p:spPr>
            <a:xfrm>
              <a:off x="5982852" y="3616043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911EE74C-87F4-B20A-DE03-32F08B4B78C0}"/>
                </a:ext>
              </a:extLst>
            </p:cNvPr>
            <p:cNvSpPr>
              <a:spLocks/>
            </p:cNvSpPr>
            <p:nvPr/>
          </p:nvSpPr>
          <p:spPr>
            <a:xfrm>
              <a:off x="6281517" y="2849114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1854CDF4-96E2-F53D-F93D-96F36217C604}"/>
                </a:ext>
              </a:extLst>
            </p:cNvPr>
            <p:cNvSpPr>
              <a:spLocks/>
            </p:cNvSpPr>
            <p:nvPr/>
          </p:nvSpPr>
          <p:spPr>
            <a:xfrm>
              <a:off x="6509990" y="3246758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31BBD757-5274-63CB-CBC9-F9E192A4579C}"/>
                </a:ext>
              </a:extLst>
            </p:cNvPr>
            <p:cNvSpPr>
              <a:spLocks/>
            </p:cNvSpPr>
            <p:nvPr/>
          </p:nvSpPr>
          <p:spPr>
            <a:xfrm>
              <a:off x="6735656" y="3858836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445D7DB3-8004-ADA9-BBF8-CBFCBC37551B}"/>
                </a:ext>
              </a:extLst>
            </p:cNvPr>
            <p:cNvSpPr>
              <a:spLocks/>
            </p:cNvSpPr>
            <p:nvPr/>
          </p:nvSpPr>
          <p:spPr>
            <a:xfrm>
              <a:off x="6860950" y="3653961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6CEB8EFB-5D1E-BE0D-4C2C-F7A7BFF675E2}"/>
                </a:ext>
              </a:extLst>
            </p:cNvPr>
            <p:cNvSpPr>
              <a:spLocks/>
            </p:cNvSpPr>
            <p:nvPr/>
          </p:nvSpPr>
          <p:spPr>
            <a:xfrm>
              <a:off x="7064856" y="3142567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4F32F514-EEA8-F9B1-239B-59E7ACD55019}"/>
                </a:ext>
              </a:extLst>
            </p:cNvPr>
            <p:cNvSpPr>
              <a:spLocks/>
            </p:cNvSpPr>
            <p:nvPr/>
          </p:nvSpPr>
          <p:spPr>
            <a:xfrm>
              <a:off x="7230158" y="2779335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A2B5D186-71FC-CCD2-C958-8F84974AE036}"/>
                </a:ext>
              </a:extLst>
            </p:cNvPr>
            <p:cNvSpPr>
              <a:spLocks/>
            </p:cNvSpPr>
            <p:nvPr/>
          </p:nvSpPr>
          <p:spPr>
            <a:xfrm>
              <a:off x="7397565" y="3011613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4C2B6355-F024-7F57-356B-0F5C5107DA6B}"/>
                </a:ext>
              </a:extLst>
            </p:cNvPr>
            <p:cNvSpPr>
              <a:spLocks/>
            </p:cNvSpPr>
            <p:nvPr/>
          </p:nvSpPr>
          <p:spPr>
            <a:xfrm>
              <a:off x="7563920" y="2837962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A11FFFF5-33C3-83E4-A742-6D483C3DB135}"/>
                </a:ext>
              </a:extLst>
            </p:cNvPr>
            <p:cNvSpPr>
              <a:spLocks/>
            </p:cNvSpPr>
            <p:nvPr/>
          </p:nvSpPr>
          <p:spPr>
            <a:xfrm>
              <a:off x="7769929" y="2585611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C8A344B7-5244-9316-1980-0371BF51E115}"/>
                </a:ext>
              </a:extLst>
            </p:cNvPr>
            <p:cNvSpPr>
              <a:spLocks/>
            </p:cNvSpPr>
            <p:nvPr/>
          </p:nvSpPr>
          <p:spPr>
            <a:xfrm>
              <a:off x="7947165" y="2691713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B387E827-7C0A-E9BC-BE63-994045FA6667}"/>
                </a:ext>
              </a:extLst>
            </p:cNvPr>
            <p:cNvSpPr>
              <a:spLocks/>
            </p:cNvSpPr>
            <p:nvPr/>
          </p:nvSpPr>
          <p:spPr>
            <a:xfrm>
              <a:off x="8078423" y="2773601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18A4EF22-E2EB-33E5-1AA6-E3B844B89C34}"/>
                </a:ext>
              </a:extLst>
            </p:cNvPr>
            <p:cNvSpPr>
              <a:spLocks/>
            </p:cNvSpPr>
            <p:nvPr/>
          </p:nvSpPr>
          <p:spPr>
            <a:xfrm>
              <a:off x="8253201" y="2228433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FDFD7240-F551-5904-BFB6-4FC4AAD96EB5}"/>
                </a:ext>
              </a:extLst>
            </p:cNvPr>
            <p:cNvSpPr>
              <a:spLocks/>
            </p:cNvSpPr>
            <p:nvPr/>
          </p:nvSpPr>
          <p:spPr>
            <a:xfrm>
              <a:off x="8505189" y="2556617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CA56EB26-AD4A-05A4-7D1B-0CB3B9A578A1}"/>
                </a:ext>
              </a:extLst>
            </p:cNvPr>
            <p:cNvSpPr>
              <a:spLocks/>
            </p:cNvSpPr>
            <p:nvPr/>
          </p:nvSpPr>
          <p:spPr>
            <a:xfrm>
              <a:off x="8678210" y="2117869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55A6D55F-7835-2F73-CD81-AC29E91EE22E}"/>
                </a:ext>
              </a:extLst>
            </p:cNvPr>
            <p:cNvSpPr>
              <a:spLocks/>
            </p:cNvSpPr>
            <p:nvPr/>
          </p:nvSpPr>
          <p:spPr>
            <a:xfrm>
              <a:off x="8995477" y="2222698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833E7821-F98F-9DFA-9A18-3D1D4173A110}"/>
                </a:ext>
              </a:extLst>
            </p:cNvPr>
            <p:cNvSpPr>
              <a:spLocks/>
            </p:cNvSpPr>
            <p:nvPr/>
          </p:nvSpPr>
          <p:spPr>
            <a:xfrm>
              <a:off x="9485063" y="2045860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B60B34A5-85CD-911B-A05D-1C7CF793FDBA}"/>
                </a:ext>
              </a:extLst>
            </p:cNvPr>
            <p:cNvSpPr>
              <a:spLocks/>
            </p:cNvSpPr>
            <p:nvPr/>
          </p:nvSpPr>
          <p:spPr>
            <a:xfrm>
              <a:off x="11162291" y="2245957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061988DE-DE04-EEAD-D102-8E6BB568B37E}"/>
                </a:ext>
              </a:extLst>
            </p:cNvPr>
            <p:cNvSpPr>
              <a:spLocks/>
            </p:cNvSpPr>
            <p:nvPr/>
          </p:nvSpPr>
          <p:spPr>
            <a:xfrm>
              <a:off x="1499011" y="5580049"/>
              <a:ext cx="97566" cy="1770"/>
            </a:xfrm>
            <a:custGeom>
              <a:avLst/>
              <a:gdLst>
                <a:gd name="connsiteX0" fmla="*/ 95340 w 95340"/>
                <a:gd name="connsiteY0" fmla="*/ 0 h 1905"/>
                <a:gd name="connsiteX1" fmla="*/ 0 w 95340"/>
                <a:gd name="connsiteY1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340" h="1905">
                  <a:moveTo>
                    <a:pt x="95340" y="0"/>
                  </a:moveTo>
                  <a:lnTo>
                    <a:pt x="0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5765FB1B-E1DA-C90D-EFA0-96E2C7DC4E62}"/>
                </a:ext>
              </a:extLst>
            </p:cNvPr>
            <p:cNvSpPr txBox="1">
              <a:spLocks/>
            </p:cNvSpPr>
            <p:nvPr/>
          </p:nvSpPr>
          <p:spPr>
            <a:xfrm>
              <a:off x="876513" y="5407768"/>
              <a:ext cx="6319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-$4k</a:t>
              </a:r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B0AC79E7-F249-D97C-C4EA-07BB85FCCF93}"/>
                </a:ext>
              </a:extLst>
            </p:cNvPr>
            <p:cNvSpPr>
              <a:spLocks/>
            </p:cNvSpPr>
            <p:nvPr/>
          </p:nvSpPr>
          <p:spPr>
            <a:xfrm>
              <a:off x="1499011" y="4606332"/>
              <a:ext cx="97566" cy="1770"/>
            </a:xfrm>
            <a:custGeom>
              <a:avLst/>
              <a:gdLst>
                <a:gd name="connsiteX0" fmla="*/ 95340 w 95340"/>
                <a:gd name="connsiteY0" fmla="*/ 0 h 1905"/>
                <a:gd name="connsiteX1" fmla="*/ 0 w 95340"/>
                <a:gd name="connsiteY1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340" h="1905">
                  <a:moveTo>
                    <a:pt x="95340" y="0"/>
                  </a:moveTo>
                  <a:lnTo>
                    <a:pt x="0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32F09E7E-7A92-F239-05C3-B205D962428C}"/>
                </a:ext>
              </a:extLst>
            </p:cNvPr>
            <p:cNvSpPr txBox="1">
              <a:spLocks/>
            </p:cNvSpPr>
            <p:nvPr/>
          </p:nvSpPr>
          <p:spPr>
            <a:xfrm>
              <a:off x="876513" y="4434051"/>
              <a:ext cx="6319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-$2k</a:t>
              </a:r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1D3DDE72-D94F-E8B5-9C75-279EDDF0261E}"/>
                </a:ext>
              </a:extLst>
            </p:cNvPr>
            <p:cNvSpPr>
              <a:spLocks/>
            </p:cNvSpPr>
            <p:nvPr/>
          </p:nvSpPr>
          <p:spPr>
            <a:xfrm>
              <a:off x="1499011" y="3632932"/>
              <a:ext cx="97566" cy="1770"/>
            </a:xfrm>
            <a:custGeom>
              <a:avLst/>
              <a:gdLst>
                <a:gd name="connsiteX0" fmla="*/ 95340 w 95340"/>
                <a:gd name="connsiteY0" fmla="*/ 0 h 1905"/>
                <a:gd name="connsiteX1" fmla="*/ 0 w 95340"/>
                <a:gd name="connsiteY1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340" h="1905">
                  <a:moveTo>
                    <a:pt x="95340" y="0"/>
                  </a:moveTo>
                  <a:lnTo>
                    <a:pt x="0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730FE362-3D49-9CC1-779A-4B54E8164C7E}"/>
                </a:ext>
              </a:extLst>
            </p:cNvPr>
            <p:cNvSpPr txBox="1">
              <a:spLocks/>
            </p:cNvSpPr>
            <p:nvPr/>
          </p:nvSpPr>
          <p:spPr>
            <a:xfrm>
              <a:off x="1082527" y="3460651"/>
              <a:ext cx="4443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$0</a:t>
              </a:r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AA6CC02-CAE3-27F6-9BD9-A53C9EDAA40E}"/>
                </a:ext>
              </a:extLst>
            </p:cNvPr>
            <p:cNvSpPr>
              <a:spLocks/>
            </p:cNvSpPr>
            <p:nvPr/>
          </p:nvSpPr>
          <p:spPr>
            <a:xfrm>
              <a:off x="1499011" y="2659214"/>
              <a:ext cx="97566" cy="1770"/>
            </a:xfrm>
            <a:custGeom>
              <a:avLst/>
              <a:gdLst>
                <a:gd name="connsiteX0" fmla="*/ 95340 w 95340"/>
                <a:gd name="connsiteY0" fmla="*/ 0 h 1905"/>
                <a:gd name="connsiteX1" fmla="*/ 0 w 95340"/>
                <a:gd name="connsiteY1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340" h="1905">
                  <a:moveTo>
                    <a:pt x="95340" y="0"/>
                  </a:moveTo>
                  <a:lnTo>
                    <a:pt x="0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0A0EC0A5-7548-6498-DF8F-F80765CE07AE}"/>
                </a:ext>
              </a:extLst>
            </p:cNvPr>
            <p:cNvSpPr txBox="1">
              <a:spLocks/>
            </p:cNvSpPr>
            <p:nvPr/>
          </p:nvSpPr>
          <p:spPr>
            <a:xfrm>
              <a:off x="962301" y="2486934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$2k</a:t>
              </a:r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4547E997-8675-0078-A259-831507591517}"/>
                </a:ext>
              </a:extLst>
            </p:cNvPr>
            <p:cNvSpPr>
              <a:spLocks/>
            </p:cNvSpPr>
            <p:nvPr/>
          </p:nvSpPr>
          <p:spPr>
            <a:xfrm>
              <a:off x="1499011" y="1685497"/>
              <a:ext cx="97566" cy="1770"/>
            </a:xfrm>
            <a:custGeom>
              <a:avLst/>
              <a:gdLst>
                <a:gd name="connsiteX0" fmla="*/ 95340 w 95340"/>
                <a:gd name="connsiteY0" fmla="*/ 0 h 1905"/>
                <a:gd name="connsiteX1" fmla="*/ 0 w 95340"/>
                <a:gd name="connsiteY1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340" h="1905">
                  <a:moveTo>
                    <a:pt x="95340" y="0"/>
                  </a:moveTo>
                  <a:lnTo>
                    <a:pt x="0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AAC7D2C4-081F-FC59-75DB-181D7FC14D51}"/>
                </a:ext>
              </a:extLst>
            </p:cNvPr>
            <p:cNvSpPr txBox="1">
              <a:spLocks/>
            </p:cNvSpPr>
            <p:nvPr/>
          </p:nvSpPr>
          <p:spPr>
            <a:xfrm>
              <a:off x="962301" y="1513216"/>
              <a:ext cx="564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$4k</a:t>
              </a:r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F7E84DF-3347-F231-5D8E-F97FB3B5F0B4}"/>
                </a:ext>
              </a:extLst>
            </p:cNvPr>
            <p:cNvSpPr>
              <a:spLocks/>
            </p:cNvSpPr>
            <p:nvPr/>
          </p:nvSpPr>
          <p:spPr>
            <a:xfrm>
              <a:off x="2344469" y="5729926"/>
              <a:ext cx="83901" cy="76172"/>
            </a:xfrm>
            <a:custGeom>
              <a:avLst/>
              <a:gdLst>
                <a:gd name="connsiteX0" fmla="*/ 0 w 1905"/>
                <a:gd name="connsiteY0" fmla="*/ 0 h 94997"/>
                <a:gd name="connsiteX1" fmla="*/ 0 w 1905"/>
                <a:gd name="connsiteY1" fmla="*/ 94997 h 9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" h="94997">
                  <a:moveTo>
                    <a:pt x="0" y="0"/>
                  </a:moveTo>
                  <a:lnTo>
                    <a:pt x="0" y="94997"/>
                  </a:lnTo>
                </a:path>
              </a:pathLst>
            </a:custGeom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1128BE8A-ED79-65B8-15F2-FB04879CB364}"/>
                </a:ext>
              </a:extLst>
            </p:cNvPr>
            <p:cNvSpPr>
              <a:spLocks/>
            </p:cNvSpPr>
            <p:nvPr/>
          </p:nvSpPr>
          <p:spPr>
            <a:xfrm>
              <a:off x="4644297" y="5729926"/>
              <a:ext cx="83901" cy="76172"/>
            </a:xfrm>
            <a:custGeom>
              <a:avLst/>
              <a:gdLst>
                <a:gd name="connsiteX0" fmla="*/ 0 w 1905"/>
                <a:gd name="connsiteY0" fmla="*/ 0 h 94997"/>
                <a:gd name="connsiteX1" fmla="*/ 0 w 1905"/>
                <a:gd name="connsiteY1" fmla="*/ 94997 h 9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" h="94997">
                  <a:moveTo>
                    <a:pt x="0" y="0"/>
                  </a:moveTo>
                  <a:lnTo>
                    <a:pt x="0" y="94997"/>
                  </a:lnTo>
                </a:path>
              </a:pathLst>
            </a:custGeom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B6C8472-E144-06F3-6810-26B5E096508B}"/>
                </a:ext>
              </a:extLst>
            </p:cNvPr>
            <p:cNvSpPr>
              <a:spLocks/>
            </p:cNvSpPr>
            <p:nvPr/>
          </p:nvSpPr>
          <p:spPr>
            <a:xfrm>
              <a:off x="6944479" y="5729926"/>
              <a:ext cx="1949" cy="88259"/>
            </a:xfrm>
            <a:custGeom>
              <a:avLst/>
              <a:gdLst>
                <a:gd name="connsiteX0" fmla="*/ 0 w 1905"/>
                <a:gd name="connsiteY0" fmla="*/ 0 h 94997"/>
                <a:gd name="connsiteX1" fmla="*/ 0 w 1905"/>
                <a:gd name="connsiteY1" fmla="*/ 94997 h 9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" h="94997">
                  <a:moveTo>
                    <a:pt x="0" y="0"/>
                  </a:moveTo>
                  <a:lnTo>
                    <a:pt x="0" y="94997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3974C52-A4CE-325B-BFA9-09CDB8C558BE}"/>
                </a:ext>
              </a:extLst>
            </p:cNvPr>
            <p:cNvSpPr>
              <a:spLocks/>
            </p:cNvSpPr>
            <p:nvPr/>
          </p:nvSpPr>
          <p:spPr>
            <a:xfrm>
              <a:off x="9244308" y="5729926"/>
              <a:ext cx="1949" cy="88259"/>
            </a:xfrm>
            <a:custGeom>
              <a:avLst/>
              <a:gdLst>
                <a:gd name="connsiteX0" fmla="*/ 0 w 1905"/>
                <a:gd name="connsiteY0" fmla="*/ 0 h 94997"/>
                <a:gd name="connsiteX1" fmla="*/ 0 w 1905"/>
                <a:gd name="connsiteY1" fmla="*/ 94997 h 9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" h="94997">
                  <a:moveTo>
                    <a:pt x="0" y="0"/>
                  </a:moveTo>
                  <a:lnTo>
                    <a:pt x="0" y="94997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F48D1F98-D643-663F-AA14-5967B4F59FF0}"/>
                </a:ext>
              </a:extLst>
            </p:cNvPr>
            <p:cNvSpPr>
              <a:spLocks/>
            </p:cNvSpPr>
            <p:nvPr/>
          </p:nvSpPr>
          <p:spPr>
            <a:xfrm>
              <a:off x="11544486" y="5729926"/>
              <a:ext cx="1949" cy="88259"/>
            </a:xfrm>
            <a:custGeom>
              <a:avLst/>
              <a:gdLst>
                <a:gd name="connsiteX0" fmla="*/ 0 w 1905"/>
                <a:gd name="connsiteY0" fmla="*/ 0 h 94997"/>
                <a:gd name="connsiteX1" fmla="*/ 0 w 1905"/>
                <a:gd name="connsiteY1" fmla="*/ 94997 h 9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" h="94997">
                  <a:moveTo>
                    <a:pt x="0" y="0"/>
                  </a:moveTo>
                  <a:lnTo>
                    <a:pt x="0" y="94997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1F68D89-17ED-924C-60E0-55FC8F94FF5C}"/>
                </a:ext>
              </a:extLst>
            </p:cNvPr>
            <p:cNvSpPr txBox="1">
              <a:spLocks/>
            </p:cNvSpPr>
            <p:nvPr/>
          </p:nvSpPr>
          <p:spPr>
            <a:xfrm>
              <a:off x="2026531" y="5762787"/>
              <a:ext cx="5116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-15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5428B4D-C84E-8802-63D2-2ECC8FB6C943}"/>
                </a:ext>
              </a:extLst>
            </p:cNvPr>
            <p:cNvSpPr txBox="1">
              <a:spLocks/>
            </p:cNvSpPr>
            <p:nvPr/>
          </p:nvSpPr>
          <p:spPr>
            <a:xfrm>
              <a:off x="4326359" y="5762787"/>
              <a:ext cx="5116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-10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27DC5DE-1AE9-9FD4-CAB7-095B98CFC035}"/>
                </a:ext>
              </a:extLst>
            </p:cNvPr>
            <p:cNvSpPr txBox="1">
              <a:spLocks/>
            </p:cNvSpPr>
            <p:nvPr/>
          </p:nvSpPr>
          <p:spPr>
            <a:xfrm>
              <a:off x="6754436" y="5762787"/>
              <a:ext cx="3818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-5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2209059-4297-3F75-2E83-29B60FD73DF4}"/>
                </a:ext>
              </a:extLst>
            </p:cNvPr>
            <p:cNvSpPr txBox="1">
              <a:spLocks/>
            </p:cNvSpPr>
            <p:nvPr/>
          </p:nvSpPr>
          <p:spPr>
            <a:xfrm>
              <a:off x="9097159" y="5762787"/>
              <a:ext cx="314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64395F2-3352-FAE9-7EDA-83CEB8BF6C8E}"/>
                </a:ext>
              </a:extLst>
            </p:cNvPr>
            <p:cNvSpPr txBox="1">
              <a:spLocks/>
            </p:cNvSpPr>
            <p:nvPr/>
          </p:nvSpPr>
          <p:spPr>
            <a:xfrm>
              <a:off x="11397338" y="5762787"/>
              <a:ext cx="314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5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59CF0D7-87DA-130B-2914-F09F3351A552}"/>
                </a:ext>
              </a:extLst>
            </p:cNvPr>
            <p:cNvSpPr txBox="1">
              <a:spLocks/>
            </p:cNvSpPr>
            <p:nvPr/>
          </p:nvSpPr>
          <p:spPr>
            <a:xfrm>
              <a:off x="8876601" y="4302328"/>
              <a:ext cx="28520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White, Low-Income Parents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179722C-E0AA-D002-DB68-E6A793678692}"/>
                </a:ext>
              </a:extLst>
            </p:cNvPr>
            <p:cNvSpPr txBox="1">
              <a:spLocks/>
            </p:cNvSpPr>
            <p:nvPr/>
          </p:nvSpPr>
          <p:spPr>
            <a:xfrm>
              <a:off x="8876601" y="4612032"/>
              <a:ext cx="28167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Black, Low-Income Parents</a:t>
              </a:r>
            </a:p>
          </p:txBody>
        </p:sp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037801B2-3D6A-EF3B-261B-AE969A008B18}"/>
                </a:ext>
              </a:extLst>
            </p:cNvPr>
            <p:cNvSpPr>
              <a:spLocks/>
            </p:cNvSpPr>
            <p:nvPr/>
          </p:nvSpPr>
          <p:spPr>
            <a:xfrm>
              <a:off x="8718794" y="4410714"/>
              <a:ext cx="108817" cy="108817"/>
            </a:xfrm>
            <a:custGeom>
              <a:avLst/>
              <a:gdLst>
                <a:gd name="connsiteX0" fmla="*/ 116603 w 116603"/>
                <a:gd name="connsiteY0" fmla="*/ 58302 h 116603"/>
                <a:gd name="connsiteX1" fmla="*/ 58302 w 116603"/>
                <a:gd name="connsiteY1" fmla="*/ 116603 h 116603"/>
                <a:gd name="connsiteX2" fmla="*/ 0 w 116603"/>
                <a:gd name="connsiteY2" fmla="*/ 58302 h 116603"/>
                <a:gd name="connsiteX3" fmla="*/ 58302 w 116603"/>
                <a:gd name="connsiteY3" fmla="*/ 0 h 116603"/>
                <a:gd name="connsiteX4" fmla="*/ 116603 w 116603"/>
                <a:gd name="connsiteY4" fmla="*/ 58302 h 11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03" h="116603">
                  <a:moveTo>
                    <a:pt x="116603" y="58302"/>
                  </a:moveTo>
                  <a:cubicBezTo>
                    <a:pt x="116603" y="90501"/>
                    <a:pt x="90501" y="116603"/>
                    <a:pt x="58302" y="116603"/>
                  </a:cubicBezTo>
                  <a:cubicBezTo>
                    <a:pt x="26103" y="116603"/>
                    <a:pt x="0" y="90501"/>
                    <a:pt x="0" y="58302"/>
                  </a:cubicBezTo>
                  <a:cubicBezTo>
                    <a:pt x="0" y="26103"/>
                    <a:pt x="26103" y="0"/>
                    <a:pt x="58302" y="0"/>
                  </a:cubicBezTo>
                  <a:cubicBezTo>
                    <a:pt x="90501" y="0"/>
                    <a:pt x="116603" y="26103"/>
                    <a:pt x="116603" y="58302"/>
                  </a:cubicBezTo>
                  <a:close/>
                </a:path>
              </a:pathLst>
            </a:custGeom>
            <a:solidFill>
              <a:srgbClr val="FAA623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F9B9C7F-ED18-8C71-375C-6B6732299DF4}"/>
                </a:ext>
              </a:extLst>
            </p:cNvPr>
            <p:cNvSpPr>
              <a:spLocks/>
            </p:cNvSpPr>
            <p:nvPr/>
          </p:nvSpPr>
          <p:spPr>
            <a:xfrm>
              <a:off x="8718794" y="4720417"/>
              <a:ext cx="108817" cy="108817"/>
            </a:xfrm>
            <a:prstGeom prst="ellipse">
              <a:avLst/>
            </a:prstGeom>
            <a:solidFill>
              <a:srgbClr val="2BB4A2"/>
            </a:solidFill>
            <a:ln w="19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170">
              <a:extLst>
                <a:ext uri="{FF2B5EF4-FFF2-40B4-BE49-F238E27FC236}">
                  <a16:creationId xmlns:a16="http://schemas.microsoft.com/office/drawing/2014/main" id="{05712CCD-D6C4-7760-8135-19DACAC5B1CD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-1742180" y="3288345"/>
              <a:ext cx="4390577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121869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  <a:t>Change in</a:t>
              </a:r>
              <a:r>
                <a:rPr kumimoji="0" lang="el-G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  <a:t>Avg. Household Income for Children in Adulthood (1978-1992 Cohorts)</a:t>
              </a: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4AA000E-C703-5F05-064B-EEED0E747887}"/>
                </a:ext>
              </a:extLst>
            </p:cNvPr>
            <p:cNvSpPr>
              <a:spLocks/>
            </p:cNvSpPr>
            <p:nvPr/>
          </p:nvSpPr>
          <p:spPr>
            <a:xfrm>
              <a:off x="1750648" y="1802432"/>
              <a:ext cx="9471307" cy="3749258"/>
            </a:xfrm>
            <a:custGeom>
              <a:avLst/>
              <a:gdLst>
                <a:gd name="connsiteX0" fmla="*/ 0 w 9255204"/>
                <a:gd name="connsiteY0" fmla="*/ 4035499 h 4035498"/>
                <a:gd name="connsiteX1" fmla="*/ 31209 w 9255204"/>
                <a:gd name="connsiteY1" fmla="*/ 4022123 h 4035498"/>
                <a:gd name="connsiteX2" fmla="*/ 62074 w 9255204"/>
                <a:gd name="connsiteY2" fmla="*/ 4008748 h 4035498"/>
                <a:gd name="connsiteX3" fmla="*/ 92940 w 9255204"/>
                <a:gd name="connsiteY3" fmla="*/ 3995030 h 4035498"/>
                <a:gd name="connsiteX4" fmla="*/ 123805 w 9255204"/>
                <a:gd name="connsiteY4" fmla="*/ 3981655 h 4035498"/>
                <a:gd name="connsiteX5" fmla="*/ 155014 w 9255204"/>
                <a:gd name="connsiteY5" fmla="*/ 3968280 h 4035498"/>
                <a:gd name="connsiteX6" fmla="*/ 185879 w 9255204"/>
                <a:gd name="connsiteY6" fmla="*/ 3954562 h 4035498"/>
                <a:gd name="connsiteX7" fmla="*/ 216745 w 9255204"/>
                <a:gd name="connsiteY7" fmla="*/ 3941187 h 4035498"/>
                <a:gd name="connsiteX8" fmla="*/ 247610 w 9255204"/>
                <a:gd name="connsiteY8" fmla="*/ 3927469 h 4035498"/>
                <a:gd name="connsiteX9" fmla="*/ 278819 w 9255204"/>
                <a:gd name="connsiteY9" fmla="*/ 3914094 h 4035498"/>
                <a:gd name="connsiteX10" fmla="*/ 309684 w 9255204"/>
                <a:gd name="connsiteY10" fmla="*/ 3900719 h 4035498"/>
                <a:gd name="connsiteX11" fmla="*/ 340550 w 9255204"/>
                <a:gd name="connsiteY11" fmla="*/ 3887001 h 4035498"/>
                <a:gd name="connsiteX12" fmla="*/ 371415 w 9255204"/>
                <a:gd name="connsiteY12" fmla="*/ 3873626 h 4035498"/>
                <a:gd name="connsiteX13" fmla="*/ 402624 w 9255204"/>
                <a:gd name="connsiteY13" fmla="*/ 3860251 h 4035498"/>
                <a:gd name="connsiteX14" fmla="*/ 433489 w 9255204"/>
                <a:gd name="connsiteY14" fmla="*/ 3846533 h 4035498"/>
                <a:gd name="connsiteX15" fmla="*/ 464355 w 9255204"/>
                <a:gd name="connsiteY15" fmla="*/ 3833158 h 4035498"/>
                <a:gd name="connsiteX16" fmla="*/ 495221 w 9255204"/>
                <a:gd name="connsiteY16" fmla="*/ 3819783 h 4035498"/>
                <a:gd name="connsiteX17" fmla="*/ 526429 w 9255204"/>
                <a:gd name="connsiteY17" fmla="*/ 3806065 h 4035498"/>
                <a:gd name="connsiteX18" fmla="*/ 557295 w 9255204"/>
                <a:gd name="connsiteY18" fmla="*/ 3792690 h 4035498"/>
                <a:gd name="connsiteX19" fmla="*/ 588160 w 9255204"/>
                <a:gd name="connsiteY19" fmla="*/ 3779315 h 4035498"/>
                <a:gd name="connsiteX20" fmla="*/ 619026 w 9255204"/>
                <a:gd name="connsiteY20" fmla="*/ 3765597 h 4035498"/>
                <a:gd name="connsiteX21" fmla="*/ 650234 w 9255204"/>
                <a:gd name="connsiteY21" fmla="*/ 3752222 h 4035498"/>
                <a:gd name="connsiteX22" fmla="*/ 681100 w 9255204"/>
                <a:gd name="connsiteY22" fmla="*/ 3738846 h 4035498"/>
                <a:gd name="connsiteX23" fmla="*/ 711965 w 9255204"/>
                <a:gd name="connsiteY23" fmla="*/ 3725129 h 4035498"/>
                <a:gd name="connsiteX24" fmla="*/ 742831 w 9255204"/>
                <a:gd name="connsiteY24" fmla="*/ 3711753 h 4035498"/>
                <a:gd name="connsiteX25" fmla="*/ 774039 w 9255204"/>
                <a:gd name="connsiteY25" fmla="*/ 3698035 h 4035498"/>
                <a:gd name="connsiteX26" fmla="*/ 804905 w 9255204"/>
                <a:gd name="connsiteY26" fmla="*/ 3684660 h 4035498"/>
                <a:gd name="connsiteX27" fmla="*/ 835770 w 9255204"/>
                <a:gd name="connsiteY27" fmla="*/ 3671285 h 4035498"/>
                <a:gd name="connsiteX28" fmla="*/ 866636 w 9255204"/>
                <a:gd name="connsiteY28" fmla="*/ 3657567 h 4035498"/>
                <a:gd name="connsiteX29" fmla="*/ 897844 w 9255204"/>
                <a:gd name="connsiteY29" fmla="*/ 3644192 h 4035498"/>
                <a:gd name="connsiteX30" fmla="*/ 928710 w 9255204"/>
                <a:gd name="connsiteY30" fmla="*/ 3630817 h 4035498"/>
                <a:gd name="connsiteX31" fmla="*/ 959576 w 9255204"/>
                <a:gd name="connsiteY31" fmla="*/ 3617099 h 4035498"/>
                <a:gd name="connsiteX32" fmla="*/ 990441 w 9255204"/>
                <a:gd name="connsiteY32" fmla="*/ 3603724 h 4035498"/>
                <a:gd name="connsiteX33" fmla="*/ 1021650 w 9255204"/>
                <a:gd name="connsiteY33" fmla="*/ 3590349 h 4035498"/>
                <a:gd name="connsiteX34" fmla="*/ 1052515 w 9255204"/>
                <a:gd name="connsiteY34" fmla="*/ 3576631 h 4035498"/>
                <a:gd name="connsiteX35" fmla="*/ 1083381 w 9255204"/>
                <a:gd name="connsiteY35" fmla="*/ 3563256 h 4035498"/>
                <a:gd name="connsiteX36" fmla="*/ 1114246 w 9255204"/>
                <a:gd name="connsiteY36" fmla="*/ 3549881 h 4035498"/>
                <a:gd name="connsiteX37" fmla="*/ 1145455 w 9255204"/>
                <a:gd name="connsiteY37" fmla="*/ 3536163 h 4035498"/>
                <a:gd name="connsiteX38" fmla="*/ 1176320 w 9255204"/>
                <a:gd name="connsiteY38" fmla="*/ 3522788 h 4035498"/>
                <a:gd name="connsiteX39" fmla="*/ 1207186 w 9255204"/>
                <a:gd name="connsiteY39" fmla="*/ 3509413 h 4035498"/>
                <a:gd name="connsiteX40" fmla="*/ 1238051 w 9255204"/>
                <a:gd name="connsiteY40" fmla="*/ 3495695 h 4035498"/>
                <a:gd name="connsiteX41" fmla="*/ 1269260 w 9255204"/>
                <a:gd name="connsiteY41" fmla="*/ 3482320 h 4035498"/>
                <a:gd name="connsiteX42" fmla="*/ 1300125 w 9255204"/>
                <a:gd name="connsiteY42" fmla="*/ 3468601 h 4035498"/>
                <a:gd name="connsiteX43" fmla="*/ 1330991 w 9255204"/>
                <a:gd name="connsiteY43" fmla="*/ 3455226 h 4035498"/>
                <a:gd name="connsiteX44" fmla="*/ 1362200 w 9255204"/>
                <a:gd name="connsiteY44" fmla="*/ 3441852 h 4035498"/>
                <a:gd name="connsiteX45" fmla="*/ 1393065 w 9255204"/>
                <a:gd name="connsiteY45" fmla="*/ 3428133 h 4035498"/>
                <a:gd name="connsiteX46" fmla="*/ 1423931 w 9255204"/>
                <a:gd name="connsiteY46" fmla="*/ 3414758 h 4035498"/>
                <a:gd name="connsiteX47" fmla="*/ 1454796 w 9255204"/>
                <a:gd name="connsiteY47" fmla="*/ 3401383 h 4035498"/>
                <a:gd name="connsiteX48" fmla="*/ 1486005 w 9255204"/>
                <a:gd name="connsiteY48" fmla="*/ 3387665 h 4035498"/>
                <a:gd name="connsiteX49" fmla="*/ 1516870 w 9255204"/>
                <a:gd name="connsiteY49" fmla="*/ 3374290 h 4035498"/>
                <a:gd name="connsiteX50" fmla="*/ 1547736 w 9255204"/>
                <a:gd name="connsiteY50" fmla="*/ 3360915 h 4035498"/>
                <a:gd name="connsiteX51" fmla="*/ 1578601 w 9255204"/>
                <a:gd name="connsiteY51" fmla="*/ 3347197 h 4035498"/>
                <a:gd name="connsiteX52" fmla="*/ 1609810 w 9255204"/>
                <a:gd name="connsiteY52" fmla="*/ 3333822 h 4035498"/>
                <a:gd name="connsiteX53" fmla="*/ 1640675 w 9255204"/>
                <a:gd name="connsiteY53" fmla="*/ 3320447 h 4035498"/>
                <a:gd name="connsiteX54" fmla="*/ 1671541 w 9255204"/>
                <a:gd name="connsiteY54" fmla="*/ 3306729 h 4035498"/>
                <a:gd name="connsiteX55" fmla="*/ 1702406 w 9255204"/>
                <a:gd name="connsiteY55" fmla="*/ 3293354 h 4035498"/>
                <a:gd name="connsiteX56" fmla="*/ 1733615 w 9255204"/>
                <a:gd name="connsiteY56" fmla="*/ 3279636 h 4035498"/>
                <a:gd name="connsiteX57" fmla="*/ 1764480 w 9255204"/>
                <a:gd name="connsiteY57" fmla="*/ 3266261 h 4035498"/>
                <a:gd name="connsiteX58" fmla="*/ 1795346 w 9255204"/>
                <a:gd name="connsiteY58" fmla="*/ 3252885 h 4035498"/>
                <a:gd name="connsiteX59" fmla="*/ 1826211 w 9255204"/>
                <a:gd name="connsiteY59" fmla="*/ 3239168 h 4035498"/>
                <a:gd name="connsiteX60" fmla="*/ 1857420 w 9255204"/>
                <a:gd name="connsiteY60" fmla="*/ 3225792 h 4035498"/>
                <a:gd name="connsiteX61" fmla="*/ 1888286 w 9255204"/>
                <a:gd name="connsiteY61" fmla="*/ 3212417 h 4035498"/>
                <a:gd name="connsiteX62" fmla="*/ 1919151 w 9255204"/>
                <a:gd name="connsiteY62" fmla="*/ 3198699 h 4035498"/>
                <a:gd name="connsiteX63" fmla="*/ 1950017 w 9255204"/>
                <a:gd name="connsiteY63" fmla="*/ 3185324 h 4035498"/>
                <a:gd name="connsiteX64" fmla="*/ 1981225 w 9255204"/>
                <a:gd name="connsiteY64" fmla="*/ 3171949 h 4035498"/>
                <a:gd name="connsiteX65" fmla="*/ 2012091 w 9255204"/>
                <a:gd name="connsiteY65" fmla="*/ 3158231 h 4035498"/>
                <a:gd name="connsiteX66" fmla="*/ 2042956 w 9255204"/>
                <a:gd name="connsiteY66" fmla="*/ 3144856 h 4035498"/>
                <a:gd name="connsiteX67" fmla="*/ 2073822 w 9255204"/>
                <a:gd name="connsiteY67" fmla="*/ 3131481 h 4035498"/>
                <a:gd name="connsiteX68" fmla="*/ 2105030 w 9255204"/>
                <a:gd name="connsiteY68" fmla="*/ 3117763 h 4035498"/>
                <a:gd name="connsiteX69" fmla="*/ 2135896 w 9255204"/>
                <a:gd name="connsiteY69" fmla="*/ 3104388 h 4035498"/>
                <a:gd name="connsiteX70" fmla="*/ 2166761 w 9255204"/>
                <a:gd name="connsiteY70" fmla="*/ 3091013 h 4035498"/>
                <a:gd name="connsiteX71" fmla="*/ 2197627 w 9255204"/>
                <a:gd name="connsiteY71" fmla="*/ 3077295 h 4035498"/>
                <a:gd name="connsiteX72" fmla="*/ 2228836 w 9255204"/>
                <a:gd name="connsiteY72" fmla="*/ 3063920 h 4035498"/>
                <a:gd name="connsiteX73" fmla="*/ 2259701 w 9255204"/>
                <a:gd name="connsiteY73" fmla="*/ 3050202 h 4035498"/>
                <a:gd name="connsiteX74" fmla="*/ 2290566 w 9255204"/>
                <a:gd name="connsiteY74" fmla="*/ 3036827 h 4035498"/>
                <a:gd name="connsiteX75" fmla="*/ 2321432 w 9255204"/>
                <a:gd name="connsiteY75" fmla="*/ 3023452 h 4035498"/>
                <a:gd name="connsiteX76" fmla="*/ 2352641 w 9255204"/>
                <a:gd name="connsiteY76" fmla="*/ 3009734 h 4035498"/>
                <a:gd name="connsiteX77" fmla="*/ 2383506 w 9255204"/>
                <a:gd name="connsiteY77" fmla="*/ 2996359 h 4035498"/>
                <a:gd name="connsiteX78" fmla="*/ 2414372 w 9255204"/>
                <a:gd name="connsiteY78" fmla="*/ 2982984 h 4035498"/>
                <a:gd name="connsiteX79" fmla="*/ 2445237 w 9255204"/>
                <a:gd name="connsiteY79" fmla="*/ 2969266 h 4035498"/>
                <a:gd name="connsiteX80" fmla="*/ 2476446 w 9255204"/>
                <a:gd name="connsiteY80" fmla="*/ 2955891 h 4035498"/>
                <a:gd name="connsiteX81" fmla="*/ 2507311 w 9255204"/>
                <a:gd name="connsiteY81" fmla="*/ 2942515 h 4035498"/>
                <a:gd name="connsiteX82" fmla="*/ 2538177 w 9255204"/>
                <a:gd name="connsiteY82" fmla="*/ 2928798 h 4035498"/>
                <a:gd name="connsiteX83" fmla="*/ 2569042 w 9255204"/>
                <a:gd name="connsiteY83" fmla="*/ 2915422 h 4035498"/>
                <a:gd name="connsiteX84" fmla="*/ 2600251 w 9255204"/>
                <a:gd name="connsiteY84" fmla="*/ 2902047 h 4035498"/>
                <a:gd name="connsiteX85" fmla="*/ 2631117 w 9255204"/>
                <a:gd name="connsiteY85" fmla="*/ 2888329 h 4035498"/>
                <a:gd name="connsiteX86" fmla="*/ 2661982 w 9255204"/>
                <a:gd name="connsiteY86" fmla="*/ 2874954 h 4035498"/>
                <a:gd name="connsiteX87" fmla="*/ 2693190 w 9255204"/>
                <a:gd name="connsiteY87" fmla="*/ 2861236 h 4035498"/>
                <a:gd name="connsiteX88" fmla="*/ 2724056 w 9255204"/>
                <a:gd name="connsiteY88" fmla="*/ 2847861 h 4035498"/>
                <a:gd name="connsiteX89" fmla="*/ 2754922 w 9255204"/>
                <a:gd name="connsiteY89" fmla="*/ 2834486 h 4035498"/>
                <a:gd name="connsiteX90" fmla="*/ 2785787 w 9255204"/>
                <a:gd name="connsiteY90" fmla="*/ 2820768 h 4035498"/>
                <a:gd name="connsiteX91" fmla="*/ 2816996 w 9255204"/>
                <a:gd name="connsiteY91" fmla="*/ 2807393 h 4035498"/>
                <a:gd name="connsiteX92" fmla="*/ 2847861 w 9255204"/>
                <a:gd name="connsiteY92" fmla="*/ 2794018 h 4035498"/>
                <a:gd name="connsiteX93" fmla="*/ 2878726 w 9255204"/>
                <a:gd name="connsiteY93" fmla="*/ 2780300 h 4035498"/>
                <a:gd name="connsiteX94" fmla="*/ 2909592 w 9255204"/>
                <a:gd name="connsiteY94" fmla="*/ 2766925 h 4035498"/>
                <a:gd name="connsiteX95" fmla="*/ 2940801 w 9255204"/>
                <a:gd name="connsiteY95" fmla="*/ 2753550 h 4035498"/>
                <a:gd name="connsiteX96" fmla="*/ 2971666 w 9255204"/>
                <a:gd name="connsiteY96" fmla="*/ 2739831 h 4035498"/>
                <a:gd name="connsiteX97" fmla="*/ 3002532 w 9255204"/>
                <a:gd name="connsiteY97" fmla="*/ 2726456 h 4035498"/>
                <a:gd name="connsiteX98" fmla="*/ 3033397 w 9255204"/>
                <a:gd name="connsiteY98" fmla="*/ 2713082 h 4035498"/>
                <a:gd name="connsiteX99" fmla="*/ 3064606 w 9255204"/>
                <a:gd name="connsiteY99" fmla="*/ 2699363 h 4035498"/>
                <a:gd name="connsiteX100" fmla="*/ 3095471 w 9255204"/>
                <a:gd name="connsiteY100" fmla="*/ 2685988 h 4035498"/>
                <a:gd name="connsiteX101" fmla="*/ 3126337 w 9255204"/>
                <a:gd name="connsiteY101" fmla="*/ 2672614 h 4035498"/>
                <a:gd name="connsiteX102" fmla="*/ 3157203 w 9255204"/>
                <a:gd name="connsiteY102" fmla="*/ 2658895 h 4035498"/>
                <a:gd name="connsiteX103" fmla="*/ 3188411 w 9255204"/>
                <a:gd name="connsiteY103" fmla="*/ 2645520 h 4035498"/>
                <a:gd name="connsiteX104" fmla="*/ 3219276 w 9255204"/>
                <a:gd name="connsiteY104" fmla="*/ 2631802 h 4035498"/>
                <a:gd name="connsiteX105" fmla="*/ 3250142 w 9255204"/>
                <a:gd name="connsiteY105" fmla="*/ 2618427 h 4035498"/>
                <a:gd name="connsiteX106" fmla="*/ 3281008 w 9255204"/>
                <a:gd name="connsiteY106" fmla="*/ 2605052 h 4035498"/>
                <a:gd name="connsiteX107" fmla="*/ 3312216 w 9255204"/>
                <a:gd name="connsiteY107" fmla="*/ 2591334 h 4035498"/>
                <a:gd name="connsiteX108" fmla="*/ 3343082 w 9255204"/>
                <a:gd name="connsiteY108" fmla="*/ 2577959 h 4035498"/>
                <a:gd name="connsiteX109" fmla="*/ 3373947 w 9255204"/>
                <a:gd name="connsiteY109" fmla="*/ 2564584 h 4035498"/>
                <a:gd name="connsiteX110" fmla="*/ 3404813 w 9255204"/>
                <a:gd name="connsiteY110" fmla="*/ 2550866 h 4035498"/>
                <a:gd name="connsiteX111" fmla="*/ 3436021 w 9255204"/>
                <a:gd name="connsiteY111" fmla="*/ 2537491 h 4035498"/>
                <a:gd name="connsiteX112" fmla="*/ 3466887 w 9255204"/>
                <a:gd name="connsiteY112" fmla="*/ 2524116 h 4035498"/>
                <a:gd name="connsiteX113" fmla="*/ 3497752 w 9255204"/>
                <a:gd name="connsiteY113" fmla="*/ 2510398 h 4035498"/>
                <a:gd name="connsiteX114" fmla="*/ 3528618 w 9255204"/>
                <a:gd name="connsiteY114" fmla="*/ 2497023 h 4035498"/>
                <a:gd name="connsiteX115" fmla="*/ 3559827 w 9255204"/>
                <a:gd name="connsiteY115" fmla="*/ 2483648 h 4035498"/>
                <a:gd name="connsiteX116" fmla="*/ 3590692 w 9255204"/>
                <a:gd name="connsiteY116" fmla="*/ 2469930 h 4035498"/>
                <a:gd name="connsiteX117" fmla="*/ 3621557 w 9255204"/>
                <a:gd name="connsiteY117" fmla="*/ 2456554 h 4035498"/>
                <a:gd name="connsiteX118" fmla="*/ 3652423 w 9255204"/>
                <a:gd name="connsiteY118" fmla="*/ 2442837 h 4035498"/>
                <a:gd name="connsiteX119" fmla="*/ 3683632 w 9255204"/>
                <a:gd name="connsiteY119" fmla="*/ 2429461 h 4035498"/>
                <a:gd name="connsiteX120" fmla="*/ 3714497 w 9255204"/>
                <a:gd name="connsiteY120" fmla="*/ 2416086 h 4035498"/>
                <a:gd name="connsiteX121" fmla="*/ 3745363 w 9255204"/>
                <a:gd name="connsiteY121" fmla="*/ 2402368 h 4035498"/>
                <a:gd name="connsiteX122" fmla="*/ 3776228 w 9255204"/>
                <a:gd name="connsiteY122" fmla="*/ 2388993 h 4035498"/>
                <a:gd name="connsiteX123" fmla="*/ 3807437 w 9255204"/>
                <a:gd name="connsiteY123" fmla="*/ 2375618 h 4035498"/>
                <a:gd name="connsiteX124" fmla="*/ 3838302 w 9255204"/>
                <a:gd name="connsiteY124" fmla="*/ 2361900 h 4035498"/>
                <a:gd name="connsiteX125" fmla="*/ 3869168 w 9255204"/>
                <a:gd name="connsiteY125" fmla="*/ 2348525 h 4035498"/>
                <a:gd name="connsiteX126" fmla="*/ 3900033 w 9255204"/>
                <a:gd name="connsiteY126" fmla="*/ 2335150 h 4035498"/>
                <a:gd name="connsiteX127" fmla="*/ 3931242 w 9255204"/>
                <a:gd name="connsiteY127" fmla="*/ 2321432 h 4035498"/>
                <a:gd name="connsiteX128" fmla="*/ 3962107 w 9255204"/>
                <a:gd name="connsiteY128" fmla="*/ 2308057 h 4035498"/>
                <a:gd name="connsiteX129" fmla="*/ 3992973 w 9255204"/>
                <a:gd name="connsiteY129" fmla="*/ 2294682 h 4035498"/>
                <a:gd name="connsiteX130" fmla="*/ 4023838 w 9255204"/>
                <a:gd name="connsiteY130" fmla="*/ 2280964 h 4035498"/>
                <a:gd name="connsiteX131" fmla="*/ 4055047 w 9255204"/>
                <a:gd name="connsiteY131" fmla="*/ 2267589 h 4035498"/>
                <a:gd name="connsiteX132" fmla="*/ 4085912 w 9255204"/>
                <a:gd name="connsiteY132" fmla="*/ 2254214 h 4035498"/>
                <a:gd name="connsiteX133" fmla="*/ 4116778 w 9255204"/>
                <a:gd name="connsiteY133" fmla="*/ 2240496 h 4035498"/>
                <a:gd name="connsiteX134" fmla="*/ 4147987 w 9255204"/>
                <a:gd name="connsiteY134" fmla="*/ 2227121 h 4035498"/>
                <a:gd name="connsiteX135" fmla="*/ 4178852 w 9255204"/>
                <a:gd name="connsiteY135" fmla="*/ 2213403 h 4035498"/>
                <a:gd name="connsiteX136" fmla="*/ 4209718 w 9255204"/>
                <a:gd name="connsiteY136" fmla="*/ 2200027 h 4035498"/>
                <a:gd name="connsiteX137" fmla="*/ 4240583 w 9255204"/>
                <a:gd name="connsiteY137" fmla="*/ 2186653 h 4035498"/>
                <a:gd name="connsiteX138" fmla="*/ 4271792 w 9255204"/>
                <a:gd name="connsiteY138" fmla="*/ 2172934 h 4035498"/>
                <a:gd name="connsiteX139" fmla="*/ 4302657 w 9255204"/>
                <a:gd name="connsiteY139" fmla="*/ 2159559 h 4035498"/>
                <a:gd name="connsiteX140" fmla="*/ 4333523 w 9255204"/>
                <a:gd name="connsiteY140" fmla="*/ 2146184 h 4035498"/>
                <a:gd name="connsiteX141" fmla="*/ 4364388 w 9255204"/>
                <a:gd name="connsiteY141" fmla="*/ 2132466 h 4035498"/>
                <a:gd name="connsiteX142" fmla="*/ 4395597 w 9255204"/>
                <a:gd name="connsiteY142" fmla="*/ 2119091 h 4035498"/>
                <a:gd name="connsiteX143" fmla="*/ 4426462 w 9255204"/>
                <a:gd name="connsiteY143" fmla="*/ 2105716 h 4035498"/>
                <a:gd name="connsiteX144" fmla="*/ 4457328 w 9255204"/>
                <a:gd name="connsiteY144" fmla="*/ 2091998 h 4035498"/>
                <a:gd name="connsiteX145" fmla="*/ 4488193 w 9255204"/>
                <a:gd name="connsiteY145" fmla="*/ 2078623 h 4035498"/>
                <a:gd name="connsiteX146" fmla="*/ 4519402 w 9255204"/>
                <a:gd name="connsiteY146" fmla="*/ 2065248 h 4035498"/>
                <a:gd name="connsiteX147" fmla="*/ 4550267 w 9255204"/>
                <a:gd name="connsiteY147" fmla="*/ 2051530 h 4035498"/>
                <a:gd name="connsiteX148" fmla="*/ 4581133 w 9255204"/>
                <a:gd name="connsiteY148" fmla="*/ 2038155 h 4035498"/>
                <a:gd name="connsiteX149" fmla="*/ 4611999 w 9255204"/>
                <a:gd name="connsiteY149" fmla="*/ 2024780 h 4035498"/>
                <a:gd name="connsiteX150" fmla="*/ 4643207 w 9255204"/>
                <a:gd name="connsiteY150" fmla="*/ 2011062 h 4035498"/>
                <a:gd name="connsiteX151" fmla="*/ 4674073 w 9255204"/>
                <a:gd name="connsiteY151" fmla="*/ 1997687 h 4035498"/>
                <a:gd name="connsiteX152" fmla="*/ 4704938 w 9255204"/>
                <a:gd name="connsiteY152" fmla="*/ 1983969 h 4035498"/>
                <a:gd name="connsiteX153" fmla="*/ 4735804 w 9255204"/>
                <a:gd name="connsiteY153" fmla="*/ 1970594 h 4035498"/>
                <a:gd name="connsiteX154" fmla="*/ 4767012 w 9255204"/>
                <a:gd name="connsiteY154" fmla="*/ 1957219 h 4035498"/>
                <a:gd name="connsiteX155" fmla="*/ 4797878 w 9255204"/>
                <a:gd name="connsiteY155" fmla="*/ 1943500 h 4035498"/>
                <a:gd name="connsiteX156" fmla="*/ 4828744 w 9255204"/>
                <a:gd name="connsiteY156" fmla="*/ 1930126 h 4035498"/>
                <a:gd name="connsiteX157" fmla="*/ 4859609 w 9255204"/>
                <a:gd name="connsiteY157" fmla="*/ 1916750 h 4035498"/>
                <a:gd name="connsiteX158" fmla="*/ 4890817 w 9255204"/>
                <a:gd name="connsiteY158" fmla="*/ 1903032 h 4035498"/>
                <a:gd name="connsiteX159" fmla="*/ 4921683 w 9255204"/>
                <a:gd name="connsiteY159" fmla="*/ 1889657 h 4035498"/>
                <a:gd name="connsiteX160" fmla="*/ 4952549 w 9255204"/>
                <a:gd name="connsiteY160" fmla="*/ 1876282 h 4035498"/>
                <a:gd name="connsiteX161" fmla="*/ 4983414 w 9255204"/>
                <a:gd name="connsiteY161" fmla="*/ 1862564 h 4035498"/>
                <a:gd name="connsiteX162" fmla="*/ 5014622 w 9255204"/>
                <a:gd name="connsiteY162" fmla="*/ 1849189 h 4035498"/>
                <a:gd name="connsiteX163" fmla="*/ 5045488 w 9255204"/>
                <a:gd name="connsiteY163" fmla="*/ 1835814 h 4035498"/>
                <a:gd name="connsiteX164" fmla="*/ 5076354 w 9255204"/>
                <a:gd name="connsiteY164" fmla="*/ 1822096 h 4035498"/>
                <a:gd name="connsiteX165" fmla="*/ 5107219 w 9255204"/>
                <a:gd name="connsiteY165" fmla="*/ 1808721 h 4035498"/>
                <a:gd name="connsiteX166" fmla="*/ 5138427 w 9255204"/>
                <a:gd name="connsiteY166" fmla="*/ 1795003 h 4035498"/>
                <a:gd name="connsiteX167" fmla="*/ 5169293 w 9255204"/>
                <a:gd name="connsiteY167" fmla="*/ 1781628 h 4035498"/>
                <a:gd name="connsiteX168" fmla="*/ 5200159 w 9255204"/>
                <a:gd name="connsiteY168" fmla="*/ 1768253 h 4035498"/>
                <a:gd name="connsiteX169" fmla="*/ 5231024 w 9255204"/>
                <a:gd name="connsiteY169" fmla="*/ 1754535 h 4035498"/>
                <a:gd name="connsiteX170" fmla="*/ 5262233 w 9255204"/>
                <a:gd name="connsiteY170" fmla="*/ 1741160 h 4035498"/>
                <a:gd name="connsiteX171" fmla="*/ 5293098 w 9255204"/>
                <a:gd name="connsiteY171" fmla="*/ 1727785 h 4035498"/>
                <a:gd name="connsiteX172" fmla="*/ 5323964 w 9255204"/>
                <a:gd name="connsiteY172" fmla="*/ 1714067 h 4035498"/>
                <a:gd name="connsiteX173" fmla="*/ 5354829 w 9255204"/>
                <a:gd name="connsiteY173" fmla="*/ 1700692 h 4035498"/>
                <a:gd name="connsiteX174" fmla="*/ 5386038 w 9255204"/>
                <a:gd name="connsiteY174" fmla="*/ 1687316 h 4035498"/>
                <a:gd name="connsiteX175" fmla="*/ 5416904 w 9255204"/>
                <a:gd name="connsiteY175" fmla="*/ 1673599 h 4035498"/>
                <a:gd name="connsiteX176" fmla="*/ 5447769 w 9255204"/>
                <a:gd name="connsiteY176" fmla="*/ 1660223 h 4035498"/>
                <a:gd name="connsiteX177" fmla="*/ 5478977 w 9255204"/>
                <a:gd name="connsiteY177" fmla="*/ 1646848 h 4035498"/>
                <a:gd name="connsiteX178" fmla="*/ 5509843 w 9255204"/>
                <a:gd name="connsiteY178" fmla="*/ 1633130 h 4035498"/>
                <a:gd name="connsiteX179" fmla="*/ 5540709 w 9255204"/>
                <a:gd name="connsiteY179" fmla="*/ 1619755 h 4035498"/>
                <a:gd name="connsiteX180" fmla="*/ 5571574 w 9255204"/>
                <a:gd name="connsiteY180" fmla="*/ 1606380 h 4035498"/>
                <a:gd name="connsiteX181" fmla="*/ 5602782 w 9255204"/>
                <a:gd name="connsiteY181" fmla="*/ 1592662 h 4035498"/>
                <a:gd name="connsiteX182" fmla="*/ 5633648 w 9255204"/>
                <a:gd name="connsiteY182" fmla="*/ 1579287 h 4035498"/>
                <a:gd name="connsiteX183" fmla="*/ 5664514 w 9255204"/>
                <a:gd name="connsiteY183" fmla="*/ 1565569 h 4035498"/>
                <a:gd name="connsiteX184" fmla="*/ 5695379 w 9255204"/>
                <a:gd name="connsiteY184" fmla="*/ 1552194 h 4035498"/>
                <a:gd name="connsiteX185" fmla="*/ 5726588 w 9255204"/>
                <a:gd name="connsiteY185" fmla="*/ 1538819 h 4035498"/>
                <a:gd name="connsiteX186" fmla="*/ 5757453 w 9255204"/>
                <a:gd name="connsiteY186" fmla="*/ 1525101 h 4035498"/>
                <a:gd name="connsiteX187" fmla="*/ 5788319 w 9255204"/>
                <a:gd name="connsiteY187" fmla="*/ 1511726 h 4035498"/>
                <a:gd name="connsiteX188" fmla="*/ 5819184 w 9255204"/>
                <a:gd name="connsiteY188" fmla="*/ 1498351 h 4035498"/>
                <a:gd name="connsiteX189" fmla="*/ 5850393 w 9255204"/>
                <a:gd name="connsiteY189" fmla="*/ 1484633 h 4035498"/>
                <a:gd name="connsiteX190" fmla="*/ 5881259 w 9255204"/>
                <a:gd name="connsiteY190" fmla="*/ 1471258 h 4035498"/>
                <a:gd name="connsiteX191" fmla="*/ 5912124 w 9255204"/>
                <a:gd name="connsiteY191" fmla="*/ 1457883 h 4035498"/>
                <a:gd name="connsiteX192" fmla="*/ 5942989 w 9255204"/>
                <a:gd name="connsiteY192" fmla="*/ 1444165 h 4035498"/>
                <a:gd name="connsiteX193" fmla="*/ 5974198 w 9255204"/>
                <a:gd name="connsiteY193" fmla="*/ 1430789 h 4035498"/>
                <a:gd name="connsiteX194" fmla="*/ 6005064 w 9255204"/>
                <a:gd name="connsiteY194" fmla="*/ 1417414 h 4035498"/>
                <a:gd name="connsiteX195" fmla="*/ 6035929 w 9255204"/>
                <a:gd name="connsiteY195" fmla="*/ 1403696 h 4035498"/>
                <a:gd name="connsiteX196" fmla="*/ 6066795 w 9255204"/>
                <a:gd name="connsiteY196" fmla="*/ 1390321 h 4035498"/>
                <a:gd name="connsiteX197" fmla="*/ 6098003 w 9255204"/>
                <a:gd name="connsiteY197" fmla="*/ 1376603 h 4035498"/>
                <a:gd name="connsiteX198" fmla="*/ 6128869 w 9255204"/>
                <a:gd name="connsiteY198" fmla="*/ 1363228 h 4035498"/>
                <a:gd name="connsiteX199" fmla="*/ 6159734 w 9255204"/>
                <a:gd name="connsiteY199" fmla="*/ 1349853 h 4035498"/>
                <a:gd name="connsiteX200" fmla="*/ 6190600 w 9255204"/>
                <a:gd name="connsiteY200" fmla="*/ 1336135 h 4035498"/>
                <a:gd name="connsiteX201" fmla="*/ 6221808 w 9255204"/>
                <a:gd name="connsiteY201" fmla="*/ 1322760 h 4035498"/>
                <a:gd name="connsiteX202" fmla="*/ 6252674 w 9255204"/>
                <a:gd name="connsiteY202" fmla="*/ 1309385 h 4035498"/>
                <a:gd name="connsiteX203" fmla="*/ 6283539 w 9255204"/>
                <a:gd name="connsiteY203" fmla="*/ 1295667 h 4035498"/>
                <a:gd name="connsiteX204" fmla="*/ 6314405 w 9255204"/>
                <a:gd name="connsiteY204" fmla="*/ 1282292 h 4035498"/>
                <a:gd name="connsiteX205" fmla="*/ 6345613 w 9255204"/>
                <a:gd name="connsiteY205" fmla="*/ 1268917 h 4035498"/>
                <a:gd name="connsiteX206" fmla="*/ 6376479 w 9255204"/>
                <a:gd name="connsiteY206" fmla="*/ 1255199 h 4035498"/>
                <a:gd name="connsiteX207" fmla="*/ 6407344 w 9255204"/>
                <a:gd name="connsiteY207" fmla="*/ 1241824 h 4035498"/>
                <a:gd name="connsiteX208" fmla="*/ 6438210 w 9255204"/>
                <a:gd name="connsiteY208" fmla="*/ 1228449 h 4035498"/>
                <a:gd name="connsiteX209" fmla="*/ 6469419 w 9255204"/>
                <a:gd name="connsiteY209" fmla="*/ 1214731 h 4035498"/>
                <a:gd name="connsiteX210" fmla="*/ 6500284 w 9255204"/>
                <a:gd name="connsiteY210" fmla="*/ 1201356 h 4035498"/>
                <a:gd name="connsiteX211" fmla="*/ 6531149 w 9255204"/>
                <a:gd name="connsiteY211" fmla="*/ 1187981 h 4035498"/>
                <a:gd name="connsiteX212" fmla="*/ 6562015 w 9255204"/>
                <a:gd name="connsiteY212" fmla="*/ 1174262 h 4035498"/>
                <a:gd name="connsiteX213" fmla="*/ 6593224 w 9255204"/>
                <a:gd name="connsiteY213" fmla="*/ 1160888 h 4035498"/>
                <a:gd name="connsiteX214" fmla="*/ 6624089 w 9255204"/>
                <a:gd name="connsiteY214" fmla="*/ 1147169 h 4035498"/>
                <a:gd name="connsiteX215" fmla="*/ 6654955 w 9255204"/>
                <a:gd name="connsiteY215" fmla="*/ 1133794 h 4035498"/>
                <a:gd name="connsiteX216" fmla="*/ 6685820 w 9255204"/>
                <a:gd name="connsiteY216" fmla="*/ 1120419 h 4035498"/>
                <a:gd name="connsiteX217" fmla="*/ 6717029 w 9255204"/>
                <a:gd name="connsiteY217" fmla="*/ 1106701 h 4035498"/>
                <a:gd name="connsiteX218" fmla="*/ 6747894 w 9255204"/>
                <a:gd name="connsiteY218" fmla="*/ 1093326 h 4035498"/>
                <a:gd name="connsiteX219" fmla="*/ 6778760 w 9255204"/>
                <a:gd name="connsiteY219" fmla="*/ 1079951 h 4035498"/>
                <a:gd name="connsiteX220" fmla="*/ 6809625 w 9255204"/>
                <a:gd name="connsiteY220" fmla="*/ 1066233 h 4035498"/>
                <a:gd name="connsiteX221" fmla="*/ 6840834 w 9255204"/>
                <a:gd name="connsiteY221" fmla="*/ 1052858 h 4035498"/>
                <a:gd name="connsiteX222" fmla="*/ 6871699 w 9255204"/>
                <a:gd name="connsiteY222" fmla="*/ 1039483 h 4035498"/>
                <a:gd name="connsiteX223" fmla="*/ 6902565 w 9255204"/>
                <a:gd name="connsiteY223" fmla="*/ 1025765 h 4035498"/>
                <a:gd name="connsiteX224" fmla="*/ 6933773 w 9255204"/>
                <a:gd name="connsiteY224" fmla="*/ 1012390 h 4035498"/>
                <a:gd name="connsiteX225" fmla="*/ 6964639 w 9255204"/>
                <a:gd name="connsiteY225" fmla="*/ 999015 h 4035498"/>
                <a:gd name="connsiteX226" fmla="*/ 6995504 w 9255204"/>
                <a:gd name="connsiteY226" fmla="*/ 985297 h 4035498"/>
                <a:gd name="connsiteX227" fmla="*/ 7026370 w 9255204"/>
                <a:gd name="connsiteY227" fmla="*/ 971922 h 4035498"/>
                <a:gd name="connsiteX228" fmla="*/ 7057579 w 9255204"/>
                <a:gd name="connsiteY228" fmla="*/ 958204 h 4035498"/>
                <a:gd name="connsiteX229" fmla="*/ 7088444 w 9255204"/>
                <a:gd name="connsiteY229" fmla="*/ 944829 h 4035498"/>
                <a:gd name="connsiteX230" fmla="*/ 7119309 w 9255204"/>
                <a:gd name="connsiteY230" fmla="*/ 931454 h 4035498"/>
                <a:gd name="connsiteX231" fmla="*/ 7150175 w 9255204"/>
                <a:gd name="connsiteY231" fmla="*/ 917736 h 4035498"/>
                <a:gd name="connsiteX232" fmla="*/ 7181384 w 9255204"/>
                <a:gd name="connsiteY232" fmla="*/ 904361 h 4035498"/>
                <a:gd name="connsiteX233" fmla="*/ 7212250 w 9255204"/>
                <a:gd name="connsiteY233" fmla="*/ 890985 h 4035498"/>
                <a:gd name="connsiteX234" fmla="*/ 7243115 w 9255204"/>
                <a:gd name="connsiteY234" fmla="*/ 877267 h 4035498"/>
                <a:gd name="connsiteX235" fmla="*/ 7273980 w 9255204"/>
                <a:gd name="connsiteY235" fmla="*/ 863892 h 4035498"/>
                <a:gd name="connsiteX236" fmla="*/ 7305189 w 9255204"/>
                <a:gd name="connsiteY236" fmla="*/ 850517 h 4035498"/>
                <a:gd name="connsiteX237" fmla="*/ 7336055 w 9255204"/>
                <a:gd name="connsiteY237" fmla="*/ 836799 h 4035498"/>
                <a:gd name="connsiteX238" fmla="*/ 7366920 w 9255204"/>
                <a:gd name="connsiteY238" fmla="*/ 823424 h 4035498"/>
                <a:gd name="connsiteX239" fmla="*/ 7397786 w 9255204"/>
                <a:gd name="connsiteY239" fmla="*/ 810049 h 4035498"/>
                <a:gd name="connsiteX240" fmla="*/ 7428994 w 9255204"/>
                <a:gd name="connsiteY240" fmla="*/ 796331 h 4035498"/>
                <a:gd name="connsiteX241" fmla="*/ 7459860 w 9255204"/>
                <a:gd name="connsiteY241" fmla="*/ 782956 h 4035498"/>
                <a:gd name="connsiteX242" fmla="*/ 7490725 w 9255204"/>
                <a:gd name="connsiteY242" fmla="*/ 769581 h 4035498"/>
                <a:gd name="connsiteX243" fmla="*/ 7521591 w 9255204"/>
                <a:gd name="connsiteY243" fmla="*/ 755863 h 4035498"/>
                <a:gd name="connsiteX244" fmla="*/ 7552799 w 9255204"/>
                <a:gd name="connsiteY244" fmla="*/ 742488 h 4035498"/>
                <a:gd name="connsiteX245" fmla="*/ 7583665 w 9255204"/>
                <a:gd name="connsiteY245" fmla="*/ 728770 h 4035498"/>
                <a:gd name="connsiteX246" fmla="*/ 7614530 w 9255204"/>
                <a:gd name="connsiteY246" fmla="*/ 715395 h 4035498"/>
                <a:gd name="connsiteX247" fmla="*/ 7645396 w 9255204"/>
                <a:gd name="connsiteY247" fmla="*/ 702020 h 4035498"/>
                <a:gd name="connsiteX248" fmla="*/ 7676604 w 9255204"/>
                <a:gd name="connsiteY248" fmla="*/ 688302 h 4035498"/>
                <a:gd name="connsiteX249" fmla="*/ 7707470 w 9255204"/>
                <a:gd name="connsiteY249" fmla="*/ 674927 h 4035498"/>
                <a:gd name="connsiteX250" fmla="*/ 7738336 w 9255204"/>
                <a:gd name="connsiteY250" fmla="*/ 661551 h 4035498"/>
                <a:gd name="connsiteX251" fmla="*/ 7769201 w 9255204"/>
                <a:gd name="connsiteY251" fmla="*/ 647834 h 4035498"/>
                <a:gd name="connsiteX252" fmla="*/ 7800409 w 9255204"/>
                <a:gd name="connsiteY252" fmla="*/ 634458 h 4035498"/>
                <a:gd name="connsiteX253" fmla="*/ 7831275 w 9255204"/>
                <a:gd name="connsiteY253" fmla="*/ 621083 h 4035498"/>
                <a:gd name="connsiteX254" fmla="*/ 7862141 w 9255204"/>
                <a:gd name="connsiteY254" fmla="*/ 607365 h 4035498"/>
                <a:gd name="connsiteX255" fmla="*/ 7893006 w 9255204"/>
                <a:gd name="connsiteY255" fmla="*/ 593990 h 4035498"/>
                <a:gd name="connsiteX256" fmla="*/ 7924214 w 9255204"/>
                <a:gd name="connsiteY256" fmla="*/ 580615 h 4035498"/>
                <a:gd name="connsiteX257" fmla="*/ 7955080 w 9255204"/>
                <a:gd name="connsiteY257" fmla="*/ 566897 h 4035498"/>
                <a:gd name="connsiteX258" fmla="*/ 7985946 w 9255204"/>
                <a:gd name="connsiteY258" fmla="*/ 553522 h 4035498"/>
                <a:gd name="connsiteX259" fmla="*/ 8016811 w 9255204"/>
                <a:gd name="connsiteY259" fmla="*/ 540147 h 4035498"/>
                <a:gd name="connsiteX260" fmla="*/ 8048019 w 9255204"/>
                <a:gd name="connsiteY260" fmla="*/ 526429 h 4035498"/>
                <a:gd name="connsiteX261" fmla="*/ 8078885 w 9255204"/>
                <a:gd name="connsiteY261" fmla="*/ 513054 h 4035498"/>
                <a:gd name="connsiteX262" fmla="*/ 8109751 w 9255204"/>
                <a:gd name="connsiteY262" fmla="*/ 499336 h 4035498"/>
                <a:gd name="connsiteX263" fmla="*/ 8140616 w 9255204"/>
                <a:gd name="connsiteY263" fmla="*/ 485961 h 4035498"/>
                <a:gd name="connsiteX264" fmla="*/ 8171824 w 9255204"/>
                <a:gd name="connsiteY264" fmla="*/ 472586 h 4035498"/>
                <a:gd name="connsiteX265" fmla="*/ 8202690 w 9255204"/>
                <a:gd name="connsiteY265" fmla="*/ 458868 h 4035498"/>
                <a:gd name="connsiteX266" fmla="*/ 8233556 w 9255204"/>
                <a:gd name="connsiteY266" fmla="*/ 445493 h 4035498"/>
                <a:gd name="connsiteX267" fmla="*/ 8264764 w 9255204"/>
                <a:gd name="connsiteY267" fmla="*/ 432118 h 4035498"/>
                <a:gd name="connsiteX268" fmla="*/ 8295630 w 9255204"/>
                <a:gd name="connsiteY268" fmla="*/ 418400 h 4035498"/>
                <a:gd name="connsiteX269" fmla="*/ 8326495 w 9255204"/>
                <a:gd name="connsiteY269" fmla="*/ 405025 h 4035498"/>
                <a:gd name="connsiteX270" fmla="*/ 8357361 w 9255204"/>
                <a:gd name="connsiteY270" fmla="*/ 391649 h 4035498"/>
                <a:gd name="connsiteX271" fmla="*/ 8388570 w 9255204"/>
                <a:gd name="connsiteY271" fmla="*/ 377931 h 4035498"/>
                <a:gd name="connsiteX272" fmla="*/ 8419435 w 9255204"/>
                <a:gd name="connsiteY272" fmla="*/ 364556 h 4035498"/>
                <a:gd name="connsiteX273" fmla="*/ 8450300 w 9255204"/>
                <a:gd name="connsiteY273" fmla="*/ 351181 h 4035498"/>
                <a:gd name="connsiteX274" fmla="*/ 8481166 w 9255204"/>
                <a:gd name="connsiteY274" fmla="*/ 337463 h 4035498"/>
                <a:gd name="connsiteX275" fmla="*/ 8512374 w 9255204"/>
                <a:gd name="connsiteY275" fmla="*/ 324088 h 4035498"/>
                <a:gd name="connsiteX276" fmla="*/ 8543240 w 9255204"/>
                <a:gd name="connsiteY276" fmla="*/ 310370 h 4035498"/>
                <a:gd name="connsiteX277" fmla="*/ 8574105 w 9255204"/>
                <a:gd name="connsiteY277" fmla="*/ 296995 h 4035498"/>
                <a:gd name="connsiteX278" fmla="*/ 8604971 w 9255204"/>
                <a:gd name="connsiteY278" fmla="*/ 283620 h 4035498"/>
                <a:gd name="connsiteX279" fmla="*/ 8636180 w 9255204"/>
                <a:gd name="connsiteY279" fmla="*/ 269902 h 4035498"/>
                <a:gd name="connsiteX280" fmla="*/ 8667045 w 9255204"/>
                <a:gd name="connsiteY280" fmla="*/ 256527 h 4035498"/>
                <a:gd name="connsiteX281" fmla="*/ 8697910 w 9255204"/>
                <a:gd name="connsiteY281" fmla="*/ 243152 h 4035498"/>
                <a:gd name="connsiteX282" fmla="*/ 8728776 w 9255204"/>
                <a:gd name="connsiteY282" fmla="*/ 229434 h 4035498"/>
                <a:gd name="connsiteX283" fmla="*/ 8759985 w 9255204"/>
                <a:gd name="connsiteY283" fmla="*/ 216059 h 4035498"/>
                <a:gd name="connsiteX284" fmla="*/ 8790851 w 9255204"/>
                <a:gd name="connsiteY284" fmla="*/ 202684 h 4035498"/>
                <a:gd name="connsiteX285" fmla="*/ 8821716 w 9255204"/>
                <a:gd name="connsiteY285" fmla="*/ 188966 h 4035498"/>
                <a:gd name="connsiteX286" fmla="*/ 8852581 w 9255204"/>
                <a:gd name="connsiteY286" fmla="*/ 175591 h 4035498"/>
                <a:gd name="connsiteX287" fmla="*/ 8883790 w 9255204"/>
                <a:gd name="connsiteY287" fmla="*/ 162216 h 4035498"/>
                <a:gd name="connsiteX288" fmla="*/ 8914656 w 9255204"/>
                <a:gd name="connsiteY288" fmla="*/ 148498 h 4035498"/>
                <a:gd name="connsiteX289" fmla="*/ 8945521 w 9255204"/>
                <a:gd name="connsiteY289" fmla="*/ 135122 h 4035498"/>
                <a:gd name="connsiteX290" fmla="*/ 8976387 w 9255204"/>
                <a:gd name="connsiteY290" fmla="*/ 121747 h 4035498"/>
                <a:gd name="connsiteX291" fmla="*/ 9007595 w 9255204"/>
                <a:gd name="connsiteY291" fmla="*/ 108029 h 4035498"/>
                <a:gd name="connsiteX292" fmla="*/ 9038461 w 9255204"/>
                <a:gd name="connsiteY292" fmla="*/ 94654 h 4035498"/>
                <a:gd name="connsiteX293" fmla="*/ 9069326 w 9255204"/>
                <a:gd name="connsiteY293" fmla="*/ 80936 h 4035498"/>
                <a:gd name="connsiteX294" fmla="*/ 9100192 w 9255204"/>
                <a:gd name="connsiteY294" fmla="*/ 67561 h 4035498"/>
                <a:gd name="connsiteX295" fmla="*/ 9131400 w 9255204"/>
                <a:gd name="connsiteY295" fmla="*/ 54186 h 4035498"/>
                <a:gd name="connsiteX296" fmla="*/ 9162266 w 9255204"/>
                <a:gd name="connsiteY296" fmla="*/ 40468 h 4035498"/>
                <a:gd name="connsiteX297" fmla="*/ 9193131 w 9255204"/>
                <a:gd name="connsiteY297" fmla="*/ 27093 h 4035498"/>
                <a:gd name="connsiteX298" fmla="*/ 9223997 w 9255204"/>
                <a:gd name="connsiteY298" fmla="*/ 13718 h 4035498"/>
                <a:gd name="connsiteX299" fmla="*/ 9255205 w 9255204"/>
                <a:gd name="connsiteY299" fmla="*/ 0 h 403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</a:cxnLst>
              <a:rect l="l" t="t" r="r" b="b"/>
              <a:pathLst>
                <a:path w="9255204" h="4035498">
                  <a:moveTo>
                    <a:pt x="0" y="4035499"/>
                  </a:moveTo>
                  <a:lnTo>
                    <a:pt x="31209" y="4022123"/>
                  </a:lnTo>
                  <a:lnTo>
                    <a:pt x="62074" y="4008748"/>
                  </a:lnTo>
                  <a:lnTo>
                    <a:pt x="92940" y="3995030"/>
                  </a:lnTo>
                  <a:lnTo>
                    <a:pt x="123805" y="3981655"/>
                  </a:lnTo>
                  <a:lnTo>
                    <a:pt x="155014" y="3968280"/>
                  </a:lnTo>
                  <a:lnTo>
                    <a:pt x="185879" y="3954562"/>
                  </a:lnTo>
                  <a:lnTo>
                    <a:pt x="216745" y="3941187"/>
                  </a:lnTo>
                  <a:lnTo>
                    <a:pt x="247610" y="3927469"/>
                  </a:lnTo>
                  <a:lnTo>
                    <a:pt x="278819" y="3914094"/>
                  </a:lnTo>
                  <a:lnTo>
                    <a:pt x="309684" y="3900719"/>
                  </a:lnTo>
                  <a:lnTo>
                    <a:pt x="340550" y="3887001"/>
                  </a:lnTo>
                  <a:lnTo>
                    <a:pt x="371415" y="3873626"/>
                  </a:lnTo>
                  <a:lnTo>
                    <a:pt x="402624" y="3860251"/>
                  </a:lnTo>
                  <a:lnTo>
                    <a:pt x="433489" y="3846533"/>
                  </a:lnTo>
                  <a:lnTo>
                    <a:pt x="464355" y="3833158"/>
                  </a:lnTo>
                  <a:lnTo>
                    <a:pt x="495221" y="3819783"/>
                  </a:lnTo>
                  <a:lnTo>
                    <a:pt x="526429" y="3806065"/>
                  </a:lnTo>
                  <a:lnTo>
                    <a:pt x="557295" y="3792690"/>
                  </a:lnTo>
                  <a:lnTo>
                    <a:pt x="588160" y="3779315"/>
                  </a:lnTo>
                  <a:lnTo>
                    <a:pt x="619026" y="3765597"/>
                  </a:lnTo>
                  <a:lnTo>
                    <a:pt x="650234" y="3752222"/>
                  </a:lnTo>
                  <a:lnTo>
                    <a:pt x="681100" y="3738846"/>
                  </a:lnTo>
                  <a:lnTo>
                    <a:pt x="711965" y="3725129"/>
                  </a:lnTo>
                  <a:lnTo>
                    <a:pt x="742831" y="3711753"/>
                  </a:lnTo>
                  <a:lnTo>
                    <a:pt x="774039" y="3698035"/>
                  </a:lnTo>
                  <a:lnTo>
                    <a:pt x="804905" y="3684660"/>
                  </a:lnTo>
                  <a:lnTo>
                    <a:pt x="835770" y="3671285"/>
                  </a:lnTo>
                  <a:lnTo>
                    <a:pt x="866636" y="3657567"/>
                  </a:lnTo>
                  <a:lnTo>
                    <a:pt x="897844" y="3644192"/>
                  </a:lnTo>
                  <a:lnTo>
                    <a:pt x="928710" y="3630817"/>
                  </a:lnTo>
                  <a:lnTo>
                    <a:pt x="959576" y="3617099"/>
                  </a:lnTo>
                  <a:lnTo>
                    <a:pt x="990441" y="3603724"/>
                  </a:lnTo>
                  <a:lnTo>
                    <a:pt x="1021650" y="3590349"/>
                  </a:lnTo>
                  <a:lnTo>
                    <a:pt x="1052515" y="3576631"/>
                  </a:lnTo>
                  <a:lnTo>
                    <a:pt x="1083381" y="3563256"/>
                  </a:lnTo>
                  <a:lnTo>
                    <a:pt x="1114246" y="3549881"/>
                  </a:lnTo>
                  <a:lnTo>
                    <a:pt x="1145455" y="3536163"/>
                  </a:lnTo>
                  <a:lnTo>
                    <a:pt x="1176320" y="3522788"/>
                  </a:lnTo>
                  <a:lnTo>
                    <a:pt x="1207186" y="3509413"/>
                  </a:lnTo>
                  <a:lnTo>
                    <a:pt x="1238051" y="3495695"/>
                  </a:lnTo>
                  <a:lnTo>
                    <a:pt x="1269260" y="3482320"/>
                  </a:lnTo>
                  <a:lnTo>
                    <a:pt x="1300125" y="3468601"/>
                  </a:lnTo>
                  <a:lnTo>
                    <a:pt x="1330991" y="3455226"/>
                  </a:lnTo>
                  <a:lnTo>
                    <a:pt x="1362200" y="3441852"/>
                  </a:lnTo>
                  <a:lnTo>
                    <a:pt x="1393065" y="3428133"/>
                  </a:lnTo>
                  <a:lnTo>
                    <a:pt x="1423931" y="3414758"/>
                  </a:lnTo>
                  <a:lnTo>
                    <a:pt x="1454796" y="3401383"/>
                  </a:lnTo>
                  <a:lnTo>
                    <a:pt x="1486005" y="3387665"/>
                  </a:lnTo>
                  <a:lnTo>
                    <a:pt x="1516870" y="3374290"/>
                  </a:lnTo>
                  <a:lnTo>
                    <a:pt x="1547736" y="3360915"/>
                  </a:lnTo>
                  <a:lnTo>
                    <a:pt x="1578601" y="3347197"/>
                  </a:lnTo>
                  <a:lnTo>
                    <a:pt x="1609810" y="3333822"/>
                  </a:lnTo>
                  <a:lnTo>
                    <a:pt x="1640675" y="3320447"/>
                  </a:lnTo>
                  <a:lnTo>
                    <a:pt x="1671541" y="3306729"/>
                  </a:lnTo>
                  <a:lnTo>
                    <a:pt x="1702406" y="3293354"/>
                  </a:lnTo>
                  <a:lnTo>
                    <a:pt x="1733615" y="3279636"/>
                  </a:lnTo>
                  <a:lnTo>
                    <a:pt x="1764480" y="3266261"/>
                  </a:lnTo>
                  <a:lnTo>
                    <a:pt x="1795346" y="3252885"/>
                  </a:lnTo>
                  <a:lnTo>
                    <a:pt x="1826211" y="3239168"/>
                  </a:lnTo>
                  <a:lnTo>
                    <a:pt x="1857420" y="3225792"/>
                  </a:lnTo>
                  <a:lnTo>
                    <a:pt x="1888286" y="3212417"/>
                  </a:lnTo>
                  <a:lnTo>
                    <a:pt x="1919151" y="3198699"/>
                  </a:lnTo>
                  <a:lnTo>
                    <a:pt x="1950017" y="3185324"/>
                  </a:lnTo>
                  <a:lnTo>
                    <a:pt x="1981225" y="3171949"/>
                  </a:lnTo>
                  <a:lnTo>
                    <a:pt x="2012091" y="3158231"/>
                  </a:lnTo>
                  <a:lnTo>
                    <a:pt x="2042956" y="3144856"/>
                  </a:lnTo>
                  <a:lnTo>
                    <a:pt x="2073822" y="3131481"/>
                  </a:lnTo>
                  <a:lnTo>
                    <a:pt x="2105030" y="3117763"/>
                  </a:lnTo>
                  <a:lnTo>
                    <a:pt x="2135896" y="3104388"/>
                  </a:lnTo>
                  <a:lnTo>
                    <a:pt x="2166761" y="3091013"/>
                  </a:lnTo>
                  <a:lnTo>
                    <a:pt x="2197627" y="3077295"/>
                  </a:lnTo>
                  <a:lnTo>
                    <a:pt x="2228836" y="3063920"/>
                  </a:lnTo>
                  <a:lnTo>
                    <a:pt x="2259701" y="3050202"/>
                  </a:lnTo>
                  <a:lnTo>
                    <a:pt x="2290566" y="3036827"/>
                  </a:lnTo>
                  <a:lnTo>
                    <a:pt x="2321432" y="3023452"/>
                  </a:lnTo>
                  <a:lnTo>
                    <a:pt x="2352641" y="3009734"/>
                  </a:lnTo>
                  <a:lnTo>
                    <a:pt x="2383506" y="2996359"/>
                  </a:lnTo>
                  <a:lnTo>
                    <a:pt x="2414372" y="2982984"/>
                  </a:lnTo>
                  <a:lnTo>
                    <a:pt x="2445237" y="2969266"/>
                  </a:lnTo>
                  <a:lnTo>
                    <a:pt x="2476446" y="2955891"/>
                  </a:lnTo>
                  <a:lnTo>
                    <a:pt x="2507311" y="2942515"/>
                  </a:lnTo>
                  <a:lnTo>
                    <a:pt x="2538177" y="2928798"/>
                  </a:lnTo>
                  <a:lnTo>
                    <a:pt x="2569042" y="2915422"/>
                  </a:lnTo>
                  <a:lnTo>
                    <a:pt x="2600251" y="2902047"/>
                  </a:lnTo>
                  <a:lnTo>
                    <a:pt x="2631117" y="2888329"/>
                  </a:lnTo>
                  <a:lnTo>
                    <a:pt x="2661982" y="2874954"/>
                  </a:lnTo>
                  <a:lnTo>
                    <a:pt x="2693190" y="2861236"/>
                  </a:lnTo>
                  <a:lnTo>
                    <a:pt x="2724056" y="2847861"/>
                  </a:lnTo>
                  <a:lnTo>
                    <a:pt x="2754922" y="2834486"/>
                  </a:lnTo>
                  <a:lnTo>
                    <a:pt x="2785787" y="2820768"/>
                  </a:lnTo>
                  <a:lnTo>
                    <a:pt x="2816996" y="2807393"/>
                  </a:lnTo>
                  <a:lnTo>
                    <a:pt x="2847861" y="2794018"/>
                  </a:lnTo>
                  <a:lnTo>
                    <a:pt x="2878726" y="2780300"/>
                  </a:lnTo>
                  <a:lnTo>
                    <a:pt x="2909592" y="2766925"/>
                  </a:lnTo>
                  <a:lnTo>
                    <a:pt x="2940801" y="2753550"/>
                  </a:lnTo>
                  <a:lnTo>
                    <a:pt x="2971666" y="2739831"/>
                  </a:lnTo>
                  <a:lnTo>
                    <a:pt x="3002532" y="2726456"/>
                  </a:lnTo>
                  <a:lnTo>
                    <a:pt x="3033397" y="2713082"/>
                  </a:lnTo>
                  <a:lnTo>
                    <a:pt x="3064606" y="2699363"/>
                  </a:lnTo>
                  <a:lnTo>
                    <a:pt x="3095471" y="2685988"/>
                  </a:lnTo>
                  <a:lnTo>
                    <a:pt x="3126337" y="2672614"/>
                  </a:lnTo>
                  <a:lnTo>
                    <a:pt x="3157203" y="2658895"/>
                  </a:lnTo>
                  <a:lnTo>
                    <a:pt x="3188411" y="2645520"/>
                  </a:lnTo>
                  <a:lnTo>
                    <a:pt x="3219276" y="2631802"/>
                  </a:lnTo>
                  <a:lnTo>
                    <a:pt x="3250142" y="2618427"/>
                  </a:lnTo>
                  <a:lnTo>
                    <a:pt x="3281008" y="2605052"/>
                  </a:lnTo>
                  <a:lnTo>
                    <a:pt x="3312216" y="2591334"/>
                  </a:lnTo>
                  <a:lnTo>
                    <a:pt x="3343082" y="2577959"/>
                  </a:lnTo>
                  <a:lnTo>
                    <a:pt x="3373947" y="2564584"/>
                  </a:lnTo>
                  <a:lnTo>
                    <a:pt x="3404813" y="2550866"/>
                  </a:lnTo>
                  <a:lnTo>
                    <a:pt x="3436021" y="2537491"/>
                  </a:lnTo>
                  <a:lnTo>
                    <a:pt x="3466887" y="2524116"/>
                  </a:lnTo>
                  <a:lnTo>
                    <a:pt x="3497752" y="2510398"/>
                  </a:lnTo>
                  <a:lnTo>
                    <a:pt x="3528618" y="2497023"/>
                  </a:lnTo>
                  <a:lnTo>
                    <a:pt x="3559827" y="2483648"/>
                  </a:lnTo>
                  <a:lnTo>
                    <a:pt x="3590692" y="2469930"/>
                  </a:lnTo>
                  <a:lnTo>
                    <a:pt x="3621557" y="2456554"/>
                  </a:lnTo>
                  <a:lnTo>
                    <a:pt x="3652423" y="2442837"/>
                  </a:lnTo>
                  <a:lnTo>
                    <a:pt x="3683632" y="2429461"/>
                  </a:lnTo>
                  <a:lnTo>
                    <a:pt x="3714497" y="2416086"/>
                  </a:lnTo>
                  <a:lnTo>
                    <a:pt x="3745363" y="2402368"/>
                  </a:lnTo>
                  <a:lnTo>
                    <a:pt x="3776228" y="2388993"/>
                  </a:lnTo>
                  <a:lnTo>
                    <a:pt x="3807437" y="2375618"/>
                  </a:lnTo>
                  <a:lnTo>
                    <a:pt x="3838302" y="2361900"/>
                  </a:lnTo>
                  <a:lnTo>
                    <a:pt x="3869168" y="2348525"/>
                  </a:lnTo>
                  <a:lnTo>
                    <a:pt x="3900033" y="2335150"/>
                  </a:lnTo>
                  <a:lnTo>
                    <a:pt x="3931242" y="2321432"/>
                  </a:lnTo>
                  <a:lnTo>
                    <a:pt x="3962107" y="2308057"/>
                  </a:lnTo>
                  <a:lnTo>
                    <a:pt x="3992973" y="2294682"/>
                  </a:lnTo>
                  <a:lnTo>
                    <a:pt x="4023838" y="2280964"/>
                  </a:lnTo>
                  <a:lnTo>
                    <a:pt x="4055047" y="2267589"/>
                  </a:lnTo>
                  <a:lnTo>
                    <a:pt x="4085912" y="2254214"/>
                  </a:lnTo>
                  <a:lnTo>
                    <a:pt x="4116778" y="2240496"/>
                  </a:lnTo>
                  <a:lnTo>
                    <a:pt x="4147987" y="2227121"/>
                  </a:lnTo>
                  <a:lnTo>
                    <a:pt x="4178852" y="2213403"/>
                  </a:lnTo>
                  <a:lnTo>
                    <a:pt x="4209718" y="2200027"/>
                  </a:lnTo>
                  <a:lnTo>
                    <a:pt x="4240583" y="2186653"/>
                  </a:lnTo>
                  <a:lnTo>
                    <a:pt x="4271792" y="2172934"/>
                  </a:lnTo>
                  <a:lnTo>
                    <a:pt x="4302657" y="2159559"/>
                  </a:lnTo>
                  <a:lnTo>
                    <a:pt x="4333523" y="2146184"/>
                  </a:lnTo>
                  <a:lnTo>
                    <a:pt x="4364388" y="2132466"/>
                  </a:lnTo>
                  <a:lnTo>
                    <a:pt x="4395597" y="2119091"/>
                  </a:lnTo>
                  <a:lnTo>
                    <a:pt x="4426462" y="2105716"/>
                  </a:lnTo>
                  <a:lnTo>
                    <a:pt x="4457328" y="2091998"/>
                  </a:lnTo>
                  <a:lnTo>
                    <a:pt x="4488193" y="2078623"/>
                  </a:lnTo>
                  <a:lnTo>
                    <a:pt x="4519402" y="2065248"/>
                  </a:lnTo>
                  <a:lnTo>
                    <a:pt x="4550267" y="2051530"/>
                  </a:lnTo>
                  <a:lnTo>
                    <a:pt x="4581133" y="2038155"/>
                  </a:lnTo>
                  <a:lnTo>
                    <a:pt x="4611999" y="2024780"/>
                  </a:lnTo>
                  <a:lnTo>
                    <a:pt x="4643207" y="2011062"/>
                  </a:lnTo>
                  <a:lnTo>
                    <a:pt x="4674073" y="1997687"/>
                  </a:lnTo>
                  <a:lnTo>
                    <a:pt x="4704938" y="1983969"/>
                  </a:lnTo>
                  <a:lnTo>
                    <a:pt x="4735804" y="1970594"/>
                  </a:lnTo>
                  <a:lnTo>
                    <a:pt x="4767012" y="1957219"/>
                  </a:lnTo>
                  <a:lnTo>
                    <a:pt x="4797878" y="1943500"/>
                  </a:lnTo>
                  <a:lnTo>
                    <a:pt x="4828744" y="1930126"/>
                  </a:lnTo>
                  <a:lnTo>
                    <a:pt x="4859609" y="1916750"/>
                  </a:lnTo>
                  <a:lnTo>
                    <a:pt x="4890817" y="1903032"/>
                  </a:lnTo>
                  <a:lnTo>
                    <a:pt x="4921683" y="1889657"/>
                  </a:lnTo>
                  <a:lnTo>
                    <a:pt x="4952549" y="1876282"/>
                  </a:lnTo>
                  <a:lnTo>
                    <a:pt x="4983414" y="1862564"/>
                  </a:lnTo>
                  <a:lnTo>
                    <a:pt x="5014622" y="1849189"/>
                  </a:lnTo>
                  <a:lnTo>
                    <a:pt x="5045488" y="1835814"/>
                  </a:lnTo>
                  <a:lnTo>
                    <a:pt x="5076354" y="1822096"/>
                  </a:lnTo>
                  <a:lnTo>
                    <a:pt x="5107219" y="1808721"/>
                  </a:lnTo>
                  <a:lnTo>
                    <a:pt x="5138427" y="1795003"/>
                  </a:lnTo>
                  <a:lnTo>
                    <a:pt x="5169293" y="1781628"/>
                  </a:lnTo>
                  <a:lnTo>
                    <a:pt x="5200159" y="1768253"/>
                  </a:lnTo>
                  <a:lnTo>
                    <a:pt x="5231024" y="1754535"/>
                  </a:lnTo>
                  <a:lnTo>
                    <a:pt x="5262233" y="1741160"/>
                  </a:lnTo>
                  <a:lnTo>
                    <a:pt x="5293098" y="1727785"/>
                  </a:lnTo>
                  <a:lnTo>
                    <a:pt x="5323964" y="1714067"/>
                  </a:lnTo>
                  <a:lnTo>
                    <a:pt x="5354829" y="1700692"/>
                  </a:lnTo>
                  <a:lnTo>
                    <a:pt x="5386038" y="1687316"/>
                  </a:lnTo>
                  <a:lnTo>
                    <a:pt x="5416904" y="1673599"/>
                  </a:lnTo>
                  <a:lnTo>
                    <a:pt x="5447769" y="1660223"/>
                  </a:lnTo>
                  <a:lnTo>
                    <a:pt x="5478977" y="1646848"/>
                  </a:lnTo>
                  <a:lnTo>
                    <a:pt x="5509843" y="1633130"/>
                  </a:lnTo>
                  <a:lnTo>
                    <a:pt x="5540709" y="1619755"/>
                  </a:lnTo>
                  <a:lnTo>
                    <a:pt x="5571574" y="1606380"/>
                  </a:lnTo>
                  <a:lnTo>
                    <a:pt x="5602782" y="1592662"/>
                  </a:lnTo>
                  <a:lnTo>
                    <a:pt x="5633648" y="1579287"/>
                  </a:lnTo>
                  <a:lnTo>
                    <a:pt x="5664514" y="1565569"/>
                  </a:lnTo>
                  <a:lnTo>
                    <a:pt x="5695379" y="1552194"/>
                  </a:lnTo>
                  <a:lnTo>
                    <a:pt x="5726588" y="1538819"/>
                  </a:lnTo>
                  <a:lnTo>
                    <a:pt x="5757453" y="1525101"/>
                  </a:lnTo>
                  <a:lnTo>
                    <a:pt x="5788319" y="1511726"/>
                  </a:lnTo>
                  <a:lnTo>
                    <a:pt x="5819184" y="1498351"/>
                  </a:lnTo>
                  <a:lnTo>
                    <a:pt x="5850393" y="1484633"/>
                  </a:lnTo>
                  <a:lnTo>
                    <a:pt x="5881259" y="1471258"/>
                  </a:lnTo>
                  <a:lnTo>
                    <a:pt x="5912124" y="1457883"/>
                  </a:lnTo>
                  <a:lnTo>
                    <a:pt x="5942989" y="1444165"/>
                  </a:lnTo>
                  <a:lnTo>
                    <a:pt x="5974198" y="1430789"/>
                  </a:lnTo>
                  <a:lnTo>
                    <a:pt x="6005064" y="1417414"/>
                  </a:lnTo>
                  <a:lnTo>
                    <a:pt x="6035929" y="1403696"/>
                  </a:lnTo>
                  <a:lnTo>
                    <a:pt x="6066795" y="1390321"/>
                  </a:lnTo>
                  <a:lnTo>
                    <a:pt x="6098003" y="1376603"/>
                  </a:lnTo>
                  <a:lnTo>
                    <a:pt x="6128869" y="1363228"/>
                  </a:lnTo>
                  <a:lnTo>
                    <a:pt x="6159734" y="1349853"/>
                  </a:lnTo>
                  <a:lnTo>
                    <a:pt x="6190600" y="1336135"/>
                  </a:lnTo>
                  <a:lnTo>
                    <a:pt x="6221808" y="1322760"/>
                  </a:lnTo>
                  <a:lnTo>
                    <a:pt x="6252674" y="1309385"/>
                  </a:lnTo>
                  <a:lnTo>
                    <a:pt x="6283539" y="1295667"/>
                  </a:lnTo>
                  <a:lnTo>
                    <a:pt x="6314405" y="1282292"/>
                  </a:lnTo>
                  <a:lnTo>
                    <a:pt x="6345613" y="1268917"/>
                  </a:lnTo>
                  <a:lnTo>
                    <a:pt x="6376479" y="1255199"/>
                  </a:lnTo>
                  <a:lnTo>
                    <a:pt x="6407344" y="1241824"/>
                  </a:lnTo>
                  <a:lnTo>
                    <a:pt x="6438210" y="1228449"/>
                  </a:lnTo>
                  <a:lnTo>
                    <a:pt x="6469419" y="1214731"/>
                  </a:lnTo>
                  <a:lnTo>
                    <a:pt x="6500284" y="1201356"/>
                  </a:lnTo>
                  <a:lnTo>
                    <a:pt x="6531149" y="1187981"/>
                  </a:lnTo>
                  <a:lnTo>
                    <a:pt x="6562015" y="1174262"/>
                  </a:lnTo>
                  <a:lnTo>
                    <a:pt x="6593224" y="1160888"/>
                  </a:lnTo>
                  <a:lnTo>
                    <a:pt x="6624089" y="1147169"/>
                  </a:lnTo>
                  <a:lnTo>
                    <a:pt x="6654955" y="1133794"/>
                  </a:lnTo>
                  <a:lnTo>
                    <a:pt x="6685820" y="1120419"/>
                  </a:lnTo>
                  <a:lnTo>
                    <a:pt x="6717029" y="1106701"/>
                  </a:lnTo>
                  <a:lnTo>
                    <a:pt x="6747894" y="1093326"/>
                  </a:lnTo>
                  <a:lnTo>
                    <a:pt x="6778760" y="1079951"/>
                  </a:lnTo>
                  <a:lnTo>
                    <a:pt x="6809625" y="1066233"/>
                  </a:lnTo>
                  <a:lnTo>
                    <a:pt x="6840834" y="1052858"/>
                  </a:lnTo>
                  <a:lnTo>
                    <a:pt x="6871699" y="1039483"/>
                  </a:lnTo>
                  <a:lnTo>
                    <a:pt x="6902565" y="1025765"/>
                  </a:lnTo>
                  <a:lnTo>
                    <a:pt x="6933773" y="1012390"/>
                  </a:lnTo>
                  <a:lnTo>
                    <a:pt x="6964639" y="999015"/>
                  </a:lnTo>
                  <a:lnTo>
                    <a:pt x="6995504" y="985297"/>
                  </a:lnTo>
                  <a:lnTo>
                    <a:pt x="7026370" y="971922"/>
                  </a:lnTo>
                  <a:lnTo>
                    <a:pt x="7057579" y="958204"/>
                  </a:lnTo>
                  <a:lnTo>
                    <a:pt x="7088444" y="944829"/>
                  </a:lnTo>
                  <a:lnTo>
                    <a:pt x="7119309" y="931454"/>
                  </a:lnTo>
                  <a:lnTo>
                    <a:pt x="7150175" y="917736"/>
                  </a:lnTo>
                  <a:lnTo>
                    <a:pt x="7181384" y="904361"/>
                  </a:lnTo>
                  <a:lnTo>
                    <a:pt x="7212250" y="890985"/>
                  </a:lnTo>
                  <a:lnTo>
                    <a:pt x="7243115" y="877267"/>
                  </a:lnTo>
                  <a:lnTo>
                    <a:pt x="7273980" y="863892"/>
                  </a:lnTo>
                  <a:lnTo>
                    <a:pt x="7305189" y="850517"/>
                  </a:lnTo>
                  <a:lnTo>
                    <a:pt x="7336055" y="836799"/>
                  </a:lnTo>
                  <a:lnTo>
                    <a:pt x="7366920" y="823424"/>
                  </a:lnTo>
                  <a:lnTo>
                    <a:pt x="7397786" y="810049"/>
                  </a:lnTo>
                  <a:lnTo>
                    <a:pt x="7428994" y="796331"/>
                  </a:lnTo>
                  <a:lnTo>
                    <a:pt x="7459860" y="782956"/>
                  </a:lnTo>
                  <a:lnTo>
                    <a:pt x="7490725" y="769581"/>
                  </a:lnTo>
                  <a:lnTo>
                    <a:pt x="7521591" y="755863"/>
                  </a:lnTo>
                  <a:lnTo>
                    <a:pt x="7552799" y="742488"/>
                  </a:lnTo>
                  <a:lnTo>
                    <a:pt x="7583665" y="728770"/>
                  </a:lnTo>
                  <a:lnTo>
                    <a:pt x="7614530" y="715395"/>
                  </a:lnTo>
                  <a:lnTo>
                    <a:pt x="7645396" y="702020"/>
                  </a:lnTo>
                  <a:lnTo>
                    <a:pt x="7676604" y="688302"/>
                  </a:lnTo>
                  <a:lnTo>
                    <a:pt x="7707470" y="674927"/>
                  </a:lnTo>
                  <a:lnTo>
                    <a:pt x="7738336" y="661551"/>
                  </a:lnTo>
                  <a:lnTo>
                    <a:pt x="7769201" y="647834"/>
                  </a:lnTo>
                  <a:lnTo>
                    <a:pt x="7800409" y="634458"/>
                  </a:lnTo>
                  <a:lnTo>
                    <a:pt x="7831275" y="621083"/>
                  </a:lnTo>
                  <a:lnTo>
                    <a:pt x="7862141" y="607365"/>
                  </a:lnTo>
                  <a:lnTo>
                    <a:pt x="7893006" y="593990"/>
                  </a:lnTo>
                  <a:lnTo>
                    <a:pt x="7924214" y="580615"/>
                  </a:lnTo>
                  <a:lnTo>
                    <a:pt x="7955080" y="566897"/>
                  </a:lnTo>
                  <a:lnTo>
                    <a:pt x="7985946" y="553522"/>
                  </a:lnTo>
                  <a:lnTo>
                    <a:pt x="8016811" y="540147"/>
                  </a:lnTo>
                  <a:lnTo>
                    <a:pt x="8048019" y="526429"/>
                  </a:lnTo>
                  <a:lnTo>
                    <a:pt x="8078885" y="513054"/>
                  </a:lnTo>
                  <a:lnTo>
                    <a:pt x="8109751" y="499336"/>
                  </a:lnTo>
                  <a:lnTo>
                    <a:pt x="8140616" y="485961"/>
                  </a:lnTo>
                  <a:lnTo>
                    <a:pt x="8171824" y="472586"/>
                  </a:lnTo>
                  <a:lnTo>
                    <a:pt x="8202690" y="458868"/>
                  </a:lnTo>
                  <a:lnTo>
                    <a:pt x="8233556" y="445493"/>
                  </a:lnTo>
                  <a:lnTo>
                    <a:pt x="8264764" y="432118"/>
                  </a:lnTo>
                  <a:lnTo>
                    <a:pt x="8295630" y="418400"/>
                  </a:lnTo>
                  <a:lnTo>
                    <a:pt x="8326495" y="405025"/>
                  </a:lnTo>
                  <a:lnTo>
                    <a:pt x="8357361" y="391649"/>
                  </a:lnTo>
                  <a:lnTo>
                    <a:pt x="8388570" y="377931"/>
                  </a:lnTo>
                  <a:lnTo>
                    <a:pt x="8419435" y="364556"/>
                  </a:lnTo>
                  <a:lnTo>
                    <a:pt x="8450300" y="351181"/>
                  </a:lnTo>
                  <a:lnTo>
                    <a:pt x="8481166" y="337463"/>
                  </a:lnTo>
                  <a:lnTo>
                    <a:pt x="8512374" y="324088"/>
                  </a:lnTo>
                  <a:lnTo>
                    <a:pt x="8543240" y="310370"/>
                  </a:lnTo>
                  <a:lnTo>
                    <a:pt x="8574105" y="296995"/>
                  </a:lnTo>
                  <a:lnTo>
                    <a:pt x="8604971" y="283620"/>
                  </a:lnTo>
                  <a:lnTo>
                    <a:pt x="8636180" y="269902"/>
                  </a:lnTo>
                  <a:lnTo>
                    <a:pt x="8667045" y="256527"/>
                  </a:lnTo>
                  <a:lnTo>
                    <a:pt x="8697910" y="243152"/>
                  </a:lnTo>
                  <a:lnTo>
                    <a:pt x="8728776" y="229434"/>
                  </a:lnTo>
                  <a:lnTo>
                    <a:pt x="8759985" y="216059"/>
                  </a:lnTo>
                  <a:lnTo>
                    <a:pt x="8790851" y="202684"/>
                  </a:lnTo>
                  <a:lnTo>
                    <a:pt x="8821716" y="188966"/>
                  </a:lnTo>
                  <a:lnTo>
                    <a:pt x="8852581" y="175591"/>
                  </a:lnTo>
                  <a:lnTo>
                    <a:pt x="8883790" y="162216"/>
                  </a:lnTo>
                  <a:lnTo>
                    <a:pt x="8914656" y="148498"/>
                  </a:lnTo>
                  <a:lnTo>
                    <a:pt x="8945521" y="135122"/>
                  </a:lnTo>
                  <a:lnTo>
                    <a:pt x="8976387" y="121747"/>
                  </a:lnTo>
                  <a:lnTo>
                    <a:pt x="9007595" y="108029"/>
                  </a:lnTo>
                  <a:lnTo>
                    <a:pt x="9038461" y="94654"/>
                  </a:lnTo>
                  <a:lnTo>
                    <a:pt x="9069326" y="80936"/>
                  </a:lnTo>
                  <a:lnTo>
                    <a:pt x="9100192" y="67561"/>
                  </a:lnTo>
                  <a:lnTo>
                    <a:pt x="9131400" y="54186"/>
                  </a:lnTo>
                  <a:lnTo>
                    <a:pt x="9162266" y="40468"/>
                  </a:lnTo>
                  <a:lnTo>
                    <a:pt x="9193131" y="27093"/>
                  </a:lnTo>
                  <a:lnTo>
                    <a:pt x="9223997" y="13718"/>
                  </a:lnTo>
                  <a:lnTo>
                    <a:pt x="9255205" y="0"/>
                  </a:lnTo>
                </a:path>
              </a:pathLst>
            </a:custGeom>
            <a:noFill/>
            <a:ln w="30861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4FB2F3D-DE51-AF83-622B-191BFC726062}"/>
              </a:ext>
            </a:extLst>
          </p:cNvPr>
          <p:cNvCxnSpPr>
            <a:cxnSpLocks/>
          </p:cNvCxnSpPr>
          <p:nvPr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0D71044-F55E-CE9D-929A-9E1D68FC7A91}"/>
              </a:ext>
            </a:extLst>
          </p:cNvPr>
          <p:cNvCxnSpPr>
            <a:cxnSpLocks/>
          </p:cNvCxnSpPr>
          <p:nvPr/>
        </p:nvCxnSpPr>
        <p:spPr>
          <a:xfrm>
            <a:off x="620980" y="6483107"/>
            <a:ext cx="109536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FC8D8BC-AACA-479A-1CC1-F93D24A8BC09}"/>
              </a:ext>
            </a:extLst>
          </p:cNvPr>
          <p:cNvSpPr txBox="1"/>
          <p:nvPr/>
        </p:nvSpPr>
        <p:spPr>
          <a:xfrm>
            <a:off x="568592" y="6483107"/>
            <a:ext cx="8839200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Chetty, </a:t>
            </a:r>
            <a:r>
              <a:rPr lang="en-US" sz="1400" dirty="0">
                <a:solidFill>
                  <a:prstClr val="black"/>
                </a:solidFill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Dobbie, Goldman, Porter, Yang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(2024)</a:t>
            </a:r>
          </a:p>
        </p:txBody>
      </p:sp>
      <p:sp>
        <p:nvSpPr>
          <p:cNvPr id="14" name="Rectangle 182">
            <a:extLst>
              <a:ext uri="{FF2B5EF4-FFF2-40B4-BE49-F238E27FC236}">
                <a16:creationId xmlns:a16="http://schemas.microsoft.com/office/drawing/2014/main" id="{0476F7A6-EECE-039F-6191-C6049A1630AC}"/>
              </a:ext>
            </a:extLst>
          </p:cNvPr>
          <p:cNvSpPr>
            <a:spLocks/>
          </p:cNvSpPr>
          <p:nvPr/>
        </p:nvSpPr>
        <p:spPr bwMode="auto">
          <a:xfrm>
            <a:off x="3165328" y="6108731"/>
            <a:ext cx="700031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Change in County-Level Parent Employment Rate (1978-1992 Cohorts)</a:t>
            </a:r>
          </a:p>
        </p:txBody>
      </p:sp>
    </p:spTree>
    <p:extLst>
      <p:ext uri="{BB962C8B-B14F-4D97-AF65-F5344CB8AC3E}">
        <p14:creationId xmlns:p14="http://schemas.microsoft.com/office/powerpoint/2010/main" val="3633154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B30A083-36F7-F32F-817E-4F492006A071}"/>
              </a:ext>
            </a:extLst>
          </p:cNvPr>
          <p:cNvSpPr/>
          <p:nvPr/>
        </p:nvSpPr>
        <p:spPr>
          <a:xfrm>
            <a:off x="1606004" y="1177794"/>
            <a:ext cx="10012342" cy="4550051"/>
          </a:xfrm>
          <a:custGeom>
            <a:avLst/>
            <a:gdLst>
              <a:gd name="connsiteX0" fmla="*/ 0 w 9858112"/>
              <a:gd name="connsiteY0" fmla="*/ 0 h 4479962"/>
              <a:gd name="connsiteX1" fmla="*/ 9858112 w 9858112"/>
              <a:gd name="connsiteY1" fmla="*/ 0 h 4479962"/>
              <a:gd name="connsiteX2" fmla="*/ 9858112 w 9858112"/>
              <a:gd name="connsiteY2" fmla="*/ 4479963 h 4479962"/>
              <a:gd name="connsiteX3" fmla="*/ 0 w 9858112"/>
              <a:gd name="connsiteY3" fmla="*/ 4479963 h 4479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58112" h="4479962">
                <a:moveTo>
                  <a:pt x="0" y="0"/>
                </a:moveTo>
                <a:lnTo>
                  <a:pt x="9858112" y="0"/>
                </a:lnTo>
                <a:lnTo>
                  <a:pt x="9858112" y="4479963"/>
                </a:lnTo>
                <a:lnTo>
                  <a:pt x="0" y="4479963"/>
                </a:lnTo>
                <a:close/>
              </a:path>
            </a:pathLst>
          </a:custGeom>
          <a:noFill/>
          <a:ln w="13716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33AF6E2-D89B-827D-9589-B4C2312FEAB2}"/>
              </a:ext>
            </a:extLst>
          </p:cNvPr>
          <p:cNvSpPr/>
          <p:nvPr/>
        </p:nvSpPr>
        <p:spPr>
          <a:xfrm>
            <a:off x="1692735" y="5290012"/>
            <a:ext cx="118427" cy="118427"/>
          </a:xfrm>
          <a:custGeom>
            <a:avLst/>
            <a:gdLst>
              <a:gd name="connsiteX0" fmla="*/ 116603 w 116603"/>
              <a:gd name="connsiteY0" fmla="*/ 58301 h 116603"/>
              <a:gd name="connsiteX1" fmla="*/ 58302 w 116603"/>
              <a:gd name="connsiteY1" fmla="*/ 116603 h 116603"/>
              <a:gd name="connsiteX2" fmla="*/ 0 w 116603"/>
              <a:gd name="connsiteY2" fmla="*/ 58301 h 116603"/>
              <a:gd name="connsiteX3" fmla="*/ 58302 w 116603"/>
              <a:gd name="connsiteY3" fmla="*/ 0 h 116603"/>
              <a:gd name="connsiteX4" fmla="*/ 116603 w 116603"/>
              <a:gd name="connsiteY4" fmla="*/ 58301 h 11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603" h="116603">
                <a:moveTo>
                  <a:pt x="116603" y="58301"/>
                </a:moveTo>
                <a:cubicBezTo>
                  <a:pt x="116603" y="90500"/>
                  <a:pt x="90501" y="116603"/>
                  <a:pt x="58302" y="116603"/>
                </a:cubicBezTo>
                <a:cubicBezTo>
                  <a:pt x="26103" y="116603"/>
                  <a:pt x="0" y="90500"/>
                  <a:pt x="0" y="58301"/>
                </a:cubicBezTo>
                <a:cubicBezTo>
                  <a:pt x="0" y="26102"/>
                  <a:pt x="26103" y="0"/>
                  <a:pt x="58302" y="0"/>
                </a:cubicBezTo>
                <a:cubicBezTo>
                  <a:pt x="90501" y="0"/>
                  <a:pt x="116603" y="26102"/>
                  <a:pt x="116603" y="58301"/>
                </a:cubicBezTo>
                <a:close/>
              </a:path>
            </a:pathLst>
          </a:custGeom>
          <a:solidFill>
            <a:srgbClr val="FAA623"/>
          </a:solidFill>
          <a:ln w="190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06A3168-146F-E8A2-C1DA-92B49455DA84}"/>
              </a:ext>
            </a:extLst>
          </p:cNvPr>
          <p:cNvSpPr/>
          <p:nvPr/>
        </p:nvSpPr>
        <p:spPr>
          <a:xfrm>
            <a:off x="2423153" y="5225225"/>
            <a:ext cx="111445" cy="111445"/>
          </a:xfrm>
          <a:custGeom>
            <a:avLst/>
            <a:gdLst>
              <a:gd name="connsiteX0" fmla="*/ 116603 w 116603"/>
              <a:gd name="connsiteY0" fmla="*/ 58301 h 116603"/>
              <a:gd name="connsiteX1" fmla="*/ 58302 w 116603"/>
              <a:gd name="connsiteY1" fmla="*/ 116603 h 116603"/>
              <a:gd name="connsiteX2" fmla="*/ 0 w 116603"/>
              <a:gd name="connsiteY2" fmla="*/ 58301 h 116603"/>
              <a:gd name="connsiteX3" fmla="*/ 58302 w 116603"/>
              <a:gd name="connsiteY3" fmla="*/ 0 h 116603"/>
              <a:gd name="connsiteX4" fmla="*/ 116603 w 116603"/>
              <a:gd name="connsiteY4" fmla="*/ 58301 h 11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603" h="116603">
                <a:moveTo>
                  <a:pt x="116603" y="58301"/>
                </a:moveTo>
                <a:cubicBezTo>
                  <a:pt x="116603" y="90500"/>
                  <a:pt x="90501" y="116603"/>
                  <a:pt x="58302" y="116603"/>
                </a:cubicBezTo>
                <a:cubicBezTo>
                  <a:pt x="26103" y="116603"/>
                  <a:pt x="0" y="90500"/>
                  <a:pt x="0" y="58301"/>
                </a:cubicBezTo>
                <a:cubicBezTo>
                  <a:pt x="0" y="26102"/>
                  <a:pt x="26103" y="0"/>
                  <a:pt x="58302" y="0"/>
                </a:cubicBezTo>
                <a:cubicBezTo>
                  <a:pt x="90501" y="0"/>
                  <a:pt x="116603" y="26102"/>
                  <a:pt x="116603" y="58301"/>
                </a:cubicBezTo>
                <a:close/>
              </a:path>
            </a:pathLst>
          </a:custGeom>
          <a:solidFill>
            <a:srgbClr val="FAA623"/>
          </a:solidFill>
          <a:ln w="1905" cap="flat">
            <a:solidFill>
              <a:srgbClr val="FAA6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294C96F-8665-228C-E9B2-4DB64E70B231}"/>
              </a:ext>
            </a:extLst>
          </p:cNvPr>
          <p:cNvSpPr/>
          <p:nvPr/>
        </p:nvSpPr>
        <p:spPr>
          <a:xfrm>
            <a:off x="2747435" y="5148944"/>
            <a:ext cx="111445" cy="111445"/>
          </a:xfrm>
          <a:custGeom>
            <a:avLst/>
            <a:gdLst>
              <a:gd name="connsiteX0" fmla="*/ 116603 w 116603"/>
              <a:gd name="connsiteY0" fmla="*/ 58302 h 116603"/>
              <a:gd name="connsiteX1" fmla="*/ 58302 w 116603"/>
              <a:gd name="connsiteY1" fmla="*/ 116603 h 116603"/>
              <a:gd name="connsiteX2" fmla="*/ 0 w 116603"/>
              <a:gd name="connsiteY2" fmla="*/ 58302 h 116603"/>
              <a:gd name="connsiteX3" fmla="*/ 58302 w 116603"/>
              <a:gd name="connsiteY3" fmla="*/ 0 h 116603"/>
              <a:gd name="connsiteX4" fmla="*/ 116603 w 116603"/>
              <a:gd name="connsiteY4" fmla="*/ 58302 h 11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603" h="116603">
                <a:moveTo>
                  <a:pt x="116603" y="58302"/>
                </a:moveTo>
                <a:cubicBezTo>
                  <a:pt x="116603" y="90501"/>
                  <a:pt x="90501" y="116603"/>
                  <a:pt x="58302" y="116603"/>
                </a:cubicBezTo>
                <a:cubicBezTo>
                  <a:pt x="26103" y="116603"/>
                  <a:pt x="0" y="90501"/>
                  <a:pt x="0" y="58302"/>
                </a:cubicBezTo>
                <a:cubicBezTo>
                  <a:pt x="0" y="26103"/>
                  <a:pt x="26103" y="0"/>
                  <a:pt x="58302" y="0"/>
                </a:cubicBezTo>
                <a:cubicBezTo>
                  <a:pt x="90501" y="0"/>
                  <a:pt x="116603" y="26103"/>
                  <a:pt x="116603" y="58302"/>
                </a:cubicBezTo>
                <a:close/>
              </a:path>
            </a:pathLst>
          </a:custGeom>
          <a:solidFill>
            <a:srgbClr val="FAA623"/>
          </a:solidFill>
          <a:ln w="1905" cap="flat">
            <a:solidFill>
              <a:srgbClr val="FAA6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0F660E7-FC74-070C-2835-71805ECDC659}"/>
              </a:ext>
            </a:extLst>
          </p:cNvPr>
          <p:cNvSpPr/>
          <p:nvPr/>
        </p:nvSpPr>
        <p:spPr>
          <a:xfrm>
            <a:off x="2934480" y="5339125"/>
            <a:ext cx="111445" cy="111445"/>
          </a:xfrm>
          <a:custGeom>
            <a:avLst/>
            <a:gdLst>
              <a:gd name="connsiteX0" fmla="*/ 116603 w 116603"/>
              <a:gd name="connsiteY0" fmla="*/ 58302 h 116603"/>
              <a:gd name="connsiteX1" fmla="*/ 58302 w 116603"/>
              <a:gd name="connsiteY1" fmla="*/ 116603 h 116603"/>
              <a:gd name="connsiteX2" fmla="*/ 0 w 116603"/>
              <a:gd name="connsiteY2" fmla="*/ 58302 h 116603"/>
              <a:gd name="connsiteX3" fmla="*/ 58302 w 116603"/>
              <a:gd name="connsiteY3" fmla="*/ 0 h 116603"/>
              <a:gd name="connsiteX4" fmla="*/ 116603 w 116603"/>
              <a:gd name="connsiteY4" fmla="*/ 58302 h 11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603" h="116603">
                <a:moveTo>
                  <a:pt x="116603" y="58302"/>
                </a:moveTo>
                <a:cubicBezTo>
                  <a:pt x="116603" y="90501"/>
                  <a:pt x="90501" y="116603"/>
                  <a:pt x="58302" y="116603"/>
                </a:cubicBezTo>
                <a:cubicBezTo>
                  <a:pt x="26103" y="116603"/>
                  <a:pt x="0" y="90501"/>
                  <a:pt x="0" y="58302"/>
                </a:cubicBezTo>
                <a:cubicBezTo>
                  <a:pt x="0" y="26103"/>
                  <a:pt x="26103" y="0"/>
                  <a:pt x="58302" y="0"/>
                </a:cubicBezTo>
                <a:cubicBezTo>
                  <a:pt x="90501" y="0"/>
                  <a:pt x="116603" y="26103"/>
                  <a:pt x="116603" y="58302"/>
                </a:cubicBezTo>
                <a:close/>
              </a:path>
            </a:pathLst>
          </a:custGeom>
          <a:solidFill>
            <a:srgbClr val="FAA623"/>
          </a:solidFill>
          <a:ln w="1905" cap="flat">
            <a:solidFill>
              <a:srgbClr val="FAA6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442C85C-273D-0C2B-16B0-E8B60E71557C}"/>
              </a:ext>
            </a:extLst>
          </p:cNvPr>
          <p:cNvSpPr/>
          <p:nvPr/>
        </p:nvSpPr>
        <p:spPr>
          <a:xfrm>
            <a:off x="3071717" y="5413316"/>
            <a:ext cx="111445" cy="111445"/>
          </a:xfrm>
          <a:custGeom>
            <a:avLst/>
            <a:gdLst>
              <a:gd name="connsiteX0" fmla="*/ 116603 w 116603"/>
              <a:gd name="connsiteY0" fmla="*/ 58302 h 116603"/>
              <a:gd name="connsiteX1" fmla="*/ 58302 w 116603"/>
              <a:gd name="connsiteY1" fmla="*/ 116604 h 116603"/>
              <a:gd name="connsiteX2" fmla="*/ 0 w 116603"/>
              <a:gd name="connsiteY2" fmla="*/ 58302 h 116603"/>
              <a:gd name="connsiteX3" fmla="*/ 58302 w 116603"/>
              <a:gd name="connsiteY3" fmla="*/ 0 h 116603"/>
              <a:gd name="connsiteX4" fmla="*/ 116603 w 116603"/>
              <a:gd name="connsiteY4" fmla="*/ 58302 h 11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603" h="116603">
                <a:moveTo>
                  <a:pt x="116603" y="58302"/>
                </a:moveTo>
                <a:cubicBezTo>
                  <a:pt x="116603" y="90501"/>
                  <a:pt x="90501" y="116604"/>
                  <a:pt x="58302" y="116604"/>
                </a:cubicBezTo>
                <a:cubicBezTo>
                  <a:pt x="26102" y="116604"/>
                  <a:pt x="0" y="90501"/>
                  <a:pt x="0" y="58302"/>
                </a:cubicBezTo>
                <a:cubicBezTo>
                  <a:pt x="0" y="26103"/>
                  <a:pt x="26102" y="0"/>
                  <a:pt x="58302" y="0"/>
                </a:cubicBezTo>
                <a:cubicBezTo>
                  <a:pt x="90501" y="0"/>
                  <a:pt x="116603" y="26103"/>
                  <a:pt x="116603" y="58302"/>
                </a:cubicBezTo>
                <a:close/>
              </a:path>
            </a:pathLst>
          </a:custGeom>
          <a:solidFill>
            <a:srgbClr val="FAA623"/>
          </a:solidFill>
          <a:ln w="1905" cap="flat">
            <a:solidFill>
              <a:srgbClr val="FAA6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A878FFC-CD53-3E8E-6B47-414C102E25D1}"/>
              </a:ext>
            </a:extLst>
          </p:cNvPr>
          <p:cNvSpPr/>
          <p:nvPr/>
        </p:nvSpPr>
        <p:spPr>
          <a:xfrm>
            <a:off x="3176560" y="4961550"/>
            <a:ext cx="111445" cy="111445"/>
          </a:xfrm>
          <a:custGeom>
            <a:avLst/>
            <a:gdLst>
              <a:gd name="connsiteX0" fmla="*/ 116603 w 116603"/>
              <a:gd name="connsiteY0" fmla="*/ 58301 h 116603"/>
              <a:gd name="connsiteX1" fmla="*/ 58302 w 116603"/>
              <a:gd name="connsiteY1" fmla="*/ 116603 h 116603"/>
              <a:gd name="connsiteX2" fmla="*/ 0 w 116603"/>
              <a:gd name="connsiteY2" fmla="*/ 58301 h 116603"/>
              <a:gd name="connsiteX3" fmla="*/ 58302 w 116603"/>
              <a:gd name="connsiteY3" fmla="*/ 0 h 116603"/>
              <a:gd name="connsiteX4" fmla="*/ 116603 w 116603"/>
              <a:gd name="connsiteY4" fmla="*/ 58301 h 11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603" h="116603">
                <a:moveTo>
                  <a:pt x="116603" y="58301"/>
                </a:moveTo>
                <a:cubicBezTo>
                  <a:pt x="116603" y="90500"/>
                  <a:pt x="90501" y="116603"/>
                  <a:pt x="58302" y="116603"/>
                </a:cubicBezTo>
                <a:cubicBezTo>
                  <a:pt x="26103" y="116603"/>
                  <a:pt x="0" y="90500"/>
                  <a:pt x="0" y="58301"/>
                </a:cubicBezTo>
                <a:cubicBezTo>
                  <a:pt x="0" y="26102"/>
                  <a:pt x="26103" y="0"/>
                  <a:pt x="58302" y="0"/>
                </a:cubicBezTo>
                <a:cubicBezTo>
                  <a:pt x="90501" y="0"/>
                  <a:pt x="116603" y="26102"/>
                  <a:pt x="116603" y="58301"/>
                </a:cubicBezTo>
                <a:close/>
              </a:path>
            </a:pathLst>
          </a:custGeom>
          <a:solidFill>
            <a:srgbClr val="FAA623"/>
          </a:solidFill>
          <a:ln w="1905" cap="flat">
            <a:solidFill>
              <a:srgbClr val="FAA6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2BC499F-4CB2-2548-9F11-85F2933A8985}"/>
              </a:ext>
            </a:extLst>
          </p:cNvPr>
          <p:cNvSpPr/>
          <p:nvPr/>
        </p:nvSpPr>
        <p:spPr>
          <a:xfrm>
            <a:off x="3336437" y="4574919"/>
            <a:ext cx="111445" cy="111445"/>
          </a:xfrm>
          <a:custGeom>
            <a:avLst/>
            <a:gdLst>
              <a:gd name="connsiteX0" fmla="*/ 116603 w 116603"/>
              <a:gd name="connsiteY0" fmla="*/ 58302 h 116603"/>
              <a:gd name="connsiteX1" fmla="*/ 58302 w 116603"/>
              <a:gd name="connsiteY1" fmla="*/ 116604 h 116603"/>
              <a:gd name="connsiteX2" fmla="*/ 0 w 116603"/>
              <a:gd name="connsiteY2" fmla="*/ 58302 h 116603"/>
              <a:gd name="connsiteX3" fmla="*/ 58302 w 116603"/>
              <a:gd name="connsiteY3" fmla="*/ 0 h 116603"/>
              <a:gd name="connsiteX4" fmla="*/ 116603 w 116603"/>
              <a:gd name="connsiteY4" fmla="*/ 58302 h 11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603" h="116603">
                <a:moveTo>
                  <a:pt x="116603" y="58302"/>
                </a:moveTo>
                <a:cubicBezTo>
                  <a:pt x="116603" y="90501"/>
                  <a:pt x="90501" y="116604"/>
                  <a:pt x="58302" y="116604"/>
                </a:cubicBezTo>
                <a:cubicBezTo>
                  <a:pt x="26103" y="116604"/>
                  <a:pt x="0" y="90501"/>
                  <a:pt x="0" y="58302"/>
                </a:cubicBezTo>
                <a:cubicBezTo>
                  <a:pt x="0" y="26103"/>
                  <a:pt x="26103" y="0"/>
                  <a:pt x="58302" y="0"/>
                </a:cubicBezTo>
                <a:cubicBezTo>
                  <a:pt x="90501" y="0"/>
                  <a:pt x="116603" y="26103"/>
                  <a:pt x="116603" y="58302"/>
                </a:cubicBezTo>
                <a:close/>
              </a:path>
            </a:pathLst>
          </a:custGeom>
          <a:solidFill>
            <a:srgbClr val="FAA623"/>
          </a:solidFill>
          <a:ln w="1905" cap="flat">
            <a:solidFill>
              <a:srgbClr val="FAA6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662CCDB-5171-D1B9-5C30-EA09E448D9C3}"/>
              </a:ext>
            </a:extLst>
          </p:cNvPr>
          <p:cNvSpPr/>
          <p:nvPr/>
        </p:nvSpPr>
        <p:spPr>
          <a:xfrm>
            <a:off x="3523483" y="4710763"/>
            <a:ext cx="111445" cy="111445"/>
          </a:xfrm>
          <a:custGeom>
            <a:avLst/>
            <a:gdLst>
              <a:gd name="connsiteX0" fmla="*/ 116603 w 116603"/>
              <a:gd name="connsiteY0" fmla="*/ 58302 h 116603"/>
              <a:gd name="connsiteX1" fmla="*/ 58302 w 116603"/>
              <a:gd name="connsiteY1" fmla="*/ 116603 h 116603"/>
              <a:gd name="connsiteX2" fmla="*/ 0 w 116603"/>
              <a:gd name="connsiteY2" fmla="*/ 58302 h 116603"/>
              <a:gd name="connsiteX3" fmla="*/ 58302 w 116603"/>
              <a:gd name="connsiteY3" fmla="*/ 0 h 116603"/>
              <a:gd name="connsiteX4" fmla="*/ 116603 w 116603"/>
              <a:gd name="connsiteY4" fmla="*/ 58302 h 11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603" h="116603">
                <a:moveTo>
                  <a:pt x="116603" y="58302"/>
                </a:moveTo>
                <a:cubicBezTo>
                  <a:pt x="116603" y="90501"/>
                  <a:pt x="90501" y="116603"/>
                  <a:pt x="58302" y="116603"/>
                </a:cubicBezTo>
                <a:cubicBezTo>
                  <a:pt x="26103" y="116603"/>
                  <a:pt x="0" y="90501"/>
                  <a:pt x="0" y="58302"/>
                </a:cubicBezTo>
                <a:cubicBezTo>
                  <a:pt x="0" y="26103"/>
                  <a:pt x="26103" y="0"/>
                  <a:pt x="58302" y="0"/>
                </a:cubicBezTo>
                <a:cubicBezTo>
                  <a:pt x="90501" y="0"/>
                  <a:pt x="116603" y="26103"/>
                  <a:pt x="116603" y="58302"/>
                </a:cubicBezTo>
                <a:close/>
              </a:path>
            </a:pathLst>
          </a:custGeom>
          <a:solidFill>
            <a:srgbClr val="FAA623"/>
          </a:solidFill>
          <a:ln w="1905" cap="flat">
            <a:solidFill>
              <a:srgbClr val="FAA6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E7CC8C3-F9F0-E666-E9CC-8DE7E498C140}"/>
              </a:ext>
            </a:extLst>
          </p:cNvPr>
          <p:cNvSpPr/>
          <p:nvPr/>
        </p:nvSpPr>
        <p:spPr>
          <a:xfrm>
            <a:off x="3633203" y="4710414"/>
            <a:ext cx="111445" cy="111445"/>
          </a:xfrm>
          <a:custGeom>
            <a:avLst/>
            <a:gdLst>
              <a:gd name="connsiteX0" fmla="*/ 116603 w 116603"/>
              <a:gd name="connsiteY0" fmla="*/ 58301 h 116603"/>
              <a:gd name="connsiteX1" fmla="*/ 58302 w 116603"/>
              <a:gd name="connsiteY1" fmla="*/ 116603 h 116603"/>
              <a:gd name="connsiteX2" fmla="*/ 0 w 116603"/>
              <a:gd name="connsiteY2" fmla="*/ 58301 h 116603"/>
              <a:gd name="connsiteX3" fmla="*/ 58302 w 116603"/>
              <a:gd name="connsiteY3" fmla="*/ 0 h 116603"/>
              <a:gd name="connsiteX4" fmla="*/ 116603 w 116603"/>
              <a:gd name="connsiteY4" fmla="*/ 58301 h 11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603" h="116603">
                <a:moveTo>
                  <a:pt x="116603" y="58301"/>
                </a:moveTo>
                <a:cubicBezTo>
                  <a:pt x="116603" y="90500"/>
                  <a:pt x="90501" y="116603"/>
                  <a:pt x="58302" y="116603"/>
                </a:cubicBezTo>
                <a:cubicBezTo>
                  <a:pt x="26103" y="116603"/>
                  <a:pt x="0" y="90500"/>
                  <a:pt x="0" y="58301"/>
                </a:cubicBezTo>
                <a:cubicBezTo>
                  <a:pt x="0" y="26102"/>
                  <a:pt x="26103" y="0"/>
                  <a:pt x="58302" y="0"/>
                </a:cubicBezTo>
                <a:cubicBezTo>
                  <a:pt x="90501" y="0"/>
                  <a:pt x="116603" y="26102"/>
                  <a:pt x="116603" y="58301"/>
                </a:cubicBezTo>
                <a:close/>
              </a:path>
            </a:pathLst>
          </a:custGeom>
          <a:solidFill>
            <a:srgbClr val="FAA623"/>
          </a:solidFill>
          <a:ln w="1905" cap="flat">
            <a:solidFill>
              <a:srgbClr val="FAA6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6FD9E98-2515-77C3-8902-56CAB889AD7B}"/>
              </a:ext>
            </a:extLst>
          </p:cNvPr>
          <p:cNvSpPr/>
          <p:nvPr/>
        </p:nvSpPr>
        <p:spPr>
          <a:xfrm>
            <a:off x="3747450" y="4590942"/>
            <a:ext cx="111445" cy="111445"/>
          </a:xfrm>
          <a:custGeom>
            <a:avLst/>
            <a:gdLst>
              <a:gd name="connsiteX0" fmla="*/ 116603 w 116603"/>
              <a:gd name="connsiteY0" fmla="*/ 58301 h 116603"/>
              <a:gd name="connsiteX1" fmla="*/ 58302 w 116603"/>
              <a:gd name="connsiteY1" fmla="*/ 116603 h 116603"/>
              <a:gd name="connsiteX2" fmla="*/ 0 w 116603"/>
              <a:gd name="connsiteY2" fmla="*/ 58301 h 116603"/>
              <a:gd name="connsiteX3" fmla="*/ 58302 w 116603"/>
              <a:gd name="connsiteY3" fmla="*/ 0 h 116603"/>
              <a:gd name="connsiteX4" fmla="*/ 116603 w 116603"/>
              <a:gd name="connsiteY4" fmla="*/ 58301 h 11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603" h="116603">
                <a:moveTo>
                  <a:pt x="116603" y="58301"/>
                </a:moveTo>
                <a:cubicBezTo>
                  <a:pt x="116603" y="90500"/>
                  <a:pt x="90501" y="116603"/>
                  <a:pt x="58302" y="116603"/>
                </a:cubicBezTo>
                <a:cubicBezTo>
                  <a:pt x="26103" y="116603"/>
                  <a:pt x="0" y="90500"/>
                  <a:pt x="0" y="58301"/>
                </a:cubicBezTo>
                <a:cubicBezTo>
                  <a:pt x="0" y="26102"/>
                  <a:pt x="26103" y="0"/>
                  <a:pt x="58302" y="0"/>
                </a:cubicBezTo>
                <a:cubicBezTo>
                  <a:pt x="90501" y="0"/>
                  <a:pt x="116603" y="26102"/>
                  <a:pt x="116603" y="58301"/>
                </a:cubicBezTo>
                <a:close/>
              </a:path>
            </a:pathLst>
          </a:custGeom>
          <a:solidFill>
            <a:srgbClr val="FAA623"/>
          </a:solidFill>
          <a:ln w="1905" cap="flat">
            <a:solidFill>
              <a:srgbClr val="FAA6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6DED264C-81E4-7435-D080-005509F4307E}"/>
              </a:ext>
            </a:extLst>
          </p:cNvPr>
          <p:cNvSpPr/>
          <p:nvPr/>
        </p:nvSpPr>
        <p:spPr>
          <a:xfrm>
            <a:off x="3861350" y="4482267"/>
            <a:ext cx="111445" cy="111445"/>
          </a:xfrm>
          <a:custGeom>
            <a:avLst/>
            <a:gdLst>
              <a:gd name="connsiteX0" fmla="*/ 116603 w 116603"/>
              <a:gd name="connsiteY0" fmla="*/ 58302 h 116603"/>
              <a:gd name="connsiteX1" fmla="*/ 58302 w 116603"/>
              <a:gd name="connsiteY1" fmla="*/ 116603 h 116603"/>
              <a:gd name="connsiteX2" fmla="*/ 0 w 116603"/>
              <a:gd name="connsiteY2" fmla="*/ 58302 h 116603"/>
              <a:gd name="connsiteX3" fmla="*/ 58302 w 116603"/>
              <a:gd name="connsiteY3" fmla="*/ 0 h 116603"/>
              <a:gd name="connsiteX4" fmla="*/ 116603 w 116603"/>
              <a:gd name="connsiteY4" fmla="*/ 58302 h 11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603" h="116603">
                <a:moveTo>
                  <a:pt x="116603" y="58302"/>
                </a:moveTo>
                <a:cubicBezTo>
                  <a:pt x="116603" y="90501"/>
                  <a:pt x="90501" y="116603"/>
                  <a:pt x="58302" y="116603"/>
                </a:cubicBezTo>
                <a:cubicBezTo>
                  <a:pt x="26103" y="116603"/>
                  <a:pt x="0" y="90501"/>
                  <a:pt x="0" y="58302"/>
                </a:cubicBezTo>
                <a:cubicBezTo>
                  <a:pt x="0" y="26102"/>
                  <a:pt x="26103" y="0"/>
                  <a:pt x="58302" y="0"/>
                </a:cubicBezTo>
                <a:cubicBezTo>
                  <a:pt x="90501" y="0"/>
                  <a:pt x="116603" y="26102"/>
                  <a:pt x="116603" y="58302"/>
                </a:cubicBezTo>
                <a:close/>
              </a:path>
            </a:pathLst>
          </a:custGeom>
          <a:solidFill>
            <a:srgbClr val="FAA623"/>
          </a:solidFill>
          <a:ln w="1905" cap="flat">
            <a:solidFill>
              <a:srgbClr val="FAA6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CE006946-D620-C5C3-C78F-F1FD24E71943}"/>
              </a:ext>
            </a:extLst>
          </p:cNvPr>
          <p:cNvSpPr/>
          <p:nvPr/>
        </p:nvSpPr>
        <p:spPr>
          <a:xfrm>
            <a:off x="3966541" y="4764055"/>
            <a:ext cx="111445" cy="111445"/>
          </a:xfrm>
          <a:custGeom>
            <a:avLst/>
            <a:gdLst>
              <a:gd name="connsiteX0" fmla="*/ 116603 w 116603"/>
              <a:gd name="connsiteY0" fmla="*/ 58302 h 116603"/>
              <a:gd name="connsiteX1" fmla="*/ 58302 w 116603"/>
              <a:gd name="connsiteY1" fmla="*/ 116604 h 116603"/>
              <a:gd name="connsiteX2" fmla="*/ 0 w 116603"/>
              <a:gd name="connsiteY2" fmla="*/ 58302 h 116603"/>
              <a:gd name="connsiteX3" fmla="*/ 58302 w 116603"/>
              <a:gd name="connsiteY3" fmla="*/ 0 h 116603"/>
              <a:gd name="connsiteX4" fmla="*/ 116603 w 116603"/>
              <a:gd name="connsiteY4" fmla="*/ 58302 h 11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603" h="116603">
                <a:moveTo>
                  <a:pt x="116603" y="58302"/>
                </a:moveTo>
                <a:cubicBezTo>
                  <a:pt x="116603" y="90501"/>
                  <a:pt x="90501" y="116604"/>
                  <a:pt x="58302" y="116604"/>
                </a:cubicBezTo>
                <a:cubicBezTo>
                  <a:pt x="26103" y="116604"/>
                  <a:pt x="0" y="90501"/>
                  <a:pt x="0" y="58302"/>
                </a:cubicBezTo>
                <a:cubicBezTo>
                  <a:pt x="0" y="26103"/>
                  <a:pt x="26103" y="0"/>
                  <a:pt x="58302" y="0"/>
                </a:cubicBezTo>
                <a:cubicBezTo>
                  <a:pt x="90501" y="0"/>
                  <a:pt x="116603" y="26103"/>
                  <a:pt x="116603" y="58302"/>
                </a:cubicBezTo>
                <a:close/>
              </a:path>
            </a:pathLst>
          </a:custGeom>
          <a:solidFill>
            <a:srgbClr val="FAA623"/>
          </a:solidFill>
          <a:ln w="1905" cap="flat">
            <a:solidFill>
              <a:srgbClr val="FAA6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D6735788-0615-E502-3AF9-373C7FA968C9}"/>
              </a:ext>
            </a:extLst>
          </p:cNvPr>
          <p:cNvSpPr/>
          <p:nvPr/>
        </p:nvSpPr>
        <p:spPr>
          <a:xfrm>
            <a:off x="4135475" y="4681852"/>
            <a:ext cx="111445" cy="111445"/>
          </a:xfrm>
          <a:custGeom>
            <a:avLst/>
            <a:gdLst>
              <a:gd name="connsiteX0" fmla="*/ 116603 w 116603"/>
              <a:gd name="connsiteY0" fmla="*/ 58302 h 116603"/>
              <a:gd name="connsiteX1" fmla="*/ 58302 w 116603"/>
              <a:gd name="connsiteY1" fmla="*/ 116604 h 116603"/>
              <a:gd name="connsiteX2" fmla="*/ 0 w 116603"/>
              <a:gd name="connsiteY2" fmla="*/ 58302 h 116603"/>
              <a:gd name="connsiteX3" fmla="*/ 58302 w 116603"/>
              <a:gd name="connsiteY3" fmla="*/ 0 h 116603"/>
              <a:gd name="connsiteX4" fmla="*/ 116603 w 116603"/>
              <a:gd name="connsiteY4" fmla="*/ 58302 h 11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603" h="116603">
                <a:moveTo>
                  <a:pt x="116603" y="58302"/>
                </a:moveTo>
                <a:cubicBezTo>
                  <a:pt x="116603" y="90501"/>
                  <a:pt x="90501" y="116604"/>
                  <a:pt x="58302" y="116604"/>
                </a:cubicBezTo>
                <a:cubicBezTo>
                  <a:pt x="26103" y="116604"/>
                  <a:pt x="0" y="90501"/>
                  <a:pt x="0" y="58302"/>
                </a:cubicBezTo>
                <a:cubicBezTo>
                  <a:pt x="0" y="26103"/>
                  <a:pt x="26103" y="0"/>
                  <a:pt x="58302" y="0"/>
                </a:cubicBezTo>
                <a:cubicBezTo>
                  <a:pt x="90501" y="0"/>
                  <a:pt x="116603" y="26103"/>
                  <a:pt x="116603" y="58302"/>
                </a:cubicBezTo>
                <a:close/>
              </a:path>
            </a:pathLst>
          </a:custGeom>
          <a:solidFill>
            <a:srgbClr val="FAA623"/>
          </a:solidFill>
          <a:ln w="1905" cap="flat">
            <a:solidFill>
              <a:srgbClr val="FAA6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302B3A7-653D-44B9-8ABD-18DA682235E7}"/>
              </a:ext>
            </a:extLst>
          </p:cNvPr>
          <p:cNvSpPr/>
          <p:nvPr/>
        </p:nvSpPr>
        <p:spPr>
          <a:xfrm>
            <a:off x="4304408" y="4391357"/>
            <a:ext cx="111445" cy="111445"/>
          </a:xfrm>
          <a:custGeom>
            <a:avLst/>
            <a:gdLst>
              <a:gd name="connsiteX0" fmla="*/ 116603 w 116603"/>
              <a:gd name="connsiteY0" fmla="*/ 58302 h 116603"/>
              <a:gd name="connsiteX1" fmla="*/ 58302 w 116603"/>
              <a:gd name="connsiteY1" fmla="*/ 116603 h 116603"/>
              <a:gd name="connsiteX2" fmla="*/ 0 w 116603"/>
              <a:gd name="connsiteY2" fmla="*/ 58302 h 116603"/>
              <a:gd name="connsiteX3" fmla="*/ 58302 w 116603"/>
              <a:gd name="connsiteY3" fmla="*/ 0 h 116603"/>
              <a:gd name="connsiteX4" fmla="*/ 116603 w 116603"/>
              <a:gd name="connsiteY4" fmla="*/ 58302 h 11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603" h="116603">
                <a:moveTo>
                  <a:pt x="116603" y="58302"/>
                </a:moveTo>
                <a:cubicBezTo>
                  <a:pt x="116603" y="90501"/>
                  <a:pt x="90501" y="116603"/>
                  <a:pt x="58302" y="116603"/>
                </a:cubicBezTo>
                <a:cubicBezTo>
                  <a:pt x="26103" y="116603"/>
                  <a:pt x="0" y="90501"/>
                  <a:pt x="0" y="58302"/>
                </a:cubicBezTo>
                <a:cubicBezTo>
                  <a:pt x="0" y="26103"/>
                  <a:pt x="26103" y="0"/>
                  <a:pt x="58302" y="0"/>
                </a:cubicBezTo>
                <a:cubicBezTo>
                  <a:pt x="90501" y="0"/>
                  <a:pt x="116603" y="26103"/>
                  <a:pt x="116603" y="58302"/>
                </a:cubicBezTo>
                <a:close/>
              </a:path>
            </a:pathLst>
          </a:custGeom>
          <a:solidFill>
            <a:srgbClr val="FAA623"/>
          </a:solidFill>
          <a:ln w="1905" cap="flat">
            <a:solidFill>
              <a:srgbClr val="FAA6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0BD3C04F-B0A6-3A0B-A67D-9B5F82FD1834}"/>
              </a:ext>
            </a:extLst>
          </p:cNvPr>
          <p:cNvSpPr/>
          <p:nvPr/>
        </p:nvSpPr>
        <p:spPr>
          <a:xfrm>
            <a:off x="4505037" y="4356177"/>
            <a:ext cx="111445" cy="111445"/>
          </a:xfrm>
          <a:custGeom>
            <a:avLst/>
            <a:gdLst>
              <a:gd name="connsiteX0" fmla="*/ 116603 w 116603"/>
              <a:gd name="connsiteY0" fmla="*/ 58302 h 116603"/>
              <a:gd name="connsiteX1" fmla="*/ 58301 w 116603"/>
              <a:gd name="connsiteY1" fmla="*/ 116603 h 116603"/>
              <a:gd name="connsiteX2" fmla="*/ 0 w 116603"/>
              <a:gd name="connsiteY2" fmla="*/ 58302 h 116603"/>
              <a:gd name="connsiteX3" fmla="*/ 58301 w 116603"/>
              <a:gd name="connsiteY3" fmla="*/ 0 h 116603"/>
              <a:gd name="connsiteX4" fmla="*/ 116603 w 116603"/>
              <a:gd name="connsiteY4" fmla="*/ 58302 h 11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603" h="116603">
                <a:moveTo>
                  <a:pt x="116603" y="58302"/>
                </a:moveTo>
                <a:cubicBezTo>
                  <a:pt x="116603" y="90501"/>
                  <a:pt x="90500" y="116603"/>
                  <a:pt x="58301" y="116603"/>
                </a:cubicBezTo>
                <a:cubicBezTo>
                  <a:pt x="26102" y="116603"/>
                  <a:pt x="0" y="90501"/>
                  <a:pt x="0" y="58302"/>
                </a:cubicBezTo>
                <a:cubicBezTo>
                  <a:pt x="0" y="26103"/>
                  <a:pt x="26102" y="0"/>
                  <a:pt x="58301" y="0"/>
                </a:cubicBezTo>
                <a:cubicBezTo>
                  <a:pt x="90501" y="0"/>
                  <a:pt x="116603" y="26103"/>
                  <a:pt x="116603" y="58302"/>
                </a:cubicBezTo>
                <a:close/>
              </a:path>
            </a:pathLst>
          </a:custGeom>
          <a:solidFill>
            <a:srgbClr val="FAA623"/>
          </a:solidFill>
          <a:ln w="1905" cap="flat">
            <a:solidFill>
              <a:srgbClr val="FAA6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26F3448B-A29C-EBEC-0DBD-F7414E5ADEDE}"/>
              </a:ext>
            </a:extLst>
          </p:cNvPr>
          <p:cNvSpPr/>
          <p:nvPr/>
        </p:nvSpPr>
        <p:spPr>
          <a:xfrm>
            <a:off x="4787173" y="4384042"/>
            <a:ext cx="111445" cy="111445"/>
          </a:xfrm>
          <a:custGeom>
            <a:avLst/>
            <a:gdLst>
              <a:gd name="connsiteX0" fmla="*/ 116603 w 116603"/>
              <a:gd name="connsiteY0" fmla="*/ 58302 h 116603"/>
              <a:gd name="connsiteX1" fmla="*/ 58301 w 116603"/>
              <a:gd name="connsiteY1" fmla="*/ 116603 h 116603"/>
              <a:gd name="connsiteX2" fmla="*/ 0 w 116603"/>
              <a:gd name="connsiteY2" fmla="*/ 58302 h 116603"/>
              <a:gd name="connsiteX3" fmla="*/ 58301 w 116603"/>
              <a:gd name="connsiteY3" fmla="*/ 0 h 116603"/>
              <a:gd name="connsiteX4" fmla="*/ 116603 w 116603"/>
              <a:gd name="connsiteY4" fmla="*/ 58302 h 11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603" h="116603">
                <a:moveTo>
                  <a:pt x="116603" y="58302"/>
                </a:moveTo>
                <a:cubicBezTo>
                  <a:pt x="116603" y="90501"/>
                  <a:pt x="90500" y="116603"/>
                  <a:pt x="58301" y="116603"/>
                </a:cubicBezTo>
                <a:cubicBezTo>
                  <a:pt x="26102" y="116603"/>
                  <a:pt x="0" y="90501"/>
                  <a:pt x="0" y="58302"/>
                </a:cubicBezTo>
                <a:cubicBezTo>
                  <a:pt x="0" y="26102"/>
                  <a:pt x="26102" y="0"/>
                  <a:pt x="58301" y="0"/>
                </a:cubicBezTo>
                <a:cubicBezTo>
                  <a:pt x="90500" y="0"/>
                  <a:pt x="116603" y="26102"/>
                  <a:pt x="116603" y="58302"/>
                </a:cubicBezTo>
                <a:close/>
              </a:path>
            </a:pathLst>
          </a:custGeom>
          <a:solidFill>
            <a:srgbClr val="FAA623"/>
          </a:solidFill>
          <a:ln w="1905" cap="flat">
            <a:solidFill>
              <a:srgbClr val="FAA6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5F8435BC-5818-B46B-3E5C-83E3D8F8BB21}"/>
              </a:ext>
            </a:extLst>
          </p:cNvPr>
          <p:cNvSpPr/>
          <p:nvPr/>
        </p:nvSpPr>
        <p:spPr>
          <a:xfrm>
            <a:off x="5108320" y="4153805"/>
            <a:ext cx="111445" cy="111445"/>
          </a:xfrm>
          <a:custGeom>
            <a:avLst/>
            <a:gdLst>
              <a:gd name="connsiteX0" fmla="*/ 116603 w 116603"/>
              <a:gd name="connsiteY0" fmla="*/ 58302 h 116603"/>
              <a:gd name="connsiteX1" fmla="*/ 58301 w 116603"/>
              <a:gd name="connsiteY1" fmla="*/ 116603 h 116603"/>
              <a:gd name="connsiteX2" fmla="*/ -1 w 116603"/>
              <a:gd name="connsiteY2" fmla="*/ 58302 h 116603"/>
              <a:gd name="connsiteX3" fmla="*/ 58301 w 116603"/>
              <a:gd name="connsiteY3" fmla="*/ 0 h 116603"/>
              <a:gd name="connsiteX4" fmla="*/ 116603 w 116603"/>
              <a:gd name="connsiteY4" fmla="*/ 58302 h 11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603" h="116603">
                <a:moveTo>
                  <a:pt x="116603" y="58302"/>
                </a:moveTo>
                <a:cubicBezTo>
                  <a:pt x="116603" y="90501"/>
                  <a:pt x="90500" y="116603"/>
                  <a:pt x="58301" y="116603"/>
                </a:cubicBezTo>
                <a:cubicBezTo>
                  <a:pt x="26102" y="116603"/>
                  <a:pt x="-1" y="90501"/>
                  <a:pt x="-1" y="58302"/>
                </a:cubicBezTo>
                <a:cubicBezTo>
                  <a:pt x="-1" y="26103"/>
                  <a:pt x="26102" y="0"/>
                  <a:pt x="58301" y="0"/>
                </a:cubicBezTo>
                <a:cubicBezTo>
                  <a:pt x="90500" y="0"/>
                  <a:pt x="116603" y="26103"/>
                  <a:pt x="116603" y="58302"/>
                </a:cubicBezTo>
                <a:close/>
              </a:path>
            </a:pathLst>
          </a:custGeom>
          <a:solidFill>
            <a:srgbClr val="FAA623"/>
          </a:solidFill>
          <a:ln w="1905" cap="flat">
            <a:solidFill>
              <a:srgbClr val="FAA6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E69916AC-705A-7C29-3456-7BC16666E78E}"/>
              </a:ext>
            </a:extLst>
          </p:cNvPr>
          <p:cNvSpPr/>
          <p:nvPr/>
        </p:nvSpPr>
        <p:spPr>
          <a:xfrm>
            <a:off x="5482760" y="4122806"/>
            <a:ext cx="111445" cy="111445"/>
          </a:xfrm>
          <a:custGeom>
            <a:avLst/>
            <a:gdLst>
              <a:gd name="connsiteX0" fmla="*/ 116603 w 116603"/>
              <a:gd name="connsiteY0" fmla="*/ 58302 h 116603"/>
              <a:gd name="connsiteX1" fmla="*/ 58301 w 116603"/>
              <a:gd name="connsiteY1" fmla="*/ 116603 h 116603"/>
              <a:gd name="connsiteX2" fmla="*/ -1 w 116603"/>
              <a:gd name="connsiteY2" fmla="*/ 58302 h 116603"/>
              <a:gd name="connsiteX3" fmla="*/ 58301 w 116603"/>
              <a:gd name="connsiteY3" fmla="*/ 0 h 116603"/>
              <a:gd name="connsiteX4" fmla="*/ 116603 w 116603"/>
              <a:gd name="connsiteY4" fmla="*/ 58302 h 11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603" h="116603">
                <a:moveTo>
                  <a:pt x="116603" y="58302"/>
                </a:moveTo>
                <a:cubicBezTo>
                  <a:pt x="116603" y="90501"/>
                  <a:pt x="90500" y="116603"/>
                  <a:pt x="58301" y="116603"/>
                </a:cubicBezTo>
                <a:cubicBezTo>
                  <a:pt x="26102" y="116603"/>
                  <a:pt x="-1" y="90501"/>
                  <a:pt x="-1" y="58302"/>
                </a:cubicBezTo>
                <a:cubicBezTo>
                  <a:pt x="-1" y="26102"/>
                  <a:pt x="26102" y="0"/>
                  <a:pt x="58301" y="0"/>
                </a:cubicBezTo>
                <a:cubicBezTo>
                  <a:pt x="90500" y="0"/>
                  <a:pt x="116603" y="26102"/>
                  <a:pt x="116603" y="58302"/>
                </a:cubicBezTo>
                <a:close/>
              </a:path>
            </a:pathLst>
          </a:custGeom>
          <a:solidFill>
            <a:srgbClr val="FAA623"/>
          </a:solidFill>
          <a:ln w="1905" cap="flat">
            <a:solidFill>
              <a:srgbClr val="FAA6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BED14F91-C9B9-5C0B-D9AA-84C30DA9B8F6}"/>
              </a:ext>
            </a:extLst>
          </p:cNvPr>
          <p:cNvSpPr/>
          <p:nvPr/>
        </p:nvSpPr>
        <p:spPr>
          <a:xfrm>
            <a:off x="6056089" y="4186895"/>
            <a:ext cx="111445" cy="111445"/>
          </a:xfrm>
          <a:custGeom>
            <a:avLst/>
            <a:gdLst>
              <a:gd name="connsiteX0" fmla="*/ 116603 w 116603"/>
              <a:gd name="connsiteY0" fmla="*/ 58302 h 116603"/>
              <a:gd name="connsiteX1" fmla="*/ 58301 w 116603"/>
              <a:gd name="connsiteY1" fmla="*/ 116604 h 116603"/>
              <a:gd name="connsiteX2" fmla="*/ -1 w 116603"/>
              <a:gd name="connsiteY2" fmla="*/ 58302 h 116603"/>
              <a:gd name="connsiteX3" fmla="*/ 58301 w 116603"/>
              <a:gd name="connsiteY3" fmla="*/ 0 h 116603"/>
              <a:gd name="connsiteX4" fmla="*/ 116603 w 116603"/>
              <a:gd name="connsiteY4" fmla="*/ 58302 h 11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603" h="116603">
                <a:moveTo>
                  <a:pt x="116603" y="58302"/>
                </a:moveTo>
                <a:cubicBezTo>
                  <a:pt x="116603" y="90501"/>
                  <a:pt x="90500" y="116604"/>
                  <a:pt x="58301" y="116604"/>
                </a:cubicBezTo>
                <a:cubicBezTo>
                  <a:pt x="26102" y="116604"/>
                  <a:pt x="-1" y="90501"/>
                  <a:pt x="-1" y="58302"/>
                </a:cubicBezTo>
                <a:cubicBezTo>
                  <a:pt x="-1" y="26103"/>
                  <a:pt x="26102" y="0"/>
                  <a:pt x="58301" y="0"/>
                </a:cubicBezTo>
                <a:cubicBezTo>
                  <a:pt x="90500" y="0"/>
                  <a:pt x="116603" y="26103"/>
                  <a:pt x="116603" y="58302"/>
                </a:cubicBezTo>
                <a:close/>
              </a:path>
            </a:pathLst>
          </a:custGeom>
          <a:solidFill>
            <a:srgbClr val="FAA623"/>
          </a:solidFill>
          <a:ln w="1905" cap="flat">
            <a:solidFill>
              <a:srgbClr val="FAA6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54A93557-DE09-AEA8-7BE1-066F9645A1BC}"/>
              </a:ext>
            </a:extLst>
          </p:cNvPr>
          <p:cNvSpPr/>
          <p:nvPr/>
        </p:nvSpPr>
        <p:spPr>
          <a:xfrm>
            <a:off x="7237925" y="3678354"/>
            <a:ext cx="111445" cy="111445"/>
          </a:xfrm>
          <a:custGeom>
            <a:avLst/>
            <a:gdLst>
              <a:gd name="connsiteX0" fmla="*/ 116603 w 116603"/>
              <a:gd name="connsiteY0" fmla="*/ 58302 h 116603"/>
              <a:gd name="connsiteX1" fmla="*/ 58301 w 116603"/>
              <a:gd name="connsiteY1" fmla="*/ 116603 h 116603"/>
              <a:gd name="connsiteX2" fmla="*/ -1 w 116603"/>
              <a:gd name="connsiteY2" fmla="*/ 58302 h 116603"/>
              <a:gd name="connsiteX3" fmla="*/ 58301 w 116603"/>
              <a:gd name="connsiteY3" fmla="*/ 0 h 116603"/>
              <a:gd name="connsiteX4" fmla="*/ 116603 w 116603"/>
              <a:gd name="connsiteY4" fmla="*/ 58302 h 11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603" h="116603">
                <a:moveTo>
                  <a:pt x="116603" y="58302"/>
                </a:moveTo>
                <a:cubicBezTo>
                  <a:pt x="116603" y="90501"/>
                  <a:pt x="90500" y="116603"/>
                  <a:pt x="58301" y="116603"/>
                </a:cubicBezTo>
                <a:cubicBezTo>
                  <a:pt x="26102" y="116603"/>
                  <a:pt x="-1" y="90501"/>
                  <a:pt x="-1" y="58302"/>
                </a:cubicBezTo>
                <a:cubicBezTo>
                  <a:pt x="-1" y="26103"/>
                  <a:pt x="26102" y="0"/>
                  <a:pt x="58301" y="0"/>
                </a:cubicBezTo>
                <a:cubicBezTo>
                  <a:pt x="90500" y="0"/>
                  <a:pt x="116603" y="26103"/>
                  <a:pt x="116603" y="58302"/>
                </a:cubicBezTo>
                <a:close/>
              </a:path>
            </a:pathLst>
          </a:custGeom>
          <a:solidFill>
            <a:srgbClr val="FAA623"/>
          </a:solidFill>
          <a:ln w="1905" cap="flat">
            <a:solidFill>
              <a:srgbClr val="FAA623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D8E47A5-D640-05DF-EE69-970CF2EFB407}"/>
              </a:ext>
            </a:extLst>
          </p:cNvPr>
          <p:cNvSpPr/>
          <p:nvPr/>
        </p:nvSpPr>
        <p:spPr>
          <a:xfrm>
            <a:off x="4712286" y="3095622"/>
            <a:ext cx="109728" cy="109728"/>
          </a:xfrm>
          <a:prstGeom prst="ellipse">
            <a:avLst/>
          </a:prstGeom>
          <a:solidFill>
            <a:srgbClr val="2BB4A2"/>
          </a:solidFill>
          <a:ln w="190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4FD3C70-BCBB-EEF0-8B8F-C4273160A89D}"/>
              </a:ext>
            </a:extLst>
          </p:cNvPr>
          <p:cNvSpPr/>
          <p:nvPr/>
        </p:nvSpPr>
        <p:spPr>
          <a:xfrm>
            <a:off x="5653435" y="3432095"/>
            <a:ext cx="109728" cy="109728"/>
          </a:xfrm>
          <a:prstGeom prst="ellipse">
            <a:avLst/>
          </a:prstGeom>
          <a:solidFill>
            <a:srgbClr val="2BB4A2"/>
          </a:solidFill>
          <a:ln w="190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7BB34DD-C7BE-CB44-2440-EA9B02054BD6}"/>
              </a:ext>
            </a:extLst>
          </p:cNvPr>
          <p:cNvSpPr/>
          <p:nvPr/>
        </p:nvSpPr>
        <p:spPr>
          <a:xfrm>
            <a:off x="5952291" y="3492353"/>
            <a:ext cx="109728" cy="109728"/>
          </a:xfrm>
          <a:prstGeom prst="ellipse">
            <a:avLst/>
          </a:prstGeom>
          <a:solidFill>
            <a:srgbClr val="2BB4A2"/>
          </a:solidFill>
          <a:ln w="190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59B7FE5F-90BC-4D44-C6DA-FD4219178635}"/>
              </a:ext>
            </a:extLst>
          </p:cNvPr>
          <p:cNvSpPr/>
          <p:nvPr/>
        </p:nvSpPr>
        <p:spPr>
          <a:xfrm>
            <a:off x="6248707" y="2856329"/>
            <a:ext cx="109728" cy="109728"/>
          </a:xfrm>
          <a:prstGeom prst="ellipse">
            <a:avLst/>
          </a:prstGeom>
          <a:solidFill>
            <a:srgbClr val="2BB4A2"/>
          </a:solidFill>
          <a:ln w="190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C79CF2A-7154-1652-D679-A10AC243E7C9}"/>
              </a:ext>
            </a:extLst>
          </p:cNvPr>
          <p:cNvSpPr/>
          <p:nvPr/>
        </p:nvSpPr>
        <p:spPr>
          <a:xfrm>
            <a:off x="6475461" y="3199768"/>
            <a:ext cx="109728" cy="109728"/>
          </a:xfrm>
          <a:prstGeom prst="ellipse">
            <a:avLst/>
          </a:prstGeom>
          <a:solidFill>
            <a:srgbClr val="2BB4A2"/>
          </a:solidFill>
          <a:ln w="190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46B2850-42E5-E1FF-87F6-689E266E67BB}"/>
              </a:ext>
            </a:extLst>
          </p:cNvPr>
          <p:cNvSpPr/>
          <p:nvPr/>
        </p:nvSpPr>
        <p:spPr>
          <a:xfrm>
            <a:off x="6699428" y="3719456"/>
            <a:ext cx="109728" cy="109728"/>
          </a:xfrm>
          <a:prstGeom prst="ellipse">
            <a:avLst/>
          </a:prstGeom>
          <a:solidFill>
            <a:srgbClr val="2BB4A2"/>
          </a:solidFill>
          <a:ln w="190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732B0CD-B75E-10AB-C5D6-6F96D09DD28D}"/>
              </a:ext>
            </a:extLst>
          </p:cNvPr>
          <p:cNvSpPr/>
          <p:nvPr/>
        </p:nvSpPr>
        <p:spPr>
          <a:xfrm>
            <a:off x="6823777" y="3544949"/>
            <a:ext cx="109728" cy="109728"/>
          </a:xfrm>
          <a:prstGeom prst="ellipse">
            <a:avLst/>
          </a:prstGeom>
          <a:solidFill>
            <a:srgbClr val="2BB4A2"/>
          </a:solidFill>
          <a:ln w="190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5DF597F-90FE-8776-BABB-7184B78EDDFE}"/>
              </a:ext>
            </a:extLst>
          </p:cNvPr>
          <p:cNvSpPr/>
          <p:nvPr/>
        </p:nvSpPr>
        <p:spPr>
          <a:xfrm>
            <a:off x="7026148" y="3158667"/>
            <a:ext cx="109728" cy="109728"/>
          </a:xfrm>
          <a:prstGeom prst="ellipse">
            <a:avLst/>
          </a:prstGeom>
          <a:solidFill>
            <a:srgbClr val="2BB4A2"/>
          </a:solidFill>
          <a:ln w="190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95ACA19-038B-52B7-8EF8-4A0258D7D8A8}"/>
              </a:ext>
            </a:extLst>
          </p:cNvPr>
          <p:cNvSpPr/>
          <p:nvPr/>
        </p:nvSpPr>
        <p:spPr>
          <a:xfrm>
            <a:off x="7190206" y="2891161"/>
            <a:ext cx="109728" cy="109728"/>
          </a:xfrm>
          <a:prstGeom prst="ellipse">
            <a:avLst/>
          </a:prstGeom>
          <a:solidFill>
            <a:srgbClr val="2BB4A2"/>
          </a:solidFill>
          <a:ln w="190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43420E5-3779-7C95-1F3F-6C8730E0BBCF}"/>
              </a:ext>
            </a:extLst>
          </p:cNvPr>
          <p:cNvSpPr/>
          <p:nvPr/>
        </p:nvSpPr>
        <p:spPr>
          <a:xfrm>
            <a:off x="7356352" y="3056958"/>
            <a:ext cx="109728" cy="109728"/>
          </a:xfrm>
          <a:prstGeom prst="ellipse">
            <a:avLst/>
          </a:prstGeom>
          <a:solidFill>
            <a:srgbClr val="2BB4A2"/>
          </a:solidFill>
          <a:ln w="190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47009D73-4595-7418-15BF-31BAF90B9E6E}"/>
              </a:ext>
            </a:extLst>
          </p:cNvPr>
          <p:cNvSpPr/>
          <p:nvPr/>
        </p:nvSpPr>
        <p:spPr>
          <a:xfrm>
            <a:off x="7725915" y="2711081"/>
            <a:ext cx="109728" cy="109728"/>
          </a:xfrm>
          <a:prstGeom prst="ellipse">
            <a:avLst/>
          </a:prstGeom>
          <a:solidFill>
            <a:srgbClr val="2BB4A2"/>
          </a:solidFill>
          <a:ln w="190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DEA16642-DC63-0DBE-CDEB-33B5336CD0D0}"/>
              </a:ext>
            </a:extLst>
          </p:cNvPr>
          <p:cNvSpPr/>
          <p:nvPr/>
        </p:nvSpPr>
        <p:spPr>
          <a:xfrm>
            <a:off x="7901814" y="2806520"/>
            <a:ext cx="109728" cy="109728"/>
          </a:xfrm>
          <a:prstGeom prst="ellipse">
            <a:avLst/>
          </a:prstGeom>
          <a:solidFill>
            <a:srgbClr val="2BB4A2"/>
          </a:solidFill>
          <a:ln w="190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AF6490F-ADA6-9ED4-885C-D02CE2069E48}"/>
              </a:ext>
            </a:extLst>
          </p:cNvPr>
          <p:cNvSpPr/>
          <p:nvPr/>
        </p:nvSpPr>
        <p:spPr>
          <a:xfrm>
            <a:off x="8032085" y="2844834"/>
            <a:ext cx="109728" cy="109728"/>
          </a:xfrm>
          <a:prstGeom prst="ellipse">
            <a:avLst/>
          </a:prstGeom>
          <a:solidFill>
            <a:srgbClr val="2BB4A2"/>
          </a:solidFill>
          <a:ln w="190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E06A8139-73A5-4D51-478B-BC23FFC962C1}"/>
              </a:ext>
            </a:extLst>
          </p:cNvPr>
          <p:cNvSpPr/>
          <p:nvPr/>
        </p:nvSpPr>
        <p:spPr>
          <a:xfrm>
            <a:off x="8205546" y="2410833"/>
            <a:ext cx="109728" cy="109728"/>
          </a:xfrm>
          <a:prstGeom prst="ellipse">
            <a:avLst/>
          </a:prstGeom>
          <a:solidFill>
            <a:srgbClr val="2BB4A2"/>
          </a:solidFill>
          <a:ln w="190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15F93F5F-6FC3-29E7-595F-F213B15C270A}"/>
              </a:ext>
            </a:extLst>
          </p:cNvPr>
          <p:cNvSpPr/>
          <p:nvPr/>
        </p:nvSpPr>
        <p:spPr>
          <a:xfrm>
            <a:off x="8455637" y="2656047"/>
            <a:ext cx="109728" cy="109728"/>
          </a:xfrm>
          <a:prstGeom prst="ellipse">
            <a:avLst/>
          </a:prstGeom>
          <a:solidFill>
            <a:srgbClr val="2BB4A2"/>
          </a:solidFill>
          <a:ln w="190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863398D4-E1DF-661D-3FFD-F8F7902D6AF0}"/>
              </a:ext>
            </a:extLst>
          </p:cNvPr>
          <p:cNvSpPr/>
          <p:nvPr/>
        </p:nvSpPr>
        <p:spPr>
          <a:xfrm>
            <a:off x="8627356" y="2203236"/>
            <a:ext cx="109728" cy="109728"/>
          </a:xfrm>
          <a:prstGeom prst="ellipse">
            <a:avLst/>
          </a:prstGeom>
          <a:solidFill>
            <a:srgbClr val="2BB4A2"/>
          </a:solidFill>
          <a:ln w="190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9C7BD676-E150-DE0D-3A5D-E5FD96B0C7F2}"/>
              </a:ext>
            </a:extLst>
          </p:cNvPr>
          <p:cNvSpPr/>
          <p:nvPr/>
        </p:nvSpPr>
        <p:spPr>
          <a:xfrm>
            <a:off x="8942235" y="2342215"/>
            <a:ext cx="109728" cy="109728"/>
          </a:xfrm>
          <a:prstGeom prst="ellipse">
            <a:avLst/>
          </a:prstGeom>
          <a:solidFill>
            <a:srgbClr val="2BB4A2"/>
          </a:solidFill>
          <a:ln w="190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6C7BA594-62B7-9BC5-4DEA-C9B446AD0F43}"/>
              </a:ext>
            </a:extLst>
          </p:cNvPr>
          <p:cNvSpPr/>
          <p:nvPr/>
        </p:nvSpPr>
        <p:spPr>
          <a:xfrm>
            <a:off x="9428136" y="2152034"/>
            <a:ext cx="109728" cy="109728"/>
          </a:xfrm>
          <a:prstGeom prst="ellipse">
            <a:avLst/>
          </a:prstGeom>
          <a:solidFill>
            <a:srgbClr val="2BB4A2"/>
          </a:solidFill>
          <a:ln w="190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6D50C8E-07EE-AF82-924C-161A94E2B615}"/>
              </a:ext>
            </a:extLst>
          </p:cNvPr>
          <p:cNvSpPr/>
          <p:nvPr/>
        </p:nvSpPr>
        <p:spPr>
          <a:xfrm>
            <a:off x="11092737" y="2325495"/>
            <a:ext cx="109728" cy="109728"/>
          </a:xfrm>
          <a:prstGeom prst="ellipse">
            <a:avLst/>
          </a:prstGeom>
          <a:solidFill>
            <a:srgbClr val="2BB4A2"/>
          </a:solidFill>
          <a:ln w="190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A4F500D3-A24D-ED94-A0C1-EBDA9285149C}"/>
              </a:ext>
            </a:extLst>
          </p:cNvPr>
          <p:cNvSpPr/>
          <p:nvPr/>
        </p:nvSpPr>
        <p:spPr>
          <a:xfrm>
            <a:off x="1599037" y="1170828"/>
            <a:ext cx="1935" cy="4563984"/>
          </a:xfrm>
          <a:custGeom>
            <a:avLst/>
            <a:gdLst>
              <a:gd name="connsiteX0" fmla="*/ 0 w 1905"/>
              <a:gd name="connsiteY0" fmla="*/ 4493680 h 4493680"/>
              <a:gd name="connsiteX1" fmla="*/ 0 w 1905"/>
              <a:gd name="connsiteY1" fmla="*/ 0 h 449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" h="4493680">
                <a:moveTo>
                  <a:pt x="0" y="4493680"/>
                </a:moveTo>
                <a:lnTo>
                  <a:pt x="0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D50BDA11-0BD8-4A4D-7391-ADA00220B791}"/>
              </a:ext>
            </a:extLst>
          </p:cNvPr>
          <p:cNvSpPr/>
          <p:nvPr/>
        </p:nvSpPr>
        <p:spPr>
          <a:xfrm>
            <a:off x="1502206" y="5508755"/>
            <a:ext cx="96832" cy="1935"/>
          </a:xfrm>
          <a:custGeom>
            <a:avLst/>
            <a:gdLst>
              <a:gd name="connsiteX0" fmla="*/ 95340 w 95340"/>
              <a:gd name="connsiteY0" fmla="*/ 0 h 1905"/>
              <a:gd name="connsiteX1" fmla="*/ 0 w 95340"/>
              <a:gd name="connsiteY1" fmla="*/ 0 h 1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340" h="1905">
                <a:moveTo>
                  <a:pt x="95340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254E300-E769-536B-1568-622D7F03DE86}"/>
              </a:ext>
            </a:extLst>
          </p:cNvPr>
          <p:cNvSpPr txBox="1"/>
          <p:nvPr/>
        </p:nvSpPr>
        <p:spPr>
          <a:xfrm>
            <a:off x="888485" y="5339823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-$5k</a:t>
            </a:r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49167B2E-5328-3BE9-BFC2-C90D3C844B9F}"/>
              </a:ext>
            </a:extLst>
          </p:cNvPr>
          <p:cNvSpPr/>
          <p:nvPr/>
        </p:nvSpPr>
        <p:spPr>
          <a:xfrm>
            <a:off x="1502206" y="3416421"/>
            <a:ext cx="96832" cy="1935"/>
          </a:xfrm>
          <a:custGeom>
            <a:avLst/>
            <a:gdLst>
              <a:gd name="connsiteX0" fmla="*/ 95340 w 95340"/>
              <a:gd name="connsiteY0" fmla="*/ 0 h 1905"/>
              <a:gd name="connsiteX1" fmla="*/ 0 w 95340"/>
              <a:gd name="connsiteY1" fmla="*/ 0 h 1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340" h="1905">
                <a:moveTo>
                  <a:pt x="95340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4281D75-6040-4BE8-459F-D5371611A950}"/>
              </a:ext>
            </a:extLst>
          </p:cNvPr>
          <p:cNvSpPr txBox="1"/>
          <p:nvPr/>
        </p:nvSpPr>
        <p:spPr>
          <a:xfrm>
            <a:off x="1092801" y="3249073"/>
            <a:ext cx="444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$0</a:t>
            </a:r>
          </a:p>
        </p:txBody>
      </p:sp>
      <p:sp>
        <p:nvSpPr>
          <p:cNvPr id="142" name="Freeform: Shape 141">
            <a:extLst>
              <a:ext uri="{FF2B5EF4-FFF2-40B4-BE49-F238E27FC236}">
                <a16:creationId xmlns:a16="http://schemas.microsoft.com/office/drawing/2014/main" id="{D1138C72-AB13-7C9B-D176-17145E565B1D}"/>
              </a:ext>
            </a:extLst>
          </p:cNvPr>
          <p:cNvSpPr/>
          <p:nvPr/>
        </p:nvSpPr>
        <p:spPr>
          <a:xfrm>
            <a:off x="1502206" y="1324086"/>
            <a:ext cx="96832" cy="1935"/>
          </a:xfrm>
          <a:custGeom>
            <a:avLst/>
            <a:gdLst>
              <a:gd name="connsiteX0" fmla="*/ 95340 w 95340"/>
              <a:gd name="connsiteY0" fmla="*/ 0 h 1905"/>
              <a:gd name="connsiteX1" fmla="*/ 0 w 95340"/>
              <a:gd name="connsiteY1" fmla="*/ 0 h 1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340" h="1905">
                <a:moveTo>
                  <a:pt x="95340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C6E78F10-EBC6-85FA-EE7C-0781F9C299FE}"/>
              </a:ext>
            </a:extLst>
          </p:cNvPr>
          <p:cNvSpPr txBox="1"/>
          <p:nvPr/>
        </p:nvSpPr>
        <p:spPr>
          <a:xfrm>
            <a:off x="972575" y="1137686"/>
            <a:ext cx="5645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$5k</a:t>
            </a:r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08DF28A6-F7E3-9B39-EA25-5A2E77ABC6C2}"/>
              </a:ext>
            </a:extLst>
          </p:cNvPr>
          <p:cNvSpPr/>
          <p:nvPr/>
        </p:nvSpPr>
        <p:spPr>
          <a:xfrm>
            <a:off x="1599037" y="5734811"/>
            <a:ext cx="10026274" cy="1935"/>
          </a:xfrm>
          <a:custGeom>
            <a:avLst/>
            <a:gdLst>
              <a:gd name="connsiteX0" fmla="*/ 0 w 9871830"/>
              <a:gd name="connsiteY0" fmla="*/ 0 h 1905"/>
              <a:gd name="connsiteX1" fmla="*/ 9871830 w 9871830"/>
              <a:gd name="connsiteY1" fmla="*/ 0 h 1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871830" h="1905">
                <a:moveTo>
                  <a:pt x="0" y="0"/>
                </a:moveTo>
                <a:lnTo>
                  <a:pt x="9871830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63DD95BF-95A6-832C-6C7D-C2694693C892}"/>
              </a:ext>
            </a:extLst>
          </p:cNvPr>
          <p:cNvSpPr>
            <a:spLocks/>
          </p:cNvSpPr>
          <p:nvPr/>
        </p:nvSpPr>
        <p:spPr>
          <a:xfrm>
            <a:off x="1751948" y="1516705"/>
            <a:ext cx="9400001" cy="4064847"/>
          </a:xfrm>
          <a:custGeom>
            <a:avLst/>
            <a:gdLst>
              <a:gd name="connsiteX0" fmla="*/ 0 w 9255204"/>
              <a:gd name="connsiteY0" fmla="*/ 4002232 h 4002232"/>
              <a:gd name="connsiteX1" fmla="*/ 31209 w 9255204"/>
              <a:gd name="connsiteY1" fmla="*/ 3988857 h 4002232"/>
              <a:gd name="connsiteX2" fmla="*/ 62074 w 9255204"/>
              <a:gd name="connsiteY2" fmla="*/ 3975482 h 4002232"/>
              <a:gd name="connsiteX3" fmla="*/ 92940 w 9255204"/>
              <a:gd name="connsiteY3" fmla="*/ 3962107 h 4002232"/>
              <a:gd name="connsiteX4" fmla="*/ 123805 w 9255204"/>
              <a:gd name="connsiteY4" fmla="*/ 3948732 h 4002232"/>
              <a:gd name="connsiteX5" fmla="*/ 155014 w 9255204"/>
              <a:gd name="connsiteY5" fmla="*/ 3935357 h 4002232"/>
              <a:gd name="connsiteX6" fmla="*/ 185879 w 9255204"/>
              <a:gd name="connsiteY6" fmla="*/ 3921982 h 4002232"/>
              <a:gd name="connsiteX7" fmla="*/ 216745 w 9255204"/>
              <a:gd name="connsiteY7" fmla="*/ 3908607 h 4002232"/>
              <a:gd name="connsiteX8" fmla="*/ 247610 w 9255204"/>
              <a:gd name="connsiteY8" fmla="*/ 3895232 h 4002232"/>
              <a:gd name="connsiteX9" fmla="*/ 278819 w 9255204"/>
              <a:gd name="connsiteY9" fmla="*/ 3881857 h 4002232"/>
              <a:gd name="connsiteX10" fmla="*/ 309684 w 9255204"/>
              <a:gd name="connsiteY10" fmla="*/ 3868482 h 4002232"/>
              <a:gd name="connsiteX11" fmla="*/ 340550 w 9255204"/>
              <a:gd name="connsiteY11" fmla="*/ 3855107 h 4002232"/>
              <a:gd name="connsiteX12" fmla="*/ 371415 w 9255204"/>
              <a:gd name="connsiteY12" fmla="*/ 3841732 h 4002232"/>
              <a:gd name="connsiteX13" fmla="*/ 402624 w 9255204"/>
              <a:gd name="connsiteY13" fmla="*/ 3828356 h 4002232"/>
              <a:gd name="connsiteX14" fmla="*/ 433489 w 9255204"/>
              <a:gd name="connsiteY14" fmla="*/ 3814981 h 4002232"/>
              <a:gd name="connsiteX15" fmla="*/ 464355 w 9255204"/>
              <a:gd name="connsiteY15" fmla="*/ 3801606 h 4002232"/>
              <a:gd name="connsiteX16" fmla="*/ 495221 w 9255204"/>
              <a:gd name="connsiteY16" fmla="*/ 3788231 h 4002232"/>
              <a:gd name="connsiteX17" fmla="*/ 526429 w 9255204"/>
              <a:gd name="connsiteY17" fmla="*/ 3774857 h 4002232"/>
              <a:gd name="connsiteX18" fmla="*/ 557295 w 9255204"/>
              <a:gd name="connsiteY18" fmla="*/ 3761481 h 4002232"/>
              <a:gd name="connsiteX19" fmla="*/ 588160 w 9255204"/>
              <a:gd name="connsiteY19" fmla="*/ 3748106 h 4002232"/>
              <a:gd name="connsiteX20" fmla="*/ 619026 w 9255204"/>
              <a:gd name="connsiteY20" fmla="*/ 3734731 h 4002232"/>
              <a:gd name="connsiteX21" fmla="*/ 650234 w 9255204"/>
              <a:gd name="connsiteY21" fmla="*/ 3721356 h 4002232"/>
              <a:gd name="connsiteX22" fmla="*/ 681100 w 9255204"/>
              <a:gd name="connsiteY22" fmla="*/ 3707981 h 4002232"/>
              <a:gd name="connsiteX23" fmla="*/ 711965 w 9255204"/>
              <a:gd name="connsiteY23" fmla="*/ 3694606 h 4002232"/>
              <a:gd name="connsiteX24" fmla="*/ 742831 w 9255204"/>
              <a:gd name="connsiteY24" fmla="*/ 3680888 h 4002232"/>
              <a:gd name="connsiteX25" fmla="*/ 774039 w 9255204"/>
              <a:gd name="connsiteY25" fmla="*/ 3667513 h 4002232"/>
              <a:gd name="connsiteX26" fmla="*/ 804905 w 9255204"/>
              <a:gd name="connsiteY26" fmla="*/ 3654138 h 4002232"/>
              <a:gd name="connsiteX27" fmla="*/ 835770 w 9255204"/>
              <a:gd name="connsiteY27" fmla="*/ 3640763 h 4002232"/>
              <a:gd name="connsiteX28" fmla="*/ 866636 w 9255204"/>
              <a:gd name="connsiteY28" fmla="*/ 3627388 h 4002232"/>
              <a:gd name="connsiteX29" fmla="*/ 897844 w 9255204"/>
              <a:gd name="connsiteY29" fmla="*/ 3614012 h 4002232"/>
              <a:gd name="connsiteX30" fmla="*/ 928710 w 9255204"/>
              <a:gd name="connsiteY30" fmla="*/ 3600637 h 4002232"/>
              <a:gd name="connsiteX31" fmla="*/ 959576 w 9255204"/>
              <a:gd name="connsiteY31" fmla="*/ 3587262 h 4002232"/>
              <a:gd name="connsiteX32" fmla="*/ 990441 w 9255204"/>
              <a:gd name="connsiteY32" fmla="*/ 3573887 h 4002232"/>
              <a:gd name="connsiteX33" fmla="*/ 1021650 w 9255204"/>
              <a:gd name="connsiteY33" fmla="*/ 3560512 h 4002232"/>
              <a:gd name="connsiteX34" fmla="*/ 1052515 w 9255204"/>
              <a:gd name="connsiteY34" fmla="*/ 3547137 h 4002232"/>
              <a:gd name="connsiteX35" fmla="*/ 1083381 w 9255204"/>
              <a:gd name="connsiteY35" fmla="*/ 3533762 h 4002232"/>
              <a:gd name="connsiteX36" fmla="*/ 1114246 w 9255204"/>
              <a:gd name="connsiteY36" fmla="*/ 3520387 h 4002232"/>
              <a:gd name="connsiteX37" fmla="*/ 1145455 w 9255204"/>
              <a:gd name="connsiteY37" fmla="*/ 3507012 h 4002232"/>
              <a:gd name="connsiteX38" fmla="*/ 1176320 w 9255204"/>
              <a:gd name="connsiteY38" fmla="*/ 3493637 h 4002232"/>
              <a:gd name="connsiteX39" fmla="*/ 1207186 w 9255204"/>
              <a:gd name="connsiteY39" fmla="*/ 3480262 h 4002232"/>
              <a:gd name="connsiteX40" fmla="*/ 1238051 w 9255204"/>
              <a:gd name="connsiteY40" fmla="*/ 3466887 h 4002232"/>
              <a:gd name="connsiteX41" fmla="*/ 1269260 w 9255204"/>
              <a:gd name="connsiteY41" fmla="*/ 3453512 h 4002232"/>
              <a:gd name="connsiteX42" fmla="*/ 1300125 w 9255204"/>
              <a:gd name="connsiteY42" fmla="*/ 3440137 h 4002232"/>
              <a:gd name="connsiteX43" fmla="*/ 1330991 w 9255204"/>
              <a:gd name="connsiteY43" fmla="*/ 3426761 h 4002232"/>
              <a:gd name="connsiteX44" fmla="*/ 1362200 w 9255204"/>
              <a:gd name="connsiteY44" fmla="*/ 3413386 h 4002232"/>
              <a:gd name="connsiteX45" fmla="*/ 1393065 w 9255204"/>
              <a:gd name="connsiteY45" fmla="*/ 3400011 h 4002232"/>
              <a:gd name="connsiteX46" fmla="*/ 1423931 w 9255204"/>
              <a:gd name="connsiteY46" fmla="*/ 3386637 h 4002232"/>
              <a:gd name="connsiteX47" fmla="*/ 1454796 w 9255204"/>
              <a:gd name="connsiteY47" fmla="*/ 3373261 h 4002232"/>
              <a:gd name="connsiteX48" fmla="*/ 1486005 w 9255204"/>
              <a:gd name="connsiteY48" fmla="*/ 3359886 h 4002232"/>
              <a:gd name="connsiteX49" fmla="*/ 1516870 w 9255204"/>
              <a:gd name="connsiteY49" fmla="*/ 3346511 h 4002232"/>
              <a:gd name="connsiteX50" fmla="*/ 1547736 w 9255204"/>
              <a:gd name="connsiteY50" fmla="*/ 3333136 h 4002232"/>
              <a:gd name="connsiteX51" fmla="*/ 1578601 w 9255204"/>
              <a:gd name="connsiteY51" fmla="*/ 3319761 h 4002232"/>
              <a:gd name="connsiteX52" fmla="*/ 1609810 w 9255204"/>
              <a:gd name="connsiteY52" fmla="*/ 3306386 h 4002232"/>
              <a:gd name="connsiteX53" fmla="*/ 1640675 w 9255204"/>
              <a:gd name="connsiteY53" fmla="*/ 3293011 h 4002232"/>
              <a:gd name="connsiteX54" fmla="*/ 1671541 w 9255204"/>
              <a:gd name="connsiteY54" fmla="*/ 3279636 h 4002232"/>
              <a:gd name="connsiteX55" fmla="*/ 1702406 w 9255204"/>
              <a:gd name="connsiteY55" fmla="*/ 3266261 h 4002232"/>
              <a:gd name="connsiteX56" fmla="*/ 1733615 w 9255204"/>
              <a:gd name="connsiteY56" fmla="*/ 3252885 h 4002232"/>
              <a:gd name="connsiteX57" fmla="*/ 1764480 w 9255204"/>
              <a:gd name="connsiteY57" fmla="*/ 3239510 h 4002232"/>
              <a:gd name="connsiteX58" fmla="*/ 1795346 w 9255204"/>
              <a:gd name="connsiteY58" fmla="*/ 3225792 h 4002232"/>
              <a:gd name="connsiteX59" fmla="*/ 1826211 w 9255204"/>
              <a:gd name="connsiteY59" fmla="*/ 3212417 h 4002232"/>
              <a:gd name="connsiteX60" fmla="*/ 1857420 w 9255204"/>
              <a:gd name="connsiteY60" fmla="*/ 3199042 h 4002232"/>
              <a:gd name="connsiteX61" fmla="*/ 1888286 w 9255204"/>
              <a:gd name="connsiteY61" fmla="*/ 3185667 h 4002232"/>
              <a:gd name="connsiteX62" fmla="*/ 1919151 w 9255204"/>
              <a:gd name="connsiteY62" fmla="*/ 3172292 h 4002232"/>
              <a:gd name="connsiteX63" fmla="*/ 1950017 w 9255204"/>
              <a:gd name="connsiteY63" fmla="*/ 3158917 h 4002232"/>
              <a:gd name="connsiteX64" fmla="*/ 1981225 w 9255204"/>
              <a:gd name="connsiteY64" fmla="*/ 3145542 h 4002232"/>
              <a:gd name="connsiteX65" fmla="*/ 2012091 w 9255204"/>
              <a:gd name="connsiteY65" fmla="*/ 3132167 h 4002232"/>
              <a:gd name="connsiteX66" fmla="*/ 2042956 w 9255204"/>
              <a:gd name="connsiteY66" fmla="*/ 3118792 h 4002232"/>
              <a:gd name="connsiteX67" fmla="*/ 2073822 w 9255204"/>
              <a:gd name="connsiteY67" fmla="*/ 3105417 h 4002232"/>
              <a:gd name="connsiteX68" fmla="*/ 2105030 w 9255204"/>
              <a:gd name="connsiteY68" fmla="*/ 3092042 h 4002232"/>
              <a:gd name="connsiteX69" fmla="*/ 2135896 w 9255204"/>
              <a:gd name="connsiteY69" fmla="*/ 3078667 h 4002232"/>
              <a:gd name="connsiteX70" fmla="*/ 2166761 w 9255204"/>
              <a:gd name="connsiteY70" fmla="*/ 3065292 h 4002232"/>
              <a:gd name="connsiteX71" fmla="*/ 2197627 w 9255204"/>
              <a:gd name="connsiteY71" fmla="*/ 3051917 h 4002232"/>
              <a:gd name="connsiteX72" fmla="*/ 2228836 w 9255204"/>
              <a:gd name="connsiteY72" fmla="*/ 3038541 h 4002232"/>
              <a:gd name="connsiteX73" fmla="*/ 2259701 w 9255204"/>
              <a:gd name="connsiteY73" fmla="*/ 3025166 h 4002232"/>
              <a:gd name="connsiteX74" fmla="*/ 2290566 w 9255204"/>
              <a:gd name="connsiteY74" fmla="*/ 3011792 h 4002232"/>
              <a:gd name="connsiteX75" fmla="*/ 2321432 w 9255204"/>
              <a:gd name="connsiteY75" fmla="*/ 2998417 h 4002232"/>
              <a:gd name="connsiteX76" fmla="*/ 2352641 w 9255204"/>
              <a:gd name="connsiteY76" fmla="*/ 2985041 h 4002232"/>
              <a:gd name="connsiteX77" fmla="*/ 2383506 w 9255204"/>
              <a:gd name="connsiteY77" fmla="*/ 2971666 h 4002232"/>
              <a:gd name="connsiteX78" fmla="*/ 2414372 w 9255204"/>
              <a:gd name="connsiteY78" fmla="*/ 2958291 h 4002232"/>
              <a:gd name="connsiteX79" fmla="*/ 2445237 w 9255204"/>
              <a:gd name="connsiteY79" fmla="*/ 2944916 h 4002232"/>
              <a:gd name="connsiteX80" fmla="*/ 2476446 w 9255204"/>
              <a:gd name="connsiteY80" fmla="*/ 2931541 h 4002232"/>
              <a:gd name="connsiteX81" fmla="*/ 2507311 w 9255204"/>
              <a:gd name="connsiteY81" fmla="*/ 2918166 h 4002232"/>
              <a:gd name="connsiteX82" fmla="*/ 2538177 w 9255204"/>
              <a:gd name="connsiteY82" fmla="*/ 2904791 h 4002232"/>
              <a:gd name="connsiteX83" fmla="*/ 2569042 w 9255204"/>
              <a:gd name="connsiteY83" fmla="*/ 2891416 h 4002232"/>
              <a:gd name="connsiteX84" fmla="*/ 2600251 w 9255204"/>
              <a:gd name="connsiteY84" fmla="*/ 2878041 h 4002232"/>
              <a:gd name="connsiteX85" fmla="*/ 2631117 w 9255204"/>
              <a:gd name="connsiteY85" fmla="*/ 2864665 h 4002232"/>
              <a:gd name="connsiteX86" fmla="*/ 2661982 w 9255204"/>
              <a:gd name="connsiteY86" fmla="*/ 2851290 h 4002232"/>
              <a:gd name="connsiteX87" fmla="*/ 2693190 w 9255204"/>
              <a:gd name="connsiteY87" fmla="*/ 2837916 h 4002232"/>
              <a:gd name="connsiteX88" fmla="*/ 2724056 w 9255204"/>
              <a:gd name="connsiteY88" fmla="*/ 2824541 h 4002232"/>
              <a:gd name="connsiteX89" fmla="*/ 2754922 w 9255204"/>
              <a:gd name="connsiteY89" fmla="*/ 2811166 h 4002232"/>
              <a:gd name="connsiteX90" fmla="*/ 2785787 w 9255204"/>
              <a:gd name="connsiteY90" fmla="*/ 2797790 h 4002232"/>
              <a:gd name="connsiteX91" fmla="*/ 2816996 w 9255204"/>
              <a:gd name="connsiteY91" fmla="*/ 2784072 h 4002232"/>
              <a:gd name="connsiteX92" fmla="*/ 2847861 w 9255204"/>
              <a:gd name="connsiteY92" fmla="*/ 2770697 h 4002232"/>
              <a:gd name="connsiteX93" fmla="*/ 2878726 w 9255204"/>
              <a:gd name="connsiteY93" fmla="*/ 2757322 h 4002232"/>
              <a:gd name="connsiteX94" fmla="*/ 2909592 w 9255204"/>
              <a:gd name="connsiteY94" fmla="*/ 2743947 h 4002232"/>
              <a:gd name="connsiteX95" fmla="*/ 2940801 w 9255204"/>
              <a:gd name="connsiteY95" fmla="*/ 2730572 h 4002232"/>
              <a:gd name="connsiteX96" fmla="*/ 2971666 w 9255204"/>
              <a:gd name="connsiteY96" fmla="*/ 2717197 h 4002232"/>
              <a:gd name="connsiteX97" fmla="*/ 3002532 w 9255204"/>
              <a:gd name="connsiteY97" fmla="*/ 2703822 h 4002232"/>
              <a:gd name="connsiteX98" fmla="*/ 3033397 w 9255204"/>
              <a:gd name="connsiteY98" fmla="*/ 2690447 h 4002232"/>
              <a:gd name="connsiteX99" fmla="*/ 3064606 w 9255204"/>
              <a:gd name="connsiteY99" fmla="*/ 2677072 h 4002232"/>
              <a:gd name="connsiteX100" fmla="*/ 3095471 w 9255204"/>
              <a:gd name="connsiteY100" fmla="*/ 2663697 h 4002232"/>
              <a:gd name="connsiteX101" fmla="*/ 3126337 w 9255204"/>
              <a:gd name="connsiteY101" fmla="*/ 2650321 h 4002232"/>
              <a:gd name="connsiteX102" fmla="*/ 3157203 w 9255204"/>
              <a:gd name="connsiteY102" fmla="*/ 2636946 h 4002232"/>
              <a:gd name="connsiteX103" fmla="*/ 3188411 w 9255204"/>
              <a:gd name="connsiteY103" fmla="*/ 2623572 h 4002232"/>
              <a:gd name="connsiteX104" fmla="*/ 3219276 w 9255204"/>
              <a:gd name="connsiteY104" fmla="*/ 2610197 h 4002232"/>
              <a:gd name="connsiteX105" fmla="*/ 3250142 w 9255204"/>
              <a:gd name="connsiteY105" fmla="*/ 2596821 h 4002232"/>
              <a:gd name="connsiteX106" fmla="*/ 3281008 w 9255204"/>
              <a:gd name="connsiteY106" fmla="*/ 2583446 h 4002232"/>
              <a:gd name="connsiteX107" fmla="*/ 3312216 w 9255204"/>
              <a:gd name="connsiteY107" fmla="*/ 2570071 h 4002232"/>
              <a:gd name="connsiteX108" fmla="*/ 3343082 w 9255204"/>
              <a:gd name="connsiteY108" fmla="*/ 2556696 h 4002232"/>
              <a:gd name="connsiteX109" fmla="*/ 3373947 w 9255204"/>
              <a:gd name="connsiteY109" fmla="*/ 2543321 h 4002232"/>
              <a:gd name="connsiteX110" fmla="*/ 3404813 w 9255204"/>
              <a:gd name="connsiteY110" fmla="*/ 2529946 h 4002232"/>
              <a:gd name="connsiteX111" fmla="*/ 3436021 w 9255204"/>
              <a:gd name="connsiteY111" fmla="*/ 2516571 h 4002232"/>
              <a:gd name="connsiteX112" fmla="*/ 3466887 w 9255204"/>
              <a:gd name="connsiteY112" fmla="*/ 2503196 h 4002232"/>
              <a:gd name="connsiteX113" fmla="*/ 3497752 w 9255204"/>
              <a:gd name="connsiteY113" fmla="*/ 2489821 h 4002232"/>
              <a:gd name="connsiteX114" fmla="*/ 3528618 w 9255204"/>
              <a:gd name="connsiteY114" fmla="*/ 2476446 h 4002232"/>
              <a:gd name="connsiteX115" fmla="*/ 3559827 w 9255204"/>
              <a:gd name="connsiteY115" fmla="*/ 2463071 h 4002232"/>
              <a:gd name="connsiteX116" fmla="*/ 3590692 w 9255204"/>
              <a:gd name="connsiteY116" fmla="*/ 2449696 h 4002232"/>
              <a:gd name="connsiteX117" fmla="*/ 3621557 w 9255204"/>
              <a:gd name="connsiteY117" fmla="*/ 2436321 h 4002232"/>
              <a:gd name="connsiteX118" fmla="*/ 3652423 w 9255204"/>
              <a:gd name="connsiteY118" fmla="*/ 2422946 h 4002232"/>
              <a:gd name="connsiteX119" fmla="*/ 3683632 w 9255204"/>
              <a:gd name="connsiteY119" fmla="*/ 2409570 h 4002232"/>
              <a:gd name="connsiteX120" fmla="*/ 3714497 w 9255204"/>
              <a:gd name="connsiteY120" fmla="*/ 2396195 h 4002232"/>
              <a:gd name="connsiteX121" fmla="*/ 3745363 w 9255204"/>
              <a:gd name="connsiteY121" fmla="*/ 2382820 h 4002232"/>
              <a:gd name="connsiteX122" fmla="*/ 3776228 w 9255204"/>
              <a:gd name="connsiteY122" fmla="*/ 2369445 h 4002232"/>
              <a:gd name="connsiteX123" fmla="*/ 3807437 w 9255204"/>
              <a:gd name="connsiteY123" fmla="*/ 2356070 h 4002232"/>
              <a:gd name="connsiteX124" fmla="*/ 3838302 w 9255204"/>
              <a:gd name="connsiteY124" fmla="*/ 2342352 h 4002232"/>
              <a:gd name="connsiteX125" fmla="*/ 3869168 w 9255204"/>
              <a:gd name="connsiteY125" fmla="*/ 2328977 h 4002232"/>
              <a:gd name="connsiteX126" fmla="*/ 3900033 w 9255204"/>
              <a:gd name="connsiteY126" fmla="*/ 2315602 h 4002232"/>
              <a:gd name="connsiteX127" fmla="*/ 3931242 w 9255204"/>
              <a:gd name="connsiteY127" fmla="*/ 2302227 h 4002232"/>
              <a:gd name="connsiteX128" fmla="*/ 3962107 w 9255204"/>
              <a:gd name="connsiteY128" fmla="*/ 2288852 h 4002232"/>
              <a:gd name="connsiteX129" fmla="*/ 3992973 w 9255204"/>
              <a:gd name="connsiteY129" fmla="*/ 2275477 h 4002232"/>
              <a:gd name="connsiteX130" fmla="*/ 4023838 w 9255204"/>
              <a:gd name="connsiteY130" fmla="*/ 2262102 h 4002232"/>
              <a:gd name="connsiteX131" fmla="*/ 4055047 w 9255204"/>
              <a:gd name="connsiteY131" fmla="*/ 2248727 h 4002232"/>
              <a:gd name="connsiteX132" fmla="*/ 4085912 w 9255204"/>
              <a:gd name="connsiteY132" fmla="*/ 2235351 h 4002232"/>
              <a:gd name="connsiteX133" fmla="*/ 4116778 w 9255204"/>
              <a:gd name="connsiteY133" fmla="*/ 2221976 h 4002232"/>
              <a:gd name="connsiteX134" fmla="*/ 4147987 w 9255204"/>
              <a:gd name="connsiteY134" fmla="*/ 2208601 h 4002232"/>
              <a:gd name="connsiteX135" fmla="*/ 4178852 w 9255204"/>
              <a:gd name="connsiteY135" fmla="*/ 2195226 h 4002232"/>
              <a:gd name="connsiteX136" fmla="*/ 4209718 w 9255204"/>
              <a:gd name="connsiteY136" fmla="*/ 2181851 h 4002232"/>
              <a:gd name="connsiteX137" fmla="*/ 4240583 w 9255204"/>
              <a:gd name="connsiteY137" fmla="*/ 2168476 h 4002232"/>
              <a:gd name="connsiteX138" fmla="*/ 4271792 w 9255204"/>
              <a:gd name="connsiteY138" fmla="*/ 2155101 h 4002232"/>
              <a:gd name="connsiteX139" fmla="*/ 4302657 w 9255204"/>
              <a:gd name="connsiteY139" fmla="*/ 2141726 h 4002232"/>
              <a:gd name="connsiteX140" fmla="*/ 4333523 w 9255204"/>
              <a:gd name="connsiteY140" fmla="*/ 2128351 h 4002232"/>
              <a:gd name="connsiteX141" fmla="*/ 4364388 w 9255204"/>
              <a:gd name="connsiteY141" fmla="*/ 2114976 h 4002232"/>
              <a:gd name="connsiteX142" fmla="*/ 4395597 w 9255204"/>
              <a:gd name="connsiteY142" fmla="*/ 2101601 h 4002232"/>
              <a:gd name="connsiteX143" fmla="*/ 4426462 w 9255204"/>
              <a:gd name="connsiteY143" fmla="*/ 2088226 h 4002232"/>
              <a:gd name="connsiteX144" fmla="*/ 4457328 w 9255204"/>
              <a:gd name="connsiteY144" fmla="*/ 2074851 h 4002232"/>
              <a:gd name="connsiteX145" fmla="*/ 4488193 w 9255204"/>
              <a:gd name="connsiteY145" fmla="*/ 2061475 h 4002232"/>
              <a:gd name="connsiteX146" fmla="*/ 4519402 w 9255204"/>
              <a:gd name="connsiteY146" fmla="*/ 2048100 h 4002232"/>
              <a:gd name="connsiteX147" fmla="*/ 4550267 w 9255204"/>
              <a:gd name="connsiteY147" fmla="*/ 2034725 h 4002232"/>
              <a:gd name="connsiteX148" fmla="*/ 4581133 w 9255204"/>
              <a:gd name="connsiteY148" fmla="*/ 2021350 h 4002232"/>
              <a:gd name="connsiteX149" fmla="*/ 4611999 w 9255204"/>
              <a:gd name="connsiteY149" fmla="*/ 2007975 h 4002232"/>
              <a:gd name="connsiteX150" fmla="*/ 4643207 w 9255204"/>
              <a:gd name="connsiteY150" fmla="*/ 1994600 h 4002232"/>
              <a:gd name="connsiteX151" fmla="*/ 4674073 w 9255204"/>
              <a:gd name="connsiteY151" fmla="*/ 1981225 h 4002232"/>
              <a:gd name="connsiteX152" fmla="*/ 4704938 w 9255204"/>
              <a:gd name="connsiteY152" fmla="*/ 1967850 h 4002232"/>
              <a:gd name="connsiteX153" fmla="*/ 4735804 w 9255204"/>
              <a:gd name="connsiteY153" fmla="*/ 1954475 h 4002232"/>
              <a:gd name="connsiteX154" fmla="*/ 4767012 w 9255204"/>
              <a:gd name="connsiteY154" fmla="*/ 1941100 h 4002232"/>
              <a:gd name="connsiteX155" fmla="*/ 4797878 w 9255204"/>
              <a:gd name="connsiteY155" fmla="*/ 1927725 h 4002232"/>
              <a:gd name="connsiteX156" fmla="*/ 4828744 w 9255204"/>
              <a:gd name="connsiteY156" fmla="*/ 1914350 h 4002232"/>
              <a:gd name="connsiteX157" fmla="*/ 4859609 w 9255204"/>
              <a:gd name="connsiteY157" fmla="*/ 1900975 h 4002232"/>
              <a:gd name="connsiteX158" fmla="*/ 4890817 w 9255204"/>
              <a:gd name="connsiteY158" fmla="*/ 1887257 h 4002232"/>
              <a:gd name="connsiteX159" fmla="*/ 4921683 w 9255204"/>
              <a:gd name="connsiteY159" fmla="*/ 1873882 h 4002232"/>
              <a:gd name="connsiteX160" fmla="*/ 4952549 w 9255204"/>
              <a:gd name="connsiteY160" fmla="*/ 1860507 h 4002232"/>
              <a:gd name="connsiteX161" fmla="*/ 4983414 w 9255204"/>
              <a:gd name="connsiteY161" fmla="*/ 1847131 h 4002232"/>
              <a:gd name="connsiteX162" fmla="*/ 5014622 w 9255204"/>
              <a:gd name="connsiteY162" fmla="*/ 1833756 h 4002232"/>
              <a:gd name="connsiteX163" fmla="*/ 5045488 w 9255204"/>
              <a:gd name="connsiteY163" fmla="*/ 1820381 h 4002232"/>
              <a:gd name="connsiteX164" fmla="*/ 5076354 w 9255204"/>
              <a:gd name="connsiteY164" fmla="*/ 1807006 h 4002232"/>
              <a:gd name="connsiteX165" fmla="*/ 5107219 w 9255204"/>
              <a:gd name="connsiteY165" fmla="*/ 1793631 h 4002232"/>
              <a:gd name="connsiteX166" fmla="*/ 5138427 w 9255204"/>
              <a:gd name="connsiteY166" fmla="*/ 1780256 h 4002232"/>
              <a:gd name="connsiteX167" fmla="*/ 5169293 w 9255204"/>
              <a:gd name="connsiteY167" fmla="*/ 1766881 h 4002232"/>
              <a:gd name="connsiteX168" fmla="*/ 5200159 w 9255204"/>
              <a:gd name="connsiteY168" fmla="*/ 1753506 h 4002232"/>
              <a:gd name="connsiteX169" fmla="*/ 5231024 w 9255204"/>
              <a:gd name="connsiteY169" fmla="*/ 1740131 h 4002232"/>
              <a:gd name="connsiteX170" fmla="*/ 5262233 w 9255204"/>
              <a:gd name="connsiteY170" fmla="*/ 1726756 h 4002232"/>
              <a:gd name="connsiteX171" fmla="*/ 5293098 w 9255204"/>
              <a:gd name="connsiteY171" fmla="*/ 1713381 h 4002232"/>
              <a:gd name="connsiteX172" fmla="*/ 5323964 w 9255204"/>
              <a:gd name="connsiteY172" fmla="*/ 1700006 h 4002232"/>
              <a:gd name="connsiteX173" fmla="*/ 5354829 w 9255204"/>
              <a:gd name="connsiteY173" fmla="*/ 1686631 h 4002232"/>
              <a:gd name="connsiteX174" fmla="*/ 5386038 w 9255204"/>
              <a:gd name="connsiteY174" fmla="*/ 1673255 h 4002232"/>
              <a:gd name="connsiteX175" fmla="*/ 5416904 w 9255204"/>
              <a:gd name="connsiteY175" fmla="*/ 1659881 h 4002232"/>
              <a:gd name="connsiteX176" fmla="*/ 5447769 w 9255204"/>
              <a:gd name="connsiteY176" fmla="*/ 1646506 h 4002232"/>
              <a:gd name="connsiteX177" fmla="*/ 5478977 w 9255204"/>
              <a:gd name="connsiteY177" fmla="*/ 1633130 h 4002232"/>
              <a:gd name="connsiteX178" fmla="*/ 5509843 w 9255204"/>
              <a:gd name="connsiteY178" fmla="*/ 1619755 h 4002232"/>
              <a:gd name="connsiteX179" fmla="*/ 5540709 w 9255204"/>
              <a:gd name="connsiteY179" fmla="*/ 1606380 h 4002232"/>
              <a:gd name="connsiteX180" fmla="*/ 5571574 w 9255204"/>
              <a:gd name="connsiteY180" fmla="*/ 1593005 h 4002232"/>
              <a:gd name="connsiteX181" fmla="*/ 5602782 w 9255204"/>
              <a:gd name="connsiteY181" fmla="*/ 1579630 h 4002232"/>
              <a:gd name="connsiteX182" fmla="*/ 5633648 w 9255204"/>
              <a:gd name="connsiteY182" fmla="*/ 1566255 h 4002232"/>
              <a:gd name="connsiteX183" fmla="*/ 5664514 w 9255204"/>
              <a:gd name="connsiteY183" fmla="*/ 1552880 h 4002232"/>
              <a:gd name="connsiteX184" fmla="*/ 5695379 w 9255204"/>
              <a:gd name="connsiteY184" fmla="*/ 1539505 h 4002232"/>
              <a:gd name="connsiteX185" fmla="*/ 5726588 w 9255204"/>
              <a:gd name="connsiteY185" fmla="*/ 1526130 h 4002232"/>
              <a:gd name="connsiteX186" fmla="*/ 5757453 w 9255204"/>
              <a:gd name="connsiteY186" fmla="*/ 1512755 h 4002232"/>
              <a:gd name="connsiteX187" fmla="*/ 5788319 w 9255204"/>
              <a:gd name="connsiteY187" fmla="*/ 1499380 h 4002232"/>
              <a:gd name="connsiteX188" fmla="*/ 5819184 w 9255204"/>
              <a:gd name="connsiteY188" fmla="*/ 1486005 h 4002232"/>
              <a:gd name="connsiteX189" fmla="*/ 5850393 w 9255204"/>
              <a:gd name="connsiteY189" fmla="*/ 1472630 h 4002232"/>
              <a:gd name="connsiteX190" fmla="*/ 5881259 w 9255204"/>
              <a:gd name="connsiteY190" fmla="*/ 1459254 h 4002232"/>
              <a:gd name="connsiteX191" fmla="*/ 5912124 w 9255204"/>
              <a:gd name="connsiteY191" fmla="*/ 1445537 h 4002232"/>
              <a:gd name="connsiteX192" fmla="*/ 5942989 w 9255204"/>
              <a:gd name="connsiteY192" fmla="*/ 1432161 h 4002232"/>
              <a:gd name="connsiteX193" fmla="*/ 5974198 w 9255204"/>
              <a:gd name="connsiteY193" fmla="*/ 1418786 h 4002232"/>
              <a:gd name="connsiteX194" fmla="*/ 6005064 w 9255204"/>
              <a:gd name="connsiteY194" fmla="*/ 1405411 h 4002232"/>
              <a:gd name="connsiteX195" fmla="*/ 6035929 w 9255204"/>
              <a:gd name="connsiteY195" fmla="*/ 1392036 h 4002232"/>
              <a:gd name="connsiteX196" fmla="*/ 6066795 w 9255204"/>
              <a:gd name="connsiteY196" fmla="*/ 1378661 h 4002232"/>
              <a:gd name="connsiteX197" fmla="*/ 6098003 w 9255204"/>
              <a:gd name="connsiteY197" fmla="*/ 1365286 h 4002232"/>
              <a:gd name="connsiteX198" fmla="*/ 6128869 w 9255204"/>
              <a:gd name="connsiteY198" fmla="*/ 1351911 h 4002232"/>
              <a:gd name="connsiteX199" fmla="*/ 6159734 w 9255204"/>
              <a:gd name="connsiteY199" fmla="*/ 1338536 h 4002232"/>
              <a:gd name="connsiteX200" fmla="*/ 6190600 w 9255204"/>
              <a:gd name="connsiteY200" fmla="*/ 1325161 h 4002232"/>
              <a:gd name="connsiteX201" fmla="*/ 6221808 w 9255204"/>
              <a:gd name="connsiteY201" fmla="*/ 1311786 h 4002232"/>
              <a:gd name="connsiteX202" fmla="*/ 6252674 w 9255204"/>
              <a:gd name="connsiteY202" fmla="*/ 1298411 h 4002232"/>
              <a:gd name="connsiteX203" fmla="*/ 6283539 w 9255204"/>
              <a:gd name="connsiteY203" fmla="*/ 1285036 h 4002232"/>
              <a:gd name="connsiteX204" fmla="*/ 6314405 w 9255204"/>
              <a:gd name="connsiteY204" fmla="*/ 1271661 h 4002232"/>
              <a:gd name="connsiteX205" fmla="*/ 6345613 w 9255204"/>
              <a:gd name="connsiteY205" fmla="*/ 1258286 h 4002232"/>
              <a:gd name="connsiteX206" fmla="*/ 6376479 w 9255204"/>
              <a:gd name="connsiteY206" fmla="*/ 1244910 h 4002232"/>
              <a:gd name="connsiteX207" fmla="*/ 6407344 w 9255204"/>
              <a:gd name="connsiteY207" fmla="*/ 1231535 h 4002232"/>
              <a:gd name="connsiteX208" fmla="*/ 6438210 w 9255204"/>
              <a:gd name="connsiteY208" fmla="*/ 1218160 h 4002232"/>
              <a:gd name="connsiteX209" fmla="*/ 6469419 w 9255204"/>
              <a:gd name="connsiteY209" fmla="*/ 1204785 h 4002232"/>
              <a:gd name="connsiteX210" fmla="*/ 6500284 w 9255204"/>
              <a:gd name="connsiteY210" fmla="*/ 1191410 h 4002232"/>
              <a:gd name="connsiteX211" fmla="*/ 6531149 w 9255204"/>
              <a:gd name="connsiteY211" fmla="*/ 1178035 h 4002232"/>
              <a:gd name="connsiteX212" fmla="*/ 6562015 w 9255204"/>
              <a:gd name="connsiteY212" fmla="*/ 1164660 h 4002232"/>
              <a:gd name="connsiteX213" fmla="*/ 6593224 w 9255204"/>
              <a:gd name="connsiteY213" fmla="*/ 1151285 h 4002232"/>
              <a:gd name="connsiteX214" fmla="*/ 6624089 w 9255204"/>
              <a:gd name="connsiteY214" fmla="*/ 1137910 h 4002232"/>
              <a:gd name="connsiteX215" fmla="*/ 6654955 w 9255204"/>
              <a:gd name="connsiteY215" fmla="*/ 1124535 h 4002232"/>
              <a:gd name="connsiteX216" fmla="*/ 6685820 w 9255204"/>
              <a:gd name="connsiteY216" fmla="*/ 1111160 h 4002232"/>
              <a:gd name="connsiteX217" fmla="*/ 6717029 w 9255204"/>
              <a:gd name="connsiteY217" fmla="*/ 1097785 h 4002232"/>
              <a:gd name="connsiteX218" fmla="*/ 6747894 w 9255204"/>
              <a:gd name="connsiteY218" fmla="*/ 1084410 h 4002232"/>
              <a:gd name="connsiteX219" fmla="*/ 6778760 w 9255204"/>
              <a:gd name="connsiteY219" fmla="*/ 1071035 h 4002232"/>
              <a:gd name="connsiteX220" fmla="*/ 6809625 w 9255204"/>
              <a:gd name="connsiteY220" fmla="*/ 1057659 h 4002232"/>
              <a:gd name="connsiteX221" fmla="*/ 6840834 w 9255204"/>
              <a:gd name="connsiteY221" fmla="*/ 1044284 h 4002232"/>
              <a:gd name="connsiteX222" fmla="*/ 6871699 w 9255204"/>
              <a:gd name="connsiteY222" fmla="*/ 1030909 h 4002232"/>
              <a:gd name="connsiteX223" fmla="*/ 6902565 w 9255204"/>
              <a:gd name="connsiteY223" fmla="*/ 1017534 h 4002232"/>
              <a:gd name="connsiteX224" fmla="*/ 6933773 w 9255204"/>
              <a:gd name="connsiteY224" fmla="*/ 1003816 h 4002232"/>
              <a:gd name="connsiteX225" fmla="*/ 6964639 w 9255204"/>
              <a:gd name="connsiteY225" fmla="*/ 990441 h 4002232"/>
              <a:gd name="connsiteX226" fmla="*/ 6995504 w 9255204"/>
              <a:gd name="connsiteY226" fmla="*/ 977066 h 4002232"/>
              <a:gd name="connsiteX227" fmla="*/ 7026370 w 9255204"/>
              <a:gd name="connsiteY227" fmla="*/ 963691 h 4002232"/>
              <a:gd name="connsiteX228" fmla="*/ 7057579 w 9255204"/>
              <a:gd name="connsiteY228" fmla="*/ 950316 h 4002232"/>
              <a:gd name="connsiteX229" fmla="*/ 7088444 w 9255204"/>
              <a:gd name="connsiteY229" fmla="*/ 936941 h 4002232"/>
              <a:gd name="connsiteX230" fmla="*/ 7119309 w 9255204"/>
              <a:gd name="connsiteY230" fmla="*/ 923566 h 4002232"/>
              <a:gd name="connsiteX231" fmla="*/ 7150175 w 9255204"/>
              <a:gd name="connsiteY231" fmla="*/ 910191 h 4002232"/>
              <a:gd name="connsiteX232" fmla="*/ 7181384 w 9255204"/>
              <a:gd name="connsiteY232" fmla="*/ 896816 h 4002232"/>
              <a:gd name="connsiteX233" fmla="*/ 7212250 w 9255204"/>
              <a:gd name="connsiteY233" fmla="*/ 883441 h 4002232"/>
              <a:gd name="connsiteX234" fmla="*/ 7243115 w 9255204"/>
              <a:gd name="connsiteY234" fmla="*/ 870066 h 4002232"/>
              <a:gd name="connsiteX235" fmla="*/ 7273980 w 9255204"/>
              <a:gd name="connsiteY235" fmla="*/ 856690 h 4002232"/>
              <a:gd name="connsiteX236" fmla="*/ 7305189 w 9255204"/>
              <a:gd name="connsiteY236" fmla="*/ 843315 h 4002232"/>
              <a:gd name="connsiteX237" fmla="*/ 7336055 w 9255204"/>
              <a:gd name="connsiteY237" fmla="*/ 829940 h 4002232"/>
              <a:gd name="connsiteX238" fmla="*/ 7366920 w 9255204"/>
              <a:gd name="connsiteY238" fmla="*/ 816565 h 4002232"/>
              <a:gd name="connsiteX239" fmla="*/ 7397786 w 9255204"/>
              <a:gd name="connsiteY239" fmla="*/ 803190 h 4002232"/>
              <a:gd name="connsiteX240" fmla="*/ 7428994 w 9255204"/>
              <a:gd name="connsiteY240" fmla="*/ 789815 h 4002232"/>
              <a:gd name="connsiteX241" fmla="*/ 7459860 w 9255204"/>
              <a:gd name="connsiteY241" fmla="*/ 776440 h 4002232"/>
              <a:gd name="connsiteX242" fmla="*/ 7490725 w 9255204"/>
              <a:gd name="connsiteY242" fmla="*/ 763065 h 4002232"/>
              <a:gd name="connsiteX243" fmla="*/ 7521591 w 9255204"/>
              <a:gd name="connsiteY243" fmla="*/ 749690 h 4002232"/>
              <a:gd name="connsiteX244" fmla="*/ 7552799 w 9255204"/>
              <a:gd name="connsiteY244" fmla="*/ 736315 h 4002232"/>
              <a:gd name="connsiteX245" fmla="*/ 7583665 w 9255204"/>
              <a:gd name="connsiteY245" fmla="*/ 722940 h 4002232"/>
              <a:gd name="connsiteX246" fmla="*/ 7614530 w 9255204"/>
              <a:gd name="connsiteY246" fmla="*/ 709565 h 4002232"/>
              <a:gd name="connsiteX247" fmla="*/ 7645396 w 9255204"/>
              <a:gd name="connsiteY247" fmla="*/ 696190 h 4002232"/>
              <a:gd name="connsiteX248" fmla="*/ 7676604 w 9255204"/>
              <a:gd name="connsiteY248" fmla="*/ 682814 h 4002232"/>
              <a:gd name="connsiteX249" fmla="*/ 7707470 w 9255204"/>
              <a:gd name="connsiteY249" fmla="*/ 669439 h 4002232"/>
              <a:gd name="connsiteX250" fmla="*/ 7738336 w 9255204"/>
              <a:gd name="connsiteY250" fmla="*/ 656064 h 4002232"/>
              <a:gd name="connsiteX251" fmla="*/ 7769201 w 9255204"/>
              <a:gd name="connsiteY251" fmla="*/ 642689 h 4002232"/>
              <a:gd name="connsiteX252" fmla="*/ 7800409 w 9255204"/>
              <a:gd name="connsiteY252" fmla="*/ 629314 h 4002232"/>
              <a:gd name="connsiteX253" fmla="*/ 7831275 w 9255204"/>
              <a:gd name="connsiteY253" fmla="*/ 615939 h 4002232"/>
              <a:gd name="connsiteX254" fmla="*/ 7862141 w 9255204"/>
              <a:gd name="connsiteY254" fmla="*/ 602564 h 4002232"/>
              <a:gd name="connsiteX255" fmla="*/ 7893006 w 9255204"/>
              <a:gd name="connsiteY255" fmla="*/ 589189 h 4002232"/>
              <a:gd name="connsiteX256" fmla="*/ 7924214 w 9255204"/>
              <a:gd name="connsiteY256" fmla="*/ 575814 h 4002232"/>
              <a:gd name="connsiteX257" fmla="*/ 7955080 w 9255204"/>
              <a:gd name="connsiteY257" fmla="*/ 562439 h 4002232"/>
              <a:gd name="connsiteX258" fmla="*/ 7985946 w 9255204"/>
              <a:gd name="connsiteY258" fmla="*/ 548721 h 4002232"/>
              <a:gd name="connsiteX259" fmla="*/ 8016811 w 9255204"/>
              <a:gd name="connsiteY259" fmla="*/ 535346 h 4002232"/>
              <a:gd name="connsiteX260" fmla="*/ 8048019 w 9255204"/>
              <a:gd name="connsiteY260" fmla="*/ 521971 h 4002232"/>
              <a:gd name="connsiteX261" fmla="*/ 8078885 w 9255204"/>
              <a:gd name="connsiteY261" fmla="*/ 508596 h 4002232"/>
              <a:gd name="connsiteX262" fmla="*/ 8109751 w 9255204"/>
              <a:gd name="connsiteY262" fmla="*/ 495221 h 4002232"/>
              <a:gd name="connsiteX263" fmla="*/ 8140616 w 9255204"/>
              <a:gd name="connsiteY263" fmla="*/ 481846 h 4002232"/>
              <a:gd name="connsiteX264" fmla="*/ 8171824 w 9255204"/>
              <a:gd name="connsiteY264" fmla="*/ 468470 h 4002232"/>
              <a:gd name="connsiteX265" fmla="*/ 8202690 w 9255204"/>
              <a:gd name="connsiteY265" fmla="*/ 455095 h 4002232"/>
              <a:gd name="connsiteX266" fmla="*/ 8233556 w 9255204"/>
              <a:gd name="connsiteY266" fmla="*/ 441720 h 4002232"/>
              <a:gd name="connsiteX267" fmla="*/ 8264764 w 9255204"/>
              <a:gd name="connsiteY267" fmla="*/ 428345 h 4002232"/>
              <a:gd name="connsiteX268" fmla="*/ 8295630 w 9255204"/>
              <a:gd name="connsiteY268" fmla="*/ 414970 h 4002232"/>
              <a:gd name="connsiteX269" fmla="*/ 8326495 w 9255204"/>
              <a:gd name="connsiteY269" fmla="*/ 401595 h 4002232"/>
              <a:gd name="connsiteX270" fmla="*/ 8357361 w 9255204"/>
              <a:gd name="connsiteY270" fmla="*/ 388220 h 4002232"/>
              <a:gd name="connsiteX271" fmla="*/ 8388570 w 9255204"/>
              <a:gd name="connsiteY271" fmla="*/ 374845 h 4002232"/>
              <a:gd name="connsiteX272" fmla="*/ 8419435 w 9255204"/>
              <a:gd name="connsiteY272" fmla="*/ 361470 h 4002232"/>
              <a:gd name="connsiteX273" fmla="*/ 8450300 w 9255204"/>
              <a:gd name="connsiteY273" fmla="*/ 348095 h 4002232"/>
              <a:gd name="connsiteX274" fmla="*/ 8481166 w 9255204"/>
              <a:gd name="connsiteY274" fmla="*/ 334720 h 4002232"/>
              <a:gd name="connsiteX275" fmla="*/ 8512374 w 9255204"/>
              <a:gd name="connsiteY275" fmla="*/ 321345 h 4002232"/>
              <a:gd name="connsiteX276" fmla="*/ 8543240 w 9255204"/>
              <a:gd name="connsiteY276" fmla="*/ 307970 h 4002232"/>
              <a:gd name="connsiteX277" fmla="*/ 8574105 w 9255204"/>
              <a:gd name="connsiteY277" fmla="*/ 294594 h 4002232"/>
              <a:gd name="connsiteX278" fmla="*/ 8604971 w 9255204"/>
              <a:gd name="connsiteY278" fmla="*/ 281219 h 4002232"/>
              <a:gd name="connsiteX279" fmla="*/ 8636180 w 9255204"/>
              <a:gd name="connsiteY279" fmla="*/ 267844 h 4002232"/>
              <a:gd name="connsiteX280" fmla="*/ 8667045 w 9255204"/>
              <a:gd name="connsiteY280" fmla="*/ 254469 h 4002232"/>
              <a:gd name="connsiteX281" fmla="*/ 8697910 w 9255204"/>
              <a:gd name="connsiteY281" fmla="*/ 241094 h 4002232"/>
              <a:gd name="connsiteX282" fmla="*/ 8728776 w 9255204"/>
              <a:gd name="connsiteY282" fmla="*/ 227719 h 4002232"/>
              <a:gd name="connsiteX283" fmla="*/ 8759985 w 9255204"/>
              <a:gd name="connsiteY283" fmla="*/ 214344 h 4002232"/>
              <a:gd name="connsiteX284" fmla="*/ 8790851 w 9255204"/>
              <a:gd name="connsiteY284" fmla="*/ 200969 h 4002232"/>
              <a:gd name="connsiteX285" fmla="*/ 8821716 w 9255204"/>
              <a:gd name="connsiteY285" fmla="*/ 187594 h 4002232"/>
              <a:gd name="connsiteX286" fmla="*/ 8852581 w 9255204"/>
              <a:gd name="connsiteY286" fmla="*/ 174219 h 4002232"/>
              <a:gd name="connsiteX287" fmla="*/ 8883790 w 9255204"/>
              <a:gd name="connsiteY287" fmla="*/ 160844 h 4002232"/>
              <a:gd name="connsiteX288" fmla="*/ 8914656 w 9255204"/>
              <a:gd name="connsiteY288" fmla="*/ 147469 h 4002232"/>
              <a:gd name="connsiteX289" fmla="*/ 8945521 w 9255204"/>
              <a:gd name="connsiteY289" fmla="*/ 134094 h 4002232"/>
              <a:gd name="connsiteX290" fmla="*/ 8976387 w 9255204"/>
              <a:gd name="connsiteY290" fmla="*/ 120719 h 4002232"/>
              <a:gd name="connsiteX291" fmla="*/ 9007595 w 9255204"/>
              <a:gd name="connsiteY291" fmla="*/ 107001 h 4002232"/>
              <a:gd name="connsiteX292" fmla="*/ 9038461 w 9255204"/>
              <a:gd name="connsiteY292" fmla="*/ 93626 h 4002232"/>
              <a:gd name="connsiteX293" fmla="*/ 9069326 w 9255204"/>
              <a:gd name="connsiteY293" fmla="*/ 80250 h 4002232"/>
              <a:gd name="connsiteX294" fmla="*/ 9100192 w 9255204"/>
              <a:gd name="connsiteY294" fmla="*/ 66875 h 4002232"/>
              <a:gd name="connsiteX295" fmla="*/ 9131400 w 9255204"/>
              <a:gd name="connsiteY295" fmla="*/ 53500 h 4002232"/>
              <a:gd name="connsiteX296" fmla="*/ 9162266 w 9255204"/>
              <a:gd name="connsiteY296" fmla="*/ 40125 h 4002232"/>
              <a:gd name="connsiteX297" fmla="*/ 9193131 w 9255204"/>
              <a:gd name="connsiteY297" fmla="*/ 26750 h 4002232"/>
              <a:gd name="connsiteX298" fmla="*/ 9223997 w 9255204"/>
              <a:gd name="connsiteY298" fmla="*/ 13375 h 4002232"/>
              <a:gd name="connsiteX299" fmla="*/ 9255205 w 9255204"/>
              <a:gd name="connsiteY299" fmla="*/ 0 h 4002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</a:cxnLst>
            <a:rect l="l" t="t" r="r" b="b"/>
            <a:pathLst>
              <a:path w="9255204" h="4002232">
                <a:moveTo>
                  <a:pt x="0" y="4002232"/>
                </a:moveTo>
                <a:lnTo>
                  <a:pt x="31209" y="3988857"/>
                </a:lnTo>
                <a:lnTo>
                  <a:pt x="62074" y="3975482"/>
                </a:lnTo>
                <a:lnTo>
                  <a:pt x="92940" y="3962107"/>
                </a:lnTo>
                <a:lnTo>
                  <a:pt x="123805" y="3948732"/>
                </a:lnTo>
                <a:lnTo>
                  <a:pt x="155014" y="3935357"/>
                </a:lnTo>
                <a:lnTo>
                  <a:pt x="185879" y="3921982"/>
                </a:lnTo>
                <a:lnTo>
                  <a:pt x="216745" y="3908607"/>
                </a:lnTo>
                <a:lnTo>
                  <a:pt x="247610" y="3895232"/>
                </a:lnTo>
                <a:lnTo>
                  <a:pt x="278819" y="3881857"/>
                </a:lnTo>
                <a:lnTo>
                  <a:pt x="309684" y="3868482"/>
                </a:lnTo>
                <a:lnTo>
                  <a:pt x="340550" y="3855107"/>
                </a:lnTo>
                <a:lnTo>
                  <a:pt x="371415" y="3841732"/>
                </a:lnTo>
                <a:lnTo>
                  <a:pt x="402624" y="3828356"/>
                </a:lnTo>
                <a:lnTo>
                  <a:pt x="433489" y="3814981"/>
                </a:lnTo>
                <a:lnTo>
                  <a:pt x="464355" y="3801606"/>
                </a:lnTo>
                <a:lnTo>
                  <a:pt x="495221" y="3788231"/>
                </a:lnTo>
                <a:lnTo>
                  <a:pt x="526429" y="3774857"/>
                </a:lnTo>
                <a:lnTo>
                  <a:pt x="557295" y="3761481"/>
                </a:lnTo>
                <a:lnTo>
                  <a:pt x="588160" y="3748106"/>
                </a:lnTo>
                <a:lnTo>
                  <a:pt x="619026" y="3734731"/>
                </a:lnTo>
                <a:lnTo>
                  <a:pt x="650234" y="3721356"/>
                </a:lnTo>
                <a:lnTo>
                  <a:pt x="681100" y="3707981"/>
                </a:lnTo>
                <a:lnTo>
                  <a:pt x="711965" y="3694606"/>
                </a:lnTo>
                <a:lnTo>
                  <a:pt x="742831" y="3680888"/>
                </a:lnTo>
                <a:lnTo>
                  <a:pt x="774039" y="3667513"/>
                </a:lnTo>
                <a:lnTo>
                  <a:pt x="804905" y="3654138"/>
                </a:lnTo>
                <a:lnTo>
                  <a:pt x="835770" y="3640763"/>
                </a:lnTo>
                <a:lnTo>
                  <a:pt x="866636" y="3627388"/>
                </a:lnTo>
                <a:lnTo>
                  <a:pt x="897844" y="3614012"/>
                </a:lnTo>
                <a:lnTo>
                  <a:pt x="928710" y="3600637"/>
                </a:lnTo>
                <a:lnTo>
                  <a:pt x="959576" y="3587262"/>
                </a:lnTo>
                <a:lnTo>
                  <a:pt x="990441" y="3573887"/>
                </a:lnTo>
                <a:lnTo>
                  <a:pt x="1021650" y="3560512"/>
                </a:lnTo>
                <a:lnTo>
                  <a:pt x="1052515" y="3547137"/>
                </a:lnTo>
                <a:lnTo>
                  <a:pt x="1083381" y="3533762"/>
                </a:lnTo>
                <a:lnTo>
                  <a:pt x="1114246" y="3520387"/>
                </a:lnTo>
                <a:lnTo>
                  <a:pt x="1145455" y="3507012"/>
                </a:lnTo>
                <a:lnTo>
                  <a:pt x="1176320" y="3493637"/>
                </a:lnTo>
                <a:lnTo>
                  <a:pt x="1207186" y="3480262"/>
                </a:lnTo>
                <a:lnTo>
                  <a:pt x="1238051" y="3466887"/>
                </a:lnTo>
                <a:lnTo>
                  <a:pt x="1269260" y="3453512"/>
                </a:lnTo>
                <a:lnTo>
                  <a:pt x="1300125" y="3440137"/>
                </a:lnTo>
                <a:lnTo>
                  <a:pt x="1330991" y="3426761"/>
                </a:lnTo>
                <a:lnTo>
                  <a:pt x="1362200" y="3413386"/>
                </a:lnTo>
                <a:lnTo>
                  <a:pt x="1393065" y="3400011"/>
                </a:lnTo>
                <a:lnTo>
                  <a:pt x="1423931" y="3386637"/>
                </a:lnTo>
                <a:lnTo>
                  <a:pt x="1454796" y="3373261"/>
                </a:lnTo>
                <a:lnTo>
                  <a:pt x="1486005" y="3359886"/>
                </a:lnTo>
                <a:lnTo>
                  <a:pt x="1516870" y="3346511"/>
                </a:lnTo>
                <a:lnTo>
                  <a:pt x="1547736" y="3333136"/>
                </a:lnTo>
                <a:lnTo>
                  <a:pt x="1578601" y="3319761"/>
                </a:lnTo>
                <a:lnTo>
                  <a:pt x="1609810" y="3306386"/>
                </a:lnTo>
                <a:lnTo>
                  <a:pt x="1640675" y="3293011"/>
                </a:lnTo>
                <a:lnTo>
                  <a:pt x="1671541" y="3279636"/>
                </a:lnTo>
                <a:lnTo>
                  <a:pt x="1702406" y="3266261"/>
                </a:lnTo>
                <a:lnTo>
                  <a:pt x="1733615" y="3252885"/>
                </a:lnTo>
                <a:lnTo>
                  <a:pt x="1764480" y="3239510"/>
                </a:lnTo>
                <a:lnTo>
                  <a:pt x="1795346" y="3225792"/>
                </a:lnTo>
                <a:lnTo>
                  <a:pt x="1826211" y="3212417"/>
                </a:lnTo>
                <a:lnTo>
                  <a:pt x="1857420" y="3199042"/>
                </a:lnTo>
                <a:lnTo>
                  <a:pt x="1888286" y="3185667"/>
                </a:lnTo>
                <a:lnTo>
                  <a:pt x="1919151" y="3172292"/>
                </a:lnTo>
                <a:lnTo>
                  <a:pt x="1950017" y="3158917"/>
                </a:lnTo>
                <a:lnTo>
                  <a:pt x="1981225" y="3145542"/>
                </a:lnTo>
                <a:lnTo>
                  <a:pt x="2012091" y="3132167"/>
                </a:lnTo>
                <a:lnTo>
                  <a:pt x="2042956" y="3118792"/>
                </a:lnTo>
                <a:lnTo>
                  <a:pt x="2073822" y="3105417"/>
                </a:lnTo>
                <a:lnTo>
                  <a:pt x="2105030" y="3092042"/>
                </a:lnTo>
                <a:lnTo>
                  <a:pt x="2135896" y="3078667"/>
                </a:lnTo>
                <a:lnTo>
                  <a:pt x="2166761" y="3065292"/>
                </a:lnTo>
                <a:lnTo>
                  <a:pt x="2197627" y="3051917"/>
                </a:lnTo>
                <a:lnTo>
                  <a:pt x="2228836" y="3038541"/>
                </a:lnTo>
                <a:lnTo>
                  <a:pt x="2259701" y="3025166"/>
                </a:lnTo>
                <a:lnTo>
                  <a:pt x="2290566" y="3011792"/>
                </a:lnTo>
                <a:lnTo>
                  <a:pt x="2321432" y="2998417"/>
                </a:lnTo>
                <a:lnTo>
                  <a:pt x="2352641" y="2985041"/>
                </a:lnTo>
                <a:lnTo>
                  <a:pt x="2383506" y="2971666"/>
                </a:lnTo>
                <a:lnTo>
                  <a:pt x="2414372" y="2958291"/>
                </a:lnTo>
                <a:lnTo>
                  <a:pt x="2445237" y="2944916"/>
                </a:lnTo>
                <a:lnTo>
                  <a:pt x="2476446" y="2931541"/>
                </a:lnTo>
                <a:lnTo>
                  <a:pt x="2507311" y="2918166"/>
                </a:lnTo>
                <a:lnTo>
                  <a:pt x="2538177" y="2904791"/>
                </a:lnTo>
                <a:lnTo>
                  <a:pt x="2569042" y="2891416"/>
                </a:lnTo>
                <a:lnTo>
                  <a:pt x="2600251" y="2878041"/>
                </a:lnTo>
                <a:lnTo>
                  <a:pt x="2631117" y="2864665"/>
                </a:lnTo>
                <a:lnTo>
                  <a:pt x="2661982" y="2851290"/>
                </a:lnTo>
                <a:lnTo>
                  <a:pt x="2693190" y="2837916"/>
                </a:lnTo>
                <a:lnTo>
                  <a:pt x="2724056" y="2824541"/>
                </a:lnTo>
                <a:lnTo>
                  <a:pt x="2754922" y="2811166"/>
                </a:lnTo>
                <a:lnTo>
                  <a:pt x="2785787" y="2797790"/>
                </a:lnTo>
                <a:lnTo>
                  <a:pt x="2816996" y="2784072"/>
                </a:lnTo>
                <a:lnTo>
                  <a:pt x="2847861" y="2770697"/>
                </a:lnTo>
                <a:lnTo>
                  <a:pt x="2878726" y="2757322"/>
                </a:lnTo>
                <a:lnTo>
                  <a:pt x="2909592" y="2743947"/>
                </a:lnTo>
                <a:lnTo>
                  <a:pt x="2940801" y="2730572"/>
                </a:lnTo>
                <a:lnTo>
                  <a:pt x="2971666" y="2717197"/>
                </a:lnTo>
                <a:lnTo>
                  <a:pt x="3002532" y="2703822"/>
                </a:lnTo>
                <a:lnTo>
                  <a:pt x="3033397" y="2690447"/>
                </a:lnTo>
                <a:lnTo>
                  <a:pt x="3064606" y="2677072"/>
                </a:lnTo>
                <a:lnTo>
                  <a:pt x="3095471" y="2663697"/>
                </a:lnTo>
                <a:lnTo>
                  <a:pt x="3126337" y="2650321"/>
                </a:lnTo>
                <a:lnTo>
                  <a:pt x="3157203" y="2636946"/>
                </a:lnTo>
                <a:lnTo>
                  <a:pt x="3188411" y="2623572"/>
                </a:lnTo>
                <a:lnTo>
                  <a:pt x="3219276" y="2610197"/>
                </a:lnTo>
                <a:lnTo>
                  <a:pt x="3250142" y="2596821"/>
                </a:lnTo>
                <a:lnTo>
                  <a:pt x="3281008" y="2583446"/>
                </a:lnTo>
                <a:lnTo>
                  <a:pt x="3312216" y="2570071"/>
                </a:lnTo>
                <a:lnTo>
                  <a:pt x="3343082" y="2556696"/>
                </a:lnTo>
                <a:lnTo>
                  <a:pt x="3373947" y="2543321"/>
                </a:lnTo>
                <a:lnTo>
                  <a:pt x="3404813" y="2529946"/>
                </a:lnTo>
                <a:lnTo>
                  <a:pt x="3436021" y="2516571"/>
                </a:lnTo>
                <a:lnTo>
                  <a:pt x="3466887" y="2503196"/>
                </a:lnTo>
                <a:lnTo>
                  <a:pt x="3497752" y="2489821"/>
                </a:lnTo>
                <a:lnTo>
                  <a:pt x="3528618" y="2476446"/>
                </a:lnTo>
                <a:lnTo>
                  <a:pt x="3559827" y="2463071"/>
                </a:lnTo>
                <a:lnTo>
                  <a:pt x="3590692" y="2449696"/>
                </a:lnTo>
                <a:lnTo>
                  <a:pt x="3621557" y="2436321"/>
                </a:lnTo>
                <a:lnTo>
                  <a:pt x="3652423" y="2422946"/>
                </a:lnTo>
                <a:lnTo>
                  <a:pt x="3683632" y="2409570"/>
                </a:lnTo>
                <a:lnTo>
                  <a:pt x="3714497" y="2396195"/>
                </a:lnTo>
                <a:lnTo>
                  <a:pt x="3745363" y="2382820"/>
                </a:lnTo>
                <a:lnTo>
                  <a:pt x="3776228" y="2369445"/>
                </a:lnTo>
                <a:lnTo>
                  <a:pt x="3807437" y="2356070"/>
                </a:lnTo>
                <a:lnTo>
                  <a:pt x="3838302" y="2342352"/>
                </a:lnTo>
                <a:lnTo>
                  <a:pt x="3869168" y="2328977"/>
                </a:lnTo>
                <a:lnTo>
                  <a:pt x="3900033" y="2315602"/>
                </a:lnTo>
                <a:lnTo>
                  <a:pt x="3931242" y="2302227"/>
                </a:lnTo>
                <a:lnTo>
                  <a:pt x="3962107" y="2288852"/>
                </a:lnTo>
                <a:lnTo>
                  <a:pt x="3992973" y="2275477"/>
                </a:lnTo>
                <a:lnTo>
                  <a:pt x="4023838" y="2262102"/>
                </a:lnTo>
                <a:lnTo>
                  <a:pt x="4055047" y="2248727"/>
                </a:lnTo>
                <a:lnTo>
                  <a:pt x="4085912" y="2235351"/>
                </a:lnTo>
                <a:lnTo>
                  <a:pt x="4116778" y="2221976"/>
                </a:lnTo>
                <a:lnTo>
                  <a:pt x="4147987" y="2208601"/>
                </a:lnTo>
                <a:lnTo>
                  <a:pt x="4178852" y="2195226"/>
                </a:lnTo>
                <a:lnTo>
                  <a:pt x="4209718" y="2181851"/>
                </a:lnTo>
                <a:lnTo>
                  <a:pt x="4240583" y="2168476"/>
                </a:lnTo>
                <a:lnTo>
                  <a:pt x="4271792" y="2155101"/>
                </a:lnTo>
                <a:lnTo>
                  <a:pt x="4302657" y="2141726"/>
                </a:lnTo>
                <a:lnTo>
                  <a:pt x="4333523" y="2128351"/>
                </a:lnTo>
                <a:lnTo>
                  <a:pt x="4364388" y="2114976"/>
                </a:lnTo>
                <a:lnTo>
                  <a:pt x="4395597" y="2101601"/>
                </a:lnTo>
                <a:lnTo>
                  <a:pt x="4426462" y="2088226"/>
                </a:lnTo>
                <a:lnTo>
                  <a:pt x="4457328" y="2074851"/>
                </a:lnTo>
                <a:lnTo>
                  <a:pt x="4488193" y="2061475"/>
                </a:lnTo>
                <a:lnTo>
                  <a:pt x="4519402" y="2048100"/>
                </a:lnTo>
                <a:lnTo>
                  <a:pt x="4550267" y="2034725"/>
                </a:lnTo>
                <a:lnTo>
                  <a:pt x="4581133" y="2021350"/>
                </a:lnTo>
                <a:lnTo>
                  <a:pt x="4611999" y="2007975"/>
                </a:lnTo>
                <a:lnTo>
                  <a:pt x="4643207" y="1994600"/>
                </a:lnTo>
                <a:lnTo>
                  <a:pt x="4674073" y="1981225"/>
                </a:lnTo>
                <a:lnTo>
                  <a:pt x="4704938" y="1967850"/>
                </a:lnTo>
                <a:lnTo>
                  <a:pt x="4735804" y="1954475"/>
                </a:lnTo>
                <a:lnTo>
                  <a:pt x="4767012" y="1941100"/>
                </a:lnTo>
                <a:lnTo>
                  <a:pt x="4797878" y="1927725"/>
                </a:lnTo>
                <a:lnTo>
                  <a:pt x="4828744" y="1914350"/>
                </a:lnTo>
                <a:lnTo>
                  <a:pt x="4859609" y="1900975"/>
                </a:lnTo>
                <a:lnTo>
                  <a:pt x="4890817" y="1887257"/>
                </a:lnTo>
                <a:lnTo>
                  <a:pt x="4921683" y="1873882"/>
                </a:lnTo>
                <a:lnTo>
                  <a:pt x="4952549" y="1860507"/>
                </a:lnTo>
                <a:lnTo>
                  <a:pt x="4983414" y="1847131"/>
                </a:lnTo>
                <a:lnTo>
                  <a:pt x="5014622" y="1833756"/>
                </a:lnTo>
                <a:lnTo>
                  <a:pt x="5045488" y="1820381"/>
                </a:lnTo>
                <a:lnTo>
                  <a:pt x="5076354" y="1807006"/>
                </a:lnTo>
                <a:lnTo>
                  <a:pt x="5107219" y="1793631"/>
                </a:lnTo>
                <a:lnTo>
                  <a:pt x="5138427" y="1780256"/>
                </a:lnTo>
                <a:lnTo>
                  <a:pt x="5169293" y="1766881"/>
                </a:lnTo>
                <a:lnTo>
                  <a:pt x="5200159" y="1753506"/>
                </a:lnTo>
                <a:lnTo>
                  <a:pt x="5231024" y="1740131"/>
                </a:lnTo>
                <a:lnTo>
                  <a:pt x="5262233" y="1726756"/>
                </a:lnTo>
                <a:lnTo>
                  <a:pt x="5293098" y="1713381"/>
                </a:lnTo>
                <a:lnTo>
                  <a:pt x="5323964" y="1700006"/>
                </a:lnTo>
                <a:lnTo>
                  <a:pt x="5354829" y="1686631"/>
                </a:lnTo>
                <a:lnTo>
                  <a:pt x="5386038" y="1673255"/>
                </a:lnTo>
                <a:lnTo>
                  <a:pt x="5416904" y="1659881"/>
                </a:lnTo>
                <a:lnTo>
                  <a:pt x="5447769" y="1646506"/>
                </a:lnTo>
                <a:lnTo>
                  <a:pt x="5478977" y="1633130"/>
                </a:lnTo>
                <a:lnTo>
                  <a:pt x="5509843" y="1619755"/>
                </a:lnTo>
                <a:lnTo>
                  <a:pt x="5540709" y="1606380"/>
                </a:lnTo>
                <a:lnTo>
                  <a:pt x="5571574" y="1593005"/>
                </a:lnTo>
                <a:lnTo>
                  <a:pt x="5602782" y="1579630"/>
                </a:lnTo>
                <a:lnTo>
                  <a:pt x="5633648" y="1566255"/>
                </a:lnTo>
                <a:lnTo>
                  <a:pt x="5664514" y="1552880"/>
                </a:lnTo>
                <a:lnTo>
                  <a:pt x="5695379" y="1539505"/>
                </a:lnTo>
                <a:lnTo>
                  <a:pt x="5726588" y="1526130"/>
                </a:lnTo>
                <a:lnTo>
                  <a:pt x="5757453" y="1512755"/>
                </a:lnTo>
                <a:lnTo>
                  <a:pt x="5788319" y="1499380"/>
                </a:lnTo>
                <a:lnTo>
                  <a:pt x="5819184" y="1486005"/>
                </a:lnTo>
                <a:lnTo>
                  <a:pt x="5850393" y="1472630"/>
                </a:lnTo>
                <a:lnTo>
                  <a:pt x="5881259" y="1459254"/>
                </a:lnTo>
                <a:lnTo>
                  <a:pt x="5912124" y="1445537"/>
                </a:lnTo>
                <a:lnTo>
                  <a:pt x="5942989" y="1432161"/>
                </a:lnTo>
                <a:lnTo>
                  <a:pt x="5974198" y="1418786"/>
                </a:lnTo>
                <a:lnTo>
                  <a:pt x="6005064" y="1405411"/>
                </a:lnTo>
                <a:lnTo>
                  <a:pt x="6035929" y="1392036"/>
                </a:lnTo>
                <a:lnTo>
                  <a:pt x="6066795" y="1378661"/>
                </a:lnTo>
                <a:lnTo>
                  <a:pt x="6098003" y="1365286"/>
                </a:lnTo>
                <a:lnTo>
                  <a:pt x="6128869" y="1351911"/>
                </a:lnTo>
                <a:lnTo>
                  <a:pt x="6159734" y="1338536"/>
                </a:lnTo>
                <a:lnTo>
                  <a:pt x="6190600" y="1325161"/>
                </a:lnTo>
                <a:lnTo>
                  <a:pt x="6221808" y="1311786"/>
                </a:lnTo>
                <a:lnTo>
                  <a:pt x="6252674" y="1298411"/>
                </a:lnTo>
                <a:lnTo>
                  <a:pt x="6283539" y="1285036"/>
                </a:lnTo>
                <a:lnTo>
                  <a:pt x="6314405" y="1271661"/>
                </a:lnTo>
                <a:lnTo>
                  <a:pt x="6345613" y="1258286"/>
                </a:lnTo>
                <a:lnTo>
                  <a:pt x="6376479" y="1244910"/>
                </a:lnTo>
                <a:lnTo>
                  <a:pt x="6407344" y="1231535"/>
                </a:lnTo>
                <a:lnTo>
                  <a:pt x="6438210" y="1218160"/>
                </a:lnTo>
                <a:lnTo>
                  <a:pt x="6469419" y="1204785"/>
                </a:lnTo>
                <a:lnTo>
                  <a:pt x="6500284" y="1191410"/>
                </a:lnTo>
                <a:lnTo>
                  <a:pt x="6531149" y="1178035"/>
                </a:lnTo>
                <a:lnTo>
                  <a:pt x="6562015" y="1164660"/>
                </a:lnTo>
                <a:lnTo>
                  <a:pt x="6593224" y="1151285"/>
                </a:lnTo>
                <a:lnTo>
                  <a:pt x="6624089" y="1137910"/>
                </a:lnTo>
                <a:lnTo>
                  <a:pt x="6654955" y="1124535"/>
                </a:lnTo>
                <a:lnTo>
                  <a:pt x="6685820" y="1111160"/>
                </a:lnTo>
                <a:lnTo>
                  <a:pt x="6717029" y="1097785"/>
                </a:lnTo>
                <a:lnTo>
                  <a:pt x="6747894" y="1084410"/>
                </a:lnTo>
                <a:lnTo>
                  <a:pt x="6778760" y="1071035"/>
                </a:lnTo>
                <a:lnTo>
                  <a:pt x="6809625" y="1057659"/>
                </a:lnTo>
                <a:lnTo>
                  <a:pt x="6840834" y="1044284"/>
                </a:lnTo>
                <a:lnTo>
                  <a:pt x="6871699" y="1030909"/>
                </a:lnTo>
                <a:lnTo>
                  <a:pt x="6902565" y="1017534"/>
                </a:lnTo>
                <a:lnTo>
                  <a:pt x="6933773" y="1003816"/>
                </a:lnTo>
                <a:lnTo>
                  <a:pt x="6964639" y="990441"/>
                </a:lnTo>
                <a:lnTo>
                  <a:pt x="6995504" y="977066"/>
                </a:lnTo>
                <a:lnTo>
                  <a:pt x="7026370" y="963691"/>
                </a:lnTo>
                <a:lnTo>
                  <a:pt x="7057579" y="950316"/>
                </a:lnTo>
                <a:lnTo>
                  <a:pt x="7088444" y="936941"/>
                </a:lnTo>
                <a:lnTo>
                  <a:pt x="7119309" y="923566"/>
                </a:lnTo>
                <a:lnTo>
                  <a:pt x="7150175" y="910191"/>
                </a:lnTo>
                <a:lnTo>
                  <a:pt x="7181384" y="896816"/>
                </a:lnTo>
                <a:lnTo>
                  <a:pt x="7212250" y="883441"/>
                </a:lnTo>
                <a:lnTo>
                  <a:pt x="7243115" y="870066"/>
                </a:lnTo>
                <a:lnTo>
                  <a:pt x="7273980" y="856690"/>
                </a:lnTo>
                <a:lnTo>
                  <a:pt x="7305189" y="843315"/>
                </a:lnTo>
                <a:lnTo>
                  <a:pt x="7336055" y="829940"/>
                </a:lnTo>
                <a:lnTo>
                  <a:pt x="7366920" y="816565"/>
                </a:lnTo>
                <a:lnTo>
                  <a:pt x="7397786" y="803190"/>
                </a:lnTo>
                <a:lnTo>
                  <a:pt x="7428994" y="789815"/>
                </a:lnTo>
                <a:lnTo>
                  <a:pt x="7459860" y="776440"/>
                </a:lnTo>
                <a:lnTo>
                  <a:pt x="7490725" y="763065"/>
                </a:lnTo>
                <a:lnTo>
                  <a:pt x="7521591" y="749690"/>
                </a:lnTo>
                <a:lnTo>
                  <a:pt x="7552799" y="736315"/>
                </a:lnTo>
                <a:lnTo>
                  <a:pt x="7583665" y="722940"/>
                </a:lnTo>
                <a:lnTo>
                  <a:pt x="7614530" y="709565"/>
                </a:lnTo>
                <a:lnTo>
                  <a:pt x="7645396" y="696190"/>
                </a:lnTo>
                <a:lnTo>
                  <a:pt x="7676604" y="682814"/>
                </a:lnTo>
                <a:lnTo>
                  <a:pt x="7707470" y="669439"/>
                </a:lnTo>
                <a:lnTo>
                  <a:pt x="7738336" y="656064"/>
                </a:lnTo>
                <a:lnTo>
                  <a:pt x="7769201" y="642689"/>
                </a:lnTo>
                <a:lnTo>
                  <a:pt x="7800409" y="629314"/>
                </a:lnTo>
                <a:lnTo>
                  <a:pt x="7831275" y="615939"/>
                </a:lnTo>
                <a:lnTo>
                  <a:pt x="7862141" y="602564"/>
                </a:lnTo>
                <a:lnTo>
                  <a:pt x="7893006" y="589189"/>
                </a:lnTo>
                <a:lnTo>
                  <a:pt x="7924214" y="575814"/>
                </a:lnTo>
                <a:lnTo>
                  <a:pt x="7955080" y="562439"/>
                </a:lnTo>
                <a:lnTo>
                  <a:pt x="7985946" y="548721"/>
                </a:lnTo>
                <a:lnTo>
                  <a:pt x="8016811" y="535346"/>
                </a:lnTo>
                <a:lnTo>
                  <a:pt x="8048019" y="521971"/>
                </a:lnTo>
                <a:lnTo>
                  <a:pt x="8078885" y="508596"/>
                </a:lnTo>
                <a:lnTo>
                  <a:pt x="8109751" y="495221"/>
                </a:lnTo>
                <a:lnTo>
                  <a:pt x="8140616" y="481846"/>
                </a:lnTo>
                <a:lnTo>
                  <a:pt x="8171824" y="468470"/>
                </a:lnTo>
                <a:lnTo>
                  <a:pt x="8202690" y="455095"/>
                </a:lnTo>
                <a:lnTo>
                  <a:pt x="8233556" y="441720"/>
                </a:lnTo>
                <a:lnTo>
                  <a:pt x="8264764" y="428345"/>
                </a:lnTo>
                <a:lnTo>
                  <a:pt x="8295630" y="414970"/>
                </a:lnTo>
                <a:lnTo>
                  <a:pt x="8326495" y="401595"/>
                </a:lnTo>
                <a:lnTo>
                  <a:pt x="8357361" y="388220"/>
                </a:lnTo>
                <a:lnTo>
                  <a:pt x="8388570" y="374845"/>
                </a:lnTo>
                <a:lnTo>
                  <a:pt x="8419435" y="361470"/>
                </a:lnTo>
                <a:lnTo>
                  <a:pt x="8450300" y="348095"/>
                </a:lnTo>
                <a:lnTo>
                  <a:pt x="8481166" y="334720"/>
                </a:lnTo>
                <a:lnTo>
                  <a:pt x="8512374" y="321345"/>
                </a:lnTo>
                <a:lnTo>
                  <a:pt x="8543240" y="307970"/>
                </a:lnTo>
                <a:lnTo>
                  <a:pt x="8574105" y="294594"/>
                </a:lnTo>
                <a:lnTo>
                  <a:pt x="8604971" y="281219"/>
                </a:lnTo>
                <a:lnTo>
                  <a:pt x="8636180" y="267844"/>
                </a:lnTo>
                <a:lnTo>
                  <a:pt x="8667045" y="254469"/>
                </a:lnTo>
                <a:lnTo>
                  <a:pt x="8697910" y="241094"/>
                </a:lnTo>
                <a:lnTo>
                  <a:pt x="8728776" y="227719"/>
                </a:lnTo>
                <a:lnTo>
                  <a:pt x="8759985" y="214344"/>
                </a:lnTo>
                <a:lnTo>
                  <a:pt x="8790851" y="200969"/>
                </a:lnTo>
                <a:lnTo>
                  <a:pt x="8821716" y="187594"/>
                </a:lnTo>
                <a:lnTo>
                  <a:pt x="8852581" y="174219"/>
                </a:lnTo>
                <a:lnTo>
                  <a:pt x="8883790" y="160844"/>
                </a:lnTo>
                <a:lnTo>
                  <a:pt x="8914656" y="147469"/>
                </a:lnTo>
                <a:lnTo>
                  <a:pt x="8945521" y="134094"/>
                </a:lnTo>
                <a:lnTo>
                  <a:pt x="8976387" y="120719"/>
                </a:lnTo>
                <a:lnTo>
                  <a:pt x="9007595" y="107001"/>
                </a:lnTo>
                <a:lnTo>
                  <a:pt x="9038461" y="93626"/>
                </a:lnTo>
                <a:lnTo>
                  <a:pt x="9069326" y="80250"/>
                </a:lnTo>
                <a:lnTo>
                  <a:pt x="9100192" y="66875"/>
                </a:lnTo>
                <a:lnTo>
                  <a:pt x="9131400" y="53500"/>
                </a:lnTo>
                <a:lnTo>
                  <a:pt x="9162266" y="40125"/>
                </a:lnTo>
                <a:lnTo>
                  <a:pt x="9193131" y="26750"/>
                </a:lnTo>
                <a:lnTo>
                  <a:pt x="9223997" y="13375"/>
                </a:lnTo>
                <a:lnTo>
                  <a:pt x="9255205" y="0"/>
                </a:lnTo>
              </a:path>
            </a:pathLst>
          </a:custGeom>
          <a:noFill/>
          <a:ln w="30861" cap="flat">
            <a:solidFill>
              <a:schemeClr val="tx1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" name="Rectangle 183">
            <a:extLst>
              <a:ext uri="{FF2B5EF4-FFF2-40B4-BE49-F238E27FC236}">
                <a16:creationId xmlns:a16="http://schemas.microsoft.com/office/drawing/2014/main" id="{A2060D76-D0D1-19D0-CE0B-87677B1FC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351" y="598576"/>
            <a:ext cx="10099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endParaRPr kumimoji="0" lang="en-US" alt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pic>
        <p:nvPicPr>
          <p:cNvPr id="4" name="Picture 3" descr="A black and grey text&#10;&#10;Description automatically generated">
            <a:extLst>
              <a:ext uri="{FF2B5EF4-FFF2-40B4-BE49-F238E27FC236}">
                <a16:creationId xmlns:a16="http://schemas.microsoft.com/office/drawing/2014/main" id="{F3AC0744-9574-A6EE-0E54-B2C2353D371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56C2903-B13C-7F3C-E2FC-A005C54E9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42" y="375323"/>
            <a:ext cx="11221341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Changes in Economic Mobility vs. Changes in Parent Employment Rates</a:t>
            </a: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By County, Race, and Class for Children whose Own Parents Remain Employed</a:t>
            </a:r>
          </a:p>
        </p:txBody>
      </p:sp>
      <p:sp>
        <p:nvSpPr>
          <p:cNvPr id="280" name="Freeform: Shape 279">
            <a:extLst>
              <a:ext uri="{FF2B5EF4-FFF2-40B4-BE49-F238E27FC236}">
                <a16:creationId xmlns:a16="http://schemas.microsoft.com/office/drawing/2014/main" id="{90791AFC-718C-46CC-5393-9B7CEC40BD4B}"/>
              </a:ext>
            </a:extLst>
          </p:cNvPr>
          <p:cNvSpPr>
            <a:spLocks/>
          </p:cNvSpPr>
          <p:nvPr/>
        </p:nvSpPr>
        <p:spPr>
          <a:xfrm>
            <a:off x="8718794" y="4410714"/>
            <a:ext cx="108817" cy="108817"/>
          </a:xfrm>
          <a:custGeom>
            <a:avLst/>
            <a:gdLst>
              <a:gd name="connsiteX0" fmla="*/ 116603 w 116603"/>
              <a:gd name="connsiteY0" fmla="*/ 58302 h 116603"/>
              <a:gd name="connsiteX1" fmla="*/ 58302 w 116603"/>
              <a:gd name="connsiteY1" fmla="*/ 116603 h 116603"/>
              <a:gd name="connsiteX2" fmla="*/ 0 w 116603"/>
              <a:gd name="connsiteY2" fmla="*/ 58302 h 116603"/>
              <a:gd name="connsiteX3" fmla="*/ 58302 w 116603"/>
              <a:gd name="connsiteY3" fmla="*/ 0 h 116603"/>
              <a:gd name="connsiteX4" fmla="*/ 116603 w 116603"/>
              <a:gd name="connsiteY4" fmla="*/ 58302 h 11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603" h="116603">
                <a:moveTo>
                  <a:pt x="116603" y="58302"/>
                </a:moveTo>
                <a:cubicBezTo>
                  <a:pt x="116603" y="90501"/>
                  <a:pt x="90501" y="116603"/>
                  <a:pt x="58302" y="116603"/>
                </a:cubicBezTo>
                <a:cubicBezTo>
                  <a:pt x="26103" y="116603"/>
                  <a:pt x="0" y="90501"/>
                  <a:pt x="0" y="58302"/>
                </a:cubicBezTo>
                <a:cubicBezTo>
                  <a:pt x="0" y="26103"/>
                  <a:pt x="26103" y="0"/>
                  <a:pt x="58302" y="0"/>
                </a:cubicBezTo>
                <a:cubicBezTo>
                  <a:pt x="90501" y="0"/>
                  <a:pt x="116603" y="26103"/>
                  <a:pt x="116603" y="58302"/>
                </a:cubicBezTo>
                <a:close/>
              </a:path>
            </a:pathLst>
          </a:custGeom>
          <a:solidFill>
            <a:srgbClr val="FAA623"/>
          </a:solidFill>
          <a:ln w="190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1" name="Oval 280">
            <a:extLst>
              <a:ext uri="{FF2B5EF4-FFF2-40B4-BE49-F238E27FC236}">
                <a16:creationId xmlns:a16="http://schemas.microsoft.com/office/drawing/2014/main" id="{2883918D-69AC-4042-A27D-D98805308BD3}"/>
              </a:ext>
            </a:extLst>
          </p:cNvPr>
          <p:cNvSpPr>
            <a:spLocks/>
          </p:cNvSpPr>
          <p:nvPr/>
        </p:nvSpPr>
        <p:spPr>
          <a:xfrm>
            <a:off x="8718794" y="4720417"/>
            <a:ext cx="108817" cy="108817"/>
          </a:xfrm>
          <a:prstGeom prst="ellipse">
            <a:avLst/>
          </a:prstGeom>
          <a:solidFill>
            <a:srgbClr val="2BB4A2"/>
          </a:solidFill>
          <a:ln w="190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E5B1190A-AFD5-C180-B87A-54B31938CAE6}"/>
              </a:ext>
            </a:extLst>
          </p:cNvPr>
          <p:cNvSpPr txBox="1">
            <a:spLocks/>
          </p:cNvSpPr>
          <p:nvPr/>
        </p:nvSpPr>
        <p:spPr>
          <a:xfrm>
            <a:off x="8876601" y="4302328"/>
            <a:ext cx="28520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White, Low-Income Parents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4BC11AF0-2755-7298-E7F8-94EF945E014E}"/>
              </a:ext>
            </a:extLst>
          </p:cNvPr>
          <p:cNvSpPr txBox="1">
            <a:spLocks/>
          </p:cNvSpPr>
          <p:nvPr/>
        </p:nvSpPr>
        <p:spPr>
          <a:xfrm>
            <a:off x="8876601" y="4612032"/>
            <a:ext cx="2816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Black, Low-Income Parents</a:t>
            </a:r>
          </a:p>
        </p:txBody>
      </p:sp>
      <p:sp>
        <p:nvSpPr>
          <p:cNvPr id="3" name="Rectangle 170">
            <a:extLst>
              <a:ext uri="{FF2B5EF4-FFF2-40B4-BE49-F238E27FC236}">
                <a16:creationId xmlns:a16="http://schemas.microsoft.com/office/drawing/2014/main" id="{01CB53D2-C369-0B92-6E40-477492C76192}"/>
              </a:ext>
            </a:extLst>
          </p:cNvPr>
          <p:cNvSpPr>
            <a:spLocks/>
          </p:cNvSpPr>
          <p:nvPr/>
        </p:nvSpPr>
        <p:spPr bwMode="auto">
          <a:xfrm rot="16200000">
            <a:off x="-1742180" y="3288345"/>
            <a:ext cx="439057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121869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Change in</a:t>
            </a:r>
            <a:r>
              <a:rPr kumimoji="0" lang="el-G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Avg. Household Income for Children in Adulthood (1978-1992 Cohorts)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F8C701D-6A36-52A1-DADA-D331A2F45261}"/>
              </a:ext>
            </a:extLst>
          </p:cNvPr>
          <p:cNvSpPr/>
          <p:nvPr/>
        </p:nvSpPr>
        <p:spPr>
          <a:xfrm>
            <a:off x="1502206" y="4480848"/>
            <a:ext cx="96832" cy="1935"/>
          </a:xfrm>
          <a:custGeom>
            <a:avLst/>
            <a:gdLst>
              <a:gd name="connsiteX0" fmla="*/ 95340 w 95340"/>
              <a:gd name="connsiteY0" fmla="*/ 0 h 1905"/>
              <a:gd name="connsiteX1" fmla="*/ 0 w 95340"/>
              <a:gd name="connsiteY1" fmla="*/ 0 h 1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340" h="1905">
                <a:moveTo>
                  <a:pt x="95340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9E1D0D3-D99E-33FF-4BFA-D3AF126EF2B4}"/>
              </a:ext>
            </a:extLst>
          </p:cNvPr>
          <p:cNvSpPr/>
          <p:nvPr/>
        </p:nvSpPr>
        <p:spPr>
          <a:xfrm>
            <a:off x="1502206" y="2370254"/>
            <a:ext cx="96832" cy="1935"/>
          </a:xfrm>
          <a:custGeom>
            <a:avLst/>
            <a:gdLst>
              <a:gd name="connsiteX0" fmla="*/ 95340 w 95340"/>
              <a:gd name="connsiteY0" fmla="*/ 0 h 1905"/>
              <a:gd name="connsiteX1" fmla="*/ 0 w 95340"/>
              <a:gd name="connsiteY1" fmla="*/ 0 h 1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340" h="1905">
                <a:moveTo>
                  <a:pt x="95340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7A8099-1206-2B9B-91D3-B69E7392DB14}"/>
              </a:ext>
            </a:extLst>
          </p:cNvPr>
          <p:cNvSpPr txBox="1"/>
          <p:nvPr/>
        </p:nvSpPr>
        <p:spPr>
          <a:xfrm>
            <a:off x="684861" y="4313502"/>
            <a:ext cx="852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-$2.5k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3F56C8-6719-91E1-CDA7-227EEF41BE26}"/>
              </a:ext>
            </a:extLst>
          </p:cNvPr>
          <p:cNvSpPr txBox="1"/>
          <p:nvPr/>
        </p:nvSpPr>
        <p:spPr>
          <a:xfrm>
            <a:off x="684861" y="2202835"/>
            <a:ext cx="852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-$2.5k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DCA7198-6597-E08B-76D4-D6917DF7CD5F}"/>
              </a:ext>
            </a:extLst>
          </p:cNvPr>
          <p:cNvSpPr>
            <a:spLocks/>
          </p:cNvSpPr>
          <p:nvPr/>
        </p:nvSpPr>
        <p:spPr>
          <a:xfrm>
            <a:off x="2344469" y="5729926"/>
            <a:ext cx="83901" cy="76172"/>
          </a:xfrm>
          <a:custGeom>
            <a:avLst/>
            <a:gdLst>
              <a:gd name="connsiteX0" fmla="*/ 0 w 1905"/>
              <a:gd name="connsiteY0" fmla="*/ 0 h 94997"/>
              <a:gd name="connsiteX1" fmla="*/ 0 w 1905"/>
              <a:gd name="connsiteY1" fmla="*/ 94997 h 9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" h="94997">
                <a:moveTo>
                  <a:pt x="0" y="0"/>
                </a:moveTo>
                <a:lnTo>
                  <a:pt x="0" y="94997"/>
                </a:lnTo>
              </a:path>
            </a:pathLst>
          </a:custGeom>
          <a:ln w="3175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598FF2-17A3-F002-9539-20AC7D8EC2A2}"/>
              </a:ext>
            </a:extLst>
          </p:cNvPr>
          <p:cNvSpPr txBox="1">
            <a:spLocks/>
          </p:cNvSpPr>
          <p:nvPr/>
        </p:nvSpPr>
        <p:spPr>
          <a:xfrm>
            <a:off x="2026531" y="5762787"/>
            <a:ext cx="5116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-15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EBD188B-12D3-EE6F-6E5E-8A93C6B3A4A3}"/>
              </a:ext>
            </a:extLst>
          </p:cNvPr>
          <p:cNvSpPr>
            <a:spLocks/>
          </p:cNvSpPr>
          <p:nvPr/>
        </p:nvSpPr>
        <p:spPr>
          <a:xfrm>
            <a:off x="4644297" y="5729926"/>
            <a:ext cx="83901" cy="76172"/>
          </a:xfrm>
          <a:custGeom>
            <a:avLst/>
            <a:gdLst>
              <a:gd name="connsiteX0" fmla="*/ 0 w 1905"/>
              <a:gd name="connsiteY0" fmla="*/ 0 h 94997"/>
              <a:gd name="connsiteX1" fmla="*/ 0 w 1905"/>
              <a:gd name="connsiteY1" fmla="*/ 94997 h 9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" h="94997">
                <a:moveTo>
                  <a:pt x="0" y="0"/>
                </a:moveTo>
                <a:lnTo>
                  <a:pt x="0" y="94997"/>
                </a:lnTo>
              </a:path>
            </a:pathLst>
          </a:custGeom>
          <a:ln w="3175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1AF4B2-6980-3428-9145-C8EA8EA33177}"/>
              </a:ext>
            </a:extLst>
          </p:cNvPr>
          <p:cNvSpPr txBox="1">
            <a:spLocks/>
          </p:cNvSpPr>
          <p:nvPr/>
        </p:nvSpPr>
        <p:spPr>
          <a:xfrm>
            <a:off x="4326359" y="5762787"/>
            <a:ext cx="5116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-10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6F5F766-AF52-30AA-656A-BE49A957C3C8}"/>
              </a:ext>
            </a:extLst>
          </p:cNvPr>
          <p:cNvSpPr>
            <a:spLocks/>
          </p:cNvSpPr>
          <p:nvPr/>
        </p:nvSpPr>
        <p:spPr>
          <a:xfrm>
            <a:off x="6944479" y="5729926"/>
            <a:ext cx="1949" cy="88259"/>
          </a:xfrm>
          <a:custGeom>
            <a:avLst/>
            <a:gdLst>
              <a:gd name="connsiteX0" fmla="*/ 0 w 1905"/>
              <a:gd name="connsiteY0" fmla="*/ 0 h 94997"/>
              <a:gd name="connsiteX1" fmla="*/ 0 w 1905"/>
              <a:gd name="connsiteY1" fmla="*/ 94997 h 9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" h="94997">
                <a:moveTo>
                  <a:pt x="0" y="0"/>
                </a:moveTo>
                <a:lnTo>
                  <a:pt x="0" y="94997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B706C8-5573-E601-2D6A-35D0F96A146E}"/>
              </a:ext>
            </a:extLst>
          </p:cNvPr>
          <p:cNvSpPr txBox="1">
            <a:spLocks/>
          </p:cNvSpPr>
          <p:nvPr/>
        </p:nvSpPr>
        <p:spPr>
          <a:xfrm>
            <a:off x="6754436" y="5762787"/>
            <a:ext cx="3818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-5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E4439AA-F94D-A2F4-C6D8-9E4318B75637}"/>
              </a:ext>
            </a:extLst>
          </p:cNvPr>
          <p:cNvSpPr>
            <a:spLocks/>
          </p:cNvSpPr>
          <p:nvPr/>
        </p:nvSpPr>
        <p:spPr>
          <a:xfrm>
            <a:off x="9244308" y="5729926"/>
            <a:ext cx="1949" cy="88259"/>
          </a:xfrm>
          <a:custGeom>
            <a:avLst/>
            <a:gdLst>
              <a:gd name="connsiteX0" fmla="*/ 0 w 1905"/>
              <a:gd name="connsiteY0" fmla="*/ 0 h 94997"/>
              <a:gd name="connsiteX1" fmla="*/ 0 w 1905"/>
              <a:gd name="connsiteY1" fmla="*/ 94997 h 9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" h="94997">
                <a:moveTo>
                  <a:pt x="0" y="0"/>
                </a:moveTo>
                <a:lnTo>
                  <a:pt x="0" y="94997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AF0070-10E8-5E29-C7C0-FC82FE2A42D7}"/>
              </a:ext>
            </a:extLst>
          </p:cNvPr>
          <p:cNvSpPr txBox="1">
            <a:spLocks/>
          </p:cNvSpPr>
          <p:nvPr/>
        </p:nvSpPr>
        <p:spPr>
          <a:xfrm>
            <a:off x="9097159" y="576278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0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0BB3785-D7F9-5C0D-52FF-945AA67D4C83}"/>
              </a:ext>
            </a:extLst>
          </p:cNvPr>
          <p:cNvSpPr>
            <a:spLocks/>
          </p:cNvSpPr>
          <p:nvPr/>
        </p:nvSpPr>
        <p:spPr>
          <a:xfrm>
            <a:off x="11544486" y="5729926"/>
            <a:ext cx="1949" cy="88259"/>
          </a:xfrm>
          <a:custGeom>
            <a:avLst/>
            <a:gdLst>
              <a:gd name="connsiteX0" fmla="*/ 0 w 1905"/>
              <a:gd name="connsiteY0" fmla="*/ 0 h 94997"/>
              <a:gd name="connsiteX1" fmla="*/ 0 w 1905"/>
              <a:gd name="connsiteY1" fmla="*/ 94997 h 9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" h="94997">
                <a:moveTo>
                  <a:pt x="0" y="0"/>
                </a:moveTo>
                <a:lnTo>
                  <a:pt x="0" y="94997"/>
                </a:lnTo>
              </a:path>
            </a:pathLst>
          </a:custGeom>
          <a:ln w="63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93D96E-4194-D044-7C1C-7F44424B948D}"/>
              </a:ext>
            </a:extLst>
          </p:cNvPr>
          <p:cNvSpPr txBox="1">
            <a:spLocks/>
          </p:cNvSpPr>
          <p:nvPr/>
        </p:nvSpPr>
        <p:spPr>
          <a:xfrm>
            <a:off x="11397338" y="576278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5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33E9848-CEF4-13D4-E9D4-7FF8965A75FE}"/>
              </a:ext>
            </a:extLst>
          </p:cNvPr>
          <p:cNvCxnSpPr>
            <a:cxnSpLocks/>
          </p:cNvCxnSpPr>
          <p:nvPr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2684B6E-82C5-FBEB-97E7-C936848039E7}"/>
              </a:ext>
            </a:extLst>
          </p:cNvPr>
          <p:cNvCxnSpPr>
            <a:cxnSpLocks/>
          </p:cNvCxnSpPr>
          <p:nvPr/>
        </p:nvCxnSpPr>
        <p:spPr>
          <a:xfrm>
            <a:off x="620980" y="6483107"/>
            <a:ext cx="109536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1EACBDD-0CE1-7A75-581E-A596FB131828}"/>
              </a:ext>
            </a:extLst>
          </p:cNvPr>
          <p:cNvSpPr txBox="1"/>
          <p:nvPr/>
        </p:nvSpPr>
        <p:spPr>
          <a:xfrm>
            <a:off x="568592" y="6483107"/>
            <a:ext cx="8839200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Chetty, </a:t>
            </a:r>
            <a:r>
              <a:rPr lang="en-US" sz="1400" dirty="0">
                <a:solidFill>
                  <a:prstClr val="black"/>
                </a:solidFill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Dobbie, Goldman, Porter, Yang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(2024)</a:t>
            </a:r>
          </a:p>
        </p:txBody>
      </p:sp>
      <p:sp>
        <p:nvSpPr>
          <p:cNvPr id="10" name="Rectangle 182">
            <a:extLst>
              <a:ext uri="{FF2B5EF4-FFF2-40B4-BE49-F238E27FC236}">
                <a16:creationId xmlns:a16="http://schemas.microsoft.com/office/drawing/2014/main" id="{0A18A87A-2C4C-F54A-009C-7F62A935F108}"/>
              </a:ext>
            </a:extLst>
          </p:cNvPr>
          <p:cNvSpPr>
            <a:spLocks/>
          </p:cNvSpPr>
          <p:nvPr/>
        </p:nvSpPr>
        <p:spPr bwMode="auto">
          <a:xfrm>
            <a:off x="3165328" y="6108731"/>
            <a:ext cx="700031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Change in County-Level Parent Employment Rate (1978-1992 Cohorts)</a:t>
            </a:r>
          </a:p>
        </p:txBody>
      </p:sp>
    </p:spTree>
    <p:extLst>
      <p:ext uri="{BB962C8B-B14F-4D97-AF65-F5344CB8AC3E}">
        <p14:creationId xmlns:p14="http://schemas.microsoft.com/office/powerpoint/2010/main" val="486554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Freeform: Shape 255">
            <a:extLst>
              <a:ext uri="{FF2B5EF4-FFF2-40B4-BE49-F238E27FC236}">
                <a16:creationId xmlns:a16="http://schemas.microsoft.com/office/drawing/2014/main" id="{3E5D5268-BCB3-45B0-7F64-5147B6F965F6}"/>
              </a:ext>
            </a:extLst>
          </p:cNvPr>
          <p:cNvSpPr/>
          <p:nvPr/>
        </p:nvSpPr>
        <p:spPr>
          <a:xfrm>
            <a:off x="981326" y="897292"/>
            <a:ext cx="9534745" cy="5954740"/>
          </a:xfrm>
          <a:custGeom>
            <a:avLst/>
            <a:gdLst>
              <a:gd name="connsiteX0" fmla="*/ 0 w 9534745"/>
              <a:gd name="connsiteY0" fmla="*/ 0 h 5954740"/>
              <a:gd name="connsiteX1" fmla="*/ 9534745 w 9534745"/>
              <a:gd name="connsiteY1" fmla="*/ 0 h 5954740"/>
              <a:gd name="connsiteX2" fmla="*/ 9534745 w 9534745"/>
              <a:gd name="connsiteY2" fmla="*/ 5954741 h 5954740"/>
              <a:gd name="connsiteX3" fmla="*/ 0 w 9534745"/>
              <a:gd name="connsiteY3" fmla="*/ 5954741 h 5954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34745" h="5954740">
                <a:moveTo>
                  <a:pt x="0" y="0"/>
                </a:moveTo>
                <a:lnTo>
                  <a:pt x="9534745" y="0"/>
                </a:lnTo>
                <a:lnTo>
                  <a:pt x="9534745" y="5954741"/>
                </a:lnTo>
                <a:lnTo>
                  <a:pt x="0" y="5954741"/>
                </a:lnTo>
                <a:close/>
              </a:path>
            </a:pathLst>
          </a:custGeom>
          <a:noFill/>
          <a:ln w="11930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B74E6E49-BF82-2B99-658E-F739F8339964}"/>
              </a:ext>
            </a:extLst>
          </p:cNvPr>
          <p:cNvSpPr txBox="1"/>
          <p:nvPr/>
        </p:nvSpPr>
        <p:spPr>
          <a:xfrm>
            <a:off x="4754999" y="6129935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Relative Birth Cohort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7857371-A211-0925-7D8E-A6CA596809CF}"/>
              </a:ext>
            </a:extLst>
          </p:cNvPr>
          <p:cNvGrpSpPr/>
          <p:nvPr/>
        </p:nvGrpSpPr>
        <p:grpSpPr>
          <a:xfrm>
            <a:off x="908470" y="1231719"/>
            <a:ext cx="9261316" cy="4933066"/>
            <a:chOff x="908470" y="1231719"/>
            <a:chExt cx="9261316" cy="4933066"/>
          </a:xfrm>
        </p:grpSpPr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9647EB79-6EB2-A036-EF8F-E0DBAAFA1B11}"/>
                </a:ext>
              </a:extLst>
            </p:cNvPr>
            <p:cNvSpPr/>
            <p:nvPr/>
          </p:nvSpPr>
          <p:spPr>
            <a:xfrm>
              <a:off x="6608795" y="2935502"/>
              <a:ext cx="74583" cy="74583"/>
            </a:xfrm>
            <a:custGeom>
              <a:avLst/>
              <a:gdLst>
                <a:gd name="connsiteX0" fmla="*/ 74583 w 74583"/>
                <a:gd name="connsiteY0" fmla="*/ 37292 h 74583"/>
                <a:gd name="connsiteX1" fmla="*/ 37292 w 74583"/>
                <a:gd name="connsiteY1" fmla="*/ 74583 h 74583"/>
                <a:gd name="connsiteX2" fmla="*/ 0 w 74583"/>
                <a:gd name="connsiteY2" fmla="*/ 37292 h 74583"/>
                <a:gd name="connsiteX3" fmla="*/ 37292 w 74583"/>
                <a:gd name="connsiteY3" fmla="*/ 0 h 74583"/>
                <a:gd name="connsiteX4" fmla="*/ 74583 w 74583"/>
                <a:gd name="connsiteY4" fmla="*/ 37292 h 74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583" h="74583">
                  <a:moveTo>
                    <a:pt x="74583" y="37292"/>
                  </a:moveTo>
                  <a:cubicBezTo>
                    <a:pt x="74583" y="57887"/>
                    <a:pt x="57887" y="74583"/>
                    <a:pt x="37292" y="74583"/>
                  </a:cubicBezTo>
                  <a:cubicBezTo>
                    <a:pt x="16696" y="74583"/>
                    <a:pt x="0" y="57887"/>
                    <a:pt x="0" y="37292"/>
                  </a:cubicBezTo>
                  <a:cubicBezTo>
                    <a:pt x="0" y="16696"/>
                    <a:pt x="16696" y="0"/>
                    <a:pt x="37292" y="0"/>
                  </a:cubicBezTo>
                  <a:cubicBezTo>
                    <a:pt x="57887" y="0"/>
                    <a:pt x="74583" y="16696"/>
                    <a:pt x="74583" y="37292"/>
                  </a:cubicBezTo>
                  <a:close/>
                </a:path>
              </a:pathLst>
            </a:custGeom>
            <a:noFill/>
            <a:ln w="26843" cap="flat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35721540-E440-05AC-DC64-32B07F91FF44}"/>
                </a:ext>
              </a:extLst>
            </p:cNvPr>
            <p:cNvSpPr/>
            <p:nvPr/>
          </p:nvSpPr>
          <p:spPr>
            <a:xfrm>
              <a:off x="2033549" y="1237685"/>
              <a:ext cx="7430299" cy="4548693"/>
            </a:xfrm>
            <a:custGeom>
              <a:avLst/>
              <a:gdLst>
                <a:gd name="connsiteX0" fmla="*/ 0 w 7430299"/>
                <a:gd name="connsiteY0" fmla="*/ 0 h 4548693"/>
                <a:gd name="connsiteX1" fmla="*/ 7430300 w 7430299"/>
                <a:gd name="connsiteY1" fmla="*/ 0 h 4548693"/>
                <a:gd name="connsiteX2" fmla="*/ 7430300 w 7430299"/>
                <a:gd name="connsiteY2" fmla="*/ 4548694 h 4548693"/>
                <a:gd name="connsiteX3" fmla="*/ 0 w 7430299"/>
                <a:gd name="connsiteY3" fmla="*/ 4548694 h 4548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30299" h="4548693">
                  <a:moveTo>
                    <a:pt x="0" y="0"/>
                  </a:moveTo>
                  <a:lnTo>
                    <a:pt x="7430300" y="0"/>
                  </a:lnTo>
                  <a:lnTo>
                    <a:pt x="7430300" y="4548694"/>
                  </a:lnTo>
                  <a:lnTo>
                    <a:pt x="0" y="4548694"/>
                  </a:lnTo>
                  <a:close/>
                </a:path>
              </a:pathLst>
            </a:custGeom>
            <a:noFill/>
            <a:ln w="11930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DD93AD13-B7BC-1FB5-CB90-2DDA871A1B99}"/>
                </a:ext>
              </a:extLst>
            </p:cNvPr>
            <p:cNvSpPr/>
            <p:nvPr/>
          </p:nvSpPr>
          <p:spPr>
            <a:xfrm>
              <a:off x="2027583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3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3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423B1CF2-9607-A03A-CC6D-6ED7CB816F0E}"/>
                </a:ext>
              </a:extLst>
            </p:cNvPr>
            <p:cNvSpPr/>
            <p:nvPr/>
          </p:nvSpPr>
          <p:spPr>
            <a:xfrm>
              <a:off x="2206583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3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3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52F4ED52-D6CE-1B7E-E1FA-EAEF9EEA2CEB}"/>
                </a:ext>
              </a:extLst>
            </p:cNvPr>
            <p:cNvSpPr/>
            <p:nvPr/>
          </p:nvSpPr>
          <p:spPr>
            <a:xfrm>
              <a:off x="2385583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3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3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16E395D-0EFE-1FC8-782D-D2371C2A8232}"/>
                </a:ext>
              </a:extLst>
            </p:cNvPr>
            <p:cNvSpPr/>
            <p:nvPr/>
          </p:nvSpPr>
          <p:spPr>
            <a:xfrm>
              <a:off x="2564583" y="5288162"/>
              <a:ext cx="119631" cy="1657"/>
            </a:xfrm>
            <a:custGeom>
              <a:avLst/>
              <a:gdLst>
                <a:gd name="connsiteX0" fmla="*/ 0 w 119631"/>
                <a:gd name="connsiteY0" fmla="*/ 0 h 1657"/>
                <a:gd name="connsiteX1" fmla="*/ 119632 w 119631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631" h="1657">
                  <a:moveTo>
                    <a:pt x="0" y="0"/>
                  </a:moveTo>
                  <a:lnTo>
                    <a:pt x="119632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DD06B88B-EE71-9457-3140-D0C6F85BAB51}"/>
                </a:ext>
              </a:extLst>
            </p:cNvPr>
            <p:cNvSpPr/>
            <p:nvPr/>
          </p:nvSpPr>
          <p:spPr>
            <a:xfrm>
              <a:off x="2743583" y="5288162"/>
              <a:ext cx="119631" cy="1657"/>
            </a:xfrm>
            <a:custGeom>
              <a:avLst/>
              <a:gdLst>
                <a:gd name="connsiteX0" fmla="*/ 0 w 119631"/>
                <a:gd name="connsiteY0" fmla="*/ 0 h 1657"/>
                <a:gd name="connsiteX1" fmla="*/ 119632 w 119631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631" h="1657">
                  <a:moveTo>
                    <a:pt x="0" y="0"/>
                  </a:moveTo>
                  <a:lnTo>
                    <a:pt x="119632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4A51D3D9-8B81-ACB3-D9D9-5582CA4ADFF5}"/>
                </a:ext>
              </a:extLst>
            </p:cNvPr>
            <p:cNvSpPr/>
            <p:nvPr/>
          </p:nvSpPr>
          <p:spPr>
            <a:xfrm>
              <a:off x="2922882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4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4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E52E9FE3-0EA8-703B-F91A-360C55B50C68}"/>
                </a:ext>
              </a:extLst>
            </p:cNvPr>
            <p:cNvSpPr/>
            <p:nvPr/>
          </p:nvSpPr>
          <p:spPr>
            <a:xfrm>
              <a:off x="3101882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4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4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ECAA7B81-EBB5-B97E-08BC-A08E002071E3}"/>
                </a:ext>
              </a:extLst>
            </p:cNvPr>
            <p:cNvSpPr/>
            <p:nvPr/>
          </p:nvSpPr>
          <p:spPr>
            <a:xfrm>
              <a:off x="3280882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4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4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09E4C2FD-99D5-BE0C-9F6B-2E4E9AFA4C17}"/>
                </a:ext>
              </a:extLst>
            </p:cNvPr>
            <p:cNvSpPr/>
            <p:nvPr/>
          </p:nvSpPr>
          <p:spPr>
            <a:xfrm>
              <a:off x="3459883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4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4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E418A90F-4FA1-D845-101C-0D82B8E6869E}"/>
                </a:ext>
              </a:extLst>
            </p:cNvPr>
            <p:cNvSpPr/>
            <p:nvPr/>
          </p:nvSpPr>
          <p:spPr>
            <a:xfrm>
              <a:off x="3638883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4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4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5B2DF6EF-EDEA-DED3-897F-C2DA2E4CC348}"/>
                </a:ext>
              </a:extLst>
            </p:cNvPr>
            <p:cNvSpPr/>
            <p:nvPr/>
          </p:nvSpPr>
          <p:spPr>
            <a:xfrm>
              <a:off x="3817883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4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4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4AF7C60A-EE9D-0398-27BB-751F7E0B1F30}"/>
                </a:ext>
              </a:extLst>
            </p:cNvPr>
            <p:cNvSpPr/>
            <p:nvPr/>
          </p:nvSpPr>
          <p:spPr>
            <a:xfrm>
              <a:off x="3996883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4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4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5A1B3B8-4367-9AFB-F563-2588552D0502}"/>
                </a:ext>
              </a:extLst>
            </p:cNvPr>
            <p:cNvSpPr/>
            <p:nvPr/>
          </p:nvSpPr>
          <p:spPr>
            <a:xfrm>
              <a:off x="4175884" y="5288162"/>
              <a:ext cx="119631" cy="1657"/>
            </a:xfrm>
            <a:custGeom>
              <a:avLst/>
              <a:gdLst>
                <a:gd name="connsiteX0" fmla="*/ 0 w 119631"/>
                <a:gd name="connsiteY0" fmla="*/ 0 h 1657"/>
                <a:gd name="connsiteX1" fmla="*/ 119632 w 119631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631" h="1657">
                  <a:moveTo>
                    <a:pt x="0" y="0"/>
                  </a:moveTo>
                  <a:lnTo>
                    <a:pt x="119632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DC13FCEA-BB5A-035B-57AE-0588E157F4A2}"/>
                </a:ext>
              </a:extLst>
            </p:cNvPr>
            <p:cNvSpPr/>
            <p:nvPr/>
          </p:nvSpPr>
          <p:spPr>
            <a:xfrm>
              <a:off x="4354884" y="5288162"/>
              <a:ext cx="119631" cy="1657"/>
            </a:xfrm>
            <a:custGeom>
              <a:avLst/>
              <a:gdLst>
                <a:gd name="connsiteX0" fmla="*/ 0 w 119631"/>
                <a:gd name="connsiteY0" fmla="*/ 0 h 1657"/>
                <a:gd name="connsiteX1" fmla="*/ 119632 w 119631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631" h="1657">
                  <a:moveTo>
                    <a:pt x="0" y="0"/>
                  </a:moveTo>
                  <a:lnTo>
                    <a:pt x="119632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A39582E-C7E4-7F2F-3FD8-7F5FF6D91558}"/>
                </a:ext>
              </a:extLst>
            </p:cNvPr>
            <p:cNvSpPr/>
            <p:nvPr/>
          </p:nvSpPr>
          <p:spPr>
            <a:xfrm>
              <a:off x="4534182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3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3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84B8E187-1F2E-5902-93F6-6654A193E53F}"/>
                </a:ext>
              </a:extLst>
            </p:cNvPr>
            <p:cNvSpPr/>
            <p:nvPr/>
          </p:nvSpPr>
          <p:spPr>
            <a:xfrm>
              <a:off x="4713183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3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3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45E77363-55E0-86CE-4683-D4BD28E16056}"/>
                </a:ext>
              </a:extLst>
            </p:cNvPr>
            <p:cNvSpPr/>
            <p:nvPr/>
          </p:nvSpPr>
          <p:spPr>
            <a:xfrm>
              <a:off x="4892183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3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3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1846AAA-8425-BA21-CC4F-641D6F4C3813}"/>
                </a:ext>
              </a:extLst>
            </p:cNvPr>
            <p:cNvSpPr/>
            <p:nvPr/>
          </p:nvSpPr>
          <p:spPr>
            <a:xfrm>
              <a:off x="5071183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3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3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0FECD007-5471-95A4-6CEA-FF0A43EEA051}"/>
                </a:ext>
              </a:extLst>
            </p:cNvPr>
            <p:cNvSpPr/>
            <p:nvPr/>
          </p:nvSpPr>
          <p:spPr>
            <a:xfrm>
              <a:off x="5250183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3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3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8B2D0912-A8E1-C117-C6B5-270A7E976542}"/>
                </a:ext>
              </a:extLst>
            </p:cNvPr>
            <p:cNvSpPr/>
            <p:nvPr/>
          </p:nvSpPr>
          <p:spPr>
            <a:xfrm>
              <a:off x="5429184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3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3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F338ACEE-7E80-3611-844F-E0D33702AFA4}"/>
                </a:ext>
              </a:extLst>
            </p:cNvPr>
            <p:cNvSpPr/>
            <p:nvPr/>
          </p:nvSpPr>
          <p:spPr>
            <a:xfrm>
              <a:off x="5608184" y="5288162"/>
              <a:ext cx="119631" cy="1657"/>
            </a:xfrm>
            <a:custGeom>
              <a:avLst/>
              <a:gdLst>
                <a:gd name="connsiteX0" fmla="*/ 0 w 119631"/>
                <a:gd name="connsiteY0" fmla="*/ 0 h 1657"/>
                <a:gd name="connsiteX1" fmla="*/ 119632 w 119631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631" h="1657">
                  <a:moveTo>
                    <a:pt x="0" y="0"/>
                  </a:moveTo>
                  <a:lnTo>
                    <a:pt x="119632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8E6956F-B623-DDF8-F97F-568B6B98CF94}"/>
                </a:ext>
              </a:extLst>
            </p:cNvPr>
            <p:cNvSpPr/>
            <p:nvPr/>
          </p:nvSpPr>
          <p:spPr>
            <a:xfrm>
              <a:off x="5787184" y="5288162"/>
              <a:ext cx="119631" cy="1657"/>
            </a:xfrm>
            <a:custGeom>
              <a:avLst/>
              <a:gdLst>
                <a:gd name="connsiteX0" fmla="*/ 0 w 119631"/>
                <a:gd name="connsiteY0" fmla="*/ 0 h 1657"/>
                <a:gd name="connsiteX1" fmla="*/ 119632 w 119631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631" h="1657">
                  <a:moveTo>
                    <a:pt x="0" y="0"/>
                  </a:moveTo>
                  <a:lnTo>
                    <a:pt x="119632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33F198C-70B1-960D-CDC5-775210FFE917}"/>
                </a:ext>
              </a:extLst>
            </p:cNvPr>
            <p:cNvSpPr/>
            <p:nvPr/>
          </p:nvSpPr>
          <p:spPr>
            <a:xfrm>
              <a:off x="5966483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3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3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91978FEB-5FA4-E5FE-B874-EE5964A14C00}"/>
                </a:ext>
              </a:extLst>
            </p:cNvPr>
            <p:cNvSpPr/>
            <p:nvPr/>
          </p:nvSpPr>
          <p:spPr>
            <a:xfrm>
              <a:off x="6145483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3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3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1E5CF0F-D449-F597-3780-40334DC7AA81}"/>
                </a:ext>
              </a:extLst>
            </p:cNvPr>
            <p:cNvSpPr/>
            <p:nvPr/>
          </p:nvSpPr>
          <p:spPr>
            <a:xfrm>
              <a:off x="6324483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3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3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34958F80-8094-2FCF-BE3C-E2A6D57E5695}"/>
                </a:ext>
              </a:extLst>
            </p:cNvPr>
            <p:cNvSpPr/>
            <p:nvPr/>
          </p:nvSpPr>
          <p:spPr>
            <a:xfrm>
              <a:off x="6503483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3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3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9DE49CB-603D-2ECB-416D-C4EB93988D11}"/>
                </a:ext>
              </a:extLst>
            </p:cNvPr>
            <p:cNvSpPr/>
            <p:nvPr/>
          </p:nvSpPr>
          <p:spPr>
            <a:xfrm>
              <a:off x="6682484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3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3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C62891A7-5748-60A8-B21E-3A4B58B54A0C}"/>
                </a:ext>
              </a:extLst>
            </p:cNvPr>
            <p:cNvSpPr/>
            <p:nvPr/>
          </p:nvSpPr>
          <p:spPr>
            <a:xfrm>
              <a:off x="6861484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3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3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1BA6E1-2355-8631-0E16-1DD54AF3685A}"/>
                </a:ext>
              </a:extLst>
            </p:cNvPr>
            <p:cNvSpPr/>
            <p:nvPr/>
          </p:nvSpPr>
          <p:spPr>
            <a:xfrm>
              <a:off x="7040484" y="5288162"/>
              <a:ext cx="119631" cy="1657"/>
            </a:xfrm>
            <a:custGeom>
              <a:avLst/>
              <a:gdLst>
                <a:gd name="connsiteX0" fmla="*/ 0 w 119631"/>
                <a:gd name="connsiteY0" fmla="*/ 0 h 1657"/>
                <a:gd name="connsiteX1" fmla="*/ 119632 w 119631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631" h="1657">
                  <a:moveTo>
                    <a:pt x="0" y="0"/>
                  </a:moveTo>
                  <a:lnTo>
                    <a:pt x="119632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C7211A55-878D-745F-B85A-A027A7A8E55A}"/>
                </a:ext>
              </a:extLst>
            </p:cNvPr>
            <p:cNvSpPr/>
            <p:nvPr/>
          </p:nvSpPr>
          <p:spPr>
            <a:xfrm>
              <a:off x="7219484" y="5288162"/>
              <a:ext cx="119631" cy="1657"/>
            </a:xfrm>
            <a:custGeom>
              <a:avLst/>
              <a:gdLst>
                <a:gd name="connsiteX0" fmla="*/ 0 w 119631"/>
                <a:gd name="connsiteY0" fmla="*/ 0 h 1657"/>
                <a:gd name="connsiteX1" fmla="*/ 119632 w 119631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631" h="1657">
                  <a:moveTo>
                    <a:pt x="0" y="0"/>
                  </a:moveTo>
                  <a:lnTo>
                    <a:pt x="119632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B4A2065A-8192-7E04-DD22-C0E179CB8F87}"/>
                </a:ext>
              </a:extLst>
            </p:cNvPr>
            <p:cNvSpPr/>
            <p:nvPr/>
          </p:nvSpPr>
          <p:spPr>
            <a:xfrm>
              <a:off x="7398783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4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4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05FB0B19-25D1-8277-CF17-F9B76B1D15D4}"/>
                </a:ext>
              </a:extLst>
            </p:cNvPr>
            <p:cNvSpPr/>
            <p:nvPr/>
          </p:nvSpPr>
          <p:spPr>
            <a:xfrm>
              <a:off x="7577783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4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4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EAB0DDD1-2879-C15E-4E12-F835BDA8BCC9}"/>
                </a:ext>
              </a:extLst>
            </p:cNvPr>
            <p:cNvSpPr/>
            <p:nvPr/>
          </p:nvSpPr>
          <p:spPr>
            <a:xfrm>
              <a:off x="7756783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4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4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60EE4E37-2A8A-8B10-FA0D-D81CAB695AE2}"/>
                </a:ext>
              </a:extLst>
            </p:cNvPr>
            <p:cNvSpPr/>
            <p:nvPr/>
          </p:nvSpPr>
          <p:spPr>
            <a:xfrm>
              <a:off x="7935783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4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4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E237A68D-A2D0-89D9-083E-52958BF14E2F}"/>
                </a:ext>
              </a:extLst>
            </p:cNvPr>
            <p:cNvSpPr/>
            <p:nvPr/>
          </p:nvSpPr>
          <p:spPr>
            <a:xfrm>
              <a:off x="8114784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4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4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AEF3A0E5-19DB-1D71-EDA3-93CF3FFE834D}"/>
                </a:ext>
              </a:extLst>
            </p:cNvPr>
            <p:cNvSpPr/>
            <p:nvPr/>
          </p:nvSpPr>
          <p:spPr>
            <a:xfrm>
              <a:off x="8293784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4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4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839C24E5-1B26-8CD5-C51D-9274D587E39F}"/>
                </a:ext>
              </a:extLst>
            </p:cNvPr>
            <p:cNvSpPr/>
            <p:nvPr/>
          </p:nvSpPr>
          <p:spPr>
            <a:xfrm>
              <a:off x="8472784" y="5288162"/>
              <a:ext cx="119631" cy="1657"/>
            </a:xfrm>
            <a:custGeom>
              <a:avLst/>
              <a:gdLst>
                <a:gd name="connsiteX0" fmla="*/ 0 w 119631"/>
                <a:gd name="connsiteY0" fmla="*/ 0 h 1657"/>
                <a:gd name="connsiteX1" fmla="*/ 119631 w 119631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631" h="1657">
                  <a:moveTo>
                    <a:pt x="0" y="0"/>
                  </a:moveTo>
                  <a:lnTo>
                    <a:pt x="119631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0104B5F-1CBC-DDFE-5943-899203AB8889}"/>
                </a:ext>
              </a:extLst>
            </p:cNvPr>
            <p:cNvSpPr/>
            <p:nvPr/>
          </p:nvSpPr>
          <p:spPr>
            <a:xfrm>
              <a:off x="8651784" y="5288162"/>
              <a:ext cx="119631" cy="1657"/>
            </a:xfrm>
            <a:custGeom>
              <a:avLst/>
              <a:gdLst>
                <a:gd name="connsiteX0" fmla="*/ 0 w 119631"/>
                <a:gd name="connsiteY0" fmla="*/ 0 h 1657"/>
                <a:gd name="connsiteX1" fmla="*/ 119631 w 119631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631" h="1657">
                  <a:moveTo>
                    <a:pt x="0" y="0"/>
                  </a:moveTo>
                  <a:lnTo>
                    <a:pt x="119631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C5E76282-20FC-8D7E-9309-F31C18D0B6B8}"/>
                </a:ext>
              </a:extLst>
            </p:cNvPr>
            <p:cNvSpPr/>
            <p:nvPr/>
          </p:nvSpPr>
          <p:spPr>
            <a:xfrm>
              <a:off x="8831083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3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3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B58157FA-3122-157C-C7AA-7B6AC7EC598F}"/>
                </a:ext>
              </a:extLst>
            </p:cNvPr>
            <p:cNvSpPr/>
            <p:nvPr/>
          </p:nvSpPr>
          <p:spPr>
            <a:xfrm>
              <a:off x="9010083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3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3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7EAEB1F5-808D-450A-2683-D8E8287CC881}"/>
                </a:ext>
              </a:extLst>
            </p:cNvPr>
            <p:cNvSpPr/>
            <p:nvPr/>
          </p:nvSpPr>
          <p:spPr>
            <a:xfrm>
              <a:off x="9189083" y="5288162"/>
              <a:ext cx="119333" cy="1657"/>
            </a:xfrm>
            <a:custGeom>
              <a:avLst/>
              <a:gdLst>
                <a:gd name="connsiteX0" fmla="*/ 0 w 119333"/>
                <a:gd name="connsiteY0" fmla="*/ 0 h 1657"/>
                <a:gd name="connsiteX1" fmla="*/ 119333 w 11933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333" h="1657">
                  <a:moveTo>
                    <a:pt x="0" y="0"/>
                  </a:moveTo>
                  <a:lnTo>
                    <a:pt x="119333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4FF6D82-8AF1-EC94-82DC-71A7152CE013}"/>
                </a:ext>
              </a:extLst>
            </p:cNvPr>
            <p:cNvSpPr/>
            <p:nvPr/>
          </p:nvSpPr>
          <p:spPr>
            <a:xfrm>
              <a:off x="9368084" y="5288162"/>
              <a:ext cx="101731" cy="1657"/>
            </a:xfrm>
            <a:custGeom>
              <a:avLst/>
              <a:gdLst>
                <a:gd name="connsiteX0" fmla="*/ 0 w 101731"/>
                <a:gd name="connsiteY0" fmla="*/ 0 h 1657"/>
                <a:gd name="connsiteX1" fmla="*/ 101732 w 101731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731" h="1657">
                  <a:moveTo>
                    <a:pt x="0" y="0"/>
                  </a:moveTo>
                  <a:lnTo>
                    <a:pt x="101732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D81E3006-37AA-4B56-7C90-3EE8BFF88C6D}"/>
                </a:ext>
              </a:extLst>
            </p:cNvPr>
            <p:cNvSpPr/>
            <p:nvPr/>
          </p:nvSpPr>
          <p:spPr>
            <a:xfrm>
              <a:off x="5748699" y="5673012"/>
              <a:ext cx="1657" cy="119333"/>
            </a:xfrm>
            <a:custGeom>
              <a:avLst/>
              <a:gdLst>
                <a:gd name="connsiteX0" fmla="*/ 0 w 1657"/>
                <a:gd name="connsiteY0" fmla="*/ 119333 h 119333"/>
                <a:gd name="connsiteX1" fmla="*/ 0 w 1657"/>
                <a:gd name="connsiteY1" fmla="*/ 0 h 11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119333">
                  <a:moveTo>
                    <a:pt x="0" y="119333"/>
                  </a:moveTo>
                  <a:lnTo>
                    <a:pt x="0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477DECD9-9304-D8C9-A493-ADB9CB9C6AC8}"/>
                </a:ext>
              </a:extLst>
            </p:cNvPr>
            <p:cNvSpPr/>
            <p:nvPr/>
          </p:nvSpPr>
          <p:spPr>
            <a:xfrm>
              <a:off x="5748699" y="5493714"/>
              <a:ext cx="1657" cy="119631"/>
            </a:xfrm>
            <a:custGeom>
              <a:avLst/>
              <a:gdLst>
                <a:gd name="connsiteX0" fmla="*/ 0 w 1657"/>
                <a:gd name="connsiteY0" fmla="*/ 119632 h 119631"/>
                <a:gd name="connsiteX1" fmla="*/ 0 w 1657"/>
                <a:gd name="connsiteY1" fmla="*/ 0 h 119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119631">
                  <a:moveTo>
                    <a:pt x="0" y="119632"/>
                  </a:moveTo>
                  <a:lnTo>
                    <a:pt x="0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E89E4F48-50F7-ECE2-0099-29DCE16E642B}"/>
                </a:ext>
              </a:extLst>
            </p:cNvPr>
            <p:cNvSpPr/>
            <p:nvPr/>
          </p:nvSpPr>
          <p:spPr>
            <a:xfrm>
              <a:off x="5748699" y="5314714"/>
              <a:ext cx="1657" cy="119631"/>
            </a:xfrm>
            <a:custGeom>
              <a:avLst/>
              <a:gdLst>
                <a:gd name="connsiteX0" fmla="*/ 0 w 1657"/>
                <a:gd name="connsiteY0" fmla="*/ 119632 h 119631"/>
                <a:gd name="connsiteX1" fmla="*/ 0 w 1657"/>
                <a:gd name="connsiteY1" fmla="*/ 0 h 119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119631">
                  <a:moveTo>
                    <a:pt x="0" y="119632"/>
                  </a:moveTo>
                  <a:lnTo>
                    <a:pt x="0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5E3B10EE-F101-DEAB-8F72-22D202A1EB75}"/>
                </a:ext>
              </a:extLst>
            </p:cNvPr>
            <p:cNvSpPr/>
            <p:nvPr/>
          </p:nvSpPr>
          <p:spPr>
            <a:xfrm>
              <a:off x="5748699" y="5135713"/>
              <a:ext cx="1657" cy="119333"/>
            </a:xfrm>
            <a:custGeom>
              <a:avLst/>
              <a:gdLst>
                <a:gd name="connsiteX0" fmla="*/ 0 w 1657"/>
                <a:gd name="connsiteY0" fmla="*/ 119333 h 119333"/>
                <a:gd name="connsiteX1" fmla="*/ 0 w 1657"/>
                <a:gd name="connsiteY1" fmla="*/ 0 h 11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119333">
                  <a:moveTo>
                    <a:pt x="0" y="119333"/>
                  </a:moveTo>
                  <a:lnTo>
                    <a:pt x="0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8F4506B1-44EE-208F-C174-0416045251E2}"/>
                </a:ext>
              </a:extLst>
            </p:cNvPr>
            <p:cNvSpPr/>
            <p:nvPr/>
          </p:nvSpPr>
          <p:spPr>
            <a:xfrm>
              <a:off x="5748699" y="4956713"/>
              <a:ext cx="1657" cy="119333"/>
            </a:xfrm>
            <a:custGeom>
              <a:avLst/>
              <a:gdLst>
                <a:gd name="connsiteX0" fmla="*/ 0 w 1657"/>
                <a:gd name="connsiteY0" fmla="*/ 119333 h 119333"/>
                <a:gd name="connsiteX1" fmla="*/ 0 w 1657"/>
                <a:gd name="connsiteY1" fmla="*/ 0 h 11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119333">
                  <a:moveTo>
                    <a:pt x="0" y="119333"/>
                  </a:moveTo>
                  <a:lnTo>
                    <a:pt x="0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AB7293CA-EA45-4593-0ED2-999C37D63266}"/>
                </a:ext>
              </a:extLst>
            </p:cNvPr>
            <p:cNvSpPr/>
            <p:nvPr/>
          </p:nvSpPr>
          <p:spPr>
            <a:xfrm>
              <a:off x="5748699" y="4777713"/>
              <a:ext cx="1657" cy="119333"/>
            </a:xfrm>
            <a:custGeom>
              <a:avLst/>
              <a:gdLst>
                <a:gd name="connsiteX0" fmla="*/ 0 w 1657"/>
                <a:gd name="connsiteY0" fmla="*/ 119333 h 119333"/>
                <a:gd name="connsiteX1" fmla="*/ 0 w 1657"/>
                <a:gd name="connsiteY1" fmla="*/ 0 h 11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119333">
                  <a:moveTo>
                    <a:pt x="0" y="119333"/>
                  </a:moveTo>
                  <a:lnTo>
                    <a:pt x="0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775A153D-C9E8-B88B-57F4-E73A2D081068}"/>
                </a:ext>
              </a:extLst>
            </p:cNvPr>
            <p:cNvSpPr/>
            <p:nvPr/>
          </p:nvSpPr>
          <p:spPr>
            <a:xfrm>
              <a:off x="5748699" y="4598713"/>
              <a:ext cx="1657" cy="119333"/>
            </a:xfrm>
            <a:custGeom>
              <a:avLst/>
              <a:gdLst>
                <a:gd name="connsiteX0" fmla="*/ 0 w 1657"/>
                <a:gd name="connsiteY0" fmla="*/ 119333 h 119333"/>
                <a:gd name="connsiteX1" fmla="*/ 0 w 1657"/>
                <a:gd name="connsiteY1" fmla="*/ 0 h 11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119333">
                  <a:moveTo>
                    <a:pt x="0" y="119333"/>
                  </a:moveTo>
                  <a:lnTo>
                    <a:pt x="0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FB0A9262-5C39-EF52-6168-1609EA044A31}"/>
                </a:ext>
              </a:extLst>
            </p:cNvPr>
            <p:cNvSpPr/>
            <p:nvPr/>
          </p:nvSpPr>
          <p:spPr>
            <a:xfrm>
              <a:off x="5748699" y="4419713"/>
              <a:ext cx="1657" cy="119333"/>
            </a:xfrm>
            <a:custGeom>
              <a:avLst/>
              <a:gdLst>
                <a:gd name="connsiteX0" fmla="*/ 0 w 1657"/>
                <a:gd name="connsiteY0" fmla="*/ 119333 h 119333"/>
                <a:gd name="connsiteX1" fmla="*/ 0 w 1657"/>
                <a:gd name="connsiteY1" fmla="*/ 0 h 11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119333">
                  <a:moveTo>
                    <a:pt x="0" y="119333"/>
                  </a:moveTo>
                  <a:lnTo>
                    <a:pt x="0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536043F-78F3-03E0-9E51-47045526CCCB}"/>
                </a:ext>
              </a:extLst>
            </p:cNvPr>
            <p:cNvSpPr/>
            <p:nvPr/>
          </p:nvSpPr>
          <p:spPr>
            <a:xfrm>
              <a:off x="5748699" y="4240712"/>
              <a:ext cx="1657" cy="119333"/>
            </a:xfrm>
            <a:custGeom>
              <a:avLst/>
              <a:gdLst>
                <a:gd name="connsiteX0" fmla="*/ 0 w 1657"/>
                <a:gd name="connsiteY0" fmla="*/ 119333 h 119333"/>
                <a:gd name="connsiteX1" fmla="*/ 0 w 1657"/>
                <a:gd name="connsiteY1" fmla="*/ 0 h 11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119333">
                  <a:moveTo>
                    <a:pt x="0" y="119333"/>
                  </a:moveTo>
                  <a:lnTo>
                    <a:pt x="0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1325AC0F-2F95-5640-0BEE-50495D63E393}"/>
                </a:ext>
              </a:extLst>
            </p:cNvPr>
            <p:cNvSpPr/>
            <p:nvPr/>
          </p:nvSpPr>
          <p:spPr>
            <a:xfrm>
              <a:off x="5748699" y="4061414"/>
              <a:ext cx="1657" cy="119631"/>
            </a:xfrm>
            <a:custGeom>
              <a:avLst/>
              <a:gdLst>
                <a:gd name="connsiteX0" fmla="*/ 0 w 1657"/>
                <a:gd name="connsiteY0" fmla="*/ 119632 h 119631"/>
                <a:gd name="connsiteX1" fmla="*/ 0 w 1657"/>
                <a:gd name="connsiteY1" fmla="*/ 0 h 119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119631">
                  <a:moveTo>
                    <a:pt x="0" y="119632"/>
                  </a:moveTo>
                  <a:lnTo>
                    <a:pt x="0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888A0E7F-165D-EC82-E678-7D6F39E742BA}"/>
                </a:ext>
              </a:extLst>
            </p:cNvPr>
            <p:cNvSpPr/>
            <p:nvPr/>
          </p:nvSpPr>
          <p:spPr>
            <a:xfrm>
              <a:off x="5748699" y="3882414"/>
              <a:ext cx="1657" cy="119631"/>
            </a:xfrm>
            <a:custGeom>
              <a:avLst/>
              <a:gdLst>
                <a:gd name="connsiteX0" fmla="*/ 0 w 1657"/>
                <a:gd name="connsiteY0" fmla="*/ 119632 h 119631"/>
                <a:gd name="connsiteX1" fmla="*/ 0 w 1657"/>
                <a:gd name="connsiteY1" fmla="*/ 0 h 119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119631">
                  <a:moveTo>
                    <a:pt x="0" y="119632"/>
                  </a:moveTo>
                  <a:lnTo>
                    <a:pt x="0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CF810E9B-870A-2213-2B31-E900758BDFBA}"/>
                </a:ext>
              </a:extLst>
            </p:cNvPr>
            <p:cNvSpPr/>
            <p:nvPr/>
          </p:nvSpPr>
          <p:spPr>
            <a:xfrm>
              <a:off x="5748699" y="3703413"/>
              <a:ext cx="1657" cy="119333"/>
            </a:xfrm>
            <a:custGeom>
              <a:avLst/>
              <a:gdLst>
                <a:gd name="connsiteX0" fmla="*/ 0 w 1657"/>
                <a:gd name="connsiteY0" fmla="*/ 119334 h 119333"/>
                <a:gd name="connsiteX1" fmla="*/ 0 w 1657"/>
                <a:gd name="connsiteY1" fmla="*/ 0 h 11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119333">
                  <a:moveTo>
                    <a:pt x="0" y="119334"/>
                  </a:moveTo>
                  <a:lnTo>
                    <a:pt x="0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3CD91108-2EF5-06FD-8262-267DBF766FB9}"/>
                </a:ext>
              </a:extLst>
            </p:cNvPr>
            <p:cNvSpPr/>
            <p:nvPr/>
          </p:nvSpPr>
          <p:spPr>
            <a:xfrm>
              <a:off x="5748699" y="3524413"/>
              <a:ext cx="1657" cy="119333"/>
            </a:xfrm>
            <a:custGeom>
              <a:avLst/>
              <a:gdLst>
                <a:gd name="connsiteX0" fmla="*/ 0 w 1657"/>
                <a:gd name="connsiteY0" fmla="*/ 119334 h 119333"/>
                <a:gd name="connsiteX1" fmla="*/ 0 w 1657"/>
                <a:gd name="connsiteY1" fmla="*/ 0 h 11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119333">
                  <a:moveTo>
                    <a:pt x="0" y="119334"/>
                  </a:moveTo>
                  <a:lnTo>
                    <a:pt x="0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657F7283-306E-7A56-EF97-21624B43CC24}"/>
                </a:ext>
              </a:extLst>
            </p:cNvPr>
            <p:cNvSpPr/>
            <p:nvPr/>
          </p:nvSpPr>
          <p:spPr>
            <a:xfrm>
              <a:off x="5748699" y="3345413"/>
              <a:ext cx="1657" cy="119333"/>
            </a:xfrm>
            <a:custGeom>
              <a:avLst/>
              <a:gdLst>
                <a:gd name="connsiteX0" fmla="*/ 0 w 1657"/>
                <a:gd name="connsiteY0" fmla="*/ 119334 h 119333"/>
                <a:gd name="connsiteX1" fmla="*/ 0 w 1657"/>
                <a:gd name="connsiteY1" fmla="*/ 0 h 11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119333">
                  <a:moveTo>
                    <a:pt x="0" y="119334"/>
                  </a:moveTo>
                  <a:lnTo>
                    <a:pt x="0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7EF528C6-D76A-841E-F7DE-44F2167F1FD4}"/>
                </a:ext>
              </a:extLst>
            </p:cNvPr>
            <p:cNvSpPr/>
            <p:nvPr/>
          </p:nvSpPr>
          <p:spPr>
            <a:xfrm>
              <a:off x="5748699" y="3166413"/>
              <a:ext cx="1657" cy="119333"/>
            </a:xfrm>
            <a:custGeom>
              <a:avLst/>
              <a:gdLst>
                <a:gd name="connsiteX0" fmla="*/ 0 w 1657"/>
                <a:gd name="connsiteY0" fmla="*/ 119334 h 119333"/>
                <a:gd name="connsiteX1" fmla="*/ 0 w 1657"/>
                <a:gd name="connsiteY1" fmla="*/ 0 h 11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119333">
                  <a:moveTo>
                    <a:pt x="0" y="119334"/>
                  </a:moveTo>
                  <a:lnTo>
                    <a:pt x="0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14CB0CFD-383B-2C6E-2027-AE05F65B86F4}"/>
                </a:ext>
              </a:extLst>
            </p:cNvPr>
            <p:cNvSpPr/>
            <p:nvPr/>
          </p:nvSpPr>
          <p:spPr>
            <a:xfrm>
              <a:off x="5748699" y="2987413"/>
              <a:ext cx="1657" cy="119333"/>
            </a:xfrm>
            <a:custGeom>
              <a:avLst/>
              <a:gdLst>
                <a:gd name="connsiteX0" fmla="*/ 0 w 1657"/>
                <a:gd name="connsiteY0" fmla="*/ 119334 h 119333"/>
                <a:gd name="connsiteX1" fmla="*/ 0 w 1657"/>
                <a:gd name="connsiteY1" fmla="*/ 0 h 11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119333">
                  <a:moveTo>
                    <a:pt x="0" y="119334"/>
                  </a:moveTo>
                  <a:lnTo>
                    <a:pt x="0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1402336F-5E2B-1566-8110-B3E99484BCC7}"/>
                </a:ext>
              </a:extLst>
            </p:cNvPr>
            <p:cNvSpPr/>
            <p:nvPr/>
          </p:nvSpPr>
          <p:spPr>
            <a:xfrm>
              <a:off x="5748699" y="2808412"/>
              <a:ext cx="1657" cy="119333"/>
            </a:xfrm>
            <a:custGeom>
              <a:avLst/>
              <a:gdLst>
                <a:gd name="connsiteX0" fmla="*/ 0 w 1657"/>
                <a:gd name="connsiteY0" fmla="*/ 119334 h 119333"/>
                <a:gd name="connsiteX1" fmla="*/ 0 w 1657"/>
                <a:gd name="connsiteY1" fmla="*/ 0 h 11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119333">
                  <a:moveTo>
                    <a:pt x="0" y="119334"/>
                  </a:moveTo>
                  <a:lnTo>
                    <a:pt x="0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BBC2335-B9BC-8192-8262-7E7C385009D4}"/>
                </a:ext>
              </a:extLst>
            </p:cNvPr>
            <p:cNvSpPr/>
            <p:nvPr/>
          </p:nvSpPr>
          <p:spPr>
            <a:xfrm>
              <a:off x="5748699" y="2629114"/>
              <a:ext cx="1657" cy="119631"/>
            </a:xfrm>
            <a:custGeom>
              <a:avLst/>
              <a:gdLst>
                <a:gd name="connsiteX0" fmla="*/ 0 w 1657"/>
                <a:gd name="connsiteY0" fmla="*/ 119632 h 119631"/>
                <a:gd name="connsiteX1" fmla="*/ 0 w 1657"/>
                <a:gd name="connsiteY1" fmla="*/ 0 h 119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119631">
                  <a:moveTo>
                    <a:pt x="0" y="119632"/>
                  </a:moveTo>
                  <a:lnTo>
                    <a:pt x="0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6E218D29-E246-F2F9-94E8-B636798CE4E8}"/>
                </a:ext>
              </a:extLst>
            </p:cNvPr>
            <p:cNvSpPr/>
            <p:nvPr/>
          </p:nvSpPr>
          <p:spPr>
            <a:xfrm>
              <a:off x="5748699" y="2450114"/>
              <a:ext cx="1657" cy="119631"/>
            </a:xfrm>
            <a:custGeom>
              <a:avLst/>
              <a:gdLst>
                <a:gd name="connsiteX0" fmla="*/ 0 w 1657"/>
                <a:gd name="connsiteY0" fmla="*/ 119632 h 119631"/>
                <a:gd name="connsiteX1" fmla="*/ 0 w 1657"/>
                <a:gd name="connsiteY1" fmla="*/ 0 h 119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119631">
                  <a:moveTo>
                    <a:pt x="0" y="119632"/>
                  </a:moveTo>
                  <a:lnTo>
                    <a:pt x="0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2039A9FC-29EF-0F47-1B45-282143E573AC}"/>
                </a:ext>
              </a:extLst>
            </p:cNvPr>
            <p:cNvSpPr/>
            <p:nvPr/>
          </p:nvSpPr>
          <p:spPr>
            <a:xfrm>
              <a:off x="5748699" y="2271113"/>
              <a:ext cx="1657" cy="119333"/>
            </a:xfrm>
            <a:custGeom>
              <a:avLst/>
              <a:gdLst>
                <a:gd name="connsiteX0" fmla="*/ 0 w 1657"/>
                <a:gd name="connsiteY0" fmla="*/ 119333 h 119333"/>
                <a:gd name="connsiteX1" fmla="*/ 0 w 1657"/>
                <a:gd name="connsiteY1" fmla="*/ 0 h 11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119333">
                  <a:moveTo>
                    <a:pt x="0" y="119333"/>
                  </a:moveTo>
                  <a:lnTo>
                    <a:pt x="0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658AD9B0-F7E5-AB35-2F4B-246936A17174}"/>
                </a:ext>
              </a:extLst>
            </p:cNvPr>
            <p:cNvSpPr/>
            <p:nvPr/>
          </p:nvSpPr>
          <p:spPr>
            <a:xfrm>
              <a:off x="5748699" y="2092113"/>
              <a:ext cx="1657" cy="119333"/>
            </a:xfrm>
            <a:custGeom>
              <a:avLst/>
              <a:gdLst>
                <a:gd name="connsiteX0" fmla="*/ 0 w 1657"/>
                <a:gd name="connsiteY0" fmla="*/ 119333 h 119333"/>
                <a:gd name="connsiteX1" fmla="*/ 0 w 1657"/>
                <a:gd name="connsiteY1" fmla="*/ 0 h 11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119333">
                  <a:moveTo>
                    <a:pt x="0" y="119333"/>
                  </a:moveTo>
                  <a:lnTo>
                    <a:pt x="0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C3CAF850-47B8-6D43-9504-3BC8240FF898}"/>
                </a:ext>
              </a:extLst>
            </p:cNvPr>
            <p:cNvSpPr/>
            <p:nvPr/>
          </p:nvSpPr>
          <p:spPr>
            <a:xfrm>
              <a:off x="5748699" y="1913113"/>
              <a:ext cx="1657" cy="119333"/>
            </a:xfrm>
            <a:custGeom>
              <a:avLst/>
              <a:gdLst>
                <a:gd name="connsiteX0" fmla="*/ 0 w 1657"/>
                <a:gd name="connsiteY0" fmla="*/ 119333 h 119333"/>
                <a:gd name="connsiteX1" fmla="*/ 0 w 1657"/>
                <a:gd name="connsiteY1" fmla="*/ 0 h 11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119333">
                  <a:moveTo>
                    <a:pt x="0" y="119333"/>
                  </a:moveTo>
                  <a:lnTo>
                    <a:pt x="0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F5627542-DE27-4A1B-F304-CA6087ED7330}"/>
                </a:ext>
              </a:extLst>
            </p:cNvPr>
            <p:cNvSpPr/>
            <p:nvPr/>
          </p:nvSpPr>
          <p:spPr>
            <a:xfrm>
              <a:off x="5748699" y="1734113"/>
              <a:ext cx="1657" cy="119333"/>
            </a:xfrm>
            <a:custGeom>
              <a:avLst/>
              <a:gdLst>
                <a:gd name="connsiteX0" fmla="*/ 0 w 1657"/>
                <a:gd name="connsiteY0" fmla="*/ 119333 h 119333"/>
                <a:gd name="connsiteX1" fmla="*/ 0 w 1657"/>
                <a:gd name="connsiteY1" fmla="*/ 0 h 11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119333">
                  <a:moveTo>
                    <a:pt x="0" y="119333"/>
                  </a:moveTo>
                  <a:lnTo>
                    <a:pt x="0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E30E96-A4F9-D723-1C15-D35D71F3D86E}"/>
                </a:ext>
              </a:extLst>
            </p:cNvPr>
            <p:cNvSpPr/>
            <p:nvPr/>
          </p:nvSpPr>
          <p:spPr>
            <a:xfrm>
              <a:off x="5748699" y="1555112"/>
              <a:ext cx="1657" cy="119333"/>
            </a:xfrm>
            <a:custGeom>
              <a:avLst/>
              <a:gdLst>
                <a:gd name="connsiteX0" fmla="*/ 0 w 1657"/>
                <a:gd name="connsiteY0" fmla="*/ 119333 h 119333"/>
                <a:gd name="connsiteX1" fmla="*/ 0 w 1657"/>
                <a:gd name="connsiteY1" fmla="*/ 0 h 11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119333">
                  <a:moveTo>
                    <a:pt x="0" y="119333"/>
                  </a:moveTo>
                  <a:lnTo>
                    <a:pt x="0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8DDEBB45-F5BF-76E3-F315-F8B3D59FE44E}"/>
                </a:ext>
              </a:extLst>
            </p:cNvPr>
            <p:cNvSpPr/>
            <p:nvPr/>
          </p:nvSpPr>
          <p:spPr>
            <a:xfrm>
              <a:off x="5748699" y="1376112"/>
              <a:ext cx="1657" cy="119333"/>
            </a:xfrm>
            <a:custGeom>
              <a:avLst/>
              <a:gdLst>
                <a:gd name="connsiteX0" fmla="*/ 0 w 1657"/>
                <a:gd name="connsiteY0" fmla="*/ 119333 h 119333"/>
                <a:gd name="connsiteX1" fmla="*/ 0 w 1657"/>
                <a:gd name="connsiteY1" fmla="*/ 0 h 11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119333">
                  <a:moveTo>
                    <a:pt x="0" y="119333"/>
                  </a:moveTo>
                  <a:lnTo>
                    <a:pt x="0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C1C0723-C477-7420-9E19-A3821AED254E}"/>
                </a:ext>
              </a:extLst>
            </p:cNvPr>
            <p:cNvSpPr/>
            <p:nvPr/>
          </p:nvSpPr>
          <p:spPr>
            <a:xfrm>
              <a:off x="5748699" y="1231719"/>
              <a:ext cx="1657" cy="84726"/>
            </a:xfrm>
            <a:custGeom>
              <a:avLst/>
              <a:gdLst>
                <a:gd name="connsiteX0" fmla="*/ 0 w 1657"/>
                <a:gd name="connsiteY0" fmla="*/ 84727 h 84726"/>
                <a:gd name="connsiteX1" fmla="*/ 0 w 1657"/>
                <a:gd name="connsiteY1" fmla="*/ 0 h 84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84726">
                  <a:moveTo>
                    <a:pt x="0" y="84727"/>
                  </a:moveTo>
                  <a:lnTo>
                    <a:pt x="0" y="0"/>
                  </a:lnTo>
                </a:path>
              </a:pathLst>
            </a:custGeom>
            <a:ln w="17895" cap="flat">
              <a:solidFill>
                <a:srgbClr val="70707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1341DACD-4F92-6B05-1BDD-C19FB8484B73}"/>
                </a:ext>
              </a:extLst>
            </p:cNvPr>
            <p:cNvSpPr/>
            <p:nvPr/>
          </p:nvSpPr>
          <p:spPr>
            <a:xfrm>
              <a:off x="5697982" y="1821226"/>
              <a:ext cx="101433" cy="101433"/>
            </a:xfrm>
            <a:custGeom>
              <a:avLst/>
              <a:gdLst>
                <a:gd name="connsiteX0" fmla="*/ 101434 w 101433"/>
                <a:gd name="connsiteY0" fmla="*/ 50717 h 101433"/>
                <a:gd name="connsiteX1" fmla="*/ 50717 w 101433"/>
                <a:gd name="connsiteY1" fmla="*/ 101433 h 101433"/>
                <a:gd name="connsiteX2" fmla="*/ 0 w 101433"/>
                <a:gd name="connsiteY2" fmla="*/ 50717 h 101433"/>
                <a:gd name="connsiteX3" fmla="*/ 50717 w 101433"/>
                <a:gd name="connsiteY3" fmla="*/ 0 h 101433"/>
                <a:gd name="connsiteX4" fmla="*/ 101434 w 101433"/>
                <a:gd name="connsiteY4" fmla="*/ 50717 h 10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33" h="101433">
                  <a:moveTo>
                    <a:pt x="101434" y="50717"/>
                  </a:moveTo>
                  <a:cubicBezTo>
                    <a:pt x="101434" y="78727"/>
                    <a:pt x="78727" y="101433"/>
                    <a:pt x="50717" y="101433"/>
                  </a:cubicBezTo>
                  <a:cubicBezTo>
                    <a:pt x="22707" y="101433"/>
                    <a:pt x="0" y="78727"/>
                    <a:pt x="0" y="50717"/>
                  </a:cubicBezTo>
                  <a:cubicBezTo>
                    <a:pt x="0" y="22707"/>
                    <a:pt x="22707" y="0"/>
                    <a:pt x="50717" y="0"/>
                  </a:cubicBezTo>
                  <a:cubicBezTo>
                    <a:pt x="78727" y="0"/>
                    <a:pt x="101434" y="22707"/>
                    <a:pt x="101434" y="50717"/>
                  </a:cubicBezTo>
                  <a:close/>
                </a:path>
              </a:pathLst>
            </a:custGeom>
            <a:solidFill>
              <a:srgbClr val="29B6A4"/>
            </a:solidFill>
            <a:ln w="16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657E7C66-7FE6-80C3-AC14-44CB9A149403}"/>
                </a:ext>
              </a:extLst>
            </p:cNvPr>
            <p:cNvSpPr/>
            <p:nvPr/>
          </p:nvSpPr>
          <p:spPr>
            <a:xfrm>
              <a:off x="5711407" y="1834651"/>
              <a:ext cx="74583" cy="74583"/>
            </a:xfrm>
            <a:custGeom>
              <a:avLst/>
              <a:gdLst>
                <a:gd name="connsiteX0" fmla="*/ 74583 w 74583"/>
                <a:gd name="connsiteY0" fmla="*/ 37292 h 74583"/>
                <a:gd name="connsiteX1" fmla="*/ 37292 w 74583"/>
                <a:gd name="connsiteY1" fmla="*/ 74583 h 74583"/>
                <a:gd name="connsiteX2" fmla="*/ 0 w 74583"/>
                <a:gd name="connsiteY2" fmla="*/ 37292 h 74583"/>
                <a:gd name="connsiteX3" fmla="*/ 37292 w 74583"/>
                <a:gd name="connsiteY3" fmla="*/ 0 h 74583"/>
                <a:gd name="connsiteX4" fmla="*/ 74583 w 74583"/>
                <a:gd name="connsiteY4" fmla="*/ 37292 h 74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583" h="74583">
                  <a:moveTo>
                    <a:pt x="74583" y="37292"/>
                  </a:moveTo>
                  <a:cubicBezTo>
                    <a:pt x="74583" y="57887"/>
                    <a:pt x="57888" y="74583"/>
                    <a:pt x="37292" y="74583"/>
                  </a:cubicBezTo>
                  <a:cubicBezTo>
                    <a:pt x="16696" y="74583"/>
                    <a:pt x="0" y="57887"/>
                    <a:pt x="0" y="37292"/>
                  </a:cubicBezTo>
                  <a:cubicBezTo>
                    <a:pt x="0" y="16696"/>
                    <a:pt x="16696" y="0"/>
                    <a:pt x="37292" y="0"/>
                  </a:cubicBezTo>
                  <a:cubicBezTo>
                    <a:pt x="57888" y="0"/>
                    <a:pt x="74583" y="16696"/>
                    <a:pt x="74583" y="37292"/>
                  </a:cubicBezTo>
                  <a:close/>
                </a:path>
              </a:pathLst>
            </a:custGeom>
            <a:noFill/>
            <a:ln w="26843" cap="flat">
              <a:solidFill>
                <a:srgbClr val="29B6A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B235282-1D9C-7D06-F3BD-3F94A6EA4FC1}"/>
                </a:ext>
              </a:extLst>
            </p:cNvPr>
            <p:cNvSpPr/>
            <p:nvPr/>
          </p:nvSpPr>
          <p:spPr>
            <a:xfrm>
              <a:off x="6608795" y="2985921"/>
              <a:ext cx="74583" cy="1657"/>
            </a:xfrm>
            <a:custGeom>
              <a:avLst/>
              <a:gdLst>
                <a:gd name="connsiteX0" fmla="*/ 0 w 74583"/>
                <a:gd name="connsiteY0" fmla="*/ 0 h 1657"/>
                <a:gd name="connsiteX1" fmla="*/ 74583 w 7458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583" h="1657">
                  <a:moveTo>
                    <a:pt x="0" y="0"/>
                  </a:moveTo>
                  <a:lnTo>
                    <a:pt x="74583" y="0"/>
                  </a:lnTo>
                </a:path>
              </a:pathLst>
            </a:custGeom>
            <a:ln w="26843" cap="rnd">
              <a:solidFill>
                <a:srgbClr val="29B6A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67E0D64-643B-8BD3-7813-E5984C6B893A}"/>
                </a:ext>
              </a:extLst>
            </p:cNvPr>
            <p:cNvSpPr/>
            <p:nvPr/>
          </p:nvSpPr>
          <p:spPr>
            <a:xfrm>
              <a:off x="2158849" y="1871943"/>
              <a:ext cx="7179400" cy="3071046"/>
            </a:xfrm>
            <a:custGeom>
              <a:avLst/>
              <a:gdLst>
                <a:gd name="connsiteX0" fmla="*/ 0 w 7179400"/>
                <a:gd name="connsiteY0" fmla="*/ 3071047 h 3071046"/>
                <a:gd name="connsiteX1" fmla="*/ 897388 w 7179400"/>
                <a:gd name="connsiteY1" fmla="*/ 2741687 h 3071046"/>
                <a:gd name="connsiteX2" fmla="*/ 1794776 w 7179400"/>
                <a:gd name="connsiteY2" fmla="*/ 2348781 h 3071046"/>
                <a:gd name="connsiteX3" fmla="*/ 2692163 w 7179400"/>
                <a:gd name="connsiteY3" fmla="*/ 1227047 h 3071046"/>
                <a:gd name="connsiteX4" fmla="*/ 3589850 w 7179400"/>
                <a:gd name="connsiteY4" fmla="*/ 0 h 3071046"/>
                <a:gd name="connsiteX5" fmla="*/ 4487238 w 7179400"/>
                <a:gd name="connsiteY5" fmla="*/ 1100851 h 3071046"/>
                <a:gd name="connsiteX6" fmla="*/ 5384625 w 7179400"/>
                <a:gd name="connsiteY6" fmla="*/ 2145616 h 3071046"/>
                <a:gd name="connsiteX7" fmla="*/ 6282013 w 7179400"/>
                <a:gd name="connsiteY7" fmla="*/ 2674263 h 3071046"/>
                <a:gd name="connsiteX8" fmla="*/ 7179401 w 7179400"/>
                <a:gd name="connsiteY8" fmla="*/ 2991989 h 307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79400" h="3071046">
                  <a:moveTo>
                    <a:pt x="0" y="3071047"/>
                  </a:moveTo>
                  <a:lnTo>
                    <a:pt x="897388" y="2741687"/>
                  </a:lnTo>
                  <a:lnTo>
                    <a:pt x="1794776" y="2348781"/>
                  </a:lnTo>
                  <a:lnTo>
                    <a:pt x="2692163" y="1227047"/>
                  </a:lnTo>
                  <a:lnTo>
                    <a:pt x="3589850" y="0"/>
                  </a:lnTo>
                  <a:lnTo>
                    <a:pt x="4487238" y="1100851"/>
                  </a:lnTo>
                  <a:lnTo>
                    <a:pt x="5384625" y="2145616"/>
                  </a:lnTo>
                  <a:lnTo>
                    <a:pt x="6282013" y="2674263"/>
                  </a:lnTo>
                  <a:lnTo>
                    <a:pt x="7179401" y="2991989"/>
                  </a:lnTo>
                </a:path>
              </a:pathLst>
            </a:custGeom>
            <a:noFill/>
            <a:ln w="26843" cap="flat">
              <a:solidFill>
                <a:srgbClr val="FAA523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E0F8174B-5C80-C64E-CC12-5B976A6FD02F}"/>
                </a:ext>
              </a:extLst>
            </p:cNvPr>
            <p:cNvSpPr/>
            <p:nvPr/>
          </p:nvSpPr>
          <p:spPr>
            <a:xfrm>
              <a:off x="2108133" y="4892273"/>
              <a:ext cx="101433" cy="101433"/>
            </a:xfrm>
            <a:custGeom>
              <a:avLst/>
              <a:gdLst>
                <a:gd name="connsiteX0" fmla="*/ 101433 w 101433"/>
                <a:gd name="connsiteY0" fmla="*/ 50717 h 101433"/>
                <a:gd name="connsiteX1" fmla="*/ 50717 w 101433"/>
                <a:gd name="connsiteY1" fmla="*/ 101434 h 101433"/>
                <a:gd name="connsiteX2" fmla="*/ 0 w 101433"/>
                <a:gd name="connsiteY2" fmla="*/ 50717 h 101433"/>
                <a:gd name="connsiteX3" fmla="*/ 50717 w 101433"/>
                <a:gd name="connsiteY3" fmla="*/ 0 h 101433"/>
                <a:gd name="connsiteX4" fmla="*/ 101433 w 101433"/>
                <a:gd name="connsiteY4" fmla="*/ 50717 h 10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33" h="101433">
                  <a:moveTo>
                    <a:pt x="101433" y="50717"/>
                  </a:moveTo>
                  <a:cubicBezTo>
                    <a:pt x="101433" y="78727"/>
                    <a:pt x="78727" y="101434"/>
                    <a:pt x="50717" y="101434"/>
                  </a:cubicBezTo>
                  <a:cubicBezTo>
                    <a:pt x="22707" y="101434"/>
                    <a:pt x="0" y="78727"/>
                    <a:pt x="0" y="50717"/>
                  </a:cubicBezTo>
                  <a:cubicBezTo>
                    <a:pt x="0" y="22707"/>
                    <a:pt x="22707" y="0"/>
                    <a:pt x="50717" y="0"/>
                  </a:cubicBezTo>
                  <a:cubicBezTo>
                    <a:pt x="78727" y="0"/>
                    <a:pt x="101433" y="22707"/>
                    <a:pt x="101433" y="50717"/>
                  </a:cubicBezTo>
                  <a:close/>
                </a:path>
              </a:pathLst>
            </a:custGeom>
            <a:solidFill>
              <a:srgbClr val="FAA523"/>
            </a:solidFill>
            <a:ln w="16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91181B7-8E6E-0343-3BD8-919767209508}"/>
                </a:ext>
              </a:extLst>
            </p:cNvPr>
            <p:cNvSpPr/>
            <p:nvPr/>
          </p:nvSpPr>
          <p:spPr>
            <a:xfrm>
              <a:off x="2121558" y="4905698"/>
              <a:ext cx="74583" cy="74583"/>
            </a:xfrm>
            <a:custGeom>
              <a:avLst/>
              <a:gdLst>
                <a:gd name="connsiteX0" fmla="*/ 74583 w 74583"/>
                <a:gd name="connsiteY0" fmla="*/ 37292 h 74583"/>
                <a:gd name="connsiteX1" fmla="*/ 37292 w 74583"/>
                <a:gd name="connsiteY1" fmla="*/ 74583 h 74583"/>
                <a:gd name="connsiteX2" fmla="*/ 0 w 74583"/>
                <a:gd name="connsiteY2" fmla="*/ 37292 h 74583"/>
                <a:gd name="connsiteX3" fmla="*/ 37292 w 74583"/>
                <a:gd name="connsiteY3" fmla="*/ 0 h 74583"/>
                <a:gd name="connsiteX4" fmla="*/ 74583 w 74583"/>
                <a:gd name="connsiteY4" fmla="*/ 37292 h 74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583" h="74583">
                  <a:moveTo>
                    <a:pt x="74583" y="37292"/>
                  </a:moveTo>
                  <a:cubicBezTo>
                    <a:pt x="74583" y="57887"/>
                    <a:pt x="57887" y="74583"/>
                    <a:pt x="37292" y="74583"/>
                  </a:cubicBezTo>
                  <a:cubicBezTo>
                    <a:pt x="16696" y="74583"/>
                    <a:pt x="0" y="57887"/>
                    <a:pt x="0" y="37292"/>
                  </a:cubicBezTo>
                  <a:cubicBezTo>
                    <a:pt x="0" y="16696"/>
                    <a:pt x="16696" y="0"/>
                    <a:pt x="37292" y="0"/>
                  </a:cubicBezTo>
                  <a:cubicBezTo>
                    <a:pt x="57887" y="0"/>
                    <a:pt x="74583" y="16696"/>
                    <a:pt x="74583" y="37292"/>
                  </a:cubicBezTo>
                  <a:close/>
                </a:path>
              </a:pathLst>
            </a:custGeom>
            <a:noFill/>
            <a:ln w="26843" cap="flat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BF5FA16B-9CAA-0B96-76D4-94DBD0BD0071}"/>
                </a:ext>
              </a:extLst>
            </p:cNvPr>
            <p:cNvSpPr/>
            <p:nvPr/>
          </p:nvSpPr>
          <p:spPr>
            <a:xfrm>
              <a:off x="3005520" y="4562913"/>
              <a:ext cx="101433" cy="101433"/>
            </a:xfrm>
            <a:custGeom>
              <a:avLst/>
              <a:gdLst>
                <a:gd name="connsiteX0" fmla="*/ 101433 w 101433"/>
                <a:gd name="connsiteY0" fmla="*/ 50717 h 101433"/>
                <a:gd name="connsiteX1" fmla="*/ 50717 w 101433"/>
                <a:gd name="connsiteY1" fmla="*/ 101434 h 101433"/>
                <a:gd name="connsiteX2" fmla="*/ 0 w 101433"/>
                <a:gd name="connsiteY2" fmla="*/ 50717 h 101433"/>
                <a:gd name="connsiteX3" fmla="*/ 50717 w 101433"/>
                <a:gd name="connsiteY3" fmla="*/ 0 h 101433"/>
                <a:gd name="connsiteX4" fmla="*/ 101433 w 101433"/>
                <a:gd name="connsiteY4" fmla="*/ 50717 h 10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33" h="101433">
                  <a:moveTo>
                    <a:pt x="101433" y="50717"/>
                  </a:moveTo>
                  <a:cubicBezTo>
                    <a:pt x="101433" y="78727"/>
                    <a:pt x="78727" y="101434"/>
                    <a:pt x="50717" y="101434"/>
                  </a:cubicBezTo>
                  <a:cubicBezTo>
                    <a:pt x="22707" y="101434"/>
                    <a:pt x="0" y="78727"/>
                    <a:pt x="0" y="50717"/>
                  </a:cubicBezTo>
                  <a:cubicBezTo>
                    <a:pt x="0" y="22707"/>
                    <a:pt x="22707" y="0"/>
                    <a:pt x="50717" y="0"/>
                  </a:cubicBezTo>
                  <a:cubicBezTo>
                    <a:pt x="78727" y="0"/>
                    <a:pt x="101433" y="22707"/>
                    <a:pt x="101433" y="50717"/>
                  </a:cubicBezTo>
                  <a:close/>
                </a:path>
              </a:pathLst>
            </a:custGeom>
            <a:solidFill>
              <a:srgbClr val="FAA523"/>
            </a:solidFill>
            <a:ln w="16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02FD45ED-BF2D-20BD-7936-F7BEB3A3611A}"/>
                </a:ext>
              </a:extLst>
            </p:cNvPr>
            <p:cNvSpPr/>
            <p:nvPr/>
          </p:nvSpPr>
          <p:spPr>
            <a:xfrm>
              <a:off x="3018945" y="4576338"/>
              <a:ext cx="74583" cy="74583"/>
            </a:xfrm>
            <a:custGeom>
              <a:avLst/>
              <a:gdLst>
                <a:gd name="connsiteX0" fmla="*/ 74583 w 74583"/>
                <a:gd name="connsiteY0" fmla="*/ 37292 h 74583"/>
                <a:gd name="connsiteX1" fmla="*/ 37292 w 74583"/>
                <a:gd name="connsiteY1" fmla="*/ 74583 h 74583"/>
                <a:gd name="connsiteX2" fmla="*/ 0 w 74583"/>
                <a:gd name="connsiteY2" fmla="*/ 37292 h 74583"/>
                <a:gd name="connsiteX3" fmla="*/ 37292 w 74583"/>
                <a:gd name="connsiteY3" fmla="*/ 0 h 74583"/>
                <a:gd name="connsiteX4" fmla="*/ 74583 w 74583"/>
                <a:gd name="connsiteY4" fmla="*/ 37292 h 74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583" h="74583">
                  <a:moveTo>
                    <a:pt x="74583" y="37292"/>
                  </a:moveTo>
                  <a:cubicBezTo>
                    <a:pt x="74583" y="57888"/>
                    <a:pt x="57887" y="74583"/>
                    <a:pt x="37292" y="74583"/>
                  </a:cubicBezTo>
                  <a:cubicBezTo>
                    <a:pt x="16696" y="74583"/>
                    <a:pt x="0" y="57888"/>
                    <a:pt x="0" y="37292"/>
                  </a:cubicBezTo>
                  <a:cubicBezTo>
                    <a:pt x="0" y="16696"/>
                    <a:pt x="16696" y="0"/>
                    <a:pt x="37292" y="0"/>
                  </a:cubicBezTo>
                  <a:cubicBezTo>
                    <a:pt x="57887" y="0"/>
                    <a:pt x="74583" y="16696"/>
                    <a:pt x="74583" y="37292"/>
                  </a:cubicBezTo>
                  <a:close/>
                </a:path>
              </a:pathLst>
            </a:custGeom>
            <a:noFill/>
            <a:ln w="26843" cap="flat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16321366-DBC5-883B-7E6D-62D3E3CE61F4}"/>
                </a:ext>
              </a:extLst>
            </p:cNvPr>
            <p:cNvSpPr/>
            <p:nvPr/>
          </p:nvSpPr>
          <p:spPr>
            <a:xfrm>
              <a:off x="3902908" y="4170007"/>
              <a:ext cx="101433" cy="101433"/>
            </a:xfrm>
            <a:custGeom>
              <a:avLst/>
              <a:gdLst>
                <a:gd name="connsiteX0" fmla="*/ 101434 w 101433"/>
                <a:gd name="connsiteY0" fmla="*/ 50717 h 101433"/>
                <a:gd name="connsiteX1" fmla="*/ 50717 w 101433"/>
                <a:gd name="connsiteY1" fmla="*/ 101433 h 101433"/>
                <a:gd name="connsiteX2" fmla="*/ 0 w 101433"/>
                <a:gd name="connsiteY2" fmla="*/ 50717 h 101433"/>
                <a:gd name="connsiteX3" fmla="*/ 50717 w 101433"/>
                <a:gd name="connsiteY3" fmla="*/ 0 h 101433"/>
                <a:gd name="connsiteX4" fmla="*/ 101434 w 101433"/>
                <a:gd name="connsiteY4" fmla="*/ 50717 h 10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33" h="101433">
                  <a:moveTo>
                    <a:pt x="101434" y="50717"/>
                  </a:moveTo>
                  <a:cubicBezTo>
                    <a:pt x="101434" y="78727"/>
                    <a:pt x="78727" y="101433"/>
                    <a:pt x="50717" y="101433"/>
                  </a:cubicBezTo>
                  <a:cubicBezTo>
                    <a:pt x="22707" y="101433"/>
                    <a:pt x="0" y="78727"/>
                    <a:pt x="0" y="50717"/>
                  </a:cubicBezTo>
                  <a:cubicBezTo>
                    <a:pt x="0" y="22707"/>
                    <a:pt x="22707" y="0"/>
                    <a:pt x="50717" y="0"/>
                  </a:cubicBezTo>
                  <a:cubicBezTo>
                    <a:pt x="78727" y="0"/>
                    <a:pt x="101434" y="22707"/>
                    <a:pt x="101434" y="50717"/>
                  </a:cubicBezTo>
                  <a:close/>
                </a:path>
              </a:pathLst>
            </a:custGeom>
            <a:solidFill>
              <a:srgbClr val="FAA523"/>
            </a:solidFill>
            <a:ln w="16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1CB1CDB6-D446-D3A6-064F-A1E645C1F7C3}"/>
                </a:ext>
              </a:extLst>
            </p:cNvPr>
            <p:cNvSpPr/>
            <p:nvPr/>
          </p:nvSpPr>
          <p:spPr>
            <a:xfrm>
              <a:off x="3916333" y="4183432"/>
              <a:ext cx="74583" cy="74583"/>
            </a:xfrm>
            <a:custGeom>
              <a:avLst/>
              <a:gdLst>
                <a:gd name="connsiteX0" fmla="*/ 74583 w 74583"/>
                <a:gd name="connsiteY0" fmla="*/ 37292 h 74583"/>
                <a:gd name="connsiteX1" fmla="*/ 37292 w 74583"/>
                <a:gd name="connsiteY1" fmla="*/ 74583 h 74583"/>
                <a:gd name="connsiteX2" fmla="*/ 0 w 74583"/>
                <a:gd name="connsiteY2" fmla="*/ 37292 h 74583"/>
                <a:gd name="connsiteX3" fmla="*/ 37292 w 74583"/>
                <a:gd name="connsiteY3" fmla="*/ 0 h 74583"/>
                <a:gd name="connsiteX4" fmla="*/ 74583 w 74583"/>
                <a:gd name="connsiteY4" fmla="*/ 37292 h 74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583" h="74583">
                  <a:moveTo>
                    <a:pt x="74583" y="37292"/>
                  </a:moveTo>
                  <a:cubicBezTo>
                    <a:pt x="74583" y="57887"/>
                    <a:pt x="57887" y="74583"/>
                    <a:pt x="37292" y="74583"/>
                  </a:cubicBezTo>
                  <a:cubicBezTo>
                    <a:pt x="16696" y="74583"/>
                    <a:pt x="0" y="57887"/>
                    <a:pt x="0" y="37292"/>
                  </a:cubicBezTo>
                  <a:cubicBezTo>
                    <a:pt x="0" y="16696"/>
                    <a:pt x="16696" y="0"/>
                    <a:pt x="37292" y="0"/>
                  </a:cubicBezTo>
                  <a:cubicBezTo>
                    <a:pt x="57887" y="0"/>
                    <a:pt x="74583" y="16696"/>
                    <a:pt x="74583" y="37292"/>
                  </a:cubicBezTo>
                  <a:close/>
                </a:path>
              </a:pathLst>
            </a:custGeom>
            <a:noFill/>
            <a:ln w="26843" cap="flat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8CEDA9E3-AA6D-567B-A617-82EB15D1542C}"/>
                </a:ext>
              </a:extLst>
            </p:cNvPr>
            <p:cNvSpPr/>
            <p:nvPr/>
          </p:nvSpPr>
          <p:spPr>
            <a:xfrm>
              <a:off x="4800296" y="3048273"/>
              <a:ext cx="101433" cy="101433"/>
            </a:xfrm>
            <a:custGeom>
              <a:avLst/>
              <a:gdLst>
                <a:gd name="connsiteX0" fmla="*/ 101433 w 101433"/>
                <a:gd name="connsiteY0" fmla="*/ 50717 h 101433"/>
                <a:gd name="connsiteX1" fmla="*/ 50717 w 101433"/>
                <a:gd name="connsiteY1" fmla="*/ 101433 h 101433"/>
                <a:gd name="connsiteX2" fmla="*/ 0 w 101433"/>
                <a:gd name="connsiteY2" fmla="*/ 50717 h 101433"/>
                <a:gd name="connsiteX3" fmla="*/ 50717 w 101433"/>
                <a:gd name="connsiteY3" fmla="*/ 0 h 101433"/>
                <a:gd name="connsiteX4" fmla="*/ 101433 w 101433"/>
                <a:gd name="connsiteY4" fmla="*/ 50717 h 10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33" h="101433">
                  <a:moveTo>
                    <a:pt x="101433" y="50717"/>
                  </a:moveTo>
                  <a:cubicBezTo>
                    <a:pt x="101433" y="78727"/>
                    <a:pt x="78727" y="101433"/>
                    <a:pt x="50717" y="101433"/>
                  </a:cubicBezTo>
                  <a:cubicBezTo>
                    <a:pt x="22706" y="101433"/>
                    <a:pt x="0" y="78727"/>
                    <a:pt x="0" y="50717"/>
                  </a:cubicBezTo>
                  <a:cubicBezTo>
                    <a:pt x="0" y="22707"/>
                    <a:pt x="22706" y="0"/>
                    <a:pt x="50717" y="0"/>
                  </a:cubicBezTo>
                  <a:cubicBezTo>
                    <a:pt x="78727" y="0"/>
                    <a:pt x="101433" y="22707"/>
                    <a:pt x="101433" y="50717"/>
                  </a:cubicBezTo>
                  <a:close/>
                </a:path>
              </a:pathLst>
            </a:custGeom>
            <a:solidFill>
              <a:srgbClr val="FAA523"/>
            </a:solidFill>
            <a:ln w="16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E5ECF331-14C1-5451-C392-E28C5980F1C1}"/>
                </a:ext>
              </a:extLst>
            </p:cNvPr>
            <p:cNvSpPr/>
            <p:nvPr/>
          </p:nvSpPr>
          <p:spPr>
            <a:xfrm>
              <a:off x="4813721" y="3061698"/>
              <a:ext cx="74583" cy="74583"/>
            </a:xfrm>
            <a:custGeom>
              <a:avLst/>
              <a:gdLst>
                <a:gd name="connsiteX0" fmla="*/ 74583 w 74583"/>
                <a:gd name="connsiteY0" fmla="*/ 37292 h 74583"/>
                <a:gd name="connsiteX1" fmla="*/ 37292 w 74583"/>
                <a:gd name="connsiteY1" fmla="*/ 74583 h 74583"/>
                <a:gd name="connsiteX2" fmla="*/ 0 w 74583"/>
                <a:gd name="connsiteY2" fmla="*/ 37292 h 74583"/>
                <a:gd name="connsiteX3" fmla="*/ 37292 w 74583"/>
                <a:gd name="connsiteY3" fmla="*/ 0 h 74583"/>
                <a:gd name="connsiteX4" fmla="*/ 74583 w 74583"/>
                <a:gd name="connsiteY4" fmla="*/ 37292 h 74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583" h="74583">
                  <a:moveTo>
                    <a:pt x="74583" y="37292"/>
                  </a:moveTo>
                  <a:cubicBezTo>
                    <a:pt x="74583" y="57887"/>
                    <a:pt x="57887" y="74583"/>
                    <a:pt x="37292" y="74583"/>
                  </a:cubicBezTo>
                  <a:cubicBezTo>
                    <a:pt x="16696" y="74583"/>
                    <a:pt x="0" y="57887"/>
                    <a:pt x="0" y="37292"/>
                  </a:cubicBezTo>
                  <a:cubicBezTo>
                    <a:pt x="0" y="16696"/>
                    <a:pt x="16696" y="0"/>
                    <a:pt x="37292" y="0"/>
                  </a:cubicBezTo>
                  <a:cubicBezTo>
                    <a:pt x="57887" y="0"/>
                    <a:pt x="74583" y="16696"/>
                    <a:pt x="74583" y="37292"/>
                  </a:cubicBezTo>
                  <a:close/>
                </a:path>
              </a:pathLst>
            </a:custGeom>
            <a:noFill/>
            <a:ln w="26843" cap="flat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0C8B703A-5732-6038-559A-55E9568CA98F}"/>
                </a:ext>
              </a:extLst>
            </p:cNvPr>
            <p:cNvSpPr/>
            <p:nvPr/>
          </p:nvSpPr>
          <p:spPr>
            <a:xfrm>
              <a:off x="5697982" y="1821226"/>
              <a:ext cx="101433" cy="101433"/>
            </a:xfrm>
            <a:custGeom>
              <a:avLst/>
              <a:gdLst>
                <a:gd name="connsiteX0" fmla="*/ 101434 w 101433"/>
                <a:gd name="connsiteY0" fmla="*/ 50717 h 101433"/>
                <a:gd name="connsiteX1" fmla="*/ 50717 w 101433"/>
                <a:gd name="connsiteY1" fmla="*/ 101433 h 101433"/>
                <a:gd name="connsiteX2" fmla="*/ 0 w 101433"/>
                <a:gd name="connsiteY2" fmla="*/ 50717 h 101433"/>
                <a:gd name="connsiteX3" fmla="*/ 50717 w 101433"/>
                <a:gd name="connsiteY3" fmla="*/ 0 h 101433"/>
                <a:gd name="connsiteX4" fmla="*/ 101434 w 101433"/>
                <a:gd name="connsiteY4" fmla="*/ 50717 h 10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33" h="101433">
                  <a:moveTo>
                    <a:pt x="101434" y="50717"/>
                  </a:moveTo>
                  <a:cubicBezTo>
                    <a:pt x="101434" y="78727"/>
                    <a:pt x="78727" y="101433"/>
                    <a:pt x="50717" y="101433"/>
                  </a:cubicBezTo>
                  <a:cubicBezTo>
                    <a:pt x="22707" y="101433"/>
                    <a:pt x="0" y="78727"/>
                    <a:pt x="0" y="50717"/>
                  </a:cubicBezTo>
                  <a:cubicBezTo>
                    <a:pt x="0" y="22707"/>
                    <a:pt x="22707" y="0"/>
                    <a:pt x="50717" y="0"/>
                  </a:cubicBezTo>
                  <a:cubicBezTo>
                    <a:pt x="78727" y="0"/>
                    <a:pt x="101434" y="22707"/>
                    <a:pt x="101434" y="50717"/>
                  </a:cubicBezTo>
                  <a:close/>
                </a:path>
              </a:pathLst>
            </a:custGeom>
            <a:solidFill>
              <a:srgbClr val="FAA523"/>
            </a:solidFill>
            <a:ln w="16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C6C839B9-094C-F980-68BC-138C82544D39}"/>
                </a:ext>
              </a:extLst>
            </p:cNvPr>
            <p:cNvSpPr/>
            <p:nvPr/>
          </p:nvSpPr>
          <p:spPr>
            <a:xfrm>
              <a:off x="5711407" y="1834651"/>
              <a:ext cx="74583" cy="74583"/>
            </a:xfrm>
            <a:custGeom>
              <a:avLst/>
              <a:gdLst>
                <a:gd name="connsiteX0" fmla="*/ 74583 w 74583"/>
                <a:gd name="connsiteY0" fmla="*/ 37292 h 74583"/>
                <a:gd name="connsiteX1" fmla="*/ 37292 w 74583"/>
                <a:gd name="connsiteY1" fmla="*/ 74583 h 74583"/>
                <a:gd name="connsiteX2" fmla="*/ 0 w 74583"/>
                <a:gd name="connsiteY2" fmla="*/ 37292 h 74583"/>
                <a:gd name="connsiteX3" fmla="*/ 37292 w 74583"/>
                <a:gd name="connsiteY3" fmla="*/ 0 h 74583"/>
                <a:gd name="connsiteX4" fmla="*/ 74583 w 74583"/>
                <a:gd name="connsiteY4" fmla="*/ 37292 h 74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583" h="74583">
                  <a:moveTo>
                    <a:pt x="74583" y="37292"/>
                  </a:moveTo>
                  <a:cubicBezTo>
                    <a:pt x="74583" y="57887"/>
                    <a:pt x="57888" y="74583"/>
                    <a:pt x="37292" y="74583"/>
                  </a:cubicBezTo>
                  <a:cubicBezTo>
                    <a:pt x="16696" y="74583"/>
                    <a:pt x="0" y="57887"/>
                    <a:pt x="0" y="37292"/>
                  </a:cubicBezTo>
                  <a:cubicBezTo>
                    <a:pt x="0" y="16696"/>
                    <a:pt x="16696" y="0"/>
                    <a:pt x="37292" y="0"/>
                  </a:cubicBezTo>
                  <a:cubicBezTo>
                    <a:pt x="57888" y="0"/>
                    <a:pt x="74583" y="16696"/>
                    <a:pt x="74583" y="37292"/>
                  </a:cubicBezTo>
                  <a:close/>
                </a:path>
              </a:pathLst>
            </a:custGeom>
            <a:noFill/>
            <a:ln w="26843" cap="flat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715023FB-9714-694D-9A42-048C90FE358C}"/>
                </a:ext>
              </a:extLst>
            </p:cNvPr>
            <p:cNvSpPr/>
            <p:nvPr/>
          </p:nvSpPr>
          <p:spPr>
            <a:xfrm>
              <a:off x="6595370" y="2922077"/>
              <a:ext cx="101433" cy="101433"/>
            </a:xfrm>
            <a:custGeom>
              <a:avLst/>
              <a:gdLst>
                <a:gd name="connsiteX0" fmla="*/ 101434 w 101433"/>
                <a:gd name="connsiteY0" fmla="*/ 50717 h 101433"/>
                <a:gd name="connsiteX1" fmla="*/ 50717 w 101433"/>
                <a:gd name="connsiteY1" fmla="*/ 101433 h 101433"/>
                <a:gd name="connsiteX2" fmla="*/ 0 w 101433"/>
                <a:gd name="connsiteY2" fmla="*/ 50717 h 101433"/>
                <a:gd name="connsiteX3" fmla="*/ 50717 w 101433"/>
                <a:gd name="connsiteY3" fmla="*/ 0 h 101433"/>
                <a:gd name="connsiteX4" fmla="*/ 101434 w 101433"/>
                <a:gd name="connsiteY4" fmla="*/ 50717 h 10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33" h="101433">
                  <a:moveTo>
                    <a:pt x="101434" y="50717"/>
                  </a:moveTo>
                  <a:cubicBezTo>
                    <a:pt x="101434" y="78727"/>
                    <a:pt x="78727" y="101433"/>
                    <a:pt x="50717" y="101433"/>
                  </a:cubicBezTo>
                  <a:cubicBezTo>
                    <a:pt x="22707" y="101433"/>
                    <a:pt x="0" y="78727"/>
                    <a:pt x="0" y="50717"/>
                  </a:cubicBezTo>
                  <a:cubicBezTo>
                    <a:pt x="0" y="22707"/>
                    <a:pt x="22707" y="0"/>
                    <a:pt x="50717" y="0"/>
                  </a:cubicBezTo>
                  <a:cubicBezTo>
                    <a:pt x="78727" y="0"/>
                    <a:pt x="101434" y="22707"/>
                    <a:pt x="101434" y="50717"/>
                  </a:cubicBezTo>
                  <a:close/>
                </a:path>
              </a:pathLst>
            </a:custGeom>
            <a:solidFill>
              <a:srgbClr val="FAA523"/>
            </a:solidFill>
            <a:ln w="16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D0BC4A3A-AC09-9AE7-A9BC-5A8941CF5D38}"/>
                </a:ext>
              </a:extLst>
            </p:cNvPr>
            <p:cNvSpPr/>
            <p:nvPr/>
          </p:nvSpPr>
          <p:spPr>
            <a:xfrm>
              <a:off x="7492758" y="3966842"/>
              <a:ext cx="101433" cy="101433"/>
            </a:xfrm>
            <a:custGeom>
              <a:avLst/>
              <a:gdLst>
                <a:gd name="connsiteX0" fmla="*/ 101433 w 101433"/>
                <a:gd name="connsiteY0" fmla="*/ 50717 h 101433"/>
                <a:gd name="connsiteX1" fmla="*/ 50717 w 101433"/>
                <a:gd name="connsiteY1" fmla="*/ 101433 h 101433"/>
                <a:gd name="connsiteX2" fmla="*/ 0 w 101433"/>
                <a:gd name="connsiteY2" fmla="*/ 50717 h 101433"/>
                <a:gd name="connsiteX3" fmla="*/ 50717 w 101433"/>
                <a:gd name="connsiteY3" fmla="*/ 0 h 101433"/>
                <a:gd name="connsiteX4" fmla="*/ 101433 w 101433"/>
                <a:gd name="connsiteY4" fmla="*/ 50717 h 10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33" h="101433">
                  <a:moveTo>
                    <a:pt x="101433" y="50717"/>
                  </a:moveTo>
                  <a:cubicBezTo>
                    <a:pt x="101433" y="78727"/>
                    <a:pt x="78727" y="101433"/>
                    <a:pt x="50717" y="101433"/>
                  </a:cubicBezTo>
                  <a:cubicBezTo>
                    <a:pt x="22706" y="101433"/>
                    <a:pt x="0" y="78727"/>
                    <a:pt x="0" y="50717"/>
                  </a:cubicBezTo>
                  <a:cubicBezTo>
                    <a:pt x="0" y="22707"/>
                    <a:pt x="22706" y="0"/>
                    <a:pt x="50717" y="0"/>
                  </a:cubicBezTo>
                  <a:cubicBezTo>
                    <a:pt x="78727" y="0"/>
                    <a:pt x="101433" y="22707"/>
                    <a:pt x="101433" y="50717"/>
                  </a:cubicBezTo>
                  <a:close/>
                </a:path>
              </a:pathLst>
            </a:custGeom>
            <a:solidFill>
              <a:srgbClr val="FAA523"/>
            </a:solidFill>
            <a:ln w="16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B9459AE1-A5BE-A7FE-A97E-02E07E5A8E81}"/>
                </a:ext>
              </a:extLst>
            </p:cNvPr>
            <p:cNvSpPr/>
            <p:nvPr/>
          </p:nvSpPr>
          <p:spPr>
            <a:xfrm>
              <a:off x="7506183" y="3980267"/>
              <a:ext cx="74583" cy="74583"/>
            </a:xfrm>
            <a:custGeom>
              <a:avLst/>
              <a:gdLst>
                <a:gd name="connsiteX0" fmla="*/ 74583 w 74583"/>
                <a:gd name="connsiteY0" fmla="*/ 37292 h 74583"/>
                <a:gd name="connsiteX1" fmla="*/ 37292 w 74583"/>
                <a:gd name="connsiteY1" fmla="*/ 74583 h 74583"/>
                <a:gd name="connsiteX2" fmla="*/ 0 w 74583"/>
                <a:gd name="connsiteY2" fmla="*/ 37292 h 74583"/>
                <a:gd name="connsiteX3" fmla="*/ 37292 w 74583"/>
                <a:gd name="connsiteY3" fmla="*/ 0 h 74583"/>
                <a:gd name="connsiteX4" fmla="*/ 74583 w 74583"/>
                <a:gd name="connsiteY4" fmla="*/ 37292 h 74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583" h="74583">
                  <a:moveTo>
                    <a:pt x="74583" y="37292"/>
                  </a:moveTo>
                  <a:cubicBezTo>
                    <a:pt x="74583" y="57887"/>
                    <a:pt x="57887" y="74583"/>
                    <a:pt x="37292" y="74583"/>
                  </a:cubicBezTo>
                  <a:cubicBezTo>
                    <a:pt x="16696" y="74583"/>
                    <a:pt x="0" y="57887"/>
                    <a:pt x="0" y="37292"/>
                  </a:cubicBezTo>
                  <a:cubicBezTo>
                    <a:pt x="0" y="16696"/>
                    <a:pt x="16696" y="0"/>
                    <a:pt x="37292" y="0"/>
                  </a:cubicBezTo>
                  <a:cubicBezTo>
                    <a:pt x="57887" y="0"/>
                    <a:pt x="74583" y="16696"/>
                    <a:pt x="74583" y="37292"/>
                  </a:cubicBezTo>
                  <a:close/>
                </a:path>
              </a:pathLst>
            </a:custGeom>
            <a:noFill/>
            <a:ln w="26843" cap="flat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51CEA818-380A-1B0E-7A88-08A2E2B24331}"/>
                </a:ext>
              </a:extLst>
            </p:cNvPr>
            <p:cNvSpPr/>
            <p:nvPr/>
          </p:nvSpPr>
          <p:spPr>
            <a:xfrm>
              <a:off x="8390146" y="4495489"/>
              <a:ext cx="101433" cy="101433"/>
            </a:xfrm>
            <a:custGeom>
              <a:avLst/>
              <a:gdLst>
                <a:gd name="connsiteX0" fmla="*/ 101433 w 101433"/>
                <a:gd name="connsiteY0" fmla="*/ 50717 h 101433"/>
                <a:gd name="connsiteX1" fmla="*/ 50716 w 101433"/>
                <a:gd name="connsiteY1" fmla="*/ 101434 h 101433"/>
                <a:gd name="connsiteX2" fmla="*/ 0 w 101433"/>
                <a:gd name="connsiteY2" fmla="*/ 50717 h 101433"/>
                <a:gd name="connsiteX3" fmla="*/ 50716 w 101433"/>
                <a:gd name="connsiteY3" fmla="*/ 0 h 101433"/>
                <a:gd name="connsiteX4" fmla="*/ 101433 w 101433"/>
                <a:gd name="connsiteY4" fmla="*/ 50717 h 10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33" h="101433">
                  <a:moveTo>
                    <a:pt x="101433" y="50717"/>
                  </a:moveTo>
                  <a:cubicBezTo>
                    <a:pt x="101433" y="78727"/>
                    <a:pt x="78727" y="101434"/>
                    <a:pt x="50716" y="101434"/>
                  </a:cubicBezTo>
                  <a:cubicBezTo>
                    <a:pt x="22706" y="101434"/>
                    <a:pt x="0" y="78727"/>
                    <a:pt x="0" y="50717"/>
                  </a:cubicBezTo>
                  <a:cubicBezTo>
                    <a:pt x="0" y="22707"/>
                    <a:pt x="22706" y="0"/>
                    <a:pt x="50716" y="0"/>
                  </a:cubicBezTo>
                  <a:cubicBezTo>
                    <a:pt x="78727" y="0"/>
                    <a:pt x="101433" y="22707"/>
                    <a:pt x="101433" y="50717"/>
                  </a:cubicBezTo>
                  <a:close/>
                </a:path>
              </a:pathLst>
            </a:custGeom>
            <a:solidFill>
              <a:srgbClr val="FAA523"/>
            </a:solidFill>
            <a:ln w="16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C1B21E8E-41B1-DDA3-A2DB-2994242FC4F2}"/>
                </a:ext>
              </a:extLst>
            </p:cNvPr>
            <p:cNvSpPr/>
            <p:nvPr/>
          </p:nvSpPr>
          <p:spPr>
            <a:xfrm>
              <a:off x="8403571" y="4508914"/>
              <a:ext cx="74583" cy="74583"/>
            </a:xfrm>
            <a:custGeom>
              <a:avLst/>
              <a:gdLst>
                <a:gd name="connsiteX0" fmla="*/ 74583 w 74583"/>
                <a:gd name="connsiteY0" fmla="*/ 37292 h 74583"/>
                <a:gd name="connsiteX1" fmla="*/ 37291 w 74583"/>
                <a:gd name="connsiteY1" fmla="*/ 74584 h 74583"/>
                <a:gd name="connsiteX2" fmla="*/ 0 w 74583"/>
                <a:gd name="connsiteY2" fmla="*/ 37292 h 74583"/>
                <a:gd name="connsiteX3" fmla="*/ 37291 w 74583"/>
                <a:gd name="connsiteY3" fmla="*/ 0 h 74583"/>
                <a:gd name="connsiteX4" fmla="*/ 74583 w 74583"/>
                <a:gd name="connsiteY4" fmla="*/ 37292 h 74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583" h="74583">
                  <a:moveTo>
                    <a:pt x="74583" y="37292"/>
                  </a:moveTo>
                  <a:cubicBezTo>
                    <a:pt x="74583" y="57888"/>
                    <a:pt x="57887" y="74584"/>
                    <a:pt x="37291" y="74584"/>
                  </a:cubicBezTo>
                  <a:cubicBezTo>
                    <a:pt x="16696" y="74584"/>
                    <a:pt x="0" y="57888"/>
                    <a:pt x="0" y="37292"/>
                  </a:cubicBezTo>
                  <a:cubicBezTo>
                    <a:pt x="0" y="16696"/>
                    <a:pt x="16696" y="0"/>
                    <a:pt x="37291" y="0"/>
                  </a:cubicBezTo>
                  <a:cubicBezTo>
                    <a:pt x="57887" y="0"/>
                    <a:pt x="74583" y="16696"/>
                    <a:pt x="74583" y="37292"/>
                  </a:cubicBezTo>
                  <a:close/>
                </a:path>
              </a:pathLst>
            </a:custGeom>
            <a:noFill/>
            <a:ln w="26843" cap="flat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568D01A6-64F1-B321-AF55-7916167E2D70}"/>
                </a:ext>
              </a:extLst>
            </p:cNvPr>
            <p:cNvSpPr/>
            <p:nvPr/>
          </p:nvSpPr>
          <p:spPr>
            <a:xfrm>
              <a:off x="9287534" y="4813215"/>
              <a:ext cx="101433" cy="101433"/>
            </a:xfrm>
            <a:custGeom>
              <a:avLst/>
              <a:gdLst>
                <a:gd name="connsiteX0" fmla="*/ 101433 w 101433"/>
                <a:gd name="connsiteY0" fmla="*/ 50717 h 101433"/>
                <a:gd name="connsiteX1" fmla="*/ 50716 w 101433"/>
                <a:gd name="connsiteY1" fmla="*/ 101434 h 101433"/>
                <a:gd name="connsiteX2" fmla="*/ -1 w 101433"/>
                <a:gd name="connsiteY2" fmla="*/ 50717 h 101433"/>
                <a:gd name="connsiteX3" fmla="*/ 50716 w 101433"/>
                <a:gd name="connsiteY3" fmla="*/ 0 h 101433"/>
                <a:gd name="connsiteX4" fmla="*/ 101433 w 101433"/>
                <a:gd name="connsiteY4" fmla="*/ 50717 h 10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33" h="101433">
                  <a:moveTo>
                    <a:pt x="101433" y="50717"/>
                  </a:moveTo>
                  <a:cubicBezTo>
                    <a:pt x="101433" y="78727"/>
                    <a:pt x="78726" y="101434"/>
                    <a:pt x="50716" y="101434"/>
                  </a:cubicBezTo>
                  <a:cubicBezTo>
                    <a:pt x="22706" y="101434"/>
                    <a:pt x="-1" y="78727"/>
                    <a:pt x="-1" y="50717"/>
                  </a:cubicBezTo>
                  <a:cubicBezTo>
                    <a:pt x="-1" y="22707"/>
                    <a:pt x="22706" y="0"/>
                    <a:pt x="50716" y="0"/>
                  </a:cubicBezTo>
                  <a:cubicBezTo>
                    <a:pt x="78726" y="0"/>
                    <a:pt x="101433" y="22707"/>
                    <a:pt x="101433" y="50717"/>
                  </a:cubicBezTo>
                  <a:close/>
                </a:path>
              </a:pathLst>
            </a:custGeom>
            <a:solidFill>
              <a:srgbClr val="FAA523"/>
            </a:solidFill>
            <a:ln w="16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3DFD7C3C-9E93-1095-5570-DBF03A583395}"/>
                </a:ext>
              </a:extLst>
            </p:cNvPr>
            <p:cNvSpPr/>
            <p:nvPr/>
          </p:nvSpPr>
          <p:spPr>
            <a:xfrm>
              <a:off x="9300959" y="4826640"/>
              <a:ext cx="74583" cy="74583"/>
            </a:xfrm>
            <a:custGeom>
              <a:avLst/>
              <a:gdLst>
                <a:gd name="connsiteX0" fmla="*/ 74583 w 74583"/>
                <a:gd name="connsiteY0" fmla="*/ 37292 h 74583"/>
                <a:gd name="connsiteX1" fmla="*/ 37291 w 74583"/>
                <a:gd name="connsiteY1" fmla="*/ 74583 h 74583"/>
                <a:gd name="connsiteX2" fmla="*/ 0 w 74583"/>
                <a:gd name="connsiteY2" fmla="*/ 37292 h 74583"/>
                <a:gd name="connsiteX3" fmla="*/ 37291 w 74583"/>
                <a:gd name="connsiteY3" fmla="*/ 0 h 74583"/>
                <a:gd name="connsiteX4" fmla="*/ 74583 w 74583"/>
                <a:gd name="connsiteY4" fmla="*/ 37292 h 74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583" h="74583">
                  <a:moveTo>
                    <a:pt x="74583" y="37292"/>
                  </a:moveTo>
                  <a:cubicBezTo>
                    <a:pt x="74583" y="57888"/>
                    <a:pt x="57887" y="74583"/>
                    <a:pt x="37291" y="74583"/>
                  </a:cubicBezTo>
                  <a:cubicBezTo>
                    <a:pt x="16696" y="74583"/>
                    <a:pt x="0" y="57888"/>
                    <a:pt x="0" y="37292"/>
                  </a:cubicBezTo>
                  <a:cubicBezTo>
                    <a:pt x="0" y="16696"/>
                    <a:pt x="16696" y="0"/>
                    <a:pt x="37291" y="0"/>
                  </a:cubicBezTo>
                  <a:cubicBezTo>
                    <a:pt x="57887" y="0"/>
                    <a:pt x="74583" y="16696"/>
                    <a:pt x="74583" y="37292"/>
                  </a:cubicBezTo>
                  <a:close/>
                </a:path>
              </a:pathLst>
            </a:custGeom>
            <a:noFill/>
            <a:ln w="26843" cap="flat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14C8765A-AB78-38EA-C8AD-D0AB007CB4FF}"/>
                </a:ext>
              </a:extLst>
            </p:cNvPr>
            <p:cNvSpPr/>
            <p:nvPr/>
          </p:nvSpPr>
          <p:spPr>
            <a:xfrm>
              <a:off x="2158849" y="4942095"/>
              <a:ext cx="1657" cy="1491"/>
            </a:xfrm>
            <a:custGeom>
              <a:avLst/>
              <a:gdLst>
                <a:gd name="connsiteX0" fmla="*/ 0 w 1657"/>
                <a:gd name="connsiteY0" fmla="*/ 1492 h 1491"/>
                <a:gd name="connsiteX1" fmla="*/ 0 w 1657"/>
                <a:gd name="connsiteY1" fmla="*/ 0 h 1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1491">
                  <a:moveTo>
                    <a:pt x="0" y="1492"/>
                  </a:moveTo>
                  <a:lnTo>
                    <a:pt x="0" y="0"/>
                  </a:lnTo>
                </a:path>
              </a:pathLst>
            </a:custGeom>
            <a:ln w="26843" cap="flat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39E0BE3-1680-A1F8-EEA1-F15D7F882D91}"/>
                </a:ext>
              </a:extLst>
            </p:cNvPr>
            <p:cNvSpPr/>
            <p:nvPr/>
          </p:nvSpPr>
          <p:spPr>
            <a:xfrm>
              <a:off x="2121558" y="4942095"/>
              <a:ext cx="74583" cy="1657"/>
            </a:xfrm>
            <a:custGeom>
              <a:avLst/>
              <a:gdLst>
                <a:gd name="connsiteX0" fmla="*/ 0 w 74583"/>
                <a:gd name="connsiteY0" fmla="*/ 0 h 1657"/>
                <a:gd name="connsiteX1" fmla="*/ 74583 w 7458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583" h="1657">
                  <a:moveTo>
                    <a:pt x="0" y="0"/>
                  </a:moveTo>
                  <a:lnTo>
                    <a:pt x="74583" y="0"/>
                  </a:lnTo>
                </a:path>
              </a:pathLst>
            </a:custGeom>
            <a:ln w="26843" cap="rnd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F9BD9C1D-3A5E-1200-A197-FD29E87FA89C}"/>
                </a:ext>
              </a:extLst>
            </p:cNvPr>
            <p:cNvSpPr/>
            <p:nvPr/>
          </p:nvSpPr>
          <p:spPr>
            <a:xfrm>
              <a:off x="2121558" y="4943587"/>
              <a:ext cx="74583" cy="1657"/>
            </a:xfrm>
            <a:custGeom>
              <a:avLst/>
              <a:gdLst>
                <a:gd name="connsiteX0" fmla="*/ 0 w 74583"/>
                <a:gd name="connsiteY0" fmla="*/ 0 h 1657"/>
                <a:gd name="connsiteX1" fmla="*/ 74583 w 7458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583" h="1657">
                  <a:moveTo>
                    <a:pt x="0" y="0"/>
                  </a:moveTo>
                  <a:lnTo>
                    <a:pt x="74583" y="0"/>
                  </a:lnTo>
                </a:path>
              </a:pathLst>
            </a:custGeom>
            <a:ln w="26843" cap="rnd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09D96EA7-036C-246F-0D2B-C01B6FBB1110}"/>
                </a:ext>
              </a:extLst>
            </p:cNvPr>
            <p:cNvSpPr/>
            <p:nvPr/>
          </p:nvSpPr>
          <p:spPr>
            <a:xfrm>
              <a:off x="3056237" y="4612735"/>
              <a:ext cx="1657" cy="1790"/>
            </a:xfrm>
            <a:custGeom>
              <a:avLst/>
              <a:gdLst>
                <a:gd name="connsiteX0" fmla="*/ 0 w 1657"/>
                <a:gd name="connsiteY0" fmla="*/ 1790 h 1790"/>
                <a:gd name="connsiteX1" fmla="*/ 0 w 1657"/>
                <a:gd name="connsiteY1" fmla="*/ 0 h 1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1790">
                  <a:moveTo>
                    <a:pt x="0" y="1790"/>
                  </a:moveTo>
                  <a:lnTo>
                    <a:pt x="0" y="0"/>
                  </a:lnTo>
                </a:path>
              </a:pathLst>
            </a:custGeom>
            <a:ln w="26843" cap="flat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AC03FFE7-A252-C542-C396-E6A2E2759AF7}"/>
                </a:ext>
              </a:extLst>
            </p:cNvPr>
            <p:cNvSpPr/>
            <p:nvPr/>
          </p:nvSpPr>
          <p:spPr>
            <a:xfrm>
              <a:off x="3018945" y="4612735"/>
              <a:ext cx="74583" cy="1657"/>
            </a:xfrm>
            <a:custGeom>
              <a:avLst/>
              <a:gdLst>
                <a:gd name="connsiteX0" fmla="*/ 0 w 74583"/>
                <a:gd name="connsiteY0" fmla="*/ 0 h 1657"/>
                <a:gd name="connsiteX1" fmla="*/ 74583 w 7458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583" h="1657">
                  <a:moveTo>
                    <a:pt x="0" y="0"/>
                  </a:moveTo>
                  <a:lnTo>
                    <a:pt x="74583" y="0"/>
                  </a:lnTo>
                </a:path>
              </a:pathLst>
            </a:custGeom>
            <a:ln w="26843" cap="rnd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5CD7E40E-FE81-52FC-C78D-339614555486}"/>
                </a:ext>
              </a:extLst>
            </p:cNvPr>
            <p:cNvSpPr/>
            <p:nvPr/>
          </p:nvSpPr>
          <p:spPr>
            <a:xfrm>
              <a:off x="3018945" y="4614525"/>
              <a:ext cx="74583" cy="1657"/>
            </a:xfrm>
            <a:custGeom>
              <a:avLst/>
              <a:gdLst>
                <a:gd name="connsiteX0" fmla="*/ 0 w 74583"/>
                <a:gd name="connsiteY0" fmla="*/ 0 h 1657"/>
                <a:gd name="connsiteX1" fmla="*/ 74583 w 7458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583" h="1657">
                  <a:moveTo>
                    <a:pt x="0" y="0"/>
                  </a:moveTo>
                  <a:lnTo>
                    <a:pt x="74583" y="0"/>
                  </a:lnTo>
                </a:path>
              </a:pathLst>
            </a:custGeom>
            <a:ln w="26843" cap="rnd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BAC1EBC2-66E3-D77F-984D-3169AE05EEF4}"/>
                </a:ext>
              </a:extLst>
            </p:cNvPr>
            <p:cNvSpPr/>
            <p:nvPr/>
          </p:nvSpPr>
          <p:spPr>
            <a:xfrm>
              <a:off x="3953923" y="4219531"/>
              <a:ext cx="1657" cy="2088"/>
            </a:xfrm>
            <a:custGeom>
              <a:avLst/>
              <a:gdLst>
                <a:gd name="connsiteX0" fmla="*/ 0 w 1657"/>
                <a:gd name="connsiteY0" fmla="*/ 2088 h 2088"/>
                <a:gd name="connsiteX1" fmla="*/ 0 w 1657"/>
                <a:gd name="connsiteY1" fmla="*/ 0 h 2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2088">
                  <a:moveTo>
                    <a:pt x="0" y="2088"/>
                  </a:moveTo>
                  <a:lnTo>
                    <a:pt x="0" y="0"/>
                  </a:lnTo>
                </a:path>
              </a:pathLst>
            </a:custGeom>
            <a:ln w="26843" cap="flat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633DD027-6409-398A-A8A5-8A6C29C7BB08}"/>
                </a:ext>
              </a:extLst>
            </p:cNvPr>
            <p:cNvSpPr/>
            <p:nvPr/>
          </p:nvSpPr>
          <p:spPr>
            <a:xfrm>
              <a:off x="3916632" y="4219531"/>
              <a:ext cx="74583" cy="1657"/>
            </a:xfrm>
            <a:custGeom>
              <a:avLst/>
              <a:gdLst>
                <a:gd name="connsiteX0" fmla="*/ 0 w 74583"/>
                <a:gd name="connsiteY0" fmla="*/ 0 h 1657"/>
                <a:gd name="connsiteX1" fmla="*/ 74583 w 7458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583" h="1657">
                  <a:moveTo>
                    <a:pt x="0" y="0"/>
                  </a:moveTo>
                  <a:lnTo>
                    <a:pt x="74583" y="0"/>
                  </a:lnTo>
                </a:path>
              </a:pathLst>
            </a:custGeom>
            <a:ln w="26843" cap="rnd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39FEDAB4-551B-6432-503C-8AE3719BF909}"/>
                </a:ext>
              </a:extLst>
            </p:cNvPr>
            <p:cNvSpPr/>
            <p:nvPr/>
          </p:nvSpPr>
          <p:spPr>
            <a:xfrm>
              <a:off x="3916632" y="4221619"/>
              <a:ext cx="74583" cy="1657"/>
            </a:xfrm>
            <a:custGeom>
              <a:avLst/>
              <a:gdLst>
                <a:gd name="connsiteX0" fmla="*/ 0 w 74583"/>
                <a:gd name="connsiteY0" fmla="*/ 0 h 1657"/>
                <a:gd name="connsiteX1" fmla="*/ 74583 w 7458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583" h="1657">
                  <a:moveTo>
                    <a:pt x="0" y="0"/>
                  </a:moveTo>
                  <a:lnTo>
                    <a:pt x="74583" y="0"/>
                  </a:lnTo>
                </a:path>
              </a:pathLst>
            </a:custGeom>
            <a:ln w="26843" cap="rnd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AA160663-6EDE-C992-2719-F5DC1952AEF2}"/>
                </a:ext>
              </a:extLst>
            </p:cNvPr>
            <p:cNvSpPr/>
            <p:nvPr/>
          </p:nvSpPr>
          <p:spPr>
            <a:xfrm>
              <a:off x="4851311" y="3096901"/>
              <a:ext cx="1657" cy="3580"/>
            </a:xfrm>
            <a:custGeom>
              <a:avLst/>
              <a:gdLst>
                <a:gd name="connsiteX0" fmla="*/ 0 w 1657"/>
                <a:gd name="connsiteY0" fmla="*/ 3580 h 3580"/>
                <a:gd name="connsiteX1" fmla="*/ 0 w 1657"/>
                <a:gd name="connsiteY1" fmla="*/ 0 h 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3580">
                  <a:moveTo>
                    <a:pt x="0" y="3580"/>
                  </a:moveTo>
                  <a:lnTo>
                    <a:pt x="0" y="0"/>
                  </a:lnTo>
                </a:path>
              </a:pathLst>
            </a:custGeom>
            <a:ln w="26843" cap="flat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5337B31F-1A5A-A6D3-F28B-0708341C40F0}"/>
                </a:ext>
              </a:extLst>
            </p:cNvPr>
            <p:cNvSpPr/>
            <p:nvPr/>
          </p:nvSpPr>
          <p:spPr>
            <a:xfrm>
              <a:off x="4814019" y="3096901"/>
              <a:ext cx="74583" cy="1657"/>
            </a:xfrm>
            <a:custGeom>
              <a:avLst/>
              <a:gdLst>
                <a:gd name="connsiteX0" fmla="*/ 0 w 74583"/>
                <a:gd name="connsiteY0" fmla="*/ 0 h 1657"/>
                <a:gd name="connsiteX1" fmla="*/ 74584 w 7458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583" h="1657">
                  <a:moveTo>
                    <a:pt x="0" y="0"/>
                  </a:moveTo>
                  <a:lnTo>
                    <a:pt x="74584" y="0"/>
                  </a:lnTo>
                </a:path>
              </a:pathLst>
            </a:custGeom>
            <a:ln w="26843" cap="rnd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DD677CE6-3C97-46C2-971A-3D98CB370352}"/>
                </a:ext>
              </a:extLst>
            </p:cNvPr>
            <p:cNvSpPr/>
            <p:nvPr/>
          </p:nvSpPr>
          <p:spPr>
            <a:xfrm>
              <a:off x="4814019" y="3100481"/>
              <a:ext cx="74583" cy="1657"/>
            </a:xfrm>
            <a:custGeom>
              <a:avLst/>
              <a:gdLst>
                <a:gd name="connsiteX0" fmla="*/ 0 w 74583"/>
                <a:gd name="connsiteY0" fmla="*/ 0 h 1657"/>
                <a:gd name="connsiteX1" fmla="*/ 74584 w 7458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583" h="1657">
                  <a:moveTo>
                    <a:pt x="0" y="0"/>
                  </a:moveTo>
                  <a:lnTo>
                    <a:pt x="74584" y="0"/>
                  </a:lnTo>
                </a:path>
              </a:pathLst>
            </a:custGeom>
            <a:ln w="26843" cap="rnd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4A9DDF73-8DE8-0397-7B17-2F6D03D250C3}"/>
                </a:ext>
              </a:extLst>
            </p:cNvPr>
            <p:cNvSpPr/>
            <p:nvPr/>
          </p:nvSpPr>
          <p:spPr>
            <a:xfrm>
              <a:off x="5748699" y="1869258"/>
              <a:ext cx="1657" cy="4773"/>
            </a:xfrm>
            <a:custGeom>
              <a:avLst/>
              <a:gdLst>
                <a:gd name="connsiteX0" fmla="*/ 0 w 1657"/>
                <a:gd name="connsiteY0" fmla="*/ 4773 h 4773"/>
                <a:gd name="connsiteX1" fmla="*/ 0 w 1657"/>
                <a:gd name="connsiteY1" fmla="*/ 0 h 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4773">
                  <a:moveTo>
                    <a:pt x="0" y="4773"/>
                  </a:moveTo>
                  <a:lnTo>
                    <a:pt x="0" y="0"/>
                  </a:lnTo>
                </a:path>
              </a:pathLst>
            </a:custGeom>
            <a:ln w="26843" cap="flat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68282A76-0100-6AB9-64F7-CCCB7CEC1205}"/>
                </a:ext>
              </a:extLst>
            </p:cNvPr>
            <p:cNvSpPr/>
            <p:nvPr/>
          </p:nvSpPr>
          <p:spPr>
            <a:xfrm>
              <a:off x="6646087" y="2970407"/>
              <a:ext cx="1657" cy="4176"/>
            </a:xfrm>
            <a:custGeom>
              <a:avLst/>
              <a:gdLst>
                <a:gd name="connsiteX0" fmla="*/ 0 w 1657"/>
                <a:gd name="connsiteY0" fmla="*/ 4177 h 4176"/>
                <a:gd name="connsiteX1" fmla="*/ 0 w 1657"/>
                <a:gd name="connsiteY1" fmla="*/ 0 h 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4176">
                  <a:moveTo>
                    <a:pt x="0" y="4177"/>
                  </a:moveTo>
                  <a:lnTo>
                    <a:pt x="0" y="0"/>
                  </a:lnTo>
                </a:path>
              </a:pathLst>
            </a:custGeom>
            <a:ln w="26843" cap="flat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079B662C-97CF-C214-1661-F3CE0806D003}"/>
                </a:ext>
              </a:extLst>
            </p:cNvPr>
            <p:cNvSpPr/>
            <p:nvPr/>
          </p:nvSpPr>
          <p:spPr>
            <a:xfrm>
              <a:off x="6608795" y="2970407"/>
              <a:ext cx="74583" cy="1657"/>
            </a:xfrm>
            <a:custGeom>
              <a:avLst/>
              <a:gdLst>
                <a:gd name="connsiteX0" fmla="*/ 0 w 74583"/>
                <a:gd name="connsiteY0" fmla="*/ 0 h 1657"/>
                <a:gd name="connsiteX1" fmla="*/ 74583 w 7458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583" h="1657">
                  <a:moveTo>
                    <a:pt x="0" y="0"/>
                  </a:moveTo>
                  <a:lnTo>
                    <a:pt x="74583" y="0"/>
                  </a:lnTo>
                </a:path>
              </a:pathLst>
            </a:custGeom>
            <a:ln w="26843" cap="rnd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A0195D70-C60D-3EAC-DA86-A11E715D4FCC}"/>
                </a:ext>
              </a:extLst>
            </p:cNvPr>
            <p:cNvSpPr/>
            <p:nvPr/>
          </p:nvSpPr>
          <p:spPr>
            <a:xfrm>
              <a:off x="6608795" y="2974584"/>
              <a:ext cx="74583" cy="1657"/>
            </a:xfrm>
            <a:custGeom>
              <a:avLst/>
              <a:gdLst>
                <a:gd name="connsiteX0" fmla="*/ 0 w 74583"/>
                <a:gd name="connsiteY0" fmla="*/ 0 h 1657"/>
                <a:gd name="connsiteX1" fmla="*/ 74583 w 7458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583" h="1657">
                  <a:moveTo>
                    <a:pt x="0" y="0"/>
                  </a:moveTo>
                  <a:lnTo>
                    <a:pt x="74583" y="0"/>
                  </a:lnTo>
                </a:path>
              </a:pathLst>
            </a:custGeom>
            <a:ln w="26843" cap="rnd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DD479186-E0F6-8E5A-783C-CA710AAFC0CA}"/>
                </a:ext>
              </a:extLst>
            </p:cNvPr>
            <p:cNvSpPr/>
            <p:nvPr/>
          </p:nvSpPr>
          <p:spPr>
            <a:xfrm>
              <a:off x="7543475" y="4016067"/>
              <a:ext cx="1657" cy="2685"/>
            </a:xfrm>
            <a:custGeom>
              <a:avLst/>
              <a:gdLst>
                <a:gd name="connsiteX0" fmla="*/ 0 w 1657"/>
                <a:gd name="connsiteY0" fmla="*/ 2685 h 2685"/>
                <a:gd name="connsiteX1" fmla="*/ 0 w 1657"/>
                <a:gd name="connsiteY1" fmla="*/ 0 h 2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2685">
                  <a:moveTo>
                    <a:pt x="0" y="2685"/>
                  </a:moveTo>
                  <a:lnTo>
                    <a:pt x="0" y="0"/>
                  </a:lnTo>
                </a:path>
              </a:pathLst>
            </a:custGeom>
            <a:ln w="26843" cap="flat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799FDDE0-2395-B6EE-C688-51277C10B253}"/>
                </a:ext>
              </a:extLst>
            </p:cNvPr>
            <p:cNvSpPr/>
            <p:nvPr/>
          </p:nvSpPr>
          <p:spPr>
            <a:xfrm>
              <a:off x="7506183" y="4016067"/>
              <a:ext cx="74583" cy="1657"/>
            </a:xfrm>
            <a:custGeom>
              <a:avLst/>
              <a:gdLst>
                <a:gd name="connsiteX0" fmla="*/ 0 w 74583"/>
                <a:gd name="connsiteY0" fmla="*/ 0 h 1657"/>
                <a:gd name="connsiteX1" fmla="*/ 74583 w 7458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583" h="1657">
                  <a:moveTo>
                    <a:pt x="0" y="0"/>
                  </a:moveTo>
                  <a:lnTo>
                    <a:pt x="74583" y="0"/>
                  </a:lnTo>
                </a:path>
              </a:pathLst>
            </a:custGeom>
            <a:ln w="26843" cap="rnd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F00C0D3-6D58-E32D-AB68-92A2EC7449E6}"/>
                </a:ext>
              </a:extLst>
            </p:cNvPr>
            <p:cNvSpPr/>
            <p:nvPr/>
          </p:nvSpPr>
          <p:spPr>
            <a:xfrm>
              <a:off x="7506183" y="4018752"/>
              <a:ext cx="74583" cy="1657"/>
            </a:xfrm>
            <a:custGeom>
              <a:avLst/>
              <a:gdLst>
                <a:gd name="connsiteX0" fmla="*/ 0 w 74583"/>
                <a:gd name="connsiteY0" fmla="*/ 0 h 1657"/>
                <a:gd name="connsiteX1" fmla="*/ 74583 w 7458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583" h="1657">
                  <a:moveTo>
                    <a:pt x="0" y="0"/>
                  </a:moveTo>
                  <a:lnTo>
                    <a:pt x="74583" y="0"/>
                  </a:lnTo>
                </a:path>
              </a:pathLst>
            </a:custGeom>
            <a:ln w="26843" cap="rnd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F03BF4C5-1572-0481-3D2B-2F86F06D0CC1}"/>
                </a:ext>
              </a:extLst>
            </p:cNvPr>
            <p:cNvSpPr/>
            <p:nvPr/>
          </p:nvSpPr>
          <p:spPr>
            <a:xfrm>
              <a:off x="8441161" y="4545013"/>
              <a:ext cx="1657" cy="2386"/>
            </a:xfrm>
            <a:custGeom>
              <a:avLst/>
              <a:gdLst>
                <a:gd name="connsiteX0" fmla="*/ 0 w 1657"/>
                <a:gd name="connsiteY0" fmla="*/ 2387 h 2386"/>
                <a:gd name="connsiteX1" fmla="*/ 0 w 1657"/>
                <a:gd name="connsiteY1" fmla="*/ 0 h 2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2386">
                  <a:moveTo>
                    <a:pt x="0" y="2387"/>
                  </a:moveTo>
                  <a:lnTo>
                    <a:pt x="0" y="0"/>
                  </a:lnTo>
                </a:path>
              </a:pathLst>
            </a:custGeom>
            <a:ln w="26843" cap="flat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32D8558D-E0B4-CF7B-ECF8-3F93CF9B5856}"/>
                </a:ext>
              </a:extLst>
            </p:cNvPr>
            <p:cNvSpPr/>
            <p:nvPr/>
          </p:nvSpPr>
          <p:spPr>
            <a:xfrm>
              <a:off x="8403869" y="4545013"/>
              <a:ext cx="74583" cy="1657"/>
            </a:xfrm>
            <a:custGeom>
              <a:avLst/>
              <a:gdLst>
                <a:gd name="connsiteX0" fmla="*/ 0 w 74583"/>
                <a:gd name="connsiteY0" fmla="*/ 0 h 1657"/>
                <a:gd name="connsiteX1" fmla="*/ 74583 w 7458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583" h="1657">
                  <a:moveTo>
                    <a:pt x="0" y="0"/>
                  </a:moveTo>
                  <a:lnTo>
                    <a:pt x="74583" y="0"/>
                  </a:lnTo>
                </a:path>
              </a:pathLst>
            </a:custGeom>
            <a:ln w="26843" cap="rnd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745F977D-3A4B-6A6C-6482-90C712DC7EF9}"/>
                </a:ext>
              </a:extLst>
            </p:cNvPr>
            <p:cNvSpPr/>
            <p:nvPr/>
          </p:nvSpPr>
          <p:spPr>
            <a:xfrm>
              <a:off x="8403869" y="4547399"/>
              <a:ext cx="74583" cy="1657"/>
            </a:xfrm>
            <a:custGeom>
              <a:avLst/>
              <a:gdLst>
                <a:gd name="connsiteX0" fmla="*/ 0 w 74583"/>
                <a:gd name="connsiteY0" fmla="*/ 0 h 1657"/>
                <a:gd name="connsiteX1" fmla="*/ 74583 w 7458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583" h="1657">
                  <a:moveTo>
                    <a:pt x="0" y="0"/>
                  </a:moveTo>
                  <a:lnTo>
                    <a:pt x="74583" y="0"/>
                  </a:lnTo>
                </a:path>
              </a:pathLst>
            </a:custGeom>
            <a:ln w="26843" cap="rnd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7C20111E-6DE8-E4BF-3201-D48B967D345B}"/>
                </a:ext>
              </a:extLst>
            </p:cNvPr>
            <p:cNvSpPr/>
            <p:nvPr/>
          </p:nvSpPr>
          <p:spPr>
            <a:xfrm>
              <a:off x="9338549" y="4862440"/>
              <a:ext cx="1657" cy="2685"/>
            </a:xfrm>
            <a:custGeom>
              <a:avLst/>
              <a:gdLst>
                <a:gd name="connsiteX0" fmla="*/ 0 w 1657"/>
                <a:gd name="connsiteY0" fmla="*/ 2685 h 2685"/>
                <a:gd name="connsiteX1" fmla="*/ 0 w 1657"/>
                <a:gd name="connsiteY1" fmla="*/ 0 h 2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2685">
                  <a:moveTo>
                    <a:pt x="0" y="2685"/>
                  </a:moveTo>
                  <a:lnTo>
                    <a:pt x="0" y="0"/>
                  </a:lnTo>
                </a:path>
              </a:pathLst>
            </a:custGeom>
            <a:ln w="26843" cap="flat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33311244-4A0D-0550-3C86-1F5214495D04}"/>
                </a:ext>
              </a:extLst>
            </p:cNvPr>
            <p:cNvSpPr/>
            <p:nvPr/>
          </p:nvSpPr>
          <p:spPr>
            <a:xfrm>
              <a:off x="9301257" y="4862440"/>
              <a:ext cx="74583" cy="1657"/>
            </a:xfrm>
            <a:custGeom>
              <a:avLst/>
              <a:gdLst>
                <a:gd name="connsiteX0" fmla="*/ 0 w 74583"/>
                <a:gd name="connsiteY0" fmla="*/ 0 h 1657"/>
                <a:gd name="connsiteX1" fmla="*/ 74583 w 7458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583" h="1657">
                  <a:moveTo>
                    <a:pt x="0" y="0"/>
                  </a:moveTo>
                  <a:lnTo>
                    <a:pt x="74583" y="0"/>
                  </a:lnTo>
                </a:path>
              </a:pathLst>
            </a:custGeom>
            <a:ln w="26843" cap="rnd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3485A9DB-54B2-5A16-63A9-A8C2F2538E50}"/>
                </a:ext>
              </a:extLst>
            </p:cNvPr>
            <p:cNvSpPr/>
            <p:nvPr/>
          </p:nvSpPr>
          <p:spPr>
            <a:xfrm>
              <a:off x="9301257" y="4865125"/>
              <a:ext cx="74583" cy="1657"/>
            </a:xfrm>
            <a:custGeom>
              <a:avLst/>
              <a:gdLst>
                <a:gd name="connsiteX0" fmla="*/ 0 w 74583"/>
                <a:gd name="connsiteY0" fmla="*/ 0 h 1657"/>
                <a:gd name="connsiteX1" fmla="*/ 74583 w 7458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583" h="1657">
                  <a:moveTo>
                    <a:pt x="0" y="0"/>
                  </a:moveTo>
                  <a:lnTo>
                    <a:pt x="74583" y="0"/>
                  </a:lnTo>
                </a:path>
              </a:pathLst>
            </a:custGeom>
            <a:ln w="26843" cap="rnd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B5B0A656-981D-E362-1978-DCCE642EAA2D}"/>
                </a:ext>
              </a:extLst>
            </p:cNvPr>
            <p:cNvSpPr/>
            <p:nvPr/>
          </p:nvSpPr>
          <p:spPr>
            <a:xfrm>
              <a:off x="6608795" y="2985921"/>
              <a:ext cx="74583" cy="1657"/>
            </a:xfrm>
            <a:custGeom>
              <a:avLst/>
              <a:gdLst>
                <a:gd name="connsiteX0" fmla="*/ 0 w 74583"/>
                <a:gd name="connsiteY0" fmla="*/ 0 h 1657"/>
                <a:gd name="connsiteX1" fmla="*/ 74583 w 74583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583" h="1657">
                  <a:moveTo>
                    <a:pt x="0" y="0"/>
                  </a:moveTo>
                  <a:lnTo>
                    <a:pt x="74583" y="0"/>
                  </a:lnTo>
                </a:path>
              </a:pathLst>
            </a:custGeom>
            <a:ln w="26843" cap="rnd">
              <a:solidFill>
                <a:srgbClr val="FFFFFF">
                  <a:alpha val="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F0E7F73D-79BA-E0BB-46F9-E739D2EB88FC}"/>
                </a:ext>
              </a:extLst>
            </p:cNvPr>
            <p:cNvSpPr/>
            <p:nvPr/>
          </p:nvSpPr>
          <p:spPr>
            <a:xfrm>
              <a:off x="9469815" y="1231719"/>
              <a:ext cx="1657" cy="4560627"/>
            </a:xfrm>
            <a:custGeom>
              <a:avLst/>
              <a:gdLst>
                <a:gd name="connsiteX0" fmla="*/ 0 w 1657"/>
                <a:gd name="connsiteY0" fmla="*/ 4560627 h 4560627"/>
                <a:gd name="connsiteX1" fmla="*/ 0 w 1657"/>
                <a:gd name="connsiteY1" fmla="*/ 0 h 4560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4560627">
                  <a:moveTo>
                    <a:pt x="0" y="4560627"/>
                  </a:moveTo>
                  <a:lnTo>
                    <a:pt x="0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7B8C206A-50F4-7F31-9EB7-79DC2343E5FB}"/>
                </a:ext>
              </a:extLst>
            </p:cNvPr>
            <p:cNvSpPr/>
            <p:nvPr/>
          </p:nvSpPr>
          <p:spPr>
            <a:xfrm>
              <a:off x="1945452" y="5288162"/>
              <a:ext cx="82638" cy="1657"/>
            </a:xfrm>
            <a:custGeom>
              <a:avLst/>
              <a:gdLst>
                <a:gd name="connsiteX0" fmla="*/ 0 w 82638"/>
                <a:gd name="connsiteY0" fmla="*/ 0 h 1657"/>
                <a:gd name="connsiteX1" fmla="*/ 82638 w 82638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638" h="1657">
                  <a:moveTo>
                    <a:pt x="0" y="0"/>
                  </a:moveTo>
                  <a:lnTo>
                    <a:pt x="82638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0814B3DE-87E5-AE59-C768-EF899AD699F8}"/>
                </a:ext>
              </a:extLst>
            </p:cNvPr>
            <p:cNvSpPr txBox="1"/>
            <p:nvPr/>
          </p:nvSpPr>
          <p:spPr>
            <a:xfrm>
              <a:off x="1605435" y="5120904"/>
              <a:ext cx="3145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0</a:t>
              </a:r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6B19BD54-BBC1-CCF3-6CD2-0556070F9EFE}"/>
                </a:ext>
              </a:extLst>
            </p:cNvPr>
            <p:cNvSpPr/>
            <p:nvPr/>
          </p:nvSpPr>
          <p:spPr>
            <a:xfrm>
              <a:off x="1945452" y="4542328"/>
              <a:ext cx="82638" cy="1657"/>
            </a:xfrm>
            <a:custGeom>
              <a:avLst/>
              <a:gdLst>
                <a:gd name="connsiteX0" fmla="*/ 0 w 82638"/>
                <a:gd name="connsiteY0" fmla="*/ 0 h 1657"/>
                <a:gd name="connsiteX1" fmla="*/ 82638 w 82638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638" h="1657">
                  <a:moveTo>
                    <a:pt x="0" y="0"/>
                  </a:moveTo>
                  <a:lnTo>
                    <a:pt x="82638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50" name="TextBox 449">
              <a:extLst>
                <a:ext uri="{FF2B5EF4-FFF2-40B4-BE49-F238E27FC236}">
                  <a16:creationId xmlns:a16="http://schemas.microsoft.com/office/drawing/2014/main" id="{AF51086B-16F9-5387-AA87-3823418C4DF5}"/>
                </a:ext>
              </a:extLst>
            </p:cNvPr>
            <p:cNvSpPr txBox="1"/>
            <p:nvPr/>
          </p:nvSpPr>
          <p:spPr>
            <a:xfrm>
              <a:off x="1605435" y="4375070"/>
              <a:ext cx="3145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6</a:t>
              </a:r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DA297BE5-8C7D-F015-B632-378E1DAF7299}"/>
                </a:ext>
              </a:extLst>
            </p:cNvPr>
            <p:cNvSpPr/>
            <p:nvPr/>
          </p:nvSpPr>
          <p:spPr>
            <a:xfrm>
              <a:off x="1945452" y="3796493"/>
              <a:ext cx="82638" cy="1657"/>
            </a:xfrm>
            <a:custGeom>
              <a:avLst/>
              <a:gdLst>
                <a:gd name="connsiteX0" fmla="*/ 0 w 82638"/>
                <a:gd name="connsiteY0" fmla="*/ 0 h 1657"/>
                <a:gd name="connsiteX1" fmla="*/ 82638 w 82638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638" h="1657">
                  <a:moveTo>
                    <a:pt x="0" y="0"/>
                  </a:moveTo>
                  <a:lnTo>
                    <a:pt x="82638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293CA968-19F8-16A6-99AA-7B512C38C2E0}"/>
                </a:ext>
              </a:extLst>
            </p:cNvPr>
            <p:cNvSpPr txBox="1"/>
            <p:nvPr/>
          </p:nvSpPr>
          <p:spPr>
            <a:xfrm>
              <a:off x="1475593" y="3629236"/>
              <a:ext cx="4443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12</a:t>
              </a:r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892EEE95-1E0A-6C45-2AAD-9B62C660982B}"/>
                </a:ext>
              </a:extLst>
            </p:cNvPr>
            <p:cNvSpPr/>
            <p:nvPr/>
          </p:nvSpPr>
          <p:spPr>
            <a:xfrm>
              <a:off x="1945452" y="3050659"/>
              <a:ext cx="82638" cy="1657"/>
            </a:xfrm>
            <a:custGeom>
              <a:avLst/>
              <a:gdLst>
                <a:gd name="connsiteX0" fmla="*/ 0 w 82638"/>
                <a:gd name="connsiteY0" fmla="*/ 0 h 1657"/>
                <a:gd name="connsiteX1" fmla="*/ 82638 w 82638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638" h="1657">
                  <a:moveTo>
                    <a:pt x="0" y="0"/>
                  </a:moveTo>
                  <a:lnTo>
                    <a:pt x="82638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54" name="TextBox 453">
              <a:extLst>
                <a:ext uri="{FF2B5EF4-FFF2-40B4-BE49-F238E27FC236}">
                  <a16:creationId xmlns:a16="http://schemas.microsoft.com/office/drawing/2014/main" id="{60F2C55B-8C45-8C4F-E2E0-7993A724C66A}"/>
                </a:ext>
              </a:extLst>
            </p:cNvPr>
            <p:cNvSpPr txBox="1"/>
            <p:nvPr/>
          </p:nvSpPr>
          <p:spPr>
            <a:xfrm>
              <a:off x="1475593" y="2883401"/>
              <a:ext cx="4443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18</a:t>
              </a:r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F28A88D-F189-AB12-6F5F-216C6E8DA92A}"/>
                </a:ext>
              </a:extLst>
            </p:cNvPr>
            <p:cNvSpPr/>
            <p:nvPr/>
          </p:nvSpPr>
          <p:spPr>
            <a:xfrm>
              <a:off x="1945452" y="2304825"/>
              <a:ext cx="82638" cy="1657"/>
            </a:xfrm>
            <a:custGeom>
              <a:avLst/>
              <a:gdLst>
                <a:gd name="connsiteX0" fmla="*/ 0 w 82638"/>
                <a:gd name="connsiteY0" fmla="*/ 0 h 1657"/>
                <a:gd name="connsiteX1" fmla="*/ 82638 w 82638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638" h="1657">
                  <a:moveTo>
                    <a:pt x="0" y="0"/>
                  </a:moveTo>
                  <a:lnTo>
                    <a:pt x="82638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56" name="TextBox 455">
              <a:extLst>
                <a:ext uri="{FF2B5EF4-FFF2-40B4-BE49-F238E27FC236}">
                  <a16:creationId xmlns:a16="http://schemas.microsoft.com/office/drawing/2014/main" id="{B9819B3F-8192-7F5C-094F-9EA578A189D6}"/>
                </a:ext>
              </a:extLst>
            </p:cNvPr>
            <p:cNvSpPr txBox="1"/>
            <p:nvPr/>
          </p:nvSpPr>
          <p:spPr>
            <a:xfrm>
              <a:off x="1475593" y="2137567"/>
              <a:ext cx="4443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24</a:t>
              </a:r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51A838E4-FD7B-A7D1-A10F-CC3B1315BEB8}"/>
                </a:ext>
              </a:extLst>
            </p:cNvPr>
            <p:cNvSpPr/>
            <p:nvPr/>
          </p:nvSpPr>
          <p:spPr>
            <a:xfrm>
              <a:off x="1945452" y="1558692"/>
              <a:ext cx="82638" cy="1657"/>
            </a:xfrm>
            <a:custGeom>
              <a:avLst/>
              <a:gdLst>
                <a:gd name="connsiteX0" fmla="*/ 0 w 82638"/>
                <a:gd name="connsiteY0" fmla="*/ 0 h 1657"/>
                <a:gd name="connsiteX1" fmla="*/ 82638 w 82638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638" h="1657">
                  <a:moveTo>
                    <a:pt x="0" y="0"/>
                  </a:moveTo>
                  <a:lnTo>
                    <a:pt x="82638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58" name="TextBox 457">
              <a:extLst>
                <a:ext uri="{FF2B5EF4-FFF2-40B4-BE49-F238E27FC236}">
                  <a16:creationId xmlns:a16="http://schemas.microsoft.com/office/drawing/2014/main" id="{A036F123-3795-A0FE-7E5A-DD3210285FB2}"/>
                </a:ext>
              </a:extLst>
            </p:cNvPr>
            <p:cNvSpPr txBox="1"/>
            <p:nvPr/>
          </p:nvSpPr>
          <p:spPr>
            <a:xfrm>
              <a:off x="1475593" y="1391435"/>
              <a:ext cx="4443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30</a:t>
              </a:r>
            </a:p>
          </p:txBody>
        </p:sp>
        <p:sp>
          <p:nvSpPr>
            <p:cNvPr id="459" name="TextBox 458">
              <a:extLst>
                <a:ext uri="{FF2B5EF4-FFF2-40B4-BE49-F238E27FC236}">
                  <a16:creationId xmlns:a16="http://schemas.microsoft.com/office/drawing/2014/main" id="{8EEDF15C-097B-5774-BFFB-A36D3AC921FD}"/>
                </a:ext>
              </a:extLst>
            </p:cNvPr>
            <p:cNvSpPr txBox="1"/>
            <p:nvPr/>
          </p:nvSpPr>
          <p:spPr>
            <a:xfrm rot="16200000">
              <a:off x="-1038378" y="3342606"/>
              <a:ext cx="42322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Percent of High School Friends in Cohort</a:t>
              </a:r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C8FE9E01-1800-D469-859E-1B97816D385F}"/>
                </a:ext>
              </a:extLst>
            </p:cNvPr>
            <p:cNvSpPr/>
            <p:nvPr/>
          </p:nvSpPr>
          <p:spPr>
            <a:xfrm>
              <a:off x="2027583" y="1231719"/>
              <a:ext cx="1657" cy="4560627"/>
            </a:xfrm>
            <a:custGeom>
              <a:avLst/>
              <a:gdLst>
                <a:gd name="connsiteX0" fmla="*/ 0 w 1657"/>
                <a:gd name="connsiteY0" fmla="*/ 4560627 h 4560627"/>
                <a:gd name="connsiteX1" fmla="*/ 0 w 1657"/>
                <a:gd name="connsiteY1" fmla="*/ 0 h 4560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4560627">
                  <a:moveTo>
                    <a:pt x="0" y="4560627"/>
                  </a:moveTo>
                  <a:lnTo>
                    <a:pt x="0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D36B99F3-7DEA-D504-27FB-309D502CF666}"/>
                </a:ext>
              </a:extLst>
            </p:cNvPr>
            <p:cNvSpPr/>
            <p:nvPr/>
          </p:nvSpPr>
          <p:spPr>
            <a:xfrm>
              <a:off x="2027583" y="5792346"/>
              <a:ext cx="7442232" cy="1657"/>
            </a:xfrm>
            <a:custGeom>
              <a:avLst/>
              <a:gdLst>
                <a:gd name="connsiteX0" fmla="*/ 0 w 7442232"/>
                <a:gd name="connsiteY0" fmla="*/ 0 h 1657"/>
                <a:gd name="connsiteX1" fmla="*/ 7442233 w 7442232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42232" h="1657">
                  <a:moveTo>
                    <a:pt x="0" y="0"/>
                  </a:moveTo>
                  <a:lnTo>
                    <a:pt x="7442233" y="0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B57540B2-DF89-6EEF-D235-70A31FB452AF}"/>
                </a:ext>
              </a:extLst>
            </p:cNvPr>
            <p:cNvSpPr/>
            <p:nvPr/>
          </p:nvSpPr>
          <p:spPr>
            <a:xfrm>
              <a:off x="2158849" y="5792346"/>
              <a:ext cx="1657" cy="82638"/>
            </a:xfrm>
            <a:custGeom>
              <a:avLst/>
              <a:gdLst>
                <a:gd name="connsiteX0" fmla="*/ 0 w 1657"/>
                <a:gd name="connsiteY0" fmla="*/ 0 h 82638"/>
                <a:gd name="connsiteX1" fmla="*/ 0 w 1657"/>
                <a:gd name="connsiteY1" fmla="*/ 82638 h 82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82638">
                  <a:moveTo>
                    <a:pt x="0" y="0"/>
                  </a:moveTo>
                  <a:lnTo>
                    <a:pt x="0" y="82638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76" name="TextBox 475">
              <a:extLst>
                <a:ext uri="{FF2B5EF4-FFF2-40B4-BE49-F238E27FC236}">
                  <a16:creationId xmlns:a16="http://schemas.microsoft.com/office/drawing/2014/main" id="{C7EFE501-3667-0B14-6768-6C9F9B107CDC}"/>
                </a:ext>
              </a:extLst>
            </p:cNvPr>
            <p:cNvSpPr txBox="1"/>
            <p:nvPr/>
          </p:nvSpPr>
          <p:spPr>
            <a:xfrm>
              <a:off x="1588109" y="5826231"/>
              <a:ext cx="12538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4 </a:t>
              </a:r>
              <a:r>
                <a:rPr kumimoji="0" lang="en-US" sz="1600" b="0" i="0" u="none" strike="noStrike" kern="1200" cap="none" spc="0" normalizeH="0" baseline="0" noProof="0" dirty="0" err="1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yrs</a:t>
              </a: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 older</a:t>
              </a:r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87F8C706-95CB-F6F6-EAD0-3350F213ED29}"/>
                </a:ext>
              </a:extLst>
            </p:cNvPr>
            <p:cNvSpPr/>
            <p:nvPr/>
          </p:nvSpPr>
          <p:spPr>
            <a:xfrm>
              <a:off x="3056237" y="5792346"/>
              <a:ext cx="1657" cy="82638"/>
            </a:xfrm>
            <a:custGeom>
              <a:avLst/>
              <a:gdLst>
                <a:gd name="connsiteX0" fmla="*/ 0 w 1657"/>
                <a:gd name="connsiteY0" fmla="*/ 0 h 82638"/>
                <a:gd name="connsiteX1" fmla="*/ 0 w 1657"/>
                <a:gd name="connsiteY1" fmla="*/ 82638 h 82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82638">
                  <a:moveTo>
                    <a:pt x="0" y="0"/>
                  </a:moveTo>
                  <a:lnTo>
                    <a:pt x="0" y="82638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1CE2A03-F809-1538-F71E-EFA90278E265}"/>
                </a:ext>
              </a:extLst>
            </p:cNvPr>
            <p:cNvSpPr/>
            <p:nvPr/>
          </p:nvSpPr>
          <p:spPr>
            <a:xfrm>
              <a:off x="3953923" y="5792346"/>
              <a:ext cx="1657" cy="82638"/>
            </a:xfrm>
            <a:custGeom>
              <a:avLst/>
              <a:gdLst>
                <a:gd name="connsiteX0" fmla="*/ 0 w 1657"/>
                <a:gd name="connsiteY0" fmla="*/ 0 h 82638"/>
                <a:gd name="connsiteX1" fmla="*/ 0 w 1657"/>
                <a:gd name="connsiteY1" fmla="*/ 82638 h 82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82638">
                  <a:moveTo>
                    <a:pt x="0" y="0"/>
                  </a:moveTo>
                  <a:lnTo>
                    <a:pt x="0" y="82638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79" name="TextBox 478">
              <a:extLst>
                <a:ext uri="{FF2B5EF4-FFF2-40B4-BE49-F238E27FC236}">
                  <a16:creationId xmlns:a16="http://schemas.microsoft.com/office/drawing/2014/main" id="{578E9369-B7A8-12A1-C77E-4F2B72139940}"/>
                </a:ext>
              </a:extLst>
            </p:cNvPr>
            <p:cNvSpPr txBox="1"/>
            <p:nvPr/>
          </p:nvSpPr>
          <p:spPr>
            <a:xfrm>
              <a:off x="3383183" y="5826231"/>
              <a:ext cx="12538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2 </a:t>
              </a:r>
              <a:r>
                <a:rPr kumimoji="0" lang="en-US" sz="1600" b="0" i="0" u="none" strike="noStrike" kern="1200" cap="none" spc="0" normalizeH="0" baseline="0" noProof="0" dirty="0" err="1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yrs</a:t>
              </a: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 older</a:t>
              </a:r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1A28DDB-5285-8272-B445-3569B939FA72}"/>
                </a:ext>
              </a:extLst>
            </p:cNvPr>
            <p:cNvSpPr/>
            <p:nvPr/>
          </p:nvSpPr>
          <p:spPr>
            <a:xfrm>
              <a:off x="4851311" y="5792346"/>
              <a:ext cx="1657" cy="82638"/>
            </a:xfrm>
            <a:custGeom>
              <a:avLst/>
              <a:gdLst>
                <a:gd name="connsiteX0" fmla="*/ 0 w 1657"/>
                <a:gd name="connsiteY0" fmla="*/ 0 h 82638"/>
                <a:gd name="connsiteX1" fmla="*/ 0 w 1657"/>
                <a:gd name="connsiteY1" fmla="*/ 82638 h 82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82638">
                  <a:moveTo>
                    <a:pt x="0" y="0"/>
                  </a:moveTo>
                  <a:lnTo>
                    <a:pt x="0" y="82638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FB458DC6-F578-4271-1CC1-4402D6BD3AF8}"/>
                </a:ext>
              </a:extLst>
            </p:cNvPr>
            <p:cNvSpPr/>
            <p:nvPr/>
          </p:nvSpPr>
          <p:spPr>
            <a:xfrm>
              <a:off x="5748699" y="5792346"/>
              <a:ext cx="1657" cy="82638"/>
            </a:xfrm>
            <a:custGeom>
              <a:avLst/>
              <a:gdLst>
                <a:gd name="connsiteX0" fmla="*/ 0 w 1657"/>
                <a:gd name="connsiteY0" fmla="*/ 0 h 82638"/>
                <a:gd name="connsiteX1" fmla="*/ 0 w 1657"/>
                <a:gd name="connsiteY1" fmla="*/ 82638 h 82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82638">
                  <a:moveTo>
                    <a:pt x="0" y="0"/>
                  </a:moveTo>
                  <a:lnTo>
                    <a:pt x="0" y="82638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82" name="TextBox 481">
              <a:extLst>
                <a:ext uri="{FF2B5EF4-FFF2-40B4-BE49-F238E27FC236}">
                  <a16:creationId xmlns:a16="http://schemas.microsoft.com/office/drawing/2014/main" id="{0BA008E1-1358-5FE2-4E60-F90C8CE13763}"/>
                </a:ext>
              </a:extLst>
            </p:cNvPr>
            <p:cNvSpPr txBox="1"/>
            <p:nvPr/>
          </p:nvSpPr>
          <p:spPr>
            <a:xfrm>
              <a:off x="5105033" y="5826231"/>
              <a:ext cx="13773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Same </a:t>
              </a:r>
              <a:r>
                <a:rPr lang="en-US" sz="1600" dirty="0">
                  <a:ln/>
                  <a:solidFill>
                    <a:prstClr val="black"/>
                  </a:solidFill>
                  <a:latin typeface="Lucida Sans" panose="020B0602030504020204" pitchFamily="34" charset="0"/>
                  <a:cs typeface="Helvetica"/>
                  <a:sym typeface="Helvetica"/>
                  <a:rtl val="0"/>
                </a:rPr>
                <a:t>Grade</a:t>
              </a:r>
              <a:endPara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endParaRPr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BFEB99D9-6D59-43AA-FEAC-3C35863D9CF1}"/>
                </a:ext>
              </a:extLst>
            </p:cNvPr>
            <p:cNvSpPr/>
            <p:nvPr/>
          </p:nvSpPr>
          <p:spPr>
            <a:xfrm>
              <a:off x="6646087" y="5792346"/>
              <a:ext cx="1657" cy="82638"/>
            </a:xfrm>
            <a:custGeom>
              <a:avLst/>
              <a:gdLst>
                <a:gd name="connsiteX0" fmla="*/ 0 w 1657"/>
                <a:gd name="connsiteY0" fmla="*/ 0 h 82638"/>
                <a:gd name="connsiteX1" fmla="*/ 0 w 1657"/>
                <a:gd name="connsiteY1" fmla="*/ 82638 h 82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82638">
                  <a:moveTo>
                    <a:pt x="0" y="0"/>
                  </a:moveTo>
                  <a:lnTo>
                    <a:pt x="0" y="82638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890B7D33-5A06-67DE-5AD1-F78DF7C217A1}"/>
                </a:ext>
              </a:extLst>
            </p:cNvPr>
            <p:cNvSpPr/>
            <p:nvPr/>
          </p:nvSpPr>
          <p:spPr>
            <a:xfrm>
              <a:off x="7543475" y="5792346"/>
              <a:ext cx="1657" cy="82638"/>
            </a:xfrm>
            <a:custGeom>
              <a:avLst/>
              <a:gdLst>
                <a:gd name="connsiteX0" fmla="*/ 0 w 1657"/>
                <a:gd name="connsiteY0" fmla="*/ 0 h 82638"/>
                <a:gd name="connsiteX1" fmla="*/ 0 w 1657"/>
                <a:gd name="connsiteY1" fmla="*/ 82638 h 82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82638">
                  <a:moveTo>
                    <a:pt x="0" y="0"/>
                  </a:moveTo>
                  <a:lnTo>
                    <a:pt x="0" y="82638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85" name="TextBox 484">
              <a:extLst>
                <a:ext uri="{FF2B5EF4-FFF2-40B4-BE49-F238E27FC236}">
                  <a16:creationId xmlns:a16="http://schemas.microsoft.com/office/drawing/2014/main" id="{E0217C2E-617F-8E1D-04A7-391509933520}"/>
                </a:ext>
              </a:extLst>
            </p:cNvPr>
            <p:cNvSpPr txBox="1"/>
            <p:nvPr/>
          </p:nvSpPr>
          <p:spPr>
            <a:xfrm>
              <a:off x="6821082" y="5826231"/>
              <a:ext cx="15536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2 yrs younger</a:t>
              </a:r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416A0B01-C473-A3E0-F95D-BC6088E12866}"/>
                </a:ext>
              </a:extLst>
            </p:cNvPr>
            <p:cNvSpPr/>
            <p:nvPr/>
          </p:nvSpPr>
          <p:spPr>
            <a:xfrm>
              <a:off x="8441161" y="5792346"/>
              <a:ext cx="1657" cy="82638"/>
            </a:xfrm>
            <a:custGeom>
              <a:avLst/>
              <a:gdLst>
                <a:gd name="connsiteX0" fmla="*/ 0 w 1657"/>
                <a:gd name="connsiteY0" fmla="*/ 0 h 82638"/>
                <a:gd name="connsiteX1" fmla="*/ 0 w 1657"/>
                <a:gd name="connsiteY1" fmla="*/ 82638 h 82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82638">
                  <a:moveTo>
                    <a:pt x="0" y="0"/>
                  </a:moveTo>
                  <a:lnTo>
                    <a:pt x="0" y="82638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B34E741C-EF64-AD3A-7CA9-9BEEE53B41F5}"/>
                </a:ext>
              </a:extLst>
            </p:cNvPr>
            <p:cNvSpPr/>
            <p:nvPr/>
          </p:nvSpPr>
          <p:spPr>
            <a:xfrm>
              <a:off x="9338549" y="5792346"/>
              <a:ext cx="1657" cy="82638"/>
            </a:xfrm>
            <a:custGeom>
              <a:avLst/>
              <a:gdLst>
                <a:gd name="connsiteX0" fmla="*/ 0 w 1657"/>
                <a:gd name="connsiteY0" fmla="*/ 0 h 82638"/>
                <a:gd name="connsiteX1" fmla="*/ 0 w 1657"/>
                <a:gd name="connsiteY1" fmla="*/ 82638 h 82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7" h="82638">
                  <a:moveTo>
                    <a:pt x="0" y="0"/>
                  </a:moveTo>
                  <a:lnTo>
                    <a:pt x="0" y="82638"/>
                  </a:lnTo>
                </a:path>
              </a:pathLst>
            </a:custGeom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88" name="TextBox 487">
              <a:extLst>
                <a:ext uri="{FF2B5EF4-FFF2-40B4-BE49-F238E27FC236}">
                  <a16:creationId xmlns:a16="http://schemas.microsoft.com/office/drawing/2014/main" id="{37960FA8-CEAA-0C8F-724C-BDDC2D4F2677}"/>
                </a:ext>
              </a:extLst>
            </p:cNvPr>
            <p:cNvSpPr txBox="1"/>
            <p:nvPr/>
          </p:nvSpPr>
          <p:spPr>
            <a:xfrm>
              <a:off x="8616156" y="5826231"/>
              <a:ext cx="15536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4 </a:t>
              </a:r>
              <a:r>
                <a:rPr kumimoji="0" lang="en-US" sz="1600" b="0" i="0" u="none" strike="noStrike" kern="1200" cap="none" spc="0" normalizeH="0" baseline="0" noProof="0" dirty="0" err="1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yrs</a:t>
              </a: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 younger</a:t>
              </a:r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5134526-336C-85C8-FE29-BD68CFE2A991}"/>
                </a:ext>
              </a:extLst>
            </p:cNvPr>
            <p:cNvSpPr/>
            <p:nvPr/>
          </p:nvSpPr>
          <p:spPr>
            <a:xfrm>
              <a:off x="2188683" y="2254670"/>
              <a:ext cx="417667" cy="1657"/>
            </a:xfrm>
            <a:custGeom>
              <a:avLst/>
              <a:gdLst>
                <a:gd name="connsiteX0" fmla="*/ 0 w 417667"/>
                <a:gd name="connsiteY0" fmla="*/ 0 h 1657"/>
                <a:gd name="connsiteX1" fmla="*/ 417667 w 417667"/>
                <a:gd name="connsiteY1" fmla="*/ 0 h 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7667" h="1657">
                  <a:moveTo>
                    <a:pt x="0" y="0"/>
                  </a:moveTo>
                  <a:lnTo>
                    <a:pt x="417667" y="0"/>
                  </a:lnTo>
                </a:path>
              </a:pathLst>
            </a:custGeom>
            <a:ln w="26843" cap="flat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95D6F37-AB70-F033-608E-EA3C41574358}"/>
                </a:ext>
              </a:extLst>
            </p:cNvPr>
            <p:cNvSpPr/>
            <p:nvPr/>
          </p:nvSpPr>
          <p:spPr>
            <a:xfrm>
              <a:off x="2346800" y="2203954"/>
              <a:ext cx="101433" cy="101433"/>
            </a:xfrm>
            <a:custGeom>
              <a:avLst/>
              <a:gdLst>
                <a:gd name="connsiteX0" fmla="*/ 101433 w 101433"/>
                <a:gd name="connsiteY0" fmla="*/ 50717 h 101433"/>
                <a:gd name="connsiteX1" fmla="*/ 50717 w 101433"/>
                <a:gd name="connsiteY1" fmla="*/ 101433 h 101433"/>
                <a:gd name="connsiteX2" fmla="*/ 0 w 101433"/>
                <a:gd name="connsiteY2" fmla="*/ 50717 h 101433"/>
                <a:gd name="connsiteX3" fmla="*/ 50717 w 101433"/>
                <a:gd name="connsiteY3" fmla="*/ 0 h 101433"/>
                <a:gd name="connsiteX4" fmla="*/ 101433 w 101433"/>
                <a:gd name="connsiteY4" fmla="*/ 50717 h 10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33" h="101433">
                  <a:moveTo>
                    <a:pt x="101433" y="50717"/>
                  </a:moveTo>
                  <a:cubicBezTo>
                    <a:pt x="101433" y="78727"/>
                    <a:pt x="78727" y="101433"/>
                    <a:pt x="50717" y="101433"/>
                  </a:cubicBezTo>
                  <a:cubicBezTo>
                    <a:pt x="22707" y="101433"/>
                    <a:pt x="0" y="78727"/>
                    <a:pt x="0" y="50717"/>
                  </a:cubicBezTo>
                  <a:cubicBezTo>
                    <a:pt x="0" y="22707"/>
                    <a:pt x="22707" y="0"/>
                    <a:pt x="50717" y="0"/>
                  </a:cubicBezTo>
                  <a:cubicBezTo>
                    <a:pt x="78727" y="0"/>
                    <a:pt x="101433" y="22707"/>
                    <a:pt x="101433" y="50717"/>
                  </a:cubicBezTo>
                  <a:close/>
                </a:path>
              </a:pathLst>
            </a:custGeom>
            <a:solidFill>
              <a:srgbClr val="FAA523"/>
            </a:solidFill>
            <a:ln w="16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0F6228D6-D3E9-7F10-6C1E-E190F9304AC5}"/>
                </a:ext>
              </a:extLst>
            </p:cNvPr>
            <p:cNvSpPr/>
            <p:nvPr/>
          </p:nvSpPr>
          <p:spPr>
            <a:xfrm>
              <a:off x="2360225" y="2217378"/>
              <a:ext cx="74583" cy="74583"/>
            </a:xfrm>
            <a:custGeom>
              <a:avLst/>
              <a:gdLst>
                <a:gd name="connsiteX0" fmla="*/ 74583 w 74583"/>
                <a:gd name="connsiteY0" fmla="*/ 37292 h 74583"/>
                <a:gd name="connsiteX1" fmla="*/ 37292 w 74583"/>
                <a:gd name="connsiteY1" fmla="*/ 74583 h 74583"/>
                <a:gd name="connsiteX2" fmla="*/ 0 w 74583"/>
                <a:gd name="connsiteY2" fmla="*/ 37292 h 74583"/>
                <a:gd name="connsiteX3" fmla="*/ 37292 w 74583"/>
                <a:gd name="connsiteY3" fmla="*/ 0 h 74583"/>
                <a:gd name="connsiteX4" fmla="*/ 74583 w 74583"/>
                <a:gd name="connsiteY4" fmla="*/ 37292 h 74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583" h="74583">
                  <a:moveTo>
                    <a:pt x="74583" y="37292"/>
                  </a:moveTo>
                  <a:cubicBezTo>
                    <a:pt x="74583" y="57887"/>
                    <a:pt x="57887" y="74583"/>
                    <a:pt x="37292" y="74583"/>
                  </a:cubicBezTo>
                  <a:cubicBezTo>
                    <a:pt x="16696" y="74583"/>
                    <a:pt x="0" y="57887"/>
                    <a:pt x="0" y="37292"/>
                  </a:cubicBezTo>
                  <a:cubicBezTo>
                    <a:pt x="0" y="16696"/>
                    <a:pt x="16696" y="0"/>
                    <a:pt x="37292" y="0"/>
                  </a:cubicBezTo>
                  <a:cubicBezTo>
                    <a:pt x="57887" y="0"/>
                    <a:pt x="74583" y="16696"/>
                    <a:pt x="74583" y="37292"/>
                  </a:cubicBezTo>
                  <a:close/>
                </a:path>
              </a:pathLst>
            </a:custGeom>
            <a:noFill/>
            <a:ln w="26843" cap="flat">
              <a:solidFill>
                <a:srgbClr val="FAA52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2E21B14A-BAB8-C3DF-C895-70C4B5BA496E}"/>
                </a:ext>
              </a:extLst>
            </p:cNvPr>
            <p:cNvSpPr txBox="1"/>
            <p:nvPr/>
          </p:nvSpPr>
          <p:spPr>
            <a:xfrm>
              <a:off x="2572409" y="2094208"/>
              <a:ext cx="17940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/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Helvetica"/>
                  <a:sym typeface="Helvetica"/>
                  <a:rtl val="0"/>
                </a:rPr>
                <a:t>Share of Friends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AFB0CDF-C37C-9E75-23B5-984C25AC77D2}"/>
                </a:ext>
              </a:extLst>
            </p:cNvPr>
            <p:cNvSpPr txBox="1"/>
            <p:nvPr/>
          </p:nvSpPr>
          <p:spPr>
            <a:xfrm>
              <a:off x="2541720" y="2340730"/>
              <a:ext cx="1766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anose="020B0604020202020204" pitchFamily="34" charset="0"/>
                </a:rPr>
                <a:t>(Facebook data)</a:t>
              </a:r>
            </a:p>
          </p:txBody>
        </p:sp>
      </p:grpSp>
      <p:pic>
        <p:nvPicPr>
          <p:cNvPr id="498" name="Picture 497" descr="A black and grey text&#10;&#10;Description automatically generated">
            <a:extLst>
              <a:ext uri="{FF2B5EF4-FFF2-40B4-BE49-F238E27FC236}">
                <a16:creationId xmlns:a16="http://schemas.microsoft.com/office/drawing/2014/main" id="{9BC87175-B5D2-1663-CF52-358547DA1B2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843E5F7-0649-5C32-1023-79F82DE77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36" y="375319"/>
            <a:ext cx="120332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Effect of Changes in Parental Employment Rates Across Cohorts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5DFD31B-41B9-CC39-5FE2-4D465408CF37}"/>
              </a:ext>
            </a:extLst>
          </p:cNvPr>
          <p:cNvGrpSpPr>
            <a:grpSpLocks/>
          </p:cNvGrpSpPr>
          <p:nvPr/>
        </p:nvGrpSpPr>
        <p:grpSpPr>
          <a:xfrm>
            <a:off x="2108133" y="982260"/>
            <a:ext cx="8953061" cy="4919937"/>
            <a:chOff x="2108133" y="982260"/>
            <a:chExt cx="8953061" cy="4919937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83CA118-2CDA-D24F-DFF1-61FC8738B912}"/>
                </a:ext>
              </a:extLst>
            </p:cNvPr>
            <p:cNvGrpSpPr>
              <a:grpSpLocks/>
            </p:cNvGrpSpPr>
            <p:nvPr/>
          </p:nvGrpSpPr>
          <p:grpSpPr>
            <a:xfrm>
              <a:off x="2108133" y="982260"/>
              <a:ext cx="8953061" cy="4919937"/>
              <a:chOff x="2108133" y="982260"/>
              <a:chExt cx="8953061" cy="4919937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9E140F02-03D8-9EB3-7CD7-D749C895CAE0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2188683" y="1335878"/>
                <a:ext cx="2764506" cy="584775"/>
                <a:chOff x="2188683" y="1335878"/>
                <a:chExt cx="2764506" cy="584775"/>
              </a:xfrm>
            </p:grpSpPr>
            <p:sp>
              <p:nvSpPr>
                <p:cNvPr id="490" name="Freeform: Shape 489">
                  <a:extLst>
                    <a:ext uri="{FF2B5EF4-FFF2-40B4-BE49-F238E27FC236}">
                      <a16:creationId xmlns:a16="http://schemas.microsoft.com/office/drawing/2014/main" id="{AD42CA18-4D20-8F38-9957-6507E172C2D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188683" y="1496341"/>
                  <a:ext cx="417667" cy="1657"/>
                </a:xfrm>
                <a:custGeom>
                  <a:avLst/>
                  <a:gdLst>
                    <a:gd name="connsiteX0" fmla="*/ 0 w 417667"/>
                    <a:gd name="connsiteY0" fmla="*/ 0 h 1657"/>
                    <a:gd name="connsiteX1" fmla="*/ 417667 w 417667"/>
                    <a:gd name="connsiteY1" fmla="*/ 0 h 16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17667" h="1657">
                      <a:moveTo>
                        <a:pt x="0" y="0"/>
                      </a:moveTo>
                      <a:lnTo>
                        <a:pt x="417667" y="0"/>
                      </a:lnTo>
                    </a:path>
                  </a:pathLst>
                </a:custGeom>
                <a:ln w="26843" cap="flat">
                  <a:solidFill>
                    <a:srgbClr val="29B6A4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173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" panose="020B0602030504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91" name="Freeform: Shape 490">
                  <a:extLst>
                    <a:ext uri="{FF2B5EF4-FFF2-40B4-BE49-F238E27FC236}">
                      <a16:creationId xmlns:a16="http://schemas.microsoft.com/office/drawing/2014/main" id="{CF72C0CE-DD28-BA5C-C932-AC14A5EE166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346800" y="1445624"/>
                  <a:ext cx="101433" cy="101433"/>
                </a:xfrm>
                <a:custGeom>
                  <a:avLst/>
                  <a:gdLst>
                    <a:gd name="connsiteX0" fmla="*/ 101433 w 101433"/>
                    <a:gd name="connsiteY0" fmla="*/ 50717 h 101433"/>
                    <a:gd name="connsiteX1" fmla="*/ 50717 w 101433"/>
                    <a:gd name="connsiteY1" fmla="*/ 101433 h 101433"/>
                    <a:gd name="connsiteX2" fmla="*/ 0 w 101433"/>
                    <a:gd name="connsiteY2" fmla="*/ 50717 h 101433"/>
                    <a:gd name="connsiteX3" fmla="*/ 50717 w 101433"/>
                    <a:gd name="connsiteY3" fmla="*/ 0 h 101433"/>
                    <a:gd name="connsiteX4" fmla="*/ 101433 w 101433"/>
                    <a:gd name="connsiteY4" fmla="*/ 50717 h 1014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1433" h="101433">
                      <a:moveTo>
                        <a:pt x="101433" y="50717"/>
                      </a:moveTo>
                      <a:cubicBezTo>
                        <a:pt x="101433" y="78727"/>
                        <a:pt x="78727" y="101433"/>
                        <a:pt x="50717" y="101433"/>
                      </a:cubicBezTo>
                      <a:cubicBezTo>
                        <a:pt x="22707" y="101433"/>
                        <a:pt x="0" y="78727"/>
                        <a:pt x="0" y="50717"/>
                      </a:cubicBezTo>
                      <a:cubicBezTo>
                        <a:pt x="0" y="22707"/>
                        <a:pt x="22707" y="0"/>
                        <a:pt x="50717" y="0"/>
                      </a:cubicBezTo>
                      <a:cubicBezTo>
                        <a:pt x="78727" y="0"/>
                        <a:pt x="101433" y="22707"/>
                        <a:pt x="101433" y="50717"/>
                      </a:cubicBezTo>
                      <a:close/>
                    </a:path>
                  </a:pathLst>
                </a:custGeom>
                <a:solidFill>
                  <a:srgbClr val="29B6A4"/>
                </a:solidFill>
                <a:ln w="16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173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" panose="020B0602030504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92" name="Freeform: Shape 491">
                  <a:extLst>
                    <a:ext uri="{FF2B5EF4-FFF2-40B4-BE49-F238E27FC236}">
                      <a16:creationId xmlns:a16="http://schemas.microsoft.com/office/drawing/2014/main" id="{A25FEC69-6191-88C8-7B28-AD356994400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360225" y="1459049"/>
                  <a:ext cx="74583" cy="74583"/>
                </a:xfrm>
                <a:custGeom>
                  <a:avLst/>
                  <a:gdLst>
                    <a:gd name="connsiteX0" fmla="*/ 74583 w 74583"/>
                    <a:gd name="connsiteY0" fmla="*/ 37292 h 74583"/>
                    <a:gd name="connsiteX1" fmla="*/ 37292 w 74583"/>
                    <a:gd name="connsiteY1" fmla="*/ 74583 h 74583"/>
                    <a:gd name="connsiteX2" fmla="*/ 0 w 74583"/>
                    <a:gd name="connsiteY2" fmla="*/ 37292 h 74583"/>
                    <a:gd name="connsiteX3" fmla="*/ 37292 w 74583"/>
                    <a:gd name="connsiteY3" fmla="*/ 0 h 74583"/>
                    <a:gd name="connsiteX4" fmla="*/ 74583 w 74583"/>
                    <a:gd name="connsiteY4" fmla="*/ 37292 h 745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583" h="74583">
                      <a:moveTo>
                        <a:pt x="74583" y="37292"/>
                      </a:moveTo>
                      <a:cubicBezTo>
                        <a:pt x="74583" y="57887"/>
                        <a:pt x="57887" y="74583"/>
                        <a:pt x="37292" y="74583"/>
                      </a:cubicBezTo>
                      <a:cubicBezTo>
                        <a:pt x="16696" y="74583"/>
                        <a:pt x="0" y="57887"/>
                        <a:pt x="0" y="37292"/>
                      </a:cubicBezTo>
                      <a:cubicBezTo>
                        <a:pt x="0" y="16696"/>
                        <a:pt x="16696" y="0"/>
                        <a:pt x="37292" y="0"/>
                      </a:cubicBezTo>
                      <a:cubicBezTo>
                        <a:pt x="57887" y="0"/>
                        <a:pt x="74583" y="16696"/>
                        <a:pt x="74583" y="37292"/>
                      </a:cubicBezTo>
                      <a:close/>
                    </a:path>
                  </a:pathLst>
                </a:custGeom>
                <a:noFill/>
                <a:ln w="26843" cap="flat">
                  <a:solidFill>
                    <a:srgbClr val="29B6A4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173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" panose="020B0602030504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96" name="TextBox 495">
                  <a:extLst>
                    <a:ext uri="{FF2B5EF4-FFF2-40B4-BE49-F238E27FC236}">
                      <a16:creationId xmlns:a16="http://schemas.microsoft.com/office/drawing/2014/main" id="{6A4CD531-023C-5064-A7FD-08E2425D6BF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572409" y="1335878"/>
                  <a:ext cx="2380780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173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1200" cap="none" spc="0" normalizeH="0" baseline="0" noProof="0" dirty="0">
                      <a:ln/>
                      <a:solidFill>
                        <a:prstClr val="black"/>
                      </a:solidFill>
                      <a:effectLst/>
                      <a:uLnTx/>
                      <a:uFillTx/>
                      <a:latin typeface="Lucida Sans" panose="020B0602030504020204" pitchFamily="34" charset="0"/>
                      <a:ea typeface="+mn-ea"/>
                      <a:cs typeface="Helvetica"/>
                      <a:sym typeface="Helvetica"/>
                      <a:rtl val="0"/>
                    </a:rPr>
                    <a:t>Impact of Peer Parent </a:t>
                  </a:r>
                  <a:br>
                    <a:rPr kumimoji="0" lang="en-US" sz="1600" b="0" i="0" u="none" strike="noStrike" kern="1200" cap="none" spc="0" normalizeH="0" baseline="0" noProof="0" dirty="0">
                      <a:ln/>
                      <a:solidFill>
                        <a:prstClr val="black"/>
                      </a:solidFill>
                      <a:effectLst/>
                      <a:uLnTx/>
                      <a:uFillTx/>
                      <a:latin typeface="Lucida Sans" panose="020B0602030504020204" pitchFamily="34" charset="0"/>
                      <a:ea typeface="+mn-ea"/>
                      <a:cs typeface="Helvetica"/>
                      <a:sym typeface="Helvetica"/>
                      <a:rtl val="0"/>
                    </a:rPr>
                  </a:br>
                  <a:r>
                    <a:rPr kumimoji="0" lang="en-US" sz="1600" b="0" i="0" u="none" strike="noStrike" kern="1200" cap="none" spc="0" normalizeH="0" baseline="0" noProof="0" dirty="0">
                      <a:ln/>
                      <a:solidFill>
                        <a:prstClr val="black"/>
                      </a:solidFill>
                      <a:effectLst/>
                      <a:uLnTx/>
                      <a:uFillTx/>
                      <a:latin typeface="Lucida Sans" panose="020B0602030504020204" pitchFamily="34" charset="0"/>
                      <a:ea typeface="+mn-ea"/>
                      <a:cs typeface="Helvetica"/>
                      <a:sym typeface="Helvetica"/>
                      <a:rtl val="0"/>
                    </a:rPr>
                    <a:t>Employment Rate</a:t>
                  </a: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C646AB53-D470-B357-DBDB-2733212074CE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2108133" y="982260"/>
                <a:ext cx="8953061" cy="4919937"/>
                <a:chOff x="2108133" y="982260"/>
                <a:chExt cx="8953061" cy="4919937"/>
              </a:xfrm>
            </p:grpSpPr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30867FB2-03E3-C1F1-0659-2599F199071A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2108133" y="1871943"/>
                  <a:ext cx="7280834" cy="3325823"/>
                  <a:chOff x="2108133" y="1871943"/>
                  <a:chExt cx="7280834" cy="3325823"/>
                </a:xfrm>
              </p:grpSpPr>
              <p:sp>
                <p:nvSpPr>
                  <p:cNvPr id="327" name="Freeform: Shape 326">
                    <a:extLst>
                      <a:ext uri="{FF2B5EF4-FFF2-40B4-BE49-F238E27FC236}">
                        <a16:creationId xmlns:a16="http://schemas.microsoft.com/office/drawing/2014/main" id="{C3482A30-42F8-14BE-CB72-697B0BEFE89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158849" y="1871943"/>
                    <a:ext cx="7179400" cy="3275107"/>
                  </a:xfrm>
                  <a:custGeom>
                    <a:avLst/>
                    <a:gdLst>
                      <a:gd name="connsiteX0" fmla="*/ 0 w 7179400"/>
                      <a:gd name="connsiteY0" fmla="*/ 3275108 h 3275107"/>
                      <a:gd name="connsiteX1" fmla="*/ 897388 w 7179400"/>
                      <a:gd name="connsiteY1" fmla="*/ 2952310 h 3275107"/>
                      <a:gd name="connsiteX2" fmla="*/ 1794776 w 7179400"/>
                      <a:gd name="connsiteY2" fmla="*/ 2036724 h 3275107"/>
                      <a:gd name="connsiteX3" fmla="*/ 2692163 w 7179400"/>
                      <a:gd name="connsiteY3" fmla="*/ 1471382 h 3275107"/>
                      <a:gd name="connsiteX4" fmla="*/ 3589850 w 7179400"/>
                      <a:gd name="connsiteY4" fmla="*/ 0 h 3275107"/>
                      <a:gd name="connsiteX5" fmla="*/ 4487238 w 7179400"/>
                      <a:gd name="connsiteY5" fmla="*/ 1604140 h 3275107"/>
                      <a:gd name="connsiteX6" fmla="*/ 5384625 w 7179400"/>
                      <a:gd name="connsiteY6" fmla="*/ 1786124 h 3275107"/>
                      <a:gd name="connsiteX7" fmla="*/ 6282013 w 7179400"/>
                      <a:gd name="connsiteY7" fmla="*/ 1678425 h 3275107"/>
                      <a:gd name="connsiteX8" fmla="*/ 7179401 w 7179400"/>
                      <a:gd name="connsiteY8" fmla="*/ 2239293 h 32751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7179400" h="3275107">
                        <a:moveTo>
                          <a:pt x="0" y="3275108"/>
                        </a:moveTo>
                        <a:lnTo>
                          <a:pt x="897388" y="2952310"/>
                        </a:lnTo>
                        <a:lnTo>
                          <a:pt x="1794776" y="2036724"/>
                        </a:lnTo>
                        <a:lnTo>
                          <a:pt x="2692163" y="1471382"/>
                        </a:lnTo>
                        <a:lnTo>
                          <a:pt x="3589850" y="0"/>
                        </a:lnTo>
                        <a:lnTo>
                          <a:pt x="4487238" y="1604140"/>
                        </a:lnTo>
                        <a:lnTo>
                          <a:pt x="5384625" y="1786124"/>
                        </a:lnTo>
                        <a:lnTo>
                          <a:pt x="6282013" y="1678425"/>
                        </a:lnTo>
                        <a:lnTo>
                          <a:pt x="7179401" y="2239293"/>
                        </a:lnTo>
                      </a:path>
                    </a:pathLst>
                  </a:custGeom>
                  <a:noFill/>
                  <a:ln w="26843" cap="flat">
                    <a:solidFill>
                      <a:srgbClr val="29B6A4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marL="0" marR="0" lvl="0" indent="0" algn="l" defTabSz="914173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Lucida Sans" panose="020B0602030504020204" pitchFamily="34" charset="0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9" name="Group 8">
                    <a:extLst>
                      <a:ext uri="{FF2B5EF4-FFF2-40B4-BE49-F238E27FC236}">
                        <a16:creationId xmlns:a16="http://schemas.microsoft.com/office/drawing/2014/main" id="{B3CAAFE1-8A02-F377-8676-1155D5BE9AE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>
                  <a:xfrm>
                    <a:off x="2108133" y="3292608"/>
                    <a:ext cx="7280834" cy="1905158"/>
                    <a:chOff x="2108133" y="3292608"/>
                    <a:chExt cx="7280834" cy="1905158"/>
                  </a:xfrm>
                </p:grpSpPr>
                <p:sp>
                  <p:nvSpPr>
                    <p:cNvPr id="328" name="Freeform: Shape 327">
                      <a:extLst>
                        <a:ext uri="{FF2B5EF4-FFF2-40B4-BE49-F238E27FC236}">
                          <a16:creationId xmlns:a16="http://schemas.microsoft.com/office/drawing/2014/main" id="{437FBFD6-9C5C-34E9-09B0-E9BEB23A717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108133" y="5096333"/>
                      <a:ext cx="101433" cy="101433"/>
                    </a:xfrm>
                    <a:custGeom>
                      <a:avLst/>
                      <a:gdLst>
                        <a:gd name="connsiteX0" fmla="*/ 101433 w 101433"/>
                        <a:gd name="connsiteY0" fmla="*/ 50717 h 101433"/>
                        <a:gd name="connsiteX1" fmla="*/ 50717 w 101433"/>
                        <a:gd name="connsiteY1" fmla="*/ 101434 h 101433"/>
                        <a:gd name="connsiteX2" fmla="*/ 0 w 101433"/>
                        <a:gd name="connsiteY2" fmla="*/ 50717 h 101433"/>
                        <a:gd name="connsiteX3" fmla="*/ 50717 w 101433"/>
                        <a:gd name="connsiteY3" fmla="*/ 0 h 101433"/>
                        <a:gd name="connsiteX4" fmla="*/ 101433 w 101433"/>
                        <a:gd name="connsiteY4" fmla="*/ 50717 h 10143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433" h="101433">
                          <a:moveTo>
                            <a:pt x="101433" y="50717"/>
                          </a:moveTo>
                          <a:cubicBezTo>
                            <a:pt x="101433" y="78727"/>
                            <a:pt x="78727" y="101434"/>
                            <a:pt x="50717" y="101434"/>
                          </a:cubicBezTo>
                          <a:cubicBezTo>
                            <a:pt x="22707" y="101434"/>
                            <a:pt x="0" y="78727"/>
                            <a:pt x="0" y="50717"/>
                          </a:cubicBezTo>
                          <a:cubicBezTo>
                            <a:pt x="0" y="22707"/>
                            <a:pt x="22707" y="0"/>
                            <a:pt x="50717" y="0"/>
                          </a:cubicBezTo>
                          <a:cubicBezTo>
                            <a:pt x="78727" y="0"/>
                            <a:pt x="101433" y="22707"/>
                            <a:pt x="101433" y="50717"/>
                          </a:cubicBezTo>
                          <a:close/>
                        </a:path>
                      </a:pathLst>
                    </a:custGeom>
                    <a:solidFill>
                      <a:srgbClr val="29B6A4"/>
                    </a:solidFill>
                    <a:ln w="165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Sans" panose="020B0602030504020204" pitchFamily="34" charset="0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29" name="Freeform: Shape 328">
                      <a:extLst>
                        <a:ext uri="{FF2B5EF4-FFF2-40B4-BE49-F238E27FC236}">
                          <a16:creationId xmlns:a16="http://schemas.microsoft.com/office/drawing/2014/main" id="{BC94414F-BD1D-2FEB-61CF-4A53DBCEBBA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121558" y="5109758"/>
                      <a:ext cx="74583" cy="74583"/>
                    </a:xfrm>
                    <a:custGeom>
                      <a:avLst/>
                      <a:gdLst>
                        <a:gd name="connsiteX0" fmla="*/ 74583 w 74583"/>
                        <a:gd name="connsiteY0" fmla="*/ 37292 h 74583"/>
                        <a:gd name="connsiteX1" fmla="*/ 37292 w 74583"/>
                        <a:gd name="connsiteY1" fmla="*/ 74584 h 74583"/>
                        <a:gd name="connsiteX2" fmla="*/ 0 w 74583"/>
                        <a:gd name="connsiteY2" fmla="*/ 37292 h 74583"/>
                        <a:gd name="connsiteX3" fmla="*/ 37292 w 74583"/>
                        <a:gd name="connsiteY3" fmla="*/ 0 h 74583"/>
                        <a:gd name="connsiteX4" fmla="*/ 74583 w 74583"/>
                        <a:gd name="connsiteY4" fmla="*/ 37292 h 74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4583" h="74583">
                          <a:moveTo>
                            <a:pt x="74583" y="37292"/>
                          </a:moveTo>
                          <a:cubicBezTo>
                            <a:pt x="74583" y="57888"/>
                            <a:pt x="57887" y="74584"/>
                            <a:pt x="37292" y="74584"/>
                          </a:cubicBezTo>
                          <a:cubicBezTo>
                            <a:pt x="16696" y="74584"/>
                            <a:pt x="0" y="57888"/>
                            <a:pt x="0" y="37292"/>
                          </a:cubicBezTo>
                          <a:cubicBezTo>
                            <a:pt x="0" y="16696"/>
                            <a:pt x="16696" y="0"/>
                            <a:pt x="37292" y="0"/>
                          </a:cubicBezTo>
                          <a:cubicBezTo>
                            <a:pt x="57887" y="0"/>
                            <a:pt x="74583" y="16696"/>
                            <a:pt x="74583" y="37292"/>
                          </a:cubicBezTo>
                          <a:close/>
                        </a:path>
                      </a:pathLst>
                    </a:custGeom>
                    <a:noFill/>
                    <a:ln w="26843" cap="flat">
                      <a:solidFill>
                        <a:srgbClr val="29B6A4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Sans" panose="020B0602030504020204" pitchFamily="34" charset="0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30" name="Freeform: Shape 329">
                      <a:extLst>
                        <a:ext uri="{FF2B5EF4-FFF2-40B4-BE49-F238E27FC236}">
                          <a16:creationId xmlns:a16="http://schemas.microsoft.com/office/drawing/2014/main" id="{672B64F4-6655-E0FB-86B7-474977980C9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05520" y="4773536"/>
                      <a:ext cx="101433" cy="101433"/>
                    </a:xfrm>
                    <a:custGeom>
                      <a:avLst/>
                      <a:gdLst>
                        <a:gd name="connsiteX0" fmla="*/ 101433 w 101433"/>
                        <a:gd name="connsiteY0" fmla="*/ 50717 h 101433"/>
                        <a:gd name="connsiteX1" fmla="*/ 50717 w 101433"/>
                        <a:gd name="connsiteY1" fmla="*/ 101434 h 101433"/>
                        <a:gd name="connsiteX2" fmla="*/ 0 w 101433"/>
                        <a:gd name="connsiteY2" fmla="*/ 50717 h 101433"/>
                        <a:gd name="connsiteX3" fmla="*/ 50717 w 101433"/>
                        <a:gd name="connsiteY3" fmla="*/ 0 h 101433"/>
                        <a:gd name="connsiteX4" fmla="*/ 101433 w 101433"/>
                        <a:gd name="connsiteY4" fmla="*/ 50717 h 10143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433" h="101433">
                          <a:moveTo>
                            <a:pt x="101433" y="50717"/>
                          </a:moveTo>
                          <a:cubicBezTo>
                            <a:pt x="101433" y="78727"/>
                            <a:pt x="78727" y="101434"/>
                            <a:pt x="50717" y="101434"/>
                          </a:cubicBezTo>
                          <a:cubicBezTo>
                            <a:pt x="22707" y="101434"/>
                            <a:pt x="0" y="78727"/>
                            <a:pt x="0" y="50717"/>
                          </a:cubicBezTo>
                          <a:cubicBezTo>
                            <a:pt x="0" y="22707"/>
                            <a:pt x="22707" y="0"/>
                            <a:pt x="50717" y="0"/>
                          </a:cubicBezTo>
                          <a:cubicBezTo>
                            <a:pt x="78727" y="0"/>
                            <a:pt x="101433" y="22707"/>
                            <a:pt x="101433" y="50717"/>
                          </a:cubicBezTo>
                          <a:close/>
                        </a:path>
                      </a:pathLst>
                    </a:custGeom>
                    <a:solidFill>
                      <a:srgbClr val="29B6A4"/>
                    </a:solidFill>
                    <a:ln w="165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Sans" panose="020B0602030504020204" pitchFamily="34" charset="0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31" name="Freeform: Shape 330">
                      <a:extLst>
                        <a:ext uri="{FF2B5EF4-FFF2-40B4-BE49-F238E27FC236}">
                          <a16:creationId xmlns:a16="http://schemas.microsoft.com/office/drawing/2014/main" id="{1C952174-97F6-B988-443C-BA33969FD45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18945" y="4786961"/>
                      <a:ext cx="74583" cy="74583"/>
                    </a:xfrm>
                    <a:custGeom>
                      <a:avLst/>
                      <a:gdLst>
                        <a:gd name="connsiteX0" fmla="*/ 74583 w 74583"/>
                        <a:gd name="connsiteY0" fmla="*/ 37292 h 74583"/>
                        <a:gd name="connsiteX1" fmla="*/ 37292 w 74583"/>
                        <a:gd name="connsiteY1" fmla="*/ 74584 h 74583"/>
                        <a:gd name="connsiteX2" fmla="*/ 0 w 74583"/>
                        <a:gd name="connsiteY2" fmla="*/ 37292 h 74583"/>
                        <a:gd name="connsiteX3" fmla="*/ 37292 w 74583"/>
                        <a:gd name="connsiteY3" fmla="*/ 0 h 74583"/>
                        <a:gd name="connsiteX4" fmla="*/ 74583 w 74583"/>
                        <a:gd name="connsiteY4" fmla="*/ 37292 h 74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4583" h="74583">
                          <a:moveTo>
                            <a:pt x="74583" y="37292"/>
                          </a:moveTo>
                          <a:cubicBezTo>
                            <a:pt x="74583" y="57888"/>
                            <a:pt x="57887" y="74584"/>
                            <a:pt x="37292" y="74584"/>
                          </a:cubicBezTo>
                          <a:cubicBezTo>
                            <a:pt x="16696" y="74584"/>
                            <a:pt x="0" y="57888"/>
                            <a:pt x="0" y="37292"/>
                          </a:cubicBezTo>
                          <a:cubicBezTo>
                            <a:pt x="0" y="16696"/>
                            <a:pt x="16696" y="0"/>
                            <a:pt x="37292" y="0"/>
                          </a:cubicBezTo>
                          <a:cubicBezTo>
                            <a:pt x="57887" y="0"/>
                            <a:pt x="74583" y="16696"/>
                            <a:pt x="74583" y="37292"/>
                          </a:cubicBezTo>
                          <a:close/>
                        </a:path>
                      </a:pathLst>
                    </a:custGeom>
                    <a:noFill/>
                    <a:ln w="26843" cap="flat">
                      <a:solidFill>
                        <a:srgbClr val="29B6A4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Sans" panose="020B0602030504020204" pitchFamily="34" charset="0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32" name="Freeform: Shape 331">
                      <a:extLst>
                        <a:ext uri="{FF2B5EF4-FFF2-40B4-BE49-F238E27FC236}">
                          <a16:creationId xmlns:a16="http://schemas.microsoft.com/office/drawing/2014/main" id="{CF35150C-F4F7-749D-7104-ABF002EE76E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02908" y="3857950"/>
                      <a:ext cx="101433" cy="101433"/>
                    </a:xfrm>
                    <a:custGeom>
                      <a:avLst/>
                      <a:gdLst>
                        <a:gd name="connsiteX0" fmla="*/ 101434 w 101433"/>
                        <a:gd name="connsiteY0" fmla="*/ 50717 h 101433"/>
                        <a:gd name="connsiteX1" fmla="*/ 50717 w 101433"/>
                        <a:gd name="connsiteY1" fmla="*/ 101433 h 101433"/>
                        <a:gd name="connsiteX2" fmla="*/ 0 w 101433"/>
                        <a:gd name="connsiteY2" fmla="*/ 50717 h 101433"/>
                        <a:gd name="connsiteX3" fmla="*/ 50717 w 101433"/>
                        <a:gd name="connsiteY3" fmla="*/ 0 h 101433"/>
                        <a:gd name="connsiteX4" fmla="*/ 101434 w 101433"/>
                        <a:gd name="connsiteY4" fmla="*/ 50717 h 10143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433" h="101433">
                          <a:moveTo>
                            <a:pt x="101434" y="50717"/>
                          </a:moveTo>
                          <a:cubicBezTo>
                            <a:pt x="101434" y="78727"/>
                            <a:pt x="78727" y="101433"/>
                            <a:pt x="50717" y="101433"/>
                          </a:cubicBezTo>
                          <a:cubicBezTo>
                            <a:pt x="22707" y="101433"/>
                            <a:pt x="0" y="78727"/>
                            <a:pt x="0" y="50717"/>
                          </a:cubicBezTo>
                          <a:cubicBezTo>
                            <a:pt x="0" y="22707"/>
                            <a:pt x="22707" y="0"/>
                            <a:pt x="50717" y="0"/>
                          </a:cubicBezTo>
                          <a:cubicBezTo>
                            <a:pt x="78727" y="0"/>
                            <a:pt x="101434" y="22707"/>
                            <a:pt x="101434" y="50717"/>
                          </a:cubicBezTo>
                          <a:close/>
                        </a:path>
                      </a:pathLst>
                    </a:custGeom>
                    <a:solidFill>
                      <a:srgbClr val="29B6A4"/>
                    </a:solidFill>
                    <a:ln w="165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Sans" panose="020B0602030504020204" pitchFamily="34" charset="0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33" name="Freeform: Shape 332">
                      <a:extLst>
                        <a:ext uri="{FF2B5EF4-FFF2-40B4-BE49-F238E27FC236}">
                          <a16:creationId xmlns:a16="http://schemas.microsoft.com/office/drawing/2014/main" id="{F76B4153-836D-9F98-BFBF-ACE90CFC6F6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16333" y="3871375"/>
                      <a:ext cx="74583" cy="74583"/>
                    </a:xfrm>
                    <a:custGeom>
                      <a:avLst/>
                      <a:gdLst>
                        <a:gd name="connsiteX0" fmla="*/ 74583 w 74583"/>
                        <a:gd name="connsiteY0" fmla="*/ 37292 h 74583"/>
                        <a:gd name="connsiteX1" fmla="*/ 37292 w 74583"/>
                        <a:gd name="connsiteY1" fmla="*/ 74583 h 74583"/>
                        <a:gd name="connsiteX2" fmla="*/ 0 w 74583"/>
                        <a:gd name="connsiteY2" fmla="*/ 37292 h 74583"/>
                        <a:gd name="connsiteX3" fmla="*/ 37292 w 74583"/>
                        <a:gd name="connsiteY3" fmla="*/ 0 h 74583"/>
                        <a:gd name="connsiteX4" fmla="*/ 74583 w 74583"/>
                        <a:gd name="connsiteY4" fmla="*/ 37292 h 74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4583" h="74583">
                          <a:moveTo>
                            <a:pt x="74583" y="37292"/>
                          </a:moveTo>
                          <a:cubicBezTo>
                            <a:pt x="74583" y="57887"/>
                            <a:pt x="57887" y="74583"/>
                            <a:pt x="37292" y="74583"/>
                          </a:cubicBezTo>
                          <a:cubicBezTo>
                            <a:pt x="16696" y="74583"/>
                            <a:pt x="0" y="57887"/>
                            <a:pt x="0" y="37292"/>
                          </a:cubicBezTo>
                          <a:cubicBezTo>
                            <a:pt x="0" y="16696"/>
                            <a:pt x="16696" y="0"/>
                            <a:pt x="37292" y="0"/>
                          </a:cubicBezTo>
                          <a:cubicBezTo>
                            <a:pt x="57887" y="0"/>
                            <a:pt x="74583" y="16696"/>
                            <a:pt x="74583" y="37292"/>
                          </a:cubicBezTo>
                          <a:close/>
                        </a:path>
                      </a:pathLst>
                    </a:custGeom>
                    <a:noFill/>
                    <a:ln w="26843" cap="flat">
                      <a:solidFill>
                        <a:srgbClr val="29B6A4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Sans" panose="020B0602030504020204" pitchFamily="34" charset="0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34" name="Freeform: Shape 333">
                      <a:extLst>
                        <a:ext uri="{FF2B5EF4-FFF2-40B4-BE49-F238E27FC236}">
                          <a16:creationId xmlns:a16="http://schemas.microsoft.com/office/drawing/2014/main" id="{D8AD4885-95E9-E482-CF0E-0D0C880EC01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800296" y="3292608"/>
                      <a:ext cx="101433" cy="101433"/>
                    </a:xfrm>
                    <a:custGeom>
                      <a:avLst/>
                      <a:gdLst>
                        <a:gd name="connsiteX0" fmla="*/ 101433 w 101433"/>
                        <a:gd name="connsiteY0" fmla="*/ 50717 h 101433"/>
                        <a:gd name="connsiteX1" fmla="*/ 50717 w 101433"/>
                        <a:gd name="connsiteY1" fmla="*/ 101433 h 101433"/>
                        <a:gd name="connsiteX2" fmla="*/ 0 w 101433"/>
                        <a:gd name="connsiteY2" fmla="*/ 50717 h 101433"/>
                        <a:gd name="connsiteX3" fmla="*/ 50717 w 101433"/>
                        <a:gd name="connsiteY3" fmla="*/ 0 h 101433"/>
                        <a:gd name="connsiteX4" fmla="*/ 101433 w 101433"/>
                        <a:gd name="connsiteY4" fmla="*/ 50717 h 10143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433" h="101433">
                          <a:moveTo>
                            <a:pt x="101433" y="50717"/>
                          </a:moveTo>
                          <a:cubicBezTo>
                            <a:pt x="101433" y="78727"/>
                            <a:pt x="78727" y="101433"/>
                            <a:pt x="50717" y="101433"/>
                          </a:cubicBezTo>
                          <a:cubicBezTo>
                            <a:pt x="22706" y="101433"/>
                            <a:pt x="0" y="78727"/>
                            <a:pt x="0" y="50717"/>
                          </a:cubicBezTo>
                          <a:cubicBezTo>
                            <a:pt x="0" y="22707"/>
                            <a:pt x="22706" y="0"/>
                            <a:pt x="50717" y="0"/>
                          </a:cubicBezTo>
                          <a:cubicBezTo>
                            <a:pt x="78727" y="0"/>
                            <a:pt x="101433" y="22707"/>
                            <a:pt x="101433" y="50717"/>
                          </a:cubicBezTo>
                          <a:close/>
                        </a:path>
                      </a:pathLst>
                    </a:custGeom>
                    <a:solidFill>
                      <a:srgbClr val="29B6A4"/>
                    </a:solidFill>
                    <a:ln w="165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Sans" panose="020B0602030504020204" pitchFamily="34" charset="0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35" name="Freeform: Shape 334">
                      <a:extLst>
                        <a:ext uri="{FF2B5EF4-FFF2-40B4-BE49-F238E27FC236}">
                          <a16:creationId xmlns:a16="http://schemas.microsoft.com/office/drawing/2014/main" id="{F1E6870D-4AF6-844A-5570-6221422AA29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813721" y="3306033"/>
                      <a:ext cx="74583" cy="74583"/>
                    </a:xfrm>
                    <a:custGeom>
                      <a:avLst/>
                      <a:gdLst>
                        <a:gd name="connsiteX0" fmla="*/ 74583 w 74583"/>
                        <a:gd name="connsiteY0" fmla="*/ 37292 h 74583"/>
                        <a:gd name="connsiteX1" fmla="*/ 37292 w 74583"/>
                        <a:gd name="connsiteY1" fmla="*/ 74583 h 74583"/>
                        <a:gd name="connsiteX2" fmla="*/ 0 w 74583"/>
                        <a:gd name="connsiteY2" fmla="*/ 37292 h 74583"/>
                        <a:gd name="connsiteX3" fmla="*/ 37292 w 74583"/>
                        <a:gd name="connsiteY3" fmla="*/ 0 h 74583"/>
                        <a:gd name="connsiteX4" fmla="*/ 74583 w 74583"/>
                        <a:gd name="connsiteY4" fmla="*/ 37292 h 74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4583" h="74583">
                          <a:moveTo>
                            <a:pt x="74583" y="37292"/>
                          </a:moveTo>
                          <a:cubicBezTo>
                            <a:pt x="74583" y="57887"/>
                            <a:pt x="57887" y="74583"/>
                            <a:pt x="37292" y="74583"/>
                          </a:cubicBezTo>
                          <a:cubicBezTo>
                            <a:pt x="16696" y="74583"/>
                            <a:pt x="0" y="57887"/>
                            <a:pt x="0" y="37292"/>
                          </a:cubicBezTo>
                          <a:cubicBezTo>
                            <a:pt x="0" y="16696"/>
                            <a:pt x="16696" y="0"/>
                            <a:pt x="37292" y="0"/>
                          </a:cubicBezTo>
                          <a:cubicBezTo>
                            <a:pt x="57887" y="0"/>
                            <a:pt x="74583" y="16696"/>
                            <a:pt x="74583" y="37292"/>
                          </a:cubicBezTo>
                          <a:close/>
                        </a:path>
                      </a:pathLst>
                    </a:custGeom>
                    <a:noFill/>
                    <a:ln w="26843" cap="flat">
                      <a:solidFill>
                        <a:srgbClr val="29B6A4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Sans" panose="020B0602030504020204" pitchFamily="34" charset="0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38" name="Freeform: Shape 337">
                      <a:extLst>
                        <a:ext uri="{FF2B5EF4-FFF2-40B4-BE49-F238E27FC236}">
                          <a16:creationId xmlns:a16="http://schemas.microsoft.com/office/drawing/2014/main" id="{DA5425A8-A594-B5D4-33C5-448ABFFE107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6595370" y="3425366"/>
                      <a:ext cx="101433" cy="101433"/>
                    </a:xfrm>
                    <a:custGeom>
                      <a:avLst/>
                      <a:gdLst>
                        <a:gd name="connsiteX0" fmla="*/ 101434 w 101433"/>
                        <a:gd name="connsiteY0" fmla="*/ 50717 h 101433"/>
                        <a:gd name="connsiteX1" fmla="*/ 50717 w 101433"/>
                        <a:gd name="connsiteY1" fmla="*/ 101433 h 101433"/>
                        <a:gd name="connsiteX2" fmla="*/ 0 w 101433"/>
                        <a:gd name="connsiteY2" fmla="*/ 50717 h 101433"/>
                        <a:gd name="connsiteX3" fmla="*/ 50717 w 101433"/>
                        <a:gd name="connsiteY3" fmla="*/ 0 h 101433"/>
                        <a:gd name="connsiteX4" fmla="*/ 101434 w 101433"/>
                        <a:gd name="connsiteY4" fmla="*/ 50717 h 10143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433" h="101433">
                          <a:moveTo>
                            <a:pt x="101434" y="50717"/>
                          </a:moveTo>
                          <a:cubicBezTo>
                            <a:pt x="101434" y="78727"/>
                            <a:pt x="78727" y="101433"/>
                            <a:pt x="50717" y="101433"/>
                          </a:cubicBezTo>
                          <a:cubicBezTo>
                            <a:pt x="22707" y="101433"/>
                            <a:pt x="0" y="78727"/>
                            <a:pt x="0" y="50717"/>
                          </a:cubicBezTo>
                          <a:cubicBezTo>
                            <a:pt x="0" y="22707"/>
                            <a:pt x="22707" y="0"/>
                            <a:pt x="50717" y="0"/>
                          </a:cubicBezTo>
                          <a:cubicBezTo>
                            <a:pt x="78727" y="0"/>
                            <a:pt x="101434" y="22707"/>
                            <a:pt x="101434" y="50717"/>
                          </a:cubicBezTo>
                          <a:close/>
                        </a:path>
                      </a:pathLst>
                    </a:custGeom>
                    <a:solidFill>
                      <a:srgbClr val="29B6A4"/>
                    </a:solidFill>
                    <a:ln w="165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Sans" panose="020B0602030504020204" pitchFamily="34" charset="0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39" name="Freeform: Shape 338">
                      <a:extLst>
                        <a:ext uri="{FF2B5EF4-FFF2-40B4-BE49-F238E27FC236}">
                          <a16:creationId xmlns:a16="http://schemas.microsoft.com/office/drawing/2014/main" id="{3E91D6B5-F389-A112-05B4-80D9957C422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6608795" y="3438791"/>
                      <a:ext cx="74583" cy="74583"/>
                    </a:xfrm>
                    <a:custGeom>
                      <a:avLst/>
                      <a:gdLst>
                        <a:gd name="connsiteX0" fmla="*/ 74583 w 74583"/>
                        <a:gd name="connsiteY0" fmla="*/ 37292 h 74583"/>
                        <a:gd name="connsiteX1" fmla="*/ 37292 w 74583"/>
                        <a:gd name="connsiteY1" fmla="*/ 74583 h 74583"/>
                        <a:gd name="connsiteX2" fmla="*/ 0 w 74583"/>
                        <a:gd name="connsiteY2" fmla="*/ 37292 h 74583"/>
                        <a:gd name="connsiteX3" fmla="*/ 37292 w 74583"/>
                        <a:gd name="connsiteY3" fmla="*/ 0 h 74583"/>
                        <a:gd name="connsiteX4" fmla="*/ 74583 w 74583"/>
                        <a:gd name="connsiteY4" fmla="*/ 37292 h 74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4583" h="74583">
                          <a:moveTo>
                            <a:pt x="74583" y="37292"/>
                          </a:moveTo>
                          <a:cubicBezTo>
                            <a:pt x="74583" y="57887"/>
                            <a:pt x="57887" y="74583"/>
                            <a:pt x="37292" y="74583"/>
                          </a:cubicBezTo>
                          <a:cubicBezTo>
                            <a:pt x="16696" y="74583"/>
                            <a:pt x="0" y="57887"/>
                            <a:pt x="0" y="37292"/>
                          </a:cubicBezTo>
                          <a:cubicBezTo>
                            <a:pt x="0" y="16696"/>
                            <a:pt x="16696" y="0"/>
                            <a:pt x="37292" y="0"/>
                          </a:cubicBezTo>
                          <a:cubicBezTo>
                            <a:pt x="57887" y="0"/>
                            <a:pt x="74583" y="16696"/>
                            <a:pt x="74583" y="37292"/>
                          </a:cubicBezTo>
                          <a:close/>
                        </a:path>
                      </a:pathLst>
                    </a:custGeom>
                    <a:noFill/>
                    <a:ln w="26843" cap="flat">
                      <a:solidFill>
                        <a:srgbClr val="29B6A4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Sans" panose="020B0602030504020204" pitchFamily="34" charset="0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40" name="Freeform: Shape 339">
                      <a:extLst>
                        <a:ext uri="{FF2B5EF4-FFF2-40B4-BE49-F238E27FC236}">
                          <a16:creationId xmlns:a16="http://schemas.microsoft.com/office/drawing/2014/main" id="{8196ABFB-5713-6990-5625-674F5A02A9E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7492758" y="3607350"/>
                      <a:ext cx="101433" cy="101433"/>
                    </a:xfrm>
                    <a:custGeom>
                      <a:avLst/>
                      <a:gdLst>
                        <a:gd name="connsiteX0" fmla="*/ 101433 w 101433"/>
                        <a:gd name="connsiteY0" fmla="*/ 50717 h 101433"/>
                        <a:gd name="connsiteX1" fmla="*/ 50717 w 101433"/>
                        <a:gd name="connsiteY1" fmla="*/ 101433 h 101433"/>
                        <a:gd name="connsiteX2" fmla="*/ 0 w 101433"/>
                        <a:gd name="connsiteY2" fmla="*/ 50717 h 101433"/>
                        <a:gd name="connsiteX3" fmla="*/ 50717 w 101433"/>
                        <a:gd name="connsiteY3" fmla="*/ 0 h 101433"/>
                        <a:gd name="connsiteX4" fmla="*/ 101433 w 101433"/>
                        <a:gd name="connsiteY4" fmla="*/ 50717 h 10143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433" h="101433">
                          <a:moveTo>
                            <a:pt x="101433" y="50717"/>
                          </a:moveTo>
                          <a:cubicBezTo>
                            <a:pt x="101433" y="78727"/>
                            <a:pt x="78727" y="101433"/>
                            <a:pt x="50717" y="101433"/>
                          </a:cubicBezTo>
                          <a:cubicBezTo>
                            <a:pt x="22706" y="101433"/>
                            <a:pt x="0" y="78727"/>
                            <a:pt x="0" y="50717"/>
                          </a:cubicBezTo>
                          <a:cubicBezTo>
                            <a:pt x="0" y="22707"/>
                            <a:pt x="22706" y="0"/>
                            <a:pt x="50717" y="0"/>
                          </a:cubicBezTo>
                          <a:cubicBezTo>
                            <a:pt x="78727" y="0"/>
                            <a:pt x="101433" y="22707"/>
                            <a:pt x="101433" y="50717"/>
                          </a:cubicBezTo>
                          <a:close/>
                        </a:path>
                      </a:pathLst>
                    </a:custGeom>
                    <a:solidFill>
                      <a:srgbClr val="29B6A4"/>
                    </a:solidFill>
                    <a:ln w="165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Sans" panose="020B0602030504020204" pitchFamily="34" charset="0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41" name="Freeform: Shape 340">
                      <a:extLst>
                        <a:ext uri="{FF2B5EF4-FFF2-40B4-BE49-F238E27FC236}">
                          <a16:creationId xmlns:a16="http://schemas.microsoft.com/office/drawing/2014/main" id="{6B57E2CA-6B51-2C38-E8C4-FEE508D0E04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7506183" y="3620775"/>
                      <a:ext cx="74583" cy="74583"/>
                    </a:xfrm>
                    <a:custGeom>
                      <a:avLst/>
                      <a:gdLst>
                        <a:gd name="connsiteX0" fmla="*/ 74583 w 74583"/>
                        <a:gd name="connsiteY0" fmla="*/ 37292 h 74583"/>
                        <a:gd name="connsiteX1" fmla="*/ 37292 w 74583"/>
                        <a:gd name="connsiteY1" fmla="*/ 74583 h 74583"/>
                        <a:gd name="connsiteX2" fmla="*/ 0 w 74583"/>
                        <a:gd name="connsiteY2" fmla="*/ 37292 h 74583"/>
                        <a:gd name="connsiteX3" fmla="*/ 37292 w 74583"/>
                        <a:gd name="connsiteY3" fmla="*/ 0 h 74583"/>
                        <a:gd name="connsiteX4" fmla="*/ 74583 w 74583"/>
                        <a:gd name="connsiteY4" fmla="*/ 37292 h 74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4583" h="74583">
                          <a:moveTo>
                            <a:pt x="74583" y="37292"/>
                          </a:moveTo>
                          <a:cubicBezTo>
                            <a:pt x="74583" y="57887"/>
                            <a:pt x="57887" y="74583"/>
                            <a:pt x="37292" y="74583"/>
                          </a:cubicBezTo>
                          <a:cubicBezTo>
                            <a:pt x="16696" y="74583"/>
                            <a:pt x="0" y="57887"/>
                            <a:pt x="0" y="37292"/>
                          </a:cubicBezTo>
                          <a:cubicBezTo>
                            <a:pt x="0" y="16696"/>
                            <a:pt x="16696" y="0"/>
                            <a:pt x="37292" y="0"/>
                          </a:cubicBezTo>
                          <a:cubicBezTo>
                            <a:pt x="57887" y="0"/>
                            <a:pt x="74583" y="16696"/>
                            <a:pt x="74583" y="37292"/>
                          </a:cubicBezTo>
                          <a:close/>
                        </a:path>
                      </a:pathLst>
                    </a:custGeom>
                    <a:noFill/>
                    <a:ln w="26843" cap="flat">
                      <a:solidFill>
                        <a:srgbClr val="29B6A4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Sans" panose="020B0602030504020204" pitchFamily="34" charset="0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42" name="Freeform: Shape 341">
                      <a:extLst>
                        <a:ext uri="{FF2B5EF4-FFF2-40B4-BE49-F238E27FC236}">
                          <a16:creationId xmlns:a16="http://schemas.microsoft.com/office/drawing/2014/main" id="{262EB894-EA51-1B55-601B-69B8E9049D9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8390146" y="3499651"/>
                      <a:ext cx="101433" cy="101433"/>
                    </a:xfrm>
                    <a:custGeom>
                      <a:avLst/>
                      <a:gdLst>
                        <a:gd name="connsiteX0" fmla="*/ 101433 w 101433"/>
                        <a:gd name="connsiteY0" fmla="*/ 50717 h 101433"/>
                        <a:gd name="connsiteX1" fmla="*/ 50716 w 101433"/>
                        <a:gd name="connsiteY1" fmla="*/ 101433 h 101433"/>
                        <a:gd name="connsiteX2" fmla="*/ 0 w 101433"/>
                        <a:gd name="connsiteY2" fmla="*/ 50717 h 101433"/>
                        <a:gd name="connsiteX3" fmla="*/ 50716 w 101433"/>
                        <a:gd name="connsiteY3" fmla="*/ 0 h 101433"/>
                        <a:gd name="connsiteX4" fmla="*/ 101433 w 101433"/>
                        <a:gd name="connsiteY4" fmla="*/ 50717 h 10143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433" h="101433">
                          <a:moveTo>
                            <a:pt x="101433" y="50717"/>
                          </a:moveTo>
                          <a:cubicBezTo>
                            <a:pt x="101433" y="78727"/>
                            <a:pt x="78727" y="101433"/>
                            <a:pt x="50716" y="101433"/>
                          </a:cubicBezTo>
                          <a:cubicBezTo>
                            <a:pt x="22706" y="101433"/>
                            <a:pt x="0" y="78727"/>
                            <a:pt x="0" y="50717"/>
                          </a:cubicBezTo>
                          <a:cubicBezTo>
                            <a:pt x="0" y="22707"/>
                            <a:pt x="22706" y="0"/>
                            <a:pt x="50716" y="0"/>
                          </a:cubicBezTo>
                          <a:cubicBezTo>
                            <a:pt x="78727" y="0"/>
                            <a:pt x="101433" y="22707"/>
                            <a:pt x="101433" y="50717"/>
                          </a:cubicBezTo>
                          <a:close/>
                        </a:path>
                      </a:pathLst>
                    </a:custGeom>
                    <a:solidFill>
                      <a:srgbClr val="29B6A4"/>
                    </a:solidFill>
                    <a:ln w="165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Sans" panose="020B0602030504020204" pitchFamily="34" charset="0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43" name="Freeform: Shape 342">
                      <a:extLst>
                        <a:ext uri="{FF2B5EF4-FFF2-40B4-BE49-F238E27FC236}">
                          <a16:creationId xmlns:a16="http://schemas.microsoft.com/office/drawing/2014/main" id="{3D6DC308-9FEF-EEDA-36CD-137C43E599F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8403571" y="3513076"/>
                      <a:ext cx="74583" cy="74583"/>
                    </a:xfrm>
                    <a:custGeom>
                      <a:avLst/>
                      <a:gdLst>
                        <a:gd name="connsiteX0" fmla="*/ 74583 w 74583"/>
                        <a:gd name="connsiteY0" fmla="*/ 37292 h 74583"/>
                        <a:gd name="connsiteX1" fmla="*/ 37291 w 74583"/>
                        <a:gd name="connsiteY1" fmla="*/ 74583 h 74583"/>
                        <a:gd name="connsiteX2" fmla="*/ 0 w 74583"/>
                        <a:gd name="connsiteY2" fmla="*/ 37292 h 74583"/>
                        <a:gd name="connsiteX3" fmla="*/ 37291 w 74583"/>
                        <a:gd name="connsiteY3" fmla="*/ 0 h 74583"/>
                        <a:gd name="connsiteX4" fmla="*/ 74583 w 74583"/>
                        <a:gd name="connsiteY4" fmla="*/ 37292 h 74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4583" h="74583">
                          <a:moveTo>
                            <a:pt x="74583" y="37292"/>
                          </a:moveTo>
                          <a:cubicBezTo>
                            <a:pt x="74583" y="57887"/>
                            <a:pt x="57887" y="74583"/>
                            <a:pt x="37291" y="74583"/>
                          </a:cubicBezTo>
                          <a:cubicBezTo>
                            <a:pt x="16696" y="74583"/>
                            <a:pt x="0" y="57887"/>
                            <a:pt x="0" y="37292"/>
                          </a:cubicBezTo>
                          <a:cubicBezTo>
                            <a:pt x="0" y="16696"/>
                            <a:pt x="16696" y="0"/>
                            <a:pt x="37291" y="0"/>
                          </a:cubicBezTo>
                          <a:cubicBezTo>
                            <a:pt x="57887" y="0"/>
                            <a:pt x="74583" y="16696"/>
                            <a:pt x="74583" y="37292"/>
                          </a:cubicBezTo>
                          <a:close/>
                        </a:path>
                      </a:pathLst>
                    </a:custGeom>
                    <a:noFill/>
                    <a:ln w="26843" cap="flat">
                      <a:solidFill>
                        <a:srgbClr val="29B6A4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Sans" panose="020B0602030504020204" pitchFamily="34" charset="0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44" name="Freeform: Shape 343">
                      <a:extLst>
                        <a:ext uri="{FF2B5EF4-FFF2-40B4-BE49-F238E27FC236}">
                          <a16:creationId xmlns:a16="http://schemas.microsoft.com/office/drawing/2014/main" id="{5A925087-05B6-1714-8369-46FC1D1E075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9287534" y="4060519"/>
                      <a:ext cx="101433" cy="101433"/>
                    </a:xfrm>
                    <a:custGeom>
                      <a:avLst/>
                      <a:gdLst>
                        <a:gd name="connsiteX0" fmla="*/ 101433 w 101433"/>
                        <a:gd name="connsiteY0" fmla="*/ 50717 h 101433"/>
                        <a:gd name="connsiteX1" fmla="*/ 50716 w 101433"/>
                        <a:gd name="connsiteY1" fmla="*/ 101433 h 101433"/>
                        <a:gd name="connsiteX2" fmla="*/ -1 w 101433"/>
                        <a:gd name="connsiteY2" fmla="*/ 50717 h 101433"/>
                        <a:gd name="connsiteX3" fmla="*/ 50716 w 101433"/>
                        <a:gd name="connsiteY3" fmla="*/ 0 h 101433"/>
                        <a:gd name="connsiteX4" fmla="*/ 101433 w 101433"/>
                        <a:gd name="connsiteY4" fmla="*/ 50717 h 10143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433" h="101433">
                          <a:moveTo>
                            <a:pt x="101433" y="50717"/>
                          </a:moveTo>
                          <a:cubicBezTo>
                            <a:pt x="101433" y="78727"/>
                            <a:pt x="78726" y="101433"/>
                            <a:pt x="50716" y="101433"/>
                          </a:cubicBezTo>
                          <a:cubicBezTo>
                            <a:pt x="22706" y="101433"/>
                            <a:pt x="-1" y="78727"/>
                            <a:pt x="-1" y="50717"/>
                          </a:cubicBezTo>
                          <a:cubicBezTo>
                            <a:pt x="-1" y="22707"/>
                            <a:pt x="22706" y="0"/>
                            <a:pt x="50716" y="0"/>
                          </a:cubicBezTo>
                          <a:cubicBezTo>
                            <a:pt x="78726" y="0"/>
                            <a:pt x="101433" y="22707"/>
                            <a:pt x="101433" y="50717"/>
                          </a:cubicBezTo>
                          <a:close/>
                        </a:path>
                      </a:pathLst>
                    </a:custGeom>
                    <a:solidFill>
                      <a:srgbClr val="29B6A4"/>
                    </a:solidFill>
                    <a:ln w="165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Sans" panose="020B0602030504020204" pitchFamily="34" charset="0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45" name="Freeform: Shape 344">
                      <a:extLst>
                        <a:ext uri="{FF2B5EF4-FFF2-40B4-BE49-F238E27FC236}">
                          <a16:creationId xmlns:a16="http://schemas.microsoft.com/office/drawing/2014/main" id="{0FC592DA-CCE3-89D3-A3B7-6BEF07949BD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9300959" y="4073944"/>
                      <a:ext cx="74583" cy="74583"/>
                    </a:xfrm>
                    <a:custGeom>
                      <a:avLst/>
                      <a:gdLst>
                        <a:gd name="connsiteX0" fmla="*/ 74583 w 74583"/>
                        <a:gd name="connsiteY0" fmla="*/ 37292 h 74583"/>
                        <a:gd name="connsiteX1" fmla="*/ 37291 w 74583"/>
                        <a:gd name="connsiteY1" fmla="*/ 74583 h 74583"/>
                        <a:gd name="connsiteX2" fmla="*/ 0 w 74583"/>
                        <a:gd name="connsiteY2" fmla="*/ 37292 h 74583"/>
                        <a:gd name="connsiteX3" fmla="*/ 37291 w 74583"/>
                        <a:gd name="connsiteY3" fmla="*/ 0 h 74583"/>
                        <a:gd name="connsiteX4" fmla="*/ 74583 w 74583"/>
                        <a:gd name="connsiteY4" fmla="*/ 37292 h 74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4583" h="74583">
                          <a:moveTo>
                            <a:pt x="74583" y="37292"/>
                          </a:moveTo>
                          <a:cubicBezTo>
                            <a:pt x="74583" y="57887"/>
                            <a:pt x="57887" y="74583"/>
                            <a:pt x="37291" y="74583"/>
                          </a:cubicBezTo>
                          <a:cubicBezTo>
                            <a:pt x="16696" y="74583"/>
                            <a:pt x="0" y="57887"/>
                            <a:pt x="0" y="37292"/>
                          </a:cubicBezTo>
                          <a:cubicBezTo>
                            <a:pt x="0" y="16696"/>
                            <a:pt x="16696" y="0"/>
                            <a:pt x="37291" y="0"/>
                          </a:cubicBezTo>
                          <a:cubicBezTo>
                            <a:pt x="57887" y="0"/>
                            <a:pt x="74583" y="16696"/>
                            <a:pt x="74583" y="37292"/>
                          </a:cubicBezTo>
                          <a:close/>
                        </a:path>
                      </a:pathLst>
                    </a:custGeom>
                    <a:noFill/>
                    <a:ln w="26843" cap="flat">
                      <a:solidFill>
                        <a:srgbClr val="29B6A4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Sans" panose="020B0602030504020204" pitchFamily="34" charset="0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8B4C3A80-7208-79DE-1DD7-1BC17DABF8DC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9473219" y="982260"/>
                  <a:ext cx="1587975" cy="4919937"/>
                  <a:chOff x="9473219" y="982260"/>
                  <a:chExt cx="1587975" cy="4919937"/>
                </a:xfrm>
              </p:grpSpPr>
              <p:grpSp>
                <p:nvGrpSpPr>
                  <p:cNvPr id="13" name="Group 12">
                    <a:extLst>
                      <a:ext uri="{FF2B5EF4-FFF2-40B4-BE49-F238E27FC236}">
                        <a16:creationId xmlns:a16="http://schemas.microsoft.com/office/drawing/2014/main" id="{E0BC3AE7-1885-0C65-7732-C673DD84B95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>
                  <a:xfrm>
                    <a:off x="9473219" y="1391435"/>
                    <a:ext cx="773882" cy="4068023"/>
                    <a:chOff x="1368679" y="1391435"/>
                    <a:chExt cx="773882" cy="4068023"/>
                  </a:xfrm>
                </p:grpSpPr>
                <p:sp>
                  <p:nvSpPr>
                    <p:cNvPr id="461" name="Freeform: Shape 460">
                      <a:extLst>
                        <a:ext uri="{FF2B5EF4-FFF2-40B4-BE49-F238E27FC236}">
                          <a16:creationId xmlns:a16="http://schemas.microsoft.com/office/drawing/2014/main" id="{4EA8CFAE-1125-188F-7165-3EB37581C0F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368679" y="5288162"/>
                      <a:ext cx="82638" cy="1657"/>
                    </a:xfrm>
                    <a:custGeom>
                      <a:avLst/>
                      <a:gdLst>
                        <a:gd name="connsiteX0" fmla="*/ 82638 w 82638"/>
                        <a:gd name="connsiteY0" fmla="*/ 0 h 1657"/>
                        <a:gd name="connsiteX1" fmla="*/ 0 w 82638"/>
                        <a:gd name="connsiteY1" fmla="*/ 0 h 165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82638" h="1657">
                          <a:moveTo>
                            <a:pt x="82638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ln w="6350" cap="flat">
                      <a:solidFill>
                        <a:schemeClr val="tx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Sans" panose="020B0602030504020204" pitchFamily="34" charset="0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62" name="TextBox 461">
                      <a:extLst>
                        <a:ext uri="{FF2B5EF4-FFF2-40B4-BE49-F238E27FC236}">
                          <a16:creationId xmlns:a16="http://schemas.microsoft.com/office/drawing/2014/main" id="{2FF502CD-D1A5-BCB7-CD77-96B7FEFB2919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1438522" y="5120904"/>
                      <a:ext cx="444352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l" defTabSz="914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Sans" panose="020B0602030504020204" pitchFamily="34" charset="0"/>
                          <a:ea typeface="+mn-ea"/>
                          <a:cs typeface="Helvetica"/>
                          <a:sym typeface="Helvetica"/>
                          <a:rtl val="0"/>
                        </a:rPr>
                        <a:t>$0</a:t>
                      </a:r>
                    </a:p>
                  </p:txBody>
                </p:sp>
                <p:sp>
                  <p:nvSpPr>
                    <p:cNvPr id="463" name="Freeform: Shape 462">
                      <a:extLst>
                        <a:ext uri="{FF2B5EF4-FFF2-40B4-BE49-F238E27FC236}">
                          <a16:creationId xmlns:a16="http://schemas.microsoft.com/office/drawing/2014/main" id="{F7D8AFE6-3DC6-D4A8-C616-3B52C25A357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368679" y="4542328"/>
                      <a:ext cx="82638" cy="1657"/>
                    </a:xfrm>
                    <a:custGeom>
                      <a:avLst/>
                      <a:gdLst>
                        <a:gd name="connsiteX0" fmla="*/ 82638 w 82638"/>
                        <a:gd name="connsiteY0" fmla="*/ 0 h 1657"/>
                        <a:gd name="connsiteX1" fmla="*/ 0 w 82638"/>
                        <a:gd name="connsiteY1" fmla="*/ 0 h 165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82638" h="1657">
                          <a:moveTo>
                            <a:pt x="82638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ln w="6350" cap="flat">
                      <a:solidFill>
                        <a:schemeClr val="tx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Sans" panose="020B0602030504020204" pitchFamily="34" charset="0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64" name="TextBox 463">
                      <a:extLst>
                        <a:ext uri="{FF2B5EF4-FFF2-40B4-BE49-F238E27FC236}">
                          <a16:creationId xmlns:a16="http://schemas.microsoft.com/office/drawing/2014/main" id="{E699ACDE-70B4-FDE0-B6FA-05295403F212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1438522" y="4375070"/>
                      <a:ext cx="704039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l" defTabSz="914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Sans" panose="020B0602030504020204" pitchFamily="34" charset="0"/>
                          <a:ea typeface="+mn-ea"/>
                          <a:cs typeface="Helvetica"/>
                          <a:sym typeface="Helvetica"/>
                          <a:rtl val="0"/>
                        </a:rPr>
                        <a:t>$120</a:t>
                      </a:r>
                    </a:p>
                  </p:txBody>
                </p:sp>
                <p:sp>
                  <p:nvSpPr>
                    <p:cNvPr id="465" name="Freeform: Shape 464">
                      <a:extLst>
                        <a:ext uri="{FF2B5EF4-FFF2-40B4-BE49-F238E27FC236}">
                          <a16:creationId xmlns:a16="http://schemas.microsoft.com/office/drawing/2014/main" id="{5A003C4E-E72A-8DE0-DE4A-433AD52CB48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368679" y="3796493"/>
                      <a:ext cx="82638" cy="1657"/>
                    </a:xfrm>
                    <a:custGeom>
                      <a:avLst/>
                      <a:gdLst>
                        <a:gd name="connsiteX0" fmla="*/ 82638 w 82638"/>
                        <a:gd name="connsiteY0" fmla="*/ 0 h 1657"/>
                        <a:gd name="connsiteX1" fmla="*/ 0 w 82638"/>
                        <a:gd name="connsiteY1" fmla="*/ 0 h 165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82638" h="1657">
                          <a:moveTo>
                            <a:pt x="82638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ln w="6350" cap="flat">
                      <a:solidFill>
                        <a:schemeClr val="tx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Sans" panose="020B0602030504020204" pitchFamily="34" charset="0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66" name="TextBox 465">
                      <a:extLst>
                        <a:ext uri="{FF2B5EF4-FFF2-40B4-BE49-F238E27FC236}">
                          <a16:creationId xmlns:a16="http://schemas.microsoft.com/office/drawing/2014/main" id="{F6D629E9-66AB-7358-7022-D0FB4F2D7113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1438522" y="3629236"/>
                      <a:ext cx="704039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l" defTabSz="914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Sans" panose="020B0602030504020204" pitchFamily="34" charset="0"/>
                          <a:ea typeface="+mn-ea"/>
                          <a:cs typeface="Helvetica"/>
                          <a:sym typeface="Helvetica"/>
                          <a:rtl val="0"/>
                        </a:rPr>
                        <a:t>$240</a:t>
                      </a:r>
                    </a:p>
                  </p:txBody>
                </p:sp>
                <p:sp>
                  <p:nvSpPr>
                    <p:cNvPr id="467" name="Freeform: Shape 466">
                      <a:extLst>
                        <a:ext uri="{FF2B5EF4-FFF2-40B4-BE49-F238E27FC236}">
                          <a16:creationId xmlns:a16="http://schemas.microsoft.com/office/drawing/2014/main" id="{8749EC1F-6924-7B0D-370A-E7B742D47E3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368679" y="3050659"/>
                      <a:ext cx="82638" cy="1657"/>
                    </a:xfrm>
                    <a:custGeom>
                      <a:avLst/>
                      <a:gdLst>
                        <a:gd name="connsiteX0" fmla="*/ 82638 w 82638"/>
                        <a:gd name="connsiteY0" fmla="*/ 0 h 1657"/>
                        <a:gd name="connsiteX1" fmla="*/ 0 w 82638"/>
                        <a:gd name="connsiteY1" fmla="*/ 0 h 165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82638" h="1657">
                          <a:moveTo>
                            <a:pt x="82638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ln w="6350" cap="flat">
                      <a:solidFill>
                        <a:schemeClr val="tx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Sans" panose="020B0602030504020204" pitchFamily="34" charset="0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68" name="TextBox 467">
                      <a:extLst>
                        <a:ext uri="{FF2B5EF4-FFF2-40B4-BE49-F238E27FC236}">
                          <a16:creationId xmlns:a16="http://schemas.microsoft.com/office/drawing/2014/main" id="{31C93BFA-DDED-81B7-9381-9DA0DC638CB7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1438522" y="2883401"/>
                      <a:ext cx="704039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l" defTabSz="914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Sans" panose="020B0602030504020204" pitchFamily="34" charset="0"/>
                          <a:ea typeface="+mn-ea"/>
                          <a:cs typeface="Helvetica"/>
                          <a:sym typeface="Helvetica"/>
                          <a:rtl val="0"/>
                        </a:rPr>
                        <a:t>$360</a:t>
                      </a:r>
                    </a:p>
                  </p:txBody>
                </p:sp>
                <p:sp>
                  <p:nvSpPr>
                    <p:cNvPr id="469" name="Freeform: Shape 468">
                      <a:extLst>
                        <a:ext uri="{FF2B5EF4-FFF2-40B4-BE49-F238E27FC236}">
                          <a16:creationId xmlns:a16="http://schemas.microsoft.com/office/drawing/2014/main" id="{A2D08D35-F42C-954E-1C21-8CC14FF0B20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368679" y="2304825"/>
                      <a:ext cx="82638" cy="1657"/>
                    </a:xfrm>
                    <a:custGeom>
                      <a:avLst/>
                      <a:gdLst>
                        <a:gd name="connsiteX0" fmla="*/ 82638 w 82638"/>
                        <a:gd name="connsiteY0" fmla="*/ 0 h 1657"/>
                        <a:gd name="connsiteX1" fmla="*/ 0 w 82638"/>
                        <a:gd name="connsiteY1" fmla="*/ 0 h 165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82638" h="1657">
                          <a:moveTo>
                            <a:pt x="82638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ln w="6350" cap="flat">
                      <a:solidFill>
                        <a:schemeClr val="tx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Sans" panose="020B0602030504020204" pitchFamily="34" charset="0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70" name="TextBox 469">
                      <a:extLst>
                        <a:ext uri="{FF2B5EF4-FFF2-40B4-BE49-F238E27FC236}">
                          <a16:creationId xmlns:a16="http://schemas.microsoft.com/office/drawing/2014/main" id="{0E30B535-7134-18F8-E246-DFE100B58432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1438522" y="2137567"/>
                      <a:ext cx="704039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l" defTabSz="914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Sans" panose="020B0602030504020204" pitchFamily="34" charset="0"/>
                          <a:ea typeface="+mn-ea"/>
                          <a:cs typeface="Helvetica"/>
                          <a:sym typeface="Helvetica"/>
                          <a:rtl val="0"/>
                        </a:rPr>
                        <a:t>$480</a:t>
                      </a:r>
                    </a:p>
                  </p:txBody>
                </p:sp>
                <p:sp>
                  <p:nvSpPr>
                    <p:cNvPr id="471" name="Freeform: Shape 470">
                      <a:extLst>
                        <a:ext uri="{FF2B5EF4-FFF2-40B4-BE49-F238E27FC236}">
                          <a16:creationId xmlns:a16="http://schemas.microsoft.com/office/drawing/2014/main" id="{36A30D34-F16C-3F3F-33B5-BE7F04696E9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368679" y="1558692"/>
                      <a:ext cx="82638" cy="1657"/>
                    </a:xfrm>
                    <a:custGeom>
                      <a:avLst/>
                      <a:gdLst>
                        <a:gd name="connsiteX0" fmla="*/ 82638 w 82638"/>
                        <a:gd name="connsiteY0" fmla="*/ 0 h 1657"/>
                        <a:gd name="connsiteX1" fmla="*/ 0 w 82638"/>
                        <a:gd name="connsiteY1" fmla="*/ 0 h 165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82638" h="1657">
                          <a:moveTo>
                            <a:pt x="82638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ln w="6350" cap="flat">
                      <a:solidFill>
                        <a:schemeClr val="tx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Sans" panose="020B0602030504020204" pitchFamily="34" charset="0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72" name="TextBox 471">
                      <a:extLst>
                        <a:ext uri="{FF2B5EF4-FFF2-40B4-BE49-F238E27FC236}">
                          <a16:creationId xmlns:a16="http://schemas.microsoft.com/office/drawing/2014/main" id="{0555A9BF-E11A-CCF0-62E3-30F1A836745C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1438522" y="1391435"/>
                      <a:ext cx="704039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l" defTabSz="914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Sans" panose="020B0602030504020204" pitchFamily="34" charset="0"/>
                          <a:ea typeface="+mn-ea"/>
                          <a:cs typeface="Helvetica"/>
                          <a:sym typeface="Helvetica"/>
                          <a:rtl val="0"/>
                        </a:rPr>
                        <a:t>$600</a:t>
                      </a:r>
                    </a:p>
                  </p:txBody>
                </p:sp>
              </p:grpSp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9D33F1F6-471B-0777-44CD-4923B79B005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 rot="16200000">
                    <a:off x="8308838" y="3149841"/>
                    <a:ext cx="4919937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0" i="0" u="none" strike="noStrike" kern="1200" cap="none" spc="0" normalizeH="0" baseline="0" noProof="0" dirty="0">
                        <a:ln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Sans" panose="020B0602030504020204" pitchFamily="34" charset="0"/>
                        <a:ea typeface="+mn-ea"/>
                        <a:cs typeface="Helvetica"/>
                        <a:sym typeface="Helvetica"/>
                        <a:rtl val="0"/>
                      </a:rPr>
                      <a:t>Impact of Change in Cohort-Specific Parent 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0" i="0" u="none" strike="noStrike" kern="1200" cap="none" spc="0" normalizeH="0" baseline="0" noProof="0" dirty="0">
                        <a:ln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Sans" panose="020B0602030504020204" pitchFamily="34" charset="0"/>
                        <a:ea typeface="+mn-ea"/>
                        <a:cs typeface="Helvetica"/>
                        <a:sym typeface="Helvetica"/>
                        <a:rtl val="0"/>
                      </a:rPr>
                      <a:t>Employment </a:t>
                    </a:r>
                    <a:r>
                      <a:rPr kumimoji="0" lang="en-US" sz="1600" b="0" i="0" u="none" strike="noStrike" kern="1200" cap="none" spc="0" normalizeH="0" baseline="0" noProof="0" dirty="0">
                        <a:ln/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Sans"/>
                        <a:ea typeface="+mn-ea"/>
                        <a:cs typeface="+mn-cs"/>
                        <a:sym typeface="Lucida Sans"/>
                        <a:rtl val="0"/>
                      </a:rPr>
                      <a:t>on Child’s Avg. Household Income</a:t>
                    </a:r>
                  </a:p>
                </p:txBody>
              </p:sp>
            </p:grpSp>
          </p:grp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A1962BA-9264-D3E7-2906-F7FAD95EC8D8}"/>
                </a:ext>
              </a:extLst>
            </p:cNvPr>
            <p:cNvSpPr>
              <a:spLocks/>
            </p:cNvSpPr>
            <p:nvPr/>
          </p:nvSpPr>
          <p:spPr>
            <a:xfrm>
              <a:off x="5712236" y="1830044"/>
              <a:ext cx="74583" cy="74583"/>
            </a:xfrm>
            <a:custGeom>
              <a:avLst/>
              <a:gdLst>
                <a:gd name="connsiteX0" fmla="*/ 74583 w 74583"/>
                <a:gd name="connsiteY0" fmla="*/ 37292 h 74583"/>
                <a:gd name="connsiteX1" fmla="*/ 37292 w 74583"/>
                <a:gd name="connsiteY1" fmla="*/ 74583 h 74583"/>
                <a:gd name="connsiteX2" fmla="*/ 0 w 74583"/>
                <a:gd name="connsiteY2" fmla="*/ 37292 h 74583"/>
                <a:gd name="connsiteX3" fmla="*/ 37292 w 74583"/>
                <a:gd name="connsiteY3" fmla="*/ 0 h 74583"/>
                <a:gd name="connsiteX4" fmla="*/ 74583 w 74583"/>
                <a:gd name="connsiteY4" fmla="*/ 37292 h 74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583" h="74583">
                  <a:moveTo>
                    <a:pt x="74583" y="37292"/>
                  </a:moveTo>
                  <a:cubicBezTo>
                    <a:pt x="74583" y="57887"/>
                    <a:pt x="57887" y="74583"/>
                    <a:pt x="37292" y="74583"/>
                  </a:cubicBezTo>
                  <a:cubicBezTo>
                    <a:pt x="16696" y="74583"/>
                    <a:pt x="0" y="57887"/>
                    <a:pt x="0" y="37292"/>
                  </a:cubicBezTo>
                  <a:cubicBezTo>
                    <a:pt x="0" y="16696"/>
                    <a:pt x="16696" y="0"/>
                    <a:pt x="37292" y="0"/>
                  </a:cubicBezTo>
                  <a:cubicBezTo>
                    <a:pt x="57887" y="0"/>
                    <a:pt x="74583" y="16696"/>
                    <a:pt x="74583" y="37292"/>
                  </a:cubicBezTo>
                  <a:close/>
                </a:path>
              </a:pathLst>
            </a:custGeom>
            <a:solidFill>
              <a:srgbClr val="2BB4A2"/>
            </a:solidFill>
            <a:ln w="26843" cap="flat">
              <a:solidFill>
                <a:srgbClr val="29B6A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F22FAD9-E5FD-93E7-1D05-0B8492CB3A34}"/>
              </a:ext>
            </a:extLst>
          </p:cNvPr>
          <p:cNvCxnSpPr>
            <a:cxnSpLocks/>
          </p:cNvCxnSpPr>
          <p:nvPr/>
        </p:nvCxnSpPr>
        <p:spPr>
          <a:xfrm>
            <a:off x="609829" y="822504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EB8B64-F3A7-AB2C-C911-E9E68799BDD5}"/>
              </a:ext>
            </a:extLst>
          </p:cNvPr>
          <p:cNvCxnSpPr>
            <a:cxnSpLocks/>
          </p:cNvCxnSpPr>
          <p:nvPr/>
        </p:nvCxnSpPr>
        <p:spPr>
          <a:xfrm>
            <a:off x="620980" y="6527711"/>
            <a:ext cx="109536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30403FF-3CA3-8971-3534-0FE7D46B4539}"/>
              </a:ext>
            </a:extLst>
          </p:cNvPr>
          <p:cNvSpPr txBox="1"/>
          <p:nvPr/>
        </p:nvSpPr>
        <p:spPr>
          <a:xfrm>
            <a:off x="568592" y="6527711"/>
            <a:ext cx="8839200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Chetty, </a:t>
            </a:r>
            <a:r>
              <a:rPr lang="en-US" sz="1400" dirty="0">
                <a:solidFill>
                  <a:prstClr val="black"/>
                </a:solidFill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Dobbie, Goldman, Porter, Yang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(2024)</a:t>
            </a:r>
          </a:p>
        </p:txBody>
      </p:sp>
    </p:spTree>
    <p:extLst>
      <p:ext uri="{BB962C8B-B14F-4D97-AF65-F5344CB8AC3E}">
        <p14:creationId xmlns:p14="http://schemas.microsoft.com/office/powerpoint/2010/main" val="3670451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1251</Words>
  <Application>Microsoft Office PowerPoint</Application>
  <PresentationFormat>Widescreen</PresentationFormat>
  <Paragraphs>252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Lucida Sans</vt:lpstr>
      <vt:lpstr>Arial</vt:lpstr>
      <vt:lpstr>Aptos</vt:lpstr>
      <vt:lpstr>Calibri</vt:lpstr>
      <vt:lpstr>Aptos Display</vt:lpstr>
      <vt:lpstr>Lucida Bright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Harvard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Leff, Emily C</dc:creator>
  <cp:lastModifiedBy>Leff, Emily C</cp:lastModifiedBy>
  <cp:revision>5</cp:revision>
  <dcterms:created xsi:type="dcterms:W3CDTF">2025-05-29T10:52:27Z</dcterms:created>
  <dcterms:modified xsi:type="dcterms:W3CDTF">2026-05-06T15:51:32Z</dcterms:modified>
</cp:coreProperties>
</file>