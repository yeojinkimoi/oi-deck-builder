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4"/>
  </p:notesMasterIdLst>
  <p:sldIdLst>
    <p:sldId id="9206" r:id="rId2"/>
    <p:sldId id="9764" r:id="rId3"/>
    <p:sldId id="9769" r:id="rId4"/>
    <p:sldId id="9441" r:id="rId5"/>
    <p:sldId id="9442" r:id="rId6"/>
    <p:sldId id="9486" r:id="rId7"/>
    <p:sldId id="9444" r:id="rId8"/>
    <p:sldId id="9445" r:id="rId9"/>
    <p:sldId id="9695" r:id="rId10"/>
    <p:sldId id="9696" r:id="rId11"/>
    <p:sldId id="9760" r:id="rId12"/>
    <p:sldId id="9732" r:id="rId13"/>
  </p:sldIdLst>
  <p:sldSz cx="12192000" cy="6858000"/>
  <p:notesSz cx="6858000" cy="9144000"/>
  <p:embeddedFontLst>
    <p:embeddedFont>
      <p:font typeface="Lucida Bright" panose="02040602050505020304" pitchFamily="18" charset="0"/>
      <p:regular r:id="rId15"/>
      <p:bold r:id="rId16"/>
      <p:italic r:id="rId17"/>
      <p:boldItalic r:id="rId18"/>
    </p:embeddedFont>
    <p:embeddedFont>
      <p:font typeface="Lucida Sans" panose="020B0602030504020204" pitchFamily="3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6925E0-567D-4F6B-A14F-294C22C5E296}" v="3" dt="2025-05-29T11:22:52.8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5356" autoAdjust="0"/>
  </p:normalViewPr>
  <p:slideViewPr>
    <p:cSldViewPr snapToGrid="0">
      <p:cViewPr varScale="1">
        <p:scale>
          <a:sx n="79" d="100"/>
          <a:sy n="79" d="100"/>
        </p:scale>
        <p:origin x="17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ff, Emily C" userId="bd8dcee0-2e5a-4398-9aec-89b2bd080e78" providerId="ADAL" clId="{536925E0-567D-4F6B-A14F-294C22C5E296}"/>
    <pc:docChg chg="addSld delSld modSld sldOrd">
      <pc:chgData name="Leff, Emily C" userId="bd8dcee0-2e5a-4398-9aec-89b2bd080e78" providerId="ADAL" clId="{536925E0-567D-4F6B-A14F-294C22C5E296}" dt="2025-05-29T11:22:52.866" v="10"/>
      <pc:docMkLst>
        <pc:docMk/>
      </pc:docMkLst>
      <pc:sldChg chg="addSp modSp mod modShow modNotesTx">
        <pc:chgData name="Leff, Emily C" userId="bd8dcee0-2e5a-4398-9aec-89b2bd080e78" providerId="ADAL" clId="{536925E0-567D-4F6B-A14F-294C22C5E296}" dt="2025-05-29T11:22:51.730" v="9"/>
        <pc:sldMkLst>
          <pc:docMk/>
          <pc:sldMk cId="4250527345" sldId="9418"/>
        </pc:sldMkLst>
        <pc:spChg chg="add mod">
          <ac:chgData name="Leff, Emily C" userId="bd8dcee0-2e5a-4398-9aec-89b2bd080e78" providerId="ADAL" clId="{536925E0-567D-4F6B-A14F-294C22C5E296}" dt="2025-05-29T11:22:51.730" v="9"/>
          <ac:spMkLst>
            <pc:docMk/>
            <pc:sldMk cId="4250527345" sldId="9418"/>
            <ac:spMk id="3" creationId="{C0872FD6-6CD5-DA68-E082-0D72C77B30A8}"/>
          </ac:spMkLst>
        </pc:spChg>
      </pc:sldChg>
      <pc:sldChg chg="add ord">
        <pc:chgData name="Leff, Emily C" userId="bd8dcee0-2e5a-4398-9aec-89b2bd080e78" providerId="ADAL" clId="{536925E0-567D-4F6B-A14F-294C22C5E296}" dt="2025-05-29T11:16:11.590" v="5"/>
        <pc:sldMkLst>
          <pc:docMk/>
          <pc:sldMk cId="3801282201" sldId="9486"/>
        </pc:sldMkLst>
      </pc:sldChg>
      <pc:sldChg chg="addSp modSp mod modShow modNotesTx">
        <pc:chgData name="Leff, Emily C" userId="bd8dcee0-2e5a-4398-9aec-89b2bd080e78" providerId="ADAL" clId="{536925E0-567D-4F6B-A14F-294C22C5E296}" dt="2025-05-29T11:22:52.866" v="10"/>
        <pc:sldMkLst>
          <pc:docMk/>
          <pc:sldMk cId="886439690" sldId="9658"/>
        </pc:sldMkLst>
        <pc:spChg chg="add mod">
          <ac:chgData name="Leff, Emily C" userId="bd8dcee0-2e5a-4398-9aec-89b2bd080e78" providerId="ADAL" clId="{536925E0-567D-4F6B-A14F-294C22C5E296}" dt="2025-05-29T11:22:52.866" v="10"/>
          <ac:spMkLst>
            <pc:docMk/>
            <pc:sldMk cId="886439690" sldId="9658"/>
            <ac:spMk id="3" creationId="{22DBCCE5-FA6F-21FE-37E0-A715771A4DD1}"/>
          </ac:spMkLst>
        </pc:spChg>
      </pc:sldChg>
      <pc:sldChg chg="add del">
        <pc:chgData name="Leff, Emily C" userId="bd8dcee0-2e5a-4398-9aec-89b2bd080e78" providerId="ADAL" clId="{536925E0-567D-4F6B-A14F-294C22C5E296}" dt="2025-05-29T11:16:05.665" v="1" actId="47"/>
        <pc:sldMkLst>
          <pc:docMk/>
          <pc:sldMk cId="2051544599" sldId="9659"/>
        </pc:sldMkLst>
      </pc:sldChg>
      <pc:sldChg chg="add del">
        <pc:chgData name="Leff, Emily C" userId="bd8dcee0-2e5a-4398-9aec-89b2bd080e78" providerId="ADAL" clId="{536925E0-567D-4F6B-A14F-294C22C5E296}" dt="2025-05-29T11:16:05.665" v="1" actId="47"/>
        <pc:sldMkLst>
          <pc:docMk/>
          <pc:sldMk cId="2789964851" sldId="9660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Book2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339-4B0C-8C2F-D5F9AA8172C7}"/>
              </c:ext>
            </c:extLst>
          </c:dPt>
          <c:dPt>
            <c:idx val="1"/>
            <c:invertIfNegative val="0"/>
            <c:bubble3D val="0"/>
            <c:spPr>
              <a:solidFill>
                <a:srgbClr val="29B6A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339-4B0C-8C2F-D5F9AA8172C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Lucida Sans" panose="020B0602030504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Control</c:v>
                </c:pt>
                <c:pt idx="1">
                  <c:v>Treatment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0.14299999999999999</c:v>
                </c:pt>
                <c:pt idx="1">
                  <c:v>0.54300000000000004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339-4B0C-8C2F-D5F9AA8172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1534911"/>
        <c:axId val="1497270703"/>
      </c:barChart>
      <c:catAx>
        <c:axId val="1015349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Lucida Sans" panose="020B0602030504020204" pitchFamily="34" charset="0"/>
                <a:ea typeface="+mn-ea"/>
                <a:cs typeface="+mn-cs"/>
              </a:defRPr>
            </a:pPr>
            <a:endParaRPr lang="en-US"/>
          </a:p>
        </c:txPr>
        <c:crossAx val="1497270703"/>
        <c:crosses val="autoZero"/>
        <c:auto val="1"/>
        <c:lblAlgn val="ctr"/>
        <c:lblOffset val="100"/>
        <c:noMultiLvlLbl val="0"/>
      </c:catAx>
      <c:valAx>
        <c:axId val="149727070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Lucida Sans" panose="020B0602030504020204" pitchFamily="34" charset="0"/>
                    <a:ea typeface="+mn-ea"/>
                    <a:cs typeface="+mn-cs"/>
                  </a:defRPr>
                </a:pPr>
                <a:r>
                  <a:rPr lang="en-US"/>
                  <a:t>% of households moving to high opportunity neighborhoods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Lucida Sans" panose="020B0602030504020204" pitchFamily="34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out"/>
        <c:minorTickMark val="none"/>
        <c:tickLblPos val="nextTo"/>
        <c:spPr>
          <a:noFill/>
          <a:ln>
            <a:solidFill>
              <a:sysClr val="windowText" lastClr="000000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Lucida Sans" panose="020B0602030504020204" pitchFamily="34" charset="0"/>
                <a:ea typeface="+mn-ea"/>
                <a:cs typeface="+mn-cs"/>
              </a:defRPr>
            </a:pPr>
            <a:endParaRPr lang="en-US"/>
          </a:p>
        </c:txPr>
        <c:crossAx val="1015349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600">
          <a:solidFill>
            <a:schemeClr val="tx1"/>
          </a:solidFill>
          <a:latin typeface="Lucida Sans" panose="020B0602030504020204" pitchFamily="34" charset="0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80882-C6A1-4B6C-9D6B-8BD78CD7D0E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68C264-9CBA-4B9F-A1D5-A61584A31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155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trike="noStrik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712CF3-E26A-4AC6-973D-B772AF83308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ＭＳ Ｐゴシック" pitchFamily="34" charset="-128"/>
                <a:cs typeface="+mn-cs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52829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04B21-D8B6-0739-FE62-E716D6EAD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C536B6-F74D-CE23-4C99-1D9D6C63F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C1A880-5536-5D99-9099-F36FDD0A3C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trike="noStrik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56EA9-6946-CC63-D49E-34C274335F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712CF3-E26A-4AC6-973D-B772AF83308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ＭＳ Ｐゴシック" pitchFamily="34" charset="-128"/>
                <a:cs typeface="+mn-cs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1652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77C91-5F4F-2E0B-9DF8-2347473D2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A65B66-2C8A-3948-9DD3-08A8F01A7F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61123B-92E6-D22E-BECE-B820BB3640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trike="noStrik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33551-6EAE-8275-C196-5014D10388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712CF3-E26A-4AC6-973D-B772AF83308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ＭＳ Ｐゴシック" pitchFamily="34" charset="-128"/>
                <a:cs typeface="+mn-cs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10756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trike="noStrik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712CF3-E26A-4AC6-973D-B772AF83308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ＭＳ Ｐゴシック" pitchFamily="34" charset="-128"/>
                <a:cs typeface="+mn-cs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65527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trike="noStrik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3F2106-3945-49C2-A24F-733E61DBE0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65147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trike="noStrik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712CF3-E26A-4AC6-973D-B772AF83308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ＭＳ Ｐゴシック" pitchFamily="34" charset="-128"/>
                <a:cs typeface="+mn-cs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59041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trike="noStrik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712CF3-E26A-4AC6-973D-B772AF83308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ＭＳ Ｐゴシック" pitchFamily="34" charset="-128"/>
                <a:cs typeface="+mn-cs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66887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F0EAE-4C59-D12E-E661-A3D158472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21E897-90AD-DB50-52C6-9F1429523A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57375E-F61E-FC54-7663-D2E2FCEB1A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strike="noStrike" dirty="0"/>
              <a:t>Customize to where you’re presenting if possible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C7DF49-7D3E-7F56-4A5F-F2407B48F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712CF3-E26A-4AC6-973D-B772AF83308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ＭＳ Ｐゴシック" pitchFamily="34" charset="-128"/>
                <a:cs typeface="+mn-cs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52101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D38E2-B2EF-36D7-5D6E-BDE1413C0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0DB1C5-ED84-0209-C968-D8B097C049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C88315-C58D-0E5B-F4E2-D1E228AB3D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strike="noStrik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9F868-89CA-8348-BB6A-A5D4C63120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712CF3-E26A-4AC6-973D-B772AF83308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ＭＳ Ｐゴシック" pitchFamily="34" charset="-128"/>
                <a:cs typeface="+mn-cs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34069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00233-01D8-DBEF-C851-0746AB080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1C831B-04FE-002D-5570-EB9A2BBF3E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B1BF8D-5F6A-E9C3-1433-23FC620320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strike="noStrik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1BA5C-43CF-B210-88E2-6F712E11E2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712CF3-E26A-4AC6-973D-B772AF83308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ＭＳ Ｐゴシック" pitchFamily="34" charset="-128"/>
                <a:cs typeface="+mn-cs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80176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DCA78-A63B-4B52-83CD-0D0AD705C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B27D09-5903-9F1F-8501-915DE0BEF3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CFE73E-1361-0BFB-6C24-E31736E7B3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strike="noStrik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57CDAF-0EF9-3349-6A0C-B18B71274D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712CF3-E26A-4AC6-973D-B772AF83308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ＭＳ Ｐゴシック" pitchFamily="34" charset="-128"/>
                <a:cs typeface="+mn-cs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62831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70B3C-34F1-E6DD-D18E-CDC49D6B3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B0BB52-778E-D91E-D04A-4C0C5E1CE8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B3EF11-4AD1-92A8-E14D-45C1D866AD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trike="noStrike" dirty="0"/>
              <a:t>Option 2</a:t>
            </a:r>
          </a:p>
          <a:p>
            <a:endParaRPr lang="en-US" strike="noStrik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C41C56-D648-6382-AD87-32DE8E4E78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712CF3-E26A-4AC6-973D-B772AF83308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ＭＳ Ｐゴシック" pitchFamily="34" charset="-128"/>
                <a:cs typeface="+mn-cs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7027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4B603-5752-018E-4F07-2F174A8A4A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CF2BB0-AF99-A239-EB32-11519AA1F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DFAEA-2FBD-9D19-7880-44E33387E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4C839-6FFF-4C41-9B1E-C1071059EA6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8E1E6-649B-6257-4859-45C74C5AA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CA60E-EE73-1C91-5EA8-A7871CACD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0047-E55F-4706-8684-C0AE860D8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887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3634D-821F-7DF2-7B37-E12B8C6E7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5EDBE-2525-670B-6EA5-986F93710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32BE6-8B7B-7480-AA41-4CFF91C59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4C839-6FFF-4C41-9B1E-C1071059EA6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E2CD6-1EE1-9BB7-B1A2-7F69A54C6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9E1F9-D005-536C-70B1-4FA33ECB1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0047-E55F-4706-8684-C0AE860D8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660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D9B04-9641-1BF5-DFDD-8229B838B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C14C8-90EA-9623-5E10-B01BAE099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34FD4-2C34-9685-54C4-2A9C34B9B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4C839-6FFF-4C41-9B1E-C1071059EA6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B727B-9B1F-E351-EB7F-D38C2A783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8CA-4EB0-E0E6-1BD2-5717DE0E9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0047-E55F-4706-8684-C0AE860D8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670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AF7B8-84D6-BB93-461D-A224BB2BF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F0481-E4E6-C583-354D-872F285571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468DD-74D9-818B-8C8F-B4DDA4683E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E56E4-7EB2-00F2-E5B8-3395CA1CB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4C839-6FFF-4C41-9B1E-C1071059EA6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91AF66-E635-E5E2-A66D-64AE5D96F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9443CE-1117-71DA-FD05-220DEAA22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0047-E55F-4706-8684-C0AE860D8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91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9BFA4-C689-056A-9F58-8493DACB9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A5B97-85E5-6649-8CFE-BA24CD056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96D20-4181-CAC2-DFEB-3E43A2C933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7E2D77-DF6C-B59C-EB13-BD65047DC0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C46B5B-ADCD-7584-DAC4-E66830C5F0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46DD0A-6DC7-E900-04E7-45993EB5E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4C839-6FFF-4C41-9B1E-C1071059EA6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4D3EF-2BD0-F6D0-B07C-93401815F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D52737-D8D5-3F6E-183D-C3AE7B067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0047-E55F-4706-8684-C0AE860D8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69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C2552-5118-C7A2-8E99-F1E282746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80165D-F3B3-D9C4-74DB-B701C5FC8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4C839-6FFF-4C41-9B1E-C1071059EA6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FCE3E6-D696-8EC1-B2CB-AF9B1CF8E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160539-ABF5-CA44-9C0B-8FB972D5C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0047-E55F-4706-8684-C0AE860D8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587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15CF71-BBF7-9859-4BE4-A9E72DBBB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4C839-6FFF-4C41-9B1E-C1071059EA6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139712-683F-E069-B06F-7A4E40745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430C8-0EDF-9EEE-969E-6D292607E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0047-E55F-4706-8684-C0AE860D8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437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A4286-16AD-CAD1-7A3E-A0C64B114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FDFE5-C029-BAC9-BCB3-B700992C8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89FAB4-EF20-AB5B-200F-CD0A0748EF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272224-6796-3A61-72F1-7B2C1B989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4C839-6FFF-4C41-9B1E-C1071059EA6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57975-96E5-1B17-2D86-35273C0D3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80E13-D9CC-C247-3030-ADBB4F1A2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0047-E55F-4706-8684-C0AE860D8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667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8FDE5-B7BA-240D-30BC-D719ABE92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2D1510-5CB0-00BE-2AD8-9A8F6E9361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FF3F4A-46B3-8BF1-46A7-17D8048332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7CE87-079B-5F52-8A70-6A845AC0B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4C839-6FFF-4C41-9B1E-C1071059EA6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0FCFB2-2E19-CD56-F3C7-3E824493A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DE0BB2-A29D-7757-D658-159C45642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0047-E55F-4706-8684-C0AE860D8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489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635ED-B21E-0C68-10C7-636060B5F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BA2786-E87C-6C87-3E36-31A2A03DCD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A55AC-E394-B684-EAA3-358980219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4C839-6FFF-4C41-9B1E-C1071059EA6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4E2F6-7B48-EBF3-FDFD-BBFFAD903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A2379-438A-F94D-A02B-E10337224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0047-E55F-4706-8684-C0AE860D8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191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2BF3E7-06BF-D69A-EF13-33F749CD34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9EFAEA-6B18-B979-458D-9EF08EF629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8E573-6043-20CC-03E1-43CF232B4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4C839-6FFF-4C41-9B1E-C1071059EA6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EC745-9299-C3E8-3AC4-E72C22BBF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0CAE2-BC4A-4B4B-0C83-375FD510C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0047-E55F-4706-8684-C0AE860D8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44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A2E52B-B7E0-7FE6-B0E7-50CFB9B65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B32E12-B26E-B92D-06F0-2590C09E1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C52F5-38B0-8916-15A4-351DCEA57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C4C839-6FFF-4C41-9B1E-C1071059EA6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852E8-BB61-BF81-1C7A-166C078290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DF4E4-3FA6-FFD3-13CF-2AD33D38BD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600047-E55F-4706-8684-C0AE860D8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879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congress.gov/bill/115th-congress/senate-bill/2945/actions?s=1&amp;r=16" TargetMode="Externa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94"/>
          <p:cNvSpPr>
            <a:spLocks noChangeAspect="1" noChangeArrowheads="1" noTextEdit="1"/>
          </p:cNvSpPr>
          <p:nvPr/>
        </p:nvSpPr>
        <p:spPr bwMode="auto">
          <a:xfrm>
            <a:off x="1524057" y="277836"/>
            <a:ext cx="9144001" cy="665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152" tIns="45718" rIns="91152" bIns="45718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2191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3" name="Rectangle 183"/>
          <p:cNvSpPr>
            <a:spLocks noChangeArrowheads="1"/>
          </p:cNvSpPr>
          <p:nvPr/>
        </p:nvSpPr>
        <p:spPr bwMode="auto">
          <a:xfrm>
            <a:off x="6462351" y="598576"/>
            <a:ext cx="0" cy="357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1E2D53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 </a:t>
            </a:r>
            <a:endParaRPr kumimoji="0" lang="en-US" altLang="en-US" sz="1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pic>
        <p:nvPicPr>
          <p:cNvPr id="14" name="Picture 13" descr="A black and grey text&#10;&#10;Description automatically generated">
            <a:extLst>
              <a:ext uri="{FF2B5EF4-FFF2-40B4-BE49-F238E27FC236}">
                <a16:creationId xmlns:a16="http://schemas.microsoft.com/office/drawing/2014/main" id="{AF21E452-DCAE-DA58-0AB7-0C6962FEED6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42E8E20-EEB7-A9A2-3AD6-7C9AF9813FBA}"/>
              </a:ext>
            </a:extLst>
          </p:cNvPr>
          <p:cNvSpPr/>
          <p:nvPr/>
        </p:nvSpPr>
        <p:spPr>
          <a:xfrm rot="5400000">
            <a:off x="3952423" y="2596443"/>
            <a:ext cx="4140800" cy="2479950"/>
          </a:xfrm>
          <a:prstGeom prst="rect">
            <a:avLst/>
          </a:prstGeom>
          <a:solidFill>
            <a:srgbClr val="F2F2F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05A19A-6C38-D5B9-1575-5E5967B38B5A}"/>
              </a:ext>
            </a:extLst>
          </p:cNvPr>
          <p:cNvSpPr/>
          <p:nvPr/>
        </p:nvSpPr>
        <p:spPr>
          <a:xfrm rot="5400000">
            <a:off x="7158620" y="2596444"/>
            <a:ext cx="4140801" cy="2479950"/>
          </a:xfrm>
          <a:prstGeom prst="rect">
            <a:avLst/>
          </a:prstGeom>
          <a:solidFill>
            <a:srgbClr val="F2F2F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4455D5-54E8-44A5-20E8-31AC365E0C17}"/>
              </a:ext>
            </a:extLst>
          </p:cNvPr>
          <p:cNvSpPr/>
          <p:nvPr/>
        </p:nvSpPr>
        <p:spPr>
          <a:xfrm rot="5400000">
            <a:off x="695553" y="2596444"/>
            <a:ext cx="4140801" cy="2479950"/>
          </a:xfrm>
          <a:prstGeom prst="rect">
            <a:avLst/>
          </a:prstGeom>
          <a:solidFill>
            <a:srgbClr val="F2F2F2">
              <a:alpha val="50196"/>
            </a:srgb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4D5452-0624-5C86-AE20-AFAB2259A42F}"/>
              </a:ext>
            </a:extLst>
          </p:cNvPr>
          <p:cNvSpPr/>
          <p:nvPr/>
        </p:nvSpPr>
        <p:spPr>
          <a:xfrm>
            <a:off x="5039915" y="1870537"/>
            <a:ext cx="196581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Place-Based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Investments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626365"/>
              </a:solidFill>
              <a:effectLst/>
              <a:uLnTx/>
              <a:uFillTx/>
              <a:latin typeface="Lucida Bright" panose="02040602050505020304" pitchFamily="18" charset="0"/>
              <a:ea typeface="+mn-ea"/>
              <a:cs typeface="Arial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000781-9EFF-FE92-F2C3-0CB407AEA05E}"/>
              </a:ext>
            </a:extLst>
          </p:cNvPr>
          <p:cNvSpPr/>
          <p:nvPr/>
        </p:nvSpPr>
        <p:spPr>
          <a:xfrm>
            <a:off x="1833289" y="1870537"/>
            <a:ext cx="18653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Reducing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Segregation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7C03BB-FAF3-F059-870C-792F83350BE3}"/>
              </a:ext>
            </a:extLst>
          </p:cNvPr>
          <p:cNvSpPr/>
          <p:nvPr/>
        </p:nvSpPr>
        <p:spPr>
          <a:xfrm>
            <a:off x="8001144" y="1870537"/>
            <a:ext cx="247995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Higher Education &amp; Workforce Training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361146C-D304-810C-FCB5-4E2AB589053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76" r="16818" b="50000"/>
          <a:stretch/>
        </p:blipFill>
        <p:spPr>
          <a:xfrm>
            <a:off x="1939612" y="2987992"/>
            <a:ext cx="1652682" cy="116471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B93415A-0F3A-905C-5706-609CAFDC6760}"/>
              </a:ext>
            </a:extLst>
          </p:cNvPr>
          <p:cNvGrpSpPr/>
          <p:nvPr/>
        </p:nvGrpSpPr>
        <p:grpSpPr>
          <a:xfrm>
            <a:off x="5214899" y="2660290"/>
            <a:ext cx="1615846" cy="1925186"/>
            <a:chOff x="4997274" y="1965072"/>
            <a:chExt cx="2457406" cy="2927855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88BBC94-BF3F-F479-D1B6-7E2BAE9517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97274" y="1965072"/>
              <a:ext cx="2457406" cy="2927855"/>
            </a:xfrm>
            <a:prstGeom prst="rect">
              <a:avLst/>
            </a:prstGeom>
          </p:spPr>
        </p:pic>
        <p:pic>
          <p:nvPicPr>
            <p:cNvPr id="15" name="Graphic 14" descr="Marker">
              <a:extLst>
                <a:ext uri="{FF2B5EF4-FFF2-40B4-BE49-F238E27FC236}">
                  <a16:creationId xmlns:a16="http://schemas.microsoft.com/office/drawing/2014/main" id="{4CED2D8C-77EB-E107-E07E-6A10C7C192EC}"/>
                </a:ext>
              </a:extLst>
            </p:cNvPr>
            <p:cNvPicPr>
              <a:picLocks noChangeAspect="1"/>
            </p:cNvPicPr>
            <p:nvPr/>
          </p:nvPicPr>
          <p:blipFill>
            <a:blip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526233">
              <a:off x="5767258" y="2212413"/>
              <a:ext cx="1295057" cy="1295057"/>
            </a:xfrm>
            <a:prstGeom prst="rect">
              <a:avLst/>
            </a:prstGeom>
          </p:spPr>
        </p:pic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DC2058E-271A-4964-6CAC-720CBE9373F2}"/>
              </a:ext>
            </a:extLst>
          </p:cNvPr>
          <p:cNvCxnSpPr>
            <a:cxnSpLocks/>
          </p:cNvCxnSpPr>
          <p:nvPr/>
        </p:nvCxnSpPr>
        <p:spPr>
          <a:xfrm>
            <a:off x="7615411" y="4398957"/>
            <a:ext cx="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7038330E-EF39-BB74-F67E-6B009BD897BD}"/>
              </a:ext>
            </a:extLst>
          </p:cNvPr>
          <p:cNvSpPr/>
          <p:nvPr/>
        </p:nvSpPr>
        <p:spPr>
          <a:xfrm>
            <a:off x="1829429" y="4741389"/>
            <a:ext cx="197027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B6A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Help Low-Income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B6A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Families Move to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B6A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High-Opportunity Areas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882A60-AB07-80A5-4B4C-204F32B31C72}"/>
              </a:ext>
            </a:extLst>
          </p:cNvPr>
          <p:cNvSpPr/>
          <p:nvPr/>
        </p:nvSpPr>
        <p:spPr>
          <a:xfrm>
            <a:off x="5142989" y="4741389"/>
            <a:ext cx="185688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B6A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Increase Upward Mobility in Low-Opportunity Areas</a:t>
            </a:r>
          </a:p>
        </p:txBody>
      </p:sp>
      <p:pic>
        <p:nvPicPr>
          <p:cNvPr id="20" name="Picture 19" descr="A close up of a sign&#10;&#10;Description generated with very high confidence">
            <a:extLst>
              <a:ext uri="{FF2B5EF4-FFF2-40B4-BE49-F238E27FC236}">
                <a16:creationId xmlns:a16="http://schemas.microsoft.com/office/drawing/2014/main" id="{57F0E29B-24E0-B024-F07F-0CF9743A9082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6530" y="3248704"/>
            <a:ext cx="1044979" cy="1055888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19F1B3A5-3A9F-A273-EC79-E035E995C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074" y="375319"/>
            <a:ext cx="104994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Three Policy Approaches to Increasing Upward Mobility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113A23A-1382-83F4-013D-B86F755B794F}"/>
              </a:ext>
            </a:extLst>
          </p:cNvPr>
          <p:cNvCxnSpPr>
            <a:cxnSpLocks/>
          </p:cNvCxnSpPr>
          <p:nvPr/>
        </p:nvCxnSpPr>
        <p:spPr>
          <a:xfrm>
            <a:off x="620980" y="8358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9FAA8238-63D5-7126-2EB8-822B9D7BE1D0}"/>
              </a:ext>
            </a:extLst>
          </p:cNvPr>
          <p:cNvSpPr/>
          <p:nvPr/>
        </p:nvSpPr>
        <p:spPr>
          <a:xfrm>
            <a:off x="8186073" y="4741389"/>
            <a:ext cx="218311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B6A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rPr>
              <a:t>Amplify Impacts of Colleges and Training Programs on Mobility</a:t>
            </a:r>
          </a:p>
        </p:txBody>
      </p:sp>
    </p:spTree>
    <p:extLst>
      <p:ext uri="{BB962C8B-B14F-4D97-AF65-F5344CB8AC3E}">
        <p14:creationId xmlns:p14="http://schemas.microsoft.com/office/powerpoint/2010/main" val="2166357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A140D-9593-2066-4EE8-5A91B7495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94">
            <a:extLst>
              <a:ext uri="{FF2B5EF4-FFF2-40B4-BE49-F238E27FC236}">
                <a16:creationId xmlns:a16="http://schemas.microsoft.com/office/drawing/2014/main" id="{A76B6DCC-AB35-6C92-263A-E4E53DB55437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524057" y="277836"/>
            <a:ext cx="9144001" cy="665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152" tIns="45718" rIns="91152" bIns="45718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2191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3" name="Picture 2" descr="A black and grey text&#10;&#10;Description automatically generated">
            <a:extLst>
              <a:ext uri="{FF2B5EF4-FFF2-40B4-BE49-F238E27FC236}">
                <a16:creationId xmlns:a16="http://schemas.microsoft.com/office/drawing/2014/main" id="{9BCA2C80-E92D-0E54-0038-C2E825C5835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8DE03A-9C60-9649-A4A0-01A4C4CFB0C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6" t="168" r="30840" b="-168"/>
          <a:stretch>
            <a:fillRect/>
          </a:stretch>
        </p:blipFill>
        <p:spPr>
          <a:xfrm>
            <a:off x="620980" y="1120030"/>
            <a:ext cx="6679106" cy="536084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3000D96-7F1D-0501-124C-57DAC2740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36" y="375319"/>
            <a:ext cx="104994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Where Housing Voucher Holders Live in Tulsa</a:t>
            </a:r>
          </a:p>
        </p:txBody>
      </p:sp>
      <p:pic>
        <p:nvPicPr>
          <p:cNvPr id="7" name="Picture 6" descr="A black and grey text&#10;&#10;Description automatically generated">
            <a:extLst>
              <a:ext uri="{FF2B5EF4-FFF2-40B4-BE49-F238E27FC236}">
                <a16:creationId xmlns:a16="http://schemas.microsoft.com/office/drawing/2014/main" id="{FF93624A-AB63-EB3B-A2F1-67ADD01BFB0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9044D9-F240-E56E-3C8E-E5D36DB379BC}"/>
              </a:ext>
            </a:extLst>
          </p:cNvPr>
          <p:cNvCxnSpPr>
            <a:cxnSpLocks/>
          </p:cNvCxnSpPr>
          <p:nvPr/>
        </p:nvCxnSpPr>
        <p:spPr>
          <a:xfrm>
            <a:off x="620980" y="8358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97ADAEEA-8AF6-BCC8-2C24-C5A2C958C8A9}"/>
              </a:ext>
            </a:extLst>
          </p:cNvPr>
          <p:cNvSpPr/>
          <p:nvPr/>
        </p:nvSpPr>
        <p:spPr>
          <a:xfrm>
            <a:off x="8124938" y="3928651"/>
            <a:ext cx="3294229" cy="2429323"/>
          </a:xfrm>
          <a:prstGeom prst="rect">
            <a:avLst/>
          </a:prstGeom>
          <a:solidFill>
            <a:schemeClr val="bg1">
              <a:lumMod val="95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E3E889-25CB-78EE-0626-924B3421B319}"/>
              </a:ext>
            </a:extLst>
          </p:cNvPr>
          <p:cNvSpPr txBox="1"/>
          <p:nvPr/>
        </p:nvSpPr>
        <p:spPr>
          <a:xfrm>
            <a:off x="10008821" y="4942718"/>
            <a:ext cx="919366" cy="307756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ctr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&gt;$83k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100169-3625-018C-360B-8B13BC7E9C5E}"/>
              </a:ext>
            </a:extLst>
          </p:cNvPr>
          <p:cNvSpPr txBox="1"/>
          <p:nvPr/>
        </p:nvSpPr>
        <p:spPr>
          <a:xfrm>
            <a:off x="9162963" y="4942718"/>
            <a:ext cx="782047" cy="307756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ctr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$50k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95AB9A-4220-913F-45BB-AEE07D8AE918}"/>
              </a:ext>
            </a:extLst>
          </p:cNvPr>
          <p:cNvSpPr txBox="1"/>
          <p:nvPr/>
        </p:nvSpPr>
        <p:spPr>
          <a:xfrm>
            <a:off x="8233582" y="4942719"/>
            <a:ext cx="827010" cy="307756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ctr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&lt;$30k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D71409-E4B7-33B7-19F8-DB0B11C7BA74}"/>
              </a:ext>
            </a:extLst>
          </p:cNvPr>
          <p:cNvSpPr txBox="1"/>
          <p:nvPr/>
        </p:nvSpPr>
        <p:spPr>
          <a:xfrm>
            <a:off x="8527946" y="4031995"/>
            <a:ext cx="26200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25 most common tracts where voucher holders lived in 2015-19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EB0000-A91F-01EB-EF51-F4B17DCB824D}"/>
              </a:ext>
            </a:extLst>
          </p:cNvPr>
          <p:cNvSpPr txBox="1"/>
          <p:nvPr/>
        </p:nvSpPr>
        <p:spPr>
          <a:xfrm>
            <a:off x="8219279" y="5683205"/>
            <a:ext cx="32373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217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Blue = More Upward Mobility</a:t>
            </a:r>
          </a:p>
          <a:p>
            <a:pPr marL="0" marR="0" lvl="0" indent="0" algn="l" defTabSz="1217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Red = Less Upward Mobility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8816E4C-79FE-A863-9AB5-94302ECD708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7" t="1508" r="18088" b="1203"/>
          <a:stretch/>
        </p:blipFill>
        <p:spPr>
          <a:xfrm rot="5400000" flipH="1">
            <a:off x="9512836" y="4133217"/>
            <a:ext cx="130317" cy="2328863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6F5B27E4-0825-79DF-ECDE-2C8AE7BF4C88}"/>
              </a:ext>
            </a:extLst>
          </p:cNvPr>
          <p:cNvSpPr/>
          <p:nvPr/>
        </p:nvSpPr>
        <p:spPr>
          <a:xfrm>
            <a:off x="8332185" y="4140344"/>
            <a:ext cx="137160" cy="1371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5701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31325-35F0-2282-4778-4507A3263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94">
            <a:extLst>
              <a:ext uri="{FF2B5EF4-FFF2-40B4-BE49-F238E27FC236}">
                <a16:creationId xmlns:a16="http://schemas.microsoft.com/office/drawing/2014/main" id="{52291A0D-B9D9-B763-2E8C-26E574C06066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524057" y="277836"/>
            <a:ext cx="9144001" cy="665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152" tIns="45718" rIns="91152" bIns="45718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2191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3" name="Picture 2" descr="A black and grey text&#10;&#10;Description automatically generated">
            <a:extLst>
              <a:ext uri="{FF2B5EF4-FFF2-40B4-BE49-F238E27FC236}">
                <a16:creationId xmlns:a16="http://schemas.microsoft.com/office/drawing/2014/main" id="{492EEA20-8883-60B8-3595-8AD2C2F2B2D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8E456B-39F4-6F39-78F0-4287417C914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3" r="38360" b="353"/>
          <a:stretch/>
        </p:blipFill>
        <p:spPr>
          <a:xfrm>
            <a:off x="620980" y="1120030"/>
            <a:ext cx="6679106" cy="536084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0903190-DCBE-F000-F189-D98A6EF77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36" y="375319"/>
            <a:ext cx="104994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Where Housing Voucher Holders Live in Seattle</a:t>
            </a:r>
          </a:p>
        </p:txBody>
      </p:sp>
      <p:pic>
        <p:nvPicPr>
          <p:cNvPr id="7" name="Picture 6" descr="A black and grey text&#10;&#10;Description automatically generated">
            <a:extLst>
              <a:ext uri="{FF2B5EF4-FFF2-40B4-BE49-F238E27FC236}">
                <a16:creationId xmlns:a16="http://schemas.microsoft.com/office/drawing/2014/main" id="{7A98DD88-2185-6145-7B29-7A912AB99F3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8F7C57-F653-AA46-CD41-C13D0587448A}"/>
              </a:ext>
            </a:extLst>
          </p:cNvPr>
          <p:cNvCxnSpPr>
            <a:cxnSpLocks/>
          </p:cNvCxnSpPr>
          <p:nvPr/>
        </p:nvCxnSpPr>
        <p:spPr>
          <a:xfrm>
            <a:off x="620980" y="8358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D43729B-7EEA-A0F4-0D5F-AB5030485983}"/>
              </a:ext>
            </a:extLst>
          </p:cNvPr>
          <p:cNvSpPr/>
          <p:nvPr/>
        </p:nvSpPr>
        <p:spPr>
          <a:xfrm>
            <a:off x="8124938" y="3928651"/>
            <a:ext cx="3294229" cy="2429323"/>
          </a:xfrm>
          <a:prstGeom prst="rect">
            <a:avLst/>
          </a:prstGeom>
          <a:solidFill>
            <a:schemeClr val="bg1">
              <a:lumMod val="95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0E610E-D54E-D15E-C156-1F41E2DC02BA}"/>
              </a:ext>
            </a:extLst>
          </p:cNvPr>
          <p:cNvSpPr txBox="1"/>
          <p:nvPr/>
        </p:nvSpPr>
        <p:spPr>
          <a:xfrm>
            <a:off x="10008821" y="4942718"/>
            <a:ext cx="919366" cy="307756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ctr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&gt;$84k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D51FD5-7A69-DB43-7EDB-CFBBFA83B0A3}"/>
              </a:ext>
            </a:extLst>
          </p:cNvPr>
          <p:cNvSpPr txBox="1"/>
          <p:nvPr/>
        </p:nvSpPr>
        <p:spPr>
          <a:xfrm>
            <a:off x="9162963" y="4942718"/>
            <a:ext cx="782047" cy="307756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ctr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$57k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6DF0ED-4A46-9FC1-B6D5-8FC9C1114971}"/>
              </a:ext>
            </a:extLst>
          </p:cNvPr>
          <p:cNvSpPr txBox="1"/>
          <p:nvPr/>
        </p:nvSpPr>
        <p:spPr>
          <a:xfrm>
            <a:off x="8233582" y="4942719"/>
            <a:ext cx="827010" cy="307756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ctr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&lt;$36k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BA9536-88AD-5AAC-38CA-C73821008C07}"/>
              </a:ext>
            </a:extLst>
          </p:cNvPr>
          <p:cNvSpPr txBox="1"/>
          <p:nvPr/>
        </p:nvSpPr>
        <p:spPr>
          <a:xfrm>
            <a:off x="8527946" y="4031995"/>
            <a:ext cx="26200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25 most common tracts where voucher holders lived in 2015-19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74EBB1-E7EA-D5B4-0437-6D518D1F2CE9}"/>
              </a:ext>
            </a:extLst>
          </p:cNvPr>
          <p:cNvSpPr txBox="1"/>
          <p:nvPr/>
        </p:nvSpPr>
        <p:spPr>
          <a:xfrm>
            <a:off x="8219279" y="5683205"/>
            <a:ext cx="32373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217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Blue = More Upward Mobility</a:t>
            </a:r>
          </a:p>
          <a:p>
            <a:pPr marL="0" marR="0" lvl="0" indent="0" algn="l" defTabSz="1217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Red = Less Upward Mobility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D75A196-A7E4-BDC2-DFAE-BB33C72A409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7" t="1508" r="18088" b="1203"/>
          <a:stretch/>
        </p:blipFill>
        <p:spPr>
          <a:xfrm rot="5400000" flipH="1">
            <a:off x="9512836" y="4133217"/>
            <a:ext cx="130317" cy="2328863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164EB222-8A92-1D38-CB53-77371D732D41}"/>
              </a:ext>
            </a:extLst>
          </p:cNvPr>
          <p:cNvSpPr/>
          <p:nvPr/>
        </p:nvSpPr>
        <p:spPr>
          <a:xfrm>
            <a:off x="8332185" y="4140344"/>
            <a:ext cx="137160" cy="1371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4180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01DCFE5-9C3D-C766-531A-985DA455A351}"/>
              </a:ext>
            </a:extLst>
          </p:cNvPr>
          <p:cNvGrpSpPr/>
          <p:nvPr/>
        </p:nvGrpSpPr>
        <p:grpSpPr>
          <a:xfrm>
            <a:off x="655288" y="1711615"/>
            <a:ext cx="5513848" cy="2723224"/>
            <a:chOff x="3437938" y="1566880"/>
            <a:chExt cx="3810015" cy="2723224"/>
          </a:xfrm>
        </p:grpSpPr>
        <p:sp>
          <p:nvSpPr>
            <p:cNvPr id="13" name="Content Placeholder 2">
              <a:extLst>
                <a:ext uri="{FF2B5EF4-FFF2-40B4-BE49-F238E27FC236}">
                  <a16:creationId xmlns:a16="http://schemas.microsoft.com/office/drawing/2014/main" id="{4B11B81D-D151-19B2-DE6B-85AA7F7BC698}"/>
                </a:ext>
              </a:extLst>
            </p:cNvPr>
            <p:cNvSpPr txBox="1">
              <a:spLocks/>
            </p:cNvSpPr>
            <p:nvPr/>
          </p:nvSpPr>
          <p:spPr>
            <a:xfrm>
              <a:off x="3437938" y="1566880"/>
              <a:ext cx="3810015" cy="1196256"/>
            </a:xfrm>
            <a:prstGeom prst="rect">
              <a:avLst/>
            </a:prstGeom>
          </p:spPr>
          <p:txBody>
            <a:bodyPr vert="horz" lIns="91160" tIns="45718" rIns="91160" bIns="45718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anose="020B0604020202020204" pitchFamily="34" charset="0"/>
                </a:rPr>
                <a:t>Randomized trial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anose="020B0604020202020204" pitchFamily="34" charset="0"/>
                </a:rPr>
                <a:t>to test strategies to reduce barriers that voucher recipients face in moving to high-opportunity areas:</a:t>
              </a:r>
            </a:p>
            <a:p>
              <a:pPr marL="228600" marR="0" lvl="0" indent="-228600" algn="l" defTabSz="914400" rtl="0" eaLnBrk="1" fontAlgn="base" latinLnBrk="0" hangingPunct="1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anose="020B0604020202020204" pitchFamily="34" charset="0"/>
                </a:rPr>
                <a:t>Customized counseling</a:t>
              </a:r>
            </a:p>
            <a:p>
              <a:pPr marL="228600" marR="0" lvl="0" indent="-228600" algn="l" defTabSz="914400" rtl="0" eaLnBrk="1" fontAlgn="base" latinLnBrk="0" hangingPunct="1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anose="020B0604020202020204" pitchFamily="34" charset="0"/>
                </a:rPr>
                <a:t>Connections to landlords</a:t>
              </a:r>
            </a:p>
            <a:p>
              <a:pPr marL="228600" marR="0" lvl="0" indent="-228600" algn="l" defTabSz="914400" rtl="0" eaLnBrk="1" fontAlgn="base" latinLnBrk="0" hangingPunct="1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anose="020B0604020202020204" pitchFamily="34" charset="0"/>
                </a:rPr>
                <a:t>Short-term financial assistance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F05B3FF-4265-BBAD-9793-24B93BF95594}"/>
                </a:ext>
              </a:extLst>
            </p:cNvPr>
            <p:cNvSpPr/>
            <p:nvPr/>
          </p:nvSpPr>
          <p:spPr>
            <a:xfrm>
              <a:off x="4964360" y="3111705"/>
              <a:ext cx="1079953" cy="262073"/>
            </a:xfrm>
            <a:prstGeom prst="rect">
              <a:avLst/>
            </a:prstGeom>
            <a:solidFill>
              <a:srgbClr val="2AB6AC">
                <a:alpha val="2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544A383-725B-8D5F-258A-82084DD4E870}"/>
                </a:ext>
              </a:extLst>
            </p:cNvPr>
            <p:cNvSpPr/>
            <p:nvPr/>
          </p:nvSpPr>
          <p:spPr>
            <a:xfrm>
              <a:off x="5263969" y="3521484"/>
              <a:ext cx="1001485" cy="292983"/>
            </a:xfrm>
            <a:prstGeom prst="rect">
              <a:avLst/>
            </a:prstGeom>
            <a:solidFill>
              <a:srgbClr val="2AB6AC">
                <a:alpha val="2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56F4E37-EBA9-FA54-596F-7D5CE3B07D71}"/>
                </a:ext>
              </a:extLst>
            </p:cNvPr>
            <p:cNvSpPr/>
            <p:nvPr/>
          </p:nvSpPr>
          <p:spPr>
            <a:xfrm>
              <a:off x="4818503" y="3987207"/>
              <a:ext cx="1978750" cy="302897"/>
            </a:xfrm>
            <a:prstGeom prst="rect">
              <a:avLst/>
            </a:prstGeom>
            <a:solidFill>
              <a:srgbClr val="2AB6AC">
                <a:alpha val="2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AutoShape 94"/>
          <p:cNvSpPr>
            <a:spLocks noChangeAspect="1" noChangeArrowheads="1" noTextEdit="1"/>
          </p:cNvSpPr>
          <p:nvPr/>
        </p:nvSpPr>
        <p:spPr bwMode="auto">
          <a:xfrm>
            <a:off x="1524057" y="277836"/>
            <a:ext cx="9144001" cy="665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152" tIns="45718" rIns="91152" bIns="45718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2191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3" name="Rectangle 183"/>
          <p:cNvSpPr>
            <a:spLocks noChangeArrowheads="1"/>
          </p:cNvSpPr>
          <p:nvPr/>
        </p:nvSpPr>
        <p:spPr bwMode="auto">
          <a:xfrm>
            <a:off x="6462351" y="598576"/>
            <a:ext cx="0" cy="357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1E2D53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 </a:t>
            </a:r>
            <a:endParaRPr kumimoji="0" lang="en-US" alt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0CF648-5531-E9C9-B0F9-C28F6C3D0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36" y="375319"/>
            <a:ext cx="10499449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Creating Moves to Opportunity Experiment</a:t>
            </a:r>
          </a:p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Seattle and King County, WA</a:t>
            </a:r>
          </a:p>
        </p:txBody>
      </p:sp>
      <p:pic>
        <p:nvPicPr>
          <p:cNvPr id="1028" name="Picture 4" descr="Creating Moves to Opportunity | Seattle Housing Authority">
            <a:extLst>
              <a:ext uri="{FF2B5EF4-FFF2-40B4-BE49-F238E27FC236}">
                <a16:creationId xmlns:a16="http://schemas.microsoft.com/office/drawing/2014/main" id="{AC26C747-FA08-9176-417E-E758A5ED6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0860" y="2561020"/>
            <a:ext cx="4297680" cy="1357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C931103-3127-36FE-AD22-34589E55C512}"/>
              </a:ext>
            </a:extLst>
          </p:cNvPr>
          <p:cNvCxnSpPr>
            <a:cxnSpLocks/>
          </p:cNvCxnSpPr>
          <p:nvPr/>
        </p:nvCxnSpPr>
        <p:spPr>
          <a:xfrm>
            <a:off x="620980" y="10009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9E11FF17-F10E-1103-2136-998822C0AA7D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6355585" y="5530797"/>
            <a:ext cx="766813" cy="68321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1311846-5BC3-C887-5D94-8BDEC31E5F41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</a:blip>
          <a:stretch>
            <a:fillRect/>
          </a:stretch>
        </p:blipFill>
        <p:spPr>
          <a:xfrm>
            <a:off x="7331446" y="5558734"/>
            <a:ext cx="1545180" cy="655277"/>
          </a:xfrm>
          <a:prstGeom prst="rect">
            <a:avLst/>
          </a:prstGeom>
        </p:spPr>
      </p:pic>
      <p:pic>
        <p:nvPicPr>
          <p:cNvPr id="18" name="Picture 17" descr="Chetty, Friedman, and Hendren Launch Opportunity Insights | Opportunity  Insights">
            <a:extLst>
              <a:ext uri="{FF2B5EF4-FFF2-40B4-BE49-F238E27FC236}">
                <a16:creationId xmlns:a16="http://schemas.microsoft.com/office/drawing/2014/main" id="{08CEFD20-BBB3-D406-4261-A74183344F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5674" y="5859257"/>
            <a:ext cx="1227191" cy="213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A close up of a logo&#10;&#10;Description automatically generated">
            <a:extLst>
              <a:ext uri="{FF2B5EF4-FFF2-40B4-BE49-F238E27FC236}">
                <a16:creationId xmlns:a16="http://schemas.microsoft.com/office/drawing/2014/main" id="{23CA2269-00A2-FC78-8498-7B6CF5053DC8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1914" y="5705755"/>
            <a:ext cx="959553" cy="508256"/>
          </a:xfrm>
          <a:prstGeom prst="rect">
            <a:avLst/>
          </a:prstGeom>
        </p:spPr>
      </p:pic>
      <p:pic>
        <p:nvPicPr>
          <p:cNvPr id="9" name="Picture 8" descr="A black and grey text&#10;&#10;Description automatically generated">
            <a:extLst>
              <a:ext uri="{FF2B5EF4-FFF2-40B4-BE49-F238E27FC236}">
                <a16:creationId xmlns:a16="http://schemas.microsoft.com/office/drawing/2014/main" id="{97E0BDC2-975B-B8F4-7F8A-B221F5DD4D45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657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77">
            <a:extLst>
              <a:ext uri="{FF2B5EF4-FFF2-40B4-BE49-F238E27FC236}">
                <a16:creationId xmlns:a16="http://schemas.microsoft.com/office/drawing/2014/main" id="{85E84D46-0CEB-4269-9329-6E2DA35A0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0013" y="155575"/>
            <a:ext cx="137858" cy="815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5300" b="0" i="0" u="none" strike="noStrike" kern="1200" cap="none" spc="0" normalizeH="0" baseline="0" noProof="0">
                <a:ln>
                  <a:noFill/>
                </a:ln>
                <a:solidFill>
                  <a:srgbClr val="1E2D53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 pitchFamily="34" charset="0"/>
              </a:rPr>
              <a:t>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07" name="Title 1">
            <a:extLst>
              <a:ext uri="{FF2B5EF4-FFF2-40B4-BE49-F238E27FC236}">
                <a16:creationId xmlns:a16="http://schemas.microsoft.com/office/drawing/2014/main" id="{57170B76-9C70-40BA-8CD8-EF0905430BFA}"/>
              </a:ext>
            </a:extLst>
          </p:cNvPr>
          <p:cNvSpPr txBox="1">
            <a:spLocks/>
          </p:cNvSpPr>
          <p:nvPr/>
        </p:nvSpPr>
        <p:spPr>
          <a:xfrm>
            <a:off x="-122830" y="-811214"/>
            <a:ext cx="12192000" cy="8112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674A04-28DD-366D-179C-DB9B25FF88C9}"/>
              </a:ext>
            </a:extLst>
          </p:cNvPr>
          <p:cNvSpPr txBox="1"/>
          <p:nvPr/>
        </p:nvSpPr>
        <p:spPr>
          <a:xfrm>
            <a:off x="568592" y="6483107"/>
            <a:ext cx="8839200" cy="307756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l" defTabSz="1217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Source: 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Bergman, Chetty, DeLuca, Hendren, Katz, Palmer (AER 2023)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Lato" panose="020F0502020204030203" pitchFamily="34" charset="0"/>
              <a:cs typeface="Arial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38D757D-5FB7-4D6E-3AA4-60EA958E7300}"/>
              </a:ext>
            </a:extLst>
          </p:cNvPr>
          <p:cNvCxnSpPr>
            <a:cxnSpLocks/>
          </p:cNvCxnSpPr>
          <p:nvPr/>
        </p:nvCxnSpPr>
        <p:spPr>
          <a:xfrm>
            <a:off x="620980" y="6483107"/>
            <a:ext cx="109536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6530BFB-70A8-AC19-7381-1C00AB9A5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074" y="375319"/>
            <a:ext cx="10499449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Fraction of Families Who Leased Units in High-Opportunity Areas</a:t>
            </a:r>
          </a:p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Phase I Results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626365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graphicFrame>
        <p:nvGraphicFramePr>
          <p:cNvPr id="18" name="Content Placeholder 109">
            <a:extLst>
              <a:ext uri="{FF2B5EF4-FFF2-40B4-BE49-F238E27FC236}">
                <a16:creationId xmlns:a16="http://schemas.microsoft.com/office/drawing/2014/main" id="{0021C782-C751-F26C-D1B1-B45CAE583686}"/>
              </a:ext>
            </a:extLst>
          </p:cNvPr>
          <p:cNvGraphicFramePr>
            <a:graphicFrameLocks/>
          </p:cNvGraphicFramePr>
          <p:nvPr/>
        </p:nvGraphicFramePr>
        <p:xfrm>
          <a:off x="609074" y="1455821"/>
          <a:ext cx="10953649" cy="47195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A2DE681-CBF2-A376-CF0C-C3A1A2AD1229}"/>
              </a:ext>
            </a:extLst>
          </p:cNvPr>
          <p:cNvCxnSpPr>
            <a:cxnSpLocks/>
          </p:cNvCxnSpPr>
          <p:nvPr/>
        </p:nvCxnSpPr>
        <p:spPr>
          <a:xfrm>
            <a:off x="620980" y="10009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black and grey text&#10;&#10;Description automatically generated">
            <a:extLst>
              <a:ext uri="{FF2B5EF4-FFF2-40B4-BE49-F238E27FC236}">
                <a16:creationId xmlns:a16="http://schemas.microsoft.com/office/drawing/2014/main" id="{C0C77FD8-6284-6E74-763F-A676649CBAA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33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183"/>
          <p:cNvSpPr>
            <a:spLocks noChangeArrowheads="1"/>
          </p:cNvSpPr>
          <p:nvPr/>
        </p:nvSpPr>
        <p:spPr bwMode="auto">
          <a:xfrm>
            <a:off x="6462351" y="598576"/>
            <a:ext cx="0" cy="357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1E2D53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 </a:t>
            </a:r>
            <a:endParaRPr kumimoji="0" lang="en-US" alt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pic>
        <p:nvPicPr>
          <p:cNvPr id="14" name="Picture 13" descr="A black and grey text&#10;&#10;Description automatically generated">
            <a:extLst>
              <a:ext uri="{FF2B5EF4-FFF2-40B4-BE49-F238E27FC236}">
                <a16:creationId xmlns:a16="http://schemas.microsoft.com/office/drawing/2014/main" id="{AF21E452-DCAE-DA58-0AB7-0C6962FEED6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1E3B4D5-D9C6-3781-71F4-853D0806D9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7108" y="2228609"/>
            <a:ext cx="3159256" cy="345455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F23C28-6930-07E6-BF2F-25A29CF76023}"/>
              </a:ext>
            </a:extLst>
          </p:cNvPr>
          <p:cNvSpPr txBox="1"/>
          <p:nvPr/>
        </p:nvSpPr>
        <p:spPr>
          <a:xfrm>
            <a:off x="1677108" y="1338359"/>
            <a:ext cx="3344947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2018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Housing Choice Voucher Mobility Demonstration Act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Bright" panose="02040602050505020304" pitchFamily="18" charset="0"/>
              <a:ea typeface="+mn-ea"/>
              <a:cs typeface="Arial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DA52A2D-632A-E56D-5800-A3D6FDEB4920}"/>
              </a:ext>
            </a:extLst>
          </p:cNvPr>
          <p:cNvGrpSpPr/>
          <p:nvPr/>
        </p:nvGrpSpPr>
        <p:grpSpPr>
          <a:xfrm>
            <a:off x="6791882" y="1338359"/>
            <a:ext cx="3342721" cy="4344804"/>
            <a:chOff x="6791882" y="1338359"/>
            <a:chExt cx="3342721" cy="43448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A48AB0C-C13F-2115-6816-0F1D9E8D2D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r="1674"/>
            <a:stretch/>
          </p:blipFill>
          <p:spPr>
            <a:xfrm>
              <a:off x="6791882" y="2228610"/>
              <a:ext cx="3157153" cy="345455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59BEC1B-F2F8-8F55-60F6-A620015FA42C}"/>
                </a:ext>
              </a:extLst>
            </p:cNvPr>
            <p:cNvSpPr txBox="1"/>
            <p:nvPr/>
          </p:nvSpPr>
          <p:spPr>
            <a:xfrm>
              <a:off x="6791883" y="1338359"/>
              <a:ext cx="3342720" cy="8002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itchFamily="34" charset="0"/>
                </a:rPr>
                <a:t>2023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Bright" panose="02040602050505020304" pitchFamily="18" charset="0"/>
                  <a:ea typeface="+mn-ea"/>
                  <a:cs typeface="Arial" pitchFamily="34" charset="0"/>
                </a:rPr>
                <a:t>Family Stability and Opportunity Vouchers Act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2C31B0A4-7FD2-AA61-44DF-20B80AD1F417}"/>
              </a:ext>
            </a:extLst>
          </p:cNvPr>
          <p:cNvSpPr txBox="1"/>
          <p:nvPr/>
        </p:nvSpPr>
        <p:spPr>
          <a:xfrm>
            <a:off x="568592" y="6483107"/>
            <a:ext cx="8839200" cy="307756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l" defTabSz="12177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Source: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Congress.gov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; 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Rapid Cycle Evaluation Report (HUD 2024)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Lato" panose="020F050202020403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7E4E6A-0D53-881D-C0C6-2E1F7A858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36" y="375319"/>
            <a:ext cx="10499449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From Research to Policy</a:t>
            </a:r>
          </a:p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Impacts on Federal Affordable Housing Policies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2266E9C-3FD1-F0BC-FDF3-C52F8D3B3454}"/>
              </a:ext>
            </a:extLst>
          </p:cNvPr>
          <p:cNvCxnSpPr>
            <a:cxnSpLocks/>
          </p:cNvCxnSpPr>
          <p:nvPr/>
        </p:nvCxnSpPr>
        <p:spPr>
          <a:xfrm>
            <a:off x="620980" y="10009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597D2E4-20BA-AC57-F9E4-4ABA4D836196}"/>
              </a:ext>
            </a:extLst>
          </p:cNvPr>
          <p:cNvSpPr txBox="1"/>
          <p:nvPr/>
        </p:nvSpPr>
        <p:spPr>
          <a:xfrm>
            <a:off x="1632005" y="5759823"/>
            <a:ext cx="3435151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Social support increased moves to high-opportunity areas by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9B6A4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6x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DF223FF-3BA9-6D98-663A-5B9966521EE9}"/>
              </a:ext>
            </a:extLst>
          </p:cNvPr>
          <p:cNvCxnSpPr>
            <a:cxnSpLocks/>
          </p:cNvCxnSpPr>
          <p:nvPr/>
        </p:nvCxnSpPr>
        <p:spPr>
          <a:xfrm>
            <a:off x="620980" y="6483107"/>
            <a:ext cx="109536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1282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94"/>
          <p:cNvSpPr>
            <a:spLocks noChangeAspect="1" noChangeArrowheads="1" noTextEdit="1"/>
          </p:cNvSpPr>
          <p:nvPr/>
        </p:nvSpPr>
        <p:spPr bwMode="auto">
          <a:xfrm>
            <a:off x="1524057" y="277836"/>
            <a:ext cx="9144001" cy="665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152" tIns="45718" rIns="91152" bIns="45718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2191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3" name="Rectangle 183"/>
          <p:cNvSpPr>
            <a:spLocks noChangeArrowheads="1"/>
          </p:cNvSpPr>
          <p:nvPr/>
        </p:nvSpPr>
        <p:spPr bwMode="auto">
          <a:xfrm>
            <a:off x="6462351" y="598576"/>
            <a:ext cx="0" cy="357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1E2D53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 </a:t>
            </a:r>
            <a:endParaRPr kumimoji="0" lang="en-US" altLang="en-US" sz="1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pic>
        <p:nvPicPr>
          <p:cNvPr id="14" name="Picture 13" descr="A black and grey text&#10;&#10;Description automatically generated">
            <a:extLst>
              <a:ext uri="{FF2B5EF4-FFF2-40B4-BE49-F238E27FC236}">
                <a16:creationId xmlns:a16="http://schemas.microsoft.com/office/drawing/2014/main" id="{AF21E452-DCAE-DA58-0AB7-0C6962FEED6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42E8E20-EEB7-A9A2-3AD6-7C9AF9813FBA}"/>
              </a:ext>
            </a:extLst>
          </p:cNvPr>
          <p:cNvSpPr/>
          <p:nvPr/>
        </p:nvSpPr>
        <p:spPr>
          <a:xfrm rot="5400000">
            <a:off x="3952423" y="2596443"/>
            <a:ext cx="4140800" cy="2479950"/>
          </a:xfrm>
          <a:prstGeom prst="rect">
            <a:avLst/>
          </a:prstGeom>
          <a:solidFill>
            <a:srgbClr val="F2F2F2">
              <a:alpha val="50196"/>
            </a:srgb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05A19A-6C38-D5B9-1575-5E5967B38B5A}"/>
              </a:ext>
            </a:extLst>
          </p:cNvPr>
          <p:cNvSpPr/>
          <p:nvPr/>
        </p:nvSpPr>
        <p:spPr>
          <a:xfrm rot="5400000">
            <a:off x="7158620" y="2596444"/>
            <a:ext cx="4140801" cy="2479950"/>
          </a:xfrm>
          <a:prstGeom prst="rect">
            <a:avLst/>
          </a:prstGeom>
          <a:solidFill>
            <a:srgbClr val="F2F2F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4455D5-54E8-44A5-20E8-31AC365E0C17}"/>
              </a:ext>
            </a:extLst>
          </p:cNvPr>
          <p:cNvSpPr/>
          <p:nvPr/>
        </p:nvSpPr>
        <p:spPr>
          <a:xfrm rot="5400000">
            <a:off x="695553" y="2596444"/>
            <a:ext cx="4140801" cy="2479950"/>
          </a:xfrm>
          <a:prstGeom prst="rect">
            <a:avLst/>
          </a:prstGeom>
          <a:solidFill>
            <a:srgbClr val="F2F2F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4D5452-0624-5C86-AE20-AFAB2259A42F}"/>
              </a:ext>
            </a:extLst>
          </p:cNvPr>
          <p:cNvSpPr/>
          <p:nvPr/>
        </p:nvSpPr>
        <p:spPr>
          <a:xfrm>
            <a:off x="5039915" y="1870537"/>
            <a:ext cx="196581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Place-Based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Investments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Bright" panose="02040602050505020304" pitchFamily="18" charset="0"/>
              <a:ea typeface="+mn-ea"/>
              <a:cs typeface="Arial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000781-9EFF-FE92-F2C3-0CB407AEA05E}"/>
              </a:ext>
            </a:extLst>
          </p:cNvPr>
          <p:cNvSpPr/>
          <p:nvPr/>
        </p:nvSpPr>
        <p:spPr>
          <a:xfrm>
            <a:off x="1833289" y="1870537"/>
            <a:ext cx="18653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Reducing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Segregation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7C03BB-FAF3-F059-870C-792F83350BE3}"/>
              </a:ext>
            </a:extLst>
          </p:cNvPr>
          <p:cNvSpPr/>
          <p:nvPr/>
        </p:nvSpPr>
        <p:spPr>
          <a:xfrm>
            <a:off x="8001144" y="1870537"/>
            <a:ext cx="247995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Higher Education &amp; Workforce Training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361146C-D304-810C-FCB5-4E2AB589053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76" r="16818" b="50000"/>
          <a:stretch/>
        </p:blipFill>
        <p:spPr>
          <a:xfrm>
            <a:off x="1939612" y="2987992"/>
            <a:ext cx="1652682" cy="116471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B93415A-0F3A-905C-5706-609CAFDC6760}"/>
              </a:ext>
            </a:extLst>
          </p:cNvPr>
          <p:cNvGrpSpPr/>
          <p:nvPr/>
        </p:nvGrpSpPr>
        <p:grpSpPr>
          <a:xfrm>
            <a:off x="5214899" y="2660290"/>
            <a:ext cx="1615846" cy="1925186"/>
            <a:chOff x="4997274" y="1965072"/>
            <a:chExt cx="2457406" cy="2927855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88BBC94-BF3F-F479-D1B6-7E2BAE9517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97274" y="1965072"/>
              <a:ext cx="2457406" cy="2927855"/>
            </a:xfrm>
            <a:prstGeom prst="rect">
              <a:avLst/>
            </a:prstGeom>
          </p:spPr>
        </p:pic>
        <p:pic>
          <p:nvPicPr>
            <p:cNvPr id="15" name="Graphic 14" descr="Marker">
              <a:extLst>
                <a:ext uri="{FF2B5EF4-FFF2-40B4-BE49-F238E27FC236}">
                  <a16:creationId xmlns:a16="http://schemas.microsoft.com/office/drawing/2014/main" id="{4CED2D8C-77EB-E107-E07E-6A10C7C192EC}"/>
                </a:ext>
              </a:extLst>
            </p:cNvPr>
            <p:cNvPicPr>
              <a:picLocks noChangeAspect="1"/>
            </p:cNvPicPr>
            <p:nvPr/>
          </p:nvPicPr>
          <p:blipFill>
            <a:blip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526233">
              <a:off x="5767258" y="2212413"/>
              <a:ext cx="1295057" cy="1295057"/>
            </a:xfrm>
            <a:prstGeom prst="rect">
              <a:avLst/>
            </a:prstGeom>
          </p:spPr>
        </p:pic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DC2058E-271A-4964-6CAC-720CBE9373F2}"/>
              </a:ext>
            </a:extLst>
          </p:cNvPr>
          <p:cNvCxnSpPr>
            <a:cxnSpLocks/>
          </p:cNvCxnSpPr>
          <p:nvPr/>
        </p:nvCxnSpPr>
        <p:spPr>
          <a:xfrm>
            <a:off x="7615411" y="4398957"/>
            <a:ext cx="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7038330E-EF39-BB74-F67E-6B009BD897BD}"/>
              </a:ext>
            </a:extLst>
          </p:cNvPr>
          <p:cNvSpPr/>
          <p:nvPr/>
        </p:nvSpPr>
        <p:spPr>
          <a:xfrm>
            <a:off x="1829429" y="4741389"/>
            <a:ext cx="197027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B6A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Help Low-Income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B6A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Families Move to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B6A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High-Opportunity Areas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882A60-AB07-80A5-4B4C-204F32B31C72}"/>
              </a:ext>
            </a:extLst>
          </p:cNvPr>
          <p:cNvSpPr/>
          <p:nvPr/>
        </p:nvSpPr>
        <p:spPr>
          <a:xfrm>
            <a:off x="5142989" y="4741389"/>
            <a:ext cx="185688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B6A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Increase Upward Mobility in Low-Opportunity Areas</a:t>
            </a:r>
          </a:p>
        </p:txBody>
      </p:sp>
      <p:pic>
        <p:nvPicPr>
          <p:cNvPr id="20" name="Picture 19" descr="A close up of a sign&#10;&#10;Description generated with very high confidence">
            <a:extLst>
              <a:ext uri="{FF2B5EF4-FFF2-40B4-BE49-F238E27FC236}">
                <a16:creationId xmlns:a16="http://schemas.microsoft.com/office/drawing/2014/main" id="{57F0E29B-24E0-B024-F07F-0CF9743A9082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6530" y="3248704"/>
            <a:ext cx="1044979" cy="1055888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19F1B3A5-3A9F-A273-EC79-E035E995C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074" y="375319"/>
            <a:ext cx="104994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Three Policy Approaches to Increasing Upward Mobility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9BF5EE0-D683-65FE-3FEA-734A0F4E06CB}"/>
              </a:ext>
            </a:extLst>
          </p:cNvPr>
          <p:cNvCxnSpPr>
            <a:cxnSpLocks/>
          </p:cNvCxnSpPr>
          <p:nvPr/>
        </p:nvCxnSpPr>
        <p:spPr>
          <a:xfrm>
            <a:off x="620980" y="8358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9FAA8238-63D5-7126-2EB8-822B9D7BE1D0}"/>
              </a:ext>
            </a:extLst>
          </p:cNvPr>
          <p:cNvSpPr/>
          <p:nvPr/>
        </p:nvSpPr>
        <p:spPr>
          <a:xfrm>
            <a:off x="8186073" y="4741389"/>
            <a:ext cx="218311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B6A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rPr>
              <a:t>Amplify Impacts of Colleges and Training Programs on Mobility</a:t>
            </a:r>
          </a:p>
        </p:txBody>
      </p:sp>
    </p:spTree>
    <p:extLst>
      <p:ext uri="{BB962C8B-B14F-4D97-AF65-F5344CB8AC3E}">
        <p14:creationId xmlns:p14="http://schemas.microsoft.com/office/powerpoint/2010/main" val="2163232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866B2-DCAC-CC72-8C55-6FD6513D7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183">
            <a:extLst>
              <a:ext uri="{FF2B5EF4-FFF2-40B4-BE49-F238E27FC236}">
                <a16:creationId xmlns:a16="http://schemas.microsoft.com/office/drawing/2014/main" id="{656CBA1D-2E74-DC65-3F4B-BE95A9095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351" y="598576"/>
            <a:ext cx="100990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 </a:t>
            </a:r>
            <a:endParaRPr kumimoji="0" lang="en-US" alt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pic>
        <p:nvPicPr>
          <p:cNvPr id="3" name="Picture 2" descr="A black and grey text&#10;&#10;Description automatically generated">
            <a:extLst>
              <a:ext uri="{FF2B5EF4-FFF2-40B4-BE49-F238E27FC236}">
                <a16:creationId xmlns:a16="http://schemas.microsoft.com/office/drawing/2014/main" id="{95104EEE-AC14-31B3-D7AD-AF9122C0F68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6FFE4F2B-A33A-DF42-937D-3DB3CFA408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4" r="4004"/>
          <a:stretch/>
        </p:blipFill>
        <p:spPr bwMode="auto">
          <a:xfrm>
            <a:off x="6221825" y="1331843"/>
            <a:ext cx="5458492" cy="3955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59FB01F-0E40-5E44-30E9-5AFFF9F294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1" r="3401"/>
          <a:stretch/>
        </p:blipFill>
        <p:spPr>
          <a:xfrm>
            <a:off x="511685" y="1331843"/>
            <a:ext cx="5458492" cy="395577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483EFA4-18B2-0921-45AC-775A3F982B4F}"/>
              </a:ext>
            </a:extLst>
          </p:cNvPr>
          <p:cNvSpPr txBox="1"/>
          <p:nvPr/>
        </p:nvSpPr>
        <p:spPr>
          <a:xfrm>
            <a:off x="1181719" y="5463796"/>
            <a:ext cx="41184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77"/>
                <a:ea typeface="+mn-ea"/>
                <a:cs typeface="Arial" pitchFamily="34" charset="0"/>
              </a:rPr>
              <a:t>Before Revitalization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77"/>
                <a:ea typeface="+mn-ea"/>
                <a:cs typeface="Arial" pitchFamily="34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77"/>
                <a:ea typeface="+mn-ea"/>
                <a:cs typeface="Arial" pitchFamily="34" charset="0"/>
              </a:rPr>
              <a:t>Happy Hill Gardens, Winston-Salem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77"/>
                <a:ea typeface="+mn-ea"/>
                <a:cs typeface="Arial" pitchFamily="34" charset="0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Arial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37436EE-9C9C-88FD-9DCE-8C86B390173C}"/>
              </a:ext>
            </a:extLst>
          </p:cNvPr>
          <p:cNvCxnSpPr>
            <a:cxnSpLocks/>
          </p:cNvCxnSpPr>
          <p:nvPr/>
        </p:nvCxnSpPr>
        <p:spPr>
          <a:xfrm>
            <a:off x="620980" y="6483107"/>
            <a:ext cx="109536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483EFA4-18B2-0921-45AC-775A3F982B4F}"/>
              </a:ext>
            </a:extLst>
          </p:cNvPr>
          <p:cNvSpPr txBox="1"/>
          <p:nvPr/>
        </p:nvSpPr>
        <p:spPr>
          <a:xfrm>
            <a:off x="7146207" y="5463795"/>
            <a:ext cx="33169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77"/>
                <a:ea typeface="+mn-ea"/>
                <a:cs typeface="Arial" pitchFamily="34" charset="0"/>
              </a:rPr>
              <a:t>After Revitalization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77"/>
                <a:ea typeface="+mn-ea"/>
                <a:cs typeface="Arial" pitchFamily="34" charset="0"/>
              </a:rPr>
              <a:t>Alders Point, Winston-Salem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77"/>
                <a:ea typeface="+mn-ea"/>
                <a:cs typeface="Arial" pitchFamily="34" charset="0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77"/>
              <a:ea typeface="+mn-ea"/>
              <a:cs typeface="Arial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2E8FF8-8305-032F-4E1A-CD09397DC90B}"/>
              </a:ext>
            </a:extLst>
          </p:cNvPr>
          <p:cNvSpPr txBox="1"/>
          <p:nvPr/>
        </p:nvSpPr>
        <p:spPr>
          <a:xfrm>
            <a:off x="568592" y="6483107"/>
            <a:ext cx="8839200" cy="307756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l" defTabSz="1217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Source: 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Chetty, Diamond, Foster, Katz, Porter, Staiger, Tach 2025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Lato" panose="020F0502020204030203" pitchFamily="34" charset="0"/>
              <a:cs typeface="Arial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88B554-9092-81E7-9642-0ADD9DCA3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36" y="375319"/>
            <a:ext cx="11221347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Bright" panose="02040602050505020304" pitchFamily="18" charset="77"/>
                <a:ea typeface="+mn-ea"/>
                <a:cs typeface="Arial" pitchFamily="34" charset="0"/>
              </a:rPr>
              <a:t>HOPE VI Neighborhood Revitalization Program</a:t>
            </a:r>
          </a:p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Housing Opportunities for People Everywhere: $16.7 bn spent to Revitalize 261 Public Housing Sites (1993-2010)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29A82CF-8186-C8D6-D817-C75AD1EAD57F}"/>
              </a:ext>
            </a:extLst>
          </p:cNvPr>
          <p:cNvCxnSpPr>
            <a:cxnSpLocks/>
          </p:cNvCxnSpPr>
          <p:nvPr/>
        </p:nvCxnSpPr>
        <p:spPr>
          <a:xfrm>
            <a:off x="620980" y="10009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7294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CE8D4-F9DC-4AF0-9ECB-EE6035FED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D946C1F-09DF-7799-6E5E-BDB564ED772E}"/>
              </a:ext>
            </a:extLst>
          </p:cNvPr>
          <p:cNvSpPr/>
          <p:nvPr/>
        </p:nvSpPr>
        <p:spPr>
          <a:xfrm>
            <a:off x="1501030" y="927743"/>
            <a:ext cx="9196612" cy="5743547"/>
          </a:xfrm>
          <a:custGeom>
            <a:avLst/>
            <a:gdLst>
              <a:gd name="connsiteX0" fmla="*/ 0 w 9196612"/>
              <a:gd name="connsiteY0" fmla="*/ 0 h 5743547"/>
              <a:gd name="connsiteX1" fmla="*/ 9196613 w 9196612"/>
              <a:gd name="connsiteY1" fmla="*/ 0 h 5743547"/>
              <a:gd name="connsiteX2" fmla="*/ 9196613 w 9196612"/>
              <a:gd name="connsiteY2" fmla="*/ 5743548 h 5743547"/>
              <a:gd name="connsiteX3" fmla="*/ 0 w 9196612"/>
              <a:gd name="connsiteY3" fmla="*/ 5743548 h 5743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96612" h="5743547">
                <a:moveTo>
                  <a:pt x="0" y="0"/>
                </a:moveTo>
                <a:lnTo>
                  <a:pt x="9196613" y="0"/>
                </a:lnTo>
                <a:lnTo>
                  <a:pt x="9196613" y="5743548"/>
                </a:lnTo>
                <a:lnTo>
                  <a:pt x="0" y="5743548"/>
                </a:lnTo>
                <a:close/>
              </a:path>
            </a:pathLst>
          </a:custGeom>
          <a:noFill/>
          <a:ln w="115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83" name="Rectangle 183">
            <a:extLst>
              <a:ext uri="{FF2B5EF4-FFF2-40B4-BE49-F238E27FC236}">
                <a16:creationId xmlns:a16="http://schemas.microsoft.com/office/drawing/2014/main" id="{7188904A-83F6-E4DD-6B2B-7303C69892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351" y="598576"/>
            <a:ext cx="100990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 </a:t>
            </a:r>
            <a:endParaRPr kumimoji="0" lang="en-US" altLang="en-US" sz="1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pic>
        <p:nvPicPr>
          <p:cNvPr id="2" name="Picture 1" descr="A black and grey text&#10;&#10;Description automatically generated">
            <a:extLst>
              <a:ext uri="{FF2B5EF4-FFF2-40B4-BE49-F238E27FC236}">
                <a16:creationId xmlns:a16="http://schemas.microsoft.com/office/drawing/2014/main" id="{61634323-54FA-E7E0-EDB9-CD00F0E22B8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9D11CA9-E9F8-57DD-F881-F04A6129B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36" y="375319"/>
            <a:ext cx="10499449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Impact of Revitalization on Children’s Incomes in Adulthood</a:t>
            </a:r>
          </a:p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anose="020B0604020202020204" pitchFamily="34" charset="0"/>
              </a:rPr>
              <a:t>Children Living in Public Housing Before vs. After Award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A7D2CE-064B-78D5-DF10-02E8F3F914B2}"/>
              </a:ext>
            </a:extLst>
          </p:cNvPr>
          <p:cNvCxnSpPr>
            <a:cxnSpLocks/>
          </p:cNvCxnSpPr>
          <p:nvPr/>
        </p:nvCxnSpPr>
        <p:spPr>
          <a:xfrm>
            <a:off x="620980" y="10009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61BA819-6E2D-D211-98F0-393904E03946}"/>
              </a:ext>
            </a:extLst>
          </p:cNvPr>
          <p:cNvSpPr txBox="1"/>
          <p:nvPr/>
        </p:nvSpPr>
        <p:spPr>
          <a:xfrm>
            <a:off x="568592" y="6483107"/>
            <a:ext cx="8839200" cy="307756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l" defTabSz="1217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Source: 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Chetty, Diamond, Foster, Katz, Porter, Staiger, Tach (2025)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Lato" panose="020F0502020204030203" pitchFamily="34" charset="0"/>
              <a:cs typeface="Arial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E625924-42F0-47D8-8BCB-37FA323E9DB5}"/>
              </a:ext>
            </a:extLst>
          </p:cNvPr>
          <p:cNvCxnSpPr>
            <a:cxnSpLocks/>
          </p:cNvCxnSpPr>
          <p:nvPr/>
        </p:nvCxnSpPr>
        <p:spPr>
          <a:xfrm>
            <a:off x="620980" y="6483107"/>
            <a:ext cx="109536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9ECBAC51-7646-6382-E96C-331F372BFF5A}"/>
              </a:ext>
            </a:extLst>
          </p:cNvPr>
          <p:cNvSpPr/>
          <p:nvPr/>
        </p:nvSpPr>
        <p:spPr>
          <a:xfrm>
            <a:off x="2363801" y="1350177"/>
            <a:ext cx="7804117" cy="4346629"/>
          </a:xfrm>
          <a:prstGeom prst="rect">
            <a:avLst/>
          </a:prstGeom>
          <a:noFill/>
          <a:ln w="12930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07" name="Freeform: Shape 206">
            <a:extLst>
              <a:ext uri="{FF2B5EF4-FFF2-40B4-BE49-F238E27FC236}">
                <a16:creationId xmlns:a16="http://schemas.microsoft.com/office/drawing/2014/main" id="{DA1A32D5-3597-3C74-5A0F-4FEC0C547E9F}"/>
              </a:ext>
            </a:extLst>
          </p:cNvPr>
          <p:cNvSpPr/>
          <p:nvPr/>
        </p:nvSpPr>
        <p:spPr>
          <a:xfrm>
            <a:off x="2543114" y="4951002"/>
            <a:ext cx="2979510" cy="1586"/>
          </a:xfrm>
          <a:custGeom>
            <a:avLst/>
            <a:gdLst>
              <a:gd name="csX0" fmla="*/ 0 w 3374029"/>
              <a:gd name="csY0" fmla="*/ 0 h 1796"/>
              <a:gd name="csX1" fmla="*/ 421956 w 3374029"/>
              <a:gd name="csY1" fmla="*/ 0 h 1796"/>
              <a:gd name="csX2" fmla="*/ 843588 w 3374029"/>
              <a:gd name="csY2" fmla="*/ 0 h 1796"/>
              <a:gd name="csX3" fmla="*/ 1265221 w 3374029"/>
              <a:gd name="csY3" fmla="*/ 0 h 1796"/>
              <a:gd name="csX4" fmla="*/ 1687177 w 3374029"/>
              <a:gd name="csY4" fmla="*/ 0 h 1796"/>
              <a:gd name="csX5" fmla="*/ 2108809 w 3374029"/>
              <a:gd name="csY5" fmla="*/ 0 h 1796"/>
              <a:gd name="csX6" fmla="*/ 2530442 w 3374029"/>
              <a:gd name="csY6" fmla="*/ 0 h 1796"/>
              <a:gd name="csX7" fmla="*/ 2952397 w 3374029"/>
              <a:gd name="csY7" fmla="*/ 0 h 1796"/>
              <a:gd name="csX8" fmla="*/ 3374030 w 3374029"/>
              <a:gd name="csY8" fmla="*/ 0 h 1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374029" h="1796">
                <a:moveTo>
                  <a:pt x="0" y="0"/>
                </a:moveTo>
                <a:lnTo>
                  <a:pt x="421956" y="0"/>
                </a:lnTo>
                <a:lnTo>
                  <a:pt x="843588" y="0"/>
                </a:lnTo>
                <a:lnTo>
                  <a:pt x="1265221" y="0"/>
                </a:lnTo>
                <a:lnTo>
                  <a:pt x="1687177" y="0"/>
                </a:lnTo>
                <a:lnTo>
                  <a:pt x="2108809" y="0"/>
                </a:lnTo>
                <a:lnTo>
                  <a:pt x="2530442" y="0"/>
                </a:lnTo>
                <a:lnTo>
                  <a:pt x="2952397" y="0"/>
                </a:lnTo>
                <a:lnTo>
                  <a:pt x="3374030" y="0"/>
                </a:lnTo>
              </a:path>
            </a:pathLst>
          </a:custGeom>
          <a:noFill/>
          <a:ln w="29093" cap="flat">
            <a:solidFill>
              <a:srgbClr val="29B6A4">
                <a:alpha val="30000"/>
              </a:srgb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F3F265CC-E722-08CD-114F-43ECB38018B1}"/>
              </a:ext>
            </a:extLst>
          </p:cNvPr>
          <p:cNvSpPr/>
          <p:nvPr/>
        </p:nvSpPr>
        <p:spPr>
          <a:xfrm>
            <a:off x="2494574" y="4878477"/>
            <a:ext cx="97080" cy="97080"/>
          </a:xfrm>
          <a:prstGeom prst="ellipse">
            <a:avLst/>
          </a:prstGeom>
          <a:solidFill>
            <a:srgbClr val="29B6A4"/>
          </a:solidFill>
          <a:ln w="1796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B72A6514-55F4-61DA-7305-5D5AFC7859AA}"/>
              </a:ext>
            </a:extLst>
          </p:cNvPr>
          <p:cNvSpPr/>
          <p:nvPr/>
        </p:nvSpPr>
        <p:spPr>
          <a:xfrm>
            <a:off x="2507423" y="4891325"/>
            <a:ext cx="71382" cy="71382"/>
          </a:xfrm>
          <a:prstGeom prst="ellipse">
            <a:avLst/>
          </a:prstGeom>
          <a:noFill/>
          <a:ln w="29093" cap="flat">
            <a:solidFill>
              <a:srgbClr val="29B6A4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41AE8F6A-9B55-9AE6-C71A-A36BC8998E58}"/>
              </a:ext>
            </a:extLst>
          </p:cNvPr>
          <p:cNvSpPr/>
          <p:nvPr/>
        </p:nvSpPr>
        <p:spPr>
          <a:xfrm>
            <a:off x="2867191" y="4911027"/>
            <a:ext cx="97080" cy="97080"/>
          </a:xfrm>
          <a:prstGeom prst="ellipse">
            <a:avLst/>
          </a:prstGeom>
          <a:solidFill>
            <a:srgbClr val="29B6A4"/>
          </a:solidFill>
          <a:ln w="1796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CF2374D4-9EF8-5DDB-609A-87EE1614123E}"/>
              </a:ext>
            </a:extLst>
          </p:cNvPr>
          <p:cNvSpPr/>
          <p:nvPr/>
        </p:nvSpPr>
        <p:spPr>
          <a:xfrm>
            <a:off x="2880040" y="4923875"/>
            <a:ext cx="71382" cy="71382"/>
          </a:xfrm>
          <a:prstGeom prst="ellipse">
            <a:avLst/>
          </a:prstGeom>
          <a:noFill/>
          <a:ln w="29093" cap="flat">
            <a:solidFill>
              <a:srgbClr val="29B6A4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588A9ADA-2F8C-83E1-9BAB-B61E36147398}"/>
              </a:ext>
            </a:extLst>
          </p:cNvPr>
          <p:cNvSpPr/>
          <p:nvPr/>
        </p:nvSpPr>
        <p:spPr>
          <a:xfrm>
            <a:off x="3239523" y="4883045"/>
            <a:ext cx="97080" cy="97080"/>
          </a:xfrm>
          <a:prstGeom prst="ellipse">
            <a:avLst/>
          </a:prstGeom>
          <a:solidFill>
            <a:srgbClr val="29B6A4"/>
          </a:solidFill>
          <a:ln w="1796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5EA73840-7C49-89B2-D54B-764E7A8420D7}"/>
              </a:ext>
            </a:extLst>
          </p:cNvPr>
          <p:cNvSpPr/>
          <p:nvPr/>
        </p:nvSpPr>
        <p:spPr>
          <a:xfrm>
            <a:off x="3252371" y="4895893"/>
            <a:ext cx="71382" cy="71382"/>
          </a:xfrm>
          <a:prstGeom prst="ellipse">
            <a:avLst/>
          </a:prstGeom>
          <a:noFill/>
          <a:ln w="29093" cap="flat">
            <a:solidFill>
              <a:srgbClr val="29B6A4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75E3E178-95B2-5AAA-B4C3-677A6A315DB9}"/>
              </a:ext>
            </a:extLst>
          </p:cNvPr>
          <p:cNvSpPr/>
          <p:nvPr/>
        </p:nvSpPr>
        <p:spPr>
          <a:xfrm>
            <a:off x="3611855" y="5089769"/>
            <a:ext cx="97080" cy="97080"/>
          </a:xfrm>
          <a:prstGeom prst="ellipse">
            <a:avLst/>
          </a:prstGeom>
          <a:solidFill>
            <a:srgbClr val="29B6A4"/>
          </a:solidFill>
          <a:ln w="1796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E024D0BB-8D42-4F98-408D-066FAA55E370}"/>
              </a:ext>
            </a:extLst>
          </p:cNvPr>
          <p:cNvSpPr/>
          <p:nvPr/>
        </p:nvSpPr>
        <p:spPr>
          <a:xfrm>
            <a:off x="3624703" y="5102618"/>
            <a:ext cx="71382" cy="71382"/>
          </a:xfrm>
          <a:prstGeom prst="ellipse">
            <a:avLst/>
          </a:prstGeom>
          <a:noFill/>
          <a:ln w="29093" cap="flat">
            <a:solidFill>
              <a:srgbClr val="29B6A4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B74024F7-DFF6-FEAB-301E-6099BD8050F7}"/>
              </a:ext>
            </a:extLst>
          </p:cNvPr>
          <p:cNvSpPr/>
          <p:nvPr/>
        </p:nvSpPr>
        <p:spPr>
          <a:xfrm>
            <a:off x="3984471" y="5016102"/>
            <a:ext cx="97080" cy="97080"/>
          </a:xfrm>
          <a:prstGeom prst="ellipse">
            <a:avLst/>
          </a:prstGeom>
          <a:solidFill>
            <a:srgbClr val="29B6A4"/>
          </a:solidFill>
          <a:ln w="1796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2391DACB-BDBF-79D1-5F6B-E943FEE29A58}"/>
              </a:ext>
            </a:extLst>
          </p:cNvPr>
          <p:cNvSpPr/>
          <p:nvPr/>
        </p:nvSpPr>
        <p:spPr>
          <a:xfrm>
            <a:off x="3997321" y="5028951"/>
            <a:ext cx="71382" cy="71382"/>
          </a:xfrm>
          <a:prstGeom prst="ellipse">
            <a:avLst/>
          </a:prstGeom>
          <a:noFill/>
          <a:ln w="29093" cap="flat">
            <a:solidFill>
              <a:srgbClr val="29B6A4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F4EF80C4-4D75-C900-DE22-3EFEC8A1C910}"/>
              </a:ext>
            </a:extLst>
          </p:cNvPr>
          <p:cNvSpPr/>
          <p:nvPr/>
        </p:nvSpPr>
        <p:spPr>
          <a:xfrm>
            <a:off x="4356803" y="4826796"/>
            <a:ext cx="97080" cy="97080"/>
          </a:xfrm>
          <a:prstGeom prst="ellipse">
            <a:avLst/>
          </a:prstGeom>
          <a:solidFill>
            <a:srgbClr val="29B6A4"/>
          </a:solidFill>
          <a:ln w="1796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22E95F71-394A-B1F0-2E4F-D4FC4770F367}"/>
              </a:ext>
            </a:extLst>
          </p:cNvPr>
          <p:cNvSpPr/>
          <p:nvPr/>
        </p:nvSpPr>
        <p:spPr>
          <a:xfrm>
            <a:off x="4369652" y="4839644"/>
            <a:ext cx="71382" cy="71382"/>
          </a:xfrm>
          <a:prstGeom prst="ellipse">
            <a:avLst/>
          </a:prstGeom>
          <a:noFill/>
          <a:ln w="29093" cap="flat">
            <a:solidFill>
              <a:srgbClr val="29B6A4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713A5983-4438-98A2-12F9-54AD51E3A338}"/>
              </a:ext>
            </a:extLst>
          </p:cNvPr>
          <p:cNvSpPr/>
          <p:nvPr/>
        </p:nvSpPr>
        <p:spPr>
          <a:xfrm>
            <a:off x="4729135" y="4883616"/>
            <a:ext cx="97080" cy="97080"/>
          </a:xfrm>
          <a:prstGeom prst="ellipse">
            <a:avLst/>
          </a:prstGeom>
          <a:solidFill>
            <a:srgbClr val="29B6A4"/>
          </a:solidFill>
          <a:ln w="1796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3FB56771-CEDB-69E5-7EAF-748722DB5962}"/>
              </a:ext>
            </a:extLst>
          </p:cNvPr>
          <p:cNvSpPr/>
          <p:nvPr/>
        </p:nvSpPr>
        <p:spPr>
          <a:xfrm>
            <a:off x="4741983" y="4896465"/>
            <a:ext cx="71382" cy="71382"/>
          </a:xfrm>
          <a:prstGeom prst="ellipse">
            <a:avLst/>
          </a:prstGeom>
          <a:noFill/>
          <a:ln w="29093" cap="flat">
            <a:solidFill>
              <a:srgbClr val="29B6A4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10CB83F2-6C2D-E666-301A-700AB6106D70}"/>
              </a:ext>
            </a:extLst>
          </p:cNvPr>
          <p:cNvSpPr/>
          <p:nvPr/>
        </p:nvSpPr>
        <p:spPr>
          <a:xfrm>
            <a:off x="5101752" y="4946718"/>
            <a:ext cx="97080" cy="97080"/>
          </a:xfrm>
          <a:prstGeom prst="ellipse">
            <a:avLst/>
          </a:prstGeom>
          <a:solidFill>
            <a:srgbClr val="29B6A4"/>
          </a:solidFill>
          <a:ln w="1796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BCE57A5A-0D63-4EAF-FAC7-04EF263F6DC9}"/>
              </a:ext>
            </a:extLst>
          </p:cNvPr>
          <p:cNvSpPr/>
          <p:nvPr/>
        </p:nvSpPr>
        <p:spPr>
          <a:xfrm>
            <a:off x="5114601" y="4959567"/>
            <a:ext cx="71382" cy="71382"/>
          </a:xfrm>
          <a:prstGeom prst="ellipse">
            <a:avLst/>
          </a:prstGeom>
          <a:noFill/>
          <a:ln w="29093" cap="flat">
            <a:solidFill>
              <a:srgbClr val="29B6A4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CC5C9103-3672-B172-1EA2-AA1E23FDA2D4}"/>
              </a:ext>
            </a:extLst>
          </p:cNvPr>
          <p:cNvSpPr/>
          <p:nvPr/>
        </p:nvSpPr>
        <p:spPr>
          <a:xfrm>
            <a:off x="5474083" y="4687457"/>
            <a:ext cx="97080" cy="97080"/>
          </a:xfrm>
          <a:prstGeom prst="ellipse">
            <a:avLst/>
          </a:prstGeom>
          <a:solidFill>
            <a:srgbClr val="29B6A4"/>
          </a:solidFill>
          <a:ln w="1796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6951B5C0-65FB-27A6-2C23-8414392ADF97}"/>
              </a:ext>
            </a:extLst>
          </p:cNvPr>
          <p:cNvSpPr/>
          <p:nvPr/>
        </p:nvSpPr>
        <p:spPr>
          <a:xfrm>
            <a:off x="5486933" y="4700305"/>
            <a:ext cx="71382" cy="71382"/>
          </a:xfrm>
          <a:prstGeom prst="ellipse">
            <a:avLst/>
          </a:prstGeom>
          <a:noFill/>
          <a:ln w="29093" cap="flat">
            <a:solidFill>
              <a:srgbClr val="29B6A4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26" name="Freeform: Shape 225">
            <a:extLst>
              <a:ext uri="{FF2B5EF4-FFF2-40B4-BE49-F238E27FC236}">
                <a16:creationId xmlns:a16="http://schemas.microsoft.com/office/drawing/2014/main" id="{3AF42A7E-DF12-3971-6B28-C4A8A08995A9}"/>
              </a:ext>
            </a:extLst>
          </p:cNvPr>
          <p:cNvSpPr/>
          <p:nvPr/>
        </p:nvSpPr>
        <p:spPr>
          <a:xfrm>
            <a:off x="2358091" y="1344466"/>
            <a:ext cx="1586" cy="4358051"/>
          </a:xfrm>
          <a:custGeom>
            <a:avLst/>
            <a:gdLst>
              <a:gd name="csX0" fmla="*/ 0 w 1796"/>
              <a:gd name="csY0" fmla="*/ 4935104 h 4935104"/>
              <a:gd name="csX1" fmla="*/ 0 w 1796"/>
              <a:gd name="csY1" fmla="*/ 0 h 493510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4935104">
                <a:moveTo>
                  <a:pt x="0" y="4935104"/>
                </a:moveTo>
                <a:lnTo>
                  <a:pt x="0" y="0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27" name="Freeform: Shape 226">
            <a:extLst>
              <a:ext uri="{FF2B5EF4-FFF2-40B4-BE49-F238E27FC236}">
                <a16:creationId xmlns:a16="http://schemas.microsoft.com/office/drawing/2014/main" id="{9AB3921E-F980-4B5A-C6B7-9444C2F3BE48}"/>
              </a:ext>
            </a:extLst>
          </p:cNvPr>
          <p:cNvSpPr/>
          <p:nvPr/>
        </p:nvSpPr>
        <p:spPr>
          <a:xfrm>
            <a:off x="2278713" y="5576884"/>
            <a:ext cx="79377" cy="1586"/>
          </a:xfrm>
          <a:custGeom>
            <a:avLst/>
            <a:gdLst>
              <a:gd name="csX0" fmla="*/ 89888 w 89887"/>
              <a:gd name="csY0" fmla="*/ 0 h 1796"/>
              <a:gd name="csX1" fmla="*/ 0 w 89887"/>
              <a:gd name="csY1" fmla="*/ 0 h 1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9887" h="1796">
                <a:moveTo>
                  <a:pt x="89888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DF7D18BC-EEDE-F0B7-281B-AA96FDC12B0E}"/>
              </a:ext>
            </a:extLst>
          </p:cNvPr>
          <p:cNvSpPr txBox="1"/>
          <p:nvPr/>
        </p:nvSpPr>
        <p:spPr>
          <a:xfrm>
            <a:off x="1667823" y="5419264"/>
            <a:ext cx="613224" cy="298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$22k</a:t>
            </a:r>
          </a:p>
        </p:txBody>
      </p:sp>
      <p:sp>
        <p:nvSpPr>
          <p:cNvPr id="229" name="Freeform: Shape 228">
            <a:extLst>
              <a:ext uri="{FF2B5EF4-FFF2-40B4-BE49-F238E27FC236}">
                <a16:creationId xmlns:a16="http://schemas.microsoft.com/office/drawing/2014/main" id="{91311FD8-C494-4C43-4C2D-80BBB0CA083C}"/>
              </a:ext>
            </a:extLst>
          </p:cNvPr>
          <p:cNvSpPr/>
          <p:nvPr/>
        </p:nvSpPr>
        <p:spPr>
          <a:xfrm>
            <a:off x="2278713" y="4892467"/>
            <a:ext cx="79377" cy="1586"/>
          </a:xfrm>
          <a:custGeom>
            <a:avLst/>
            <a:gdLst>
              <a:gd name="csX0" fmla="*/ 89888 w 89887"/>
              <a:gd name="csY0" fmla="*/ 0 h 1796"/>
              <a:gd name="csX1" fmla="*/ 0 w 89887"/>
              <a:gd name="csY1" fmla="*/ 0 h 1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9887" h="1796">
                <a:moveTo>
                  <a:pt x="89888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5AAFBF58-4629-97A1-A137-771373EFD12E}"/>
              </a:ext>
            </a:extLst>
          </p:cNvPr>
          <p:cNvSpPr txBox="1"/>
          <p:nvPr/>
        </p:nvSpPr>
        <p:spPr>
          <a:xfrm>
            <a:off x="1667823" y="4734848"/>
            <a:ext cx="613224" cy="298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$23k</a:t>
            </a:r>
          </a:p>
        </p:txBody>
      </p:sp>
      <p:sp>
        <p:nvSpPr>
          <p:cNvPr id="231" name="Freeform: Shape 230">
            <a:extLst>
              <a:ext uri="{FF2B5EF4-FFF2-40B4-BE49-F238E27FC236}">
                <a16:creationId xmlns:a16="http://schemas.microsoft.com/office/drawing/2014/main" id="{379B585F-1AFA-F640-C80E-D523257BCD57}"/>
              </a:ext>
            </a:extLst>
          </p:cNvPr>
          <p:cNvSpPr/>
          <p:nvPr/>
        </p:nvSpPr>
        <p:spPr>
          <a:xfrm>
            <a:off x="2278713" y="4208051"/>
            <a:ext cx="79377" cy="1586"/>
          </a:xfrm>
          <a:custGeom>
            <a:avLst/>
            <a:gdLst>
              <a:gd name="csX0" fmla="*/ 89888 w 89887"/>
              <a:gd name="csY0" fmla="*/ 0 h 1796"/>
              <a:gd name="csX1" fmla="*/ 0 w 89887"/>
              <a:gd name="csY1" fmla="*/ 0 h 1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9887" h="1796">
                <a:moveTo>
                  <a:pt x="89888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B3080BF8-3CA1-C438-6F0F-10686E476AD7}"/>
              </a:ext>
            </a:extLst>
          </p:cNvPr>
          <p:cNvSpPr txBox="1"/>
          <p:nvPr/>
        </p:nvSpPr>
        <p:spPr>
          <a:xfrm>
            <a:off x="1667823" y="4050431"/>
            <a:ext cx="613224" cy="298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$24k</a:t>
            </a:r>
          </a:p>
        </p:txBody>
      </p:sp>
      <p:sp>
        <p:nvSpPr>
          <p:cNvPr id="233" name="Freeform: Shape 232">
            <a:extLst>
              <a:ext uri="{FF2B5EF4-FFF2-40B4-BE49-F238E27FC236}">
                <a16:creationId xmlns:a16="http://schemas.microsoft.com/office/drawing/2014/main" id="{A0E6282D-6B3A-27FF-2B93-45A121DA0F7D}"/>
              </a:ext>
            </a:extLst>
          </p:cNvPr>
          <p:cNvSpPr/>
          <p:nvPr/>
        </p:nvSpPr>
        <p:spPr>
          <a:xfrm>
            <a:off x="2278713" y="3523349"/>
            <a:ext cx="79377" cy="1586"/>
          </a:xfrm>
          <a:custGeom>
            <a:avLst/>
            <a:gdLst>
              <a:gd name="csX0" fmla="*/ 89888 w 89887"/>
              <a:gd name="csY0" fmla="*/ 0 h 1796"/>
              <a:gd name="csX1" fmla="*/ 0 w 89887"/>
              <a:gd name="csY1" fmla="*/ 0 h 1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9887" h="1796">
                <a:moveTo>
                  <a:pt x="89888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C7D667CC-8D29-FB91-B690-C2AF974A8636}"/>
              </a:ext>
            </a:extLst>
          </p:cNvPr>
          <p:cNvSpPr txBox="1"/>
          <p:nvPr/>
        </p:nvSpPr>
        <p:spPr>
          <a:xfrm>
            <a:off x="1667823" y="3365729"/>
            <a:ext cx="613224" cy="298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$25k</a:t>
            </a:r>
          </a:p>
        </p:txBody>
      </p:sp>
      <p:sp>
        <p:nvSpPr>
          <p:cNvPr id="235" name="Freeform: Shape 234">
            <a:extLst>
              <a:ext uri="{FF2B5EF4-FFF2-40B4-BE49-F238E27FC236}">
                <a16:creationId xmlns:a16="http://schemas.microsoft.com/office/drawing/2014/main" id="{C940C0E6-E598-63A3-2536-5C859DB49FCA}"/>
              </a:ext>
            </a:extLst>
          </p:cNvPr>
          <p:cNvSpPr/>
          <p:nvPr/>
        </p:nvSpPr>
        <p:spPr>
          <a:xfrm>
            <a:off x="2278713" y="2838932"/>
            <a:ext cx="79377" cy="1586"/>
          </a:xfrm>
          <a:custGeom>
            <a:avLst/>
            <a:gdLst>
              <a:gd name="csX0" fmla="*/ 89888 w 89887"/>
              <a:gd name="csY0" fmla="*/ 0 h 1796"/>
              <a:gd name="csX1" fmla="*/ 0 w 89887"/>
              <a:gd name="csY1" fmla="*/ 0 h 1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9887" h="1796">
                <a:moveTo>
                  <a:pt x="89888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2D4E2DB6-FA3F-31D5-F79D-78F29A143FF9}"/>
              </a:ext>
            </a:extLst>
          </p:cNvPr>
          <p:cNvSpPr txBox="1"/>
          <p:nvPr/>
        </p:nvSpPr>
        <p:spPr>
          <a:xfrm>
            <a:off x="1667823" y="2681297"/>
            <a:ext cx="613224" cy="298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$26k</a:t>
            </a:r>
          </a:p>
        </p:txBody>
      </p:sp>
      <p:sp>
        <p:nvSpPr>
          <p:cNvPr id="237" name="Freeform: Shape 236">
            <a:extLst>
              <a:ext uri="{FF2B5EF4-FFF2-40B4-BE49-F238E27FC236}">
                <a16:creationId xmlns:a16="http://schemas.microsoft.com/office/drawing/2014/main" id="{5995AC17-DBDE-055A-C2F3-B34BE1AA6044}"/>
              </a:ext>
            </a:extLst>
          </p:cNvPr>
          <p:cNvSpPr/>
          <p:nvPr/>
        </p:nvSpPr>
        <p:spPr>
          <a:xfrm>
            <a:off x="2278713" y="2154516"/>
            <a:ext cx="79377" cy="1586"/>
          </a:xfrm>
          <a:custGeom>
            <a:avLst/>
            <a:gdLst>
              <a:gd name="csX0" fmla="*/ 89888 w 89887"/>
              <a:gd name="csY0" fmla="*/ 0 h 1796"/>
              <a:gd name="csX1" fmla="*/ 0 w 89887"/>
              <a:gd name="csY1" fmla="*/ 0 h 1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9887" h="1796">
                <a:moveTo>
                  <a:pt x="89888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BC1BBE69-F356-897A-043F-728C6DB1B642}"/>
              </a:ext>
            </a:extLst>
          </p:cNvPr>
          <p:cNvSpPr txBox="1"/>
          <p:nvPr/>
        </p:nvSpPr>
        <p:spPr>
          <a:xfrm>
            <a:off x="1667823" y="1996880"/>
            <a:ext cx="613224" cy="298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$27k</a:t>
            </a:r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C0CCE605-6312-8323-F318-CCBC3F5C232E}"/>
              </a:ext>
            </a:extLst>
          </p:cNvPr>
          <p:cNvSpPr/>
          <p:nvPr/>
        </p:nvSpPr>
        <p:spPr>
          <a:xfrm>
            <a:off x="2278713" y="1470100"/>
            <a:ext cx="79377" cy="1586"/>
          </a:xfrm>
          <a:custGeom>
            <a:avLst/>
            <a:gdLst>
              <a:gd name="csX0" fmla="*/ 89888 w 89887"/>
              <a:gd name="csY0" fmla="*/ 0 h 1796"/>
              <a:gd name="csX1" fmla="*/ 0 w 89887"/>
              <a:gd name="csY1" fmla="*/ 0 h 1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9887" h="1796">
                <a:moveTo>
                  <a:pt x="89888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97FD75F0-8358-BAEB-F360-9150DC2DDC3C}"/>
              </a:ext>
            </a:extLst>
          </p:cNvPr>
          <p:cNvSpPr txBox="1"/>
          <p:nvPr/>
        </p:nvSpPr>
        <p:spPr>
          <a:xfrm>
            <a:off x="1667823" y="1312464"/>
            <a:ext cx="613224" cy="298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$28k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0C7C73FF-F652-5CC6-29AB-147BCEA32D39}"/>
              </a:ext>
            </a:extLst>
          </p:cNvPr>
          <p:cNvSpPr txBox="1"/>
          <p:nvPr/>
        </p:nvSpPr>
        <p:spPr>
          <a:xfrm rot="16200000">
            <a:off x="46674" y="3373865"/>
            <a:ext cx="2670042" cy="298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Child’s Income in Adulthood</a:t>
            </a:r>
          </a:p>
        </p:txBody>
      </p:sp>
      <p:sp>
        <p:nvSpPr>
          <p:cNvPr id="242" name="Freeform: Shape 241">
            <a:extLst>
              <a:ext uri="{FF2B5EF4-FFF2-40B4-BE49-F238E27FC236}">
                <a16:creationId xmlns:a16="http://schemas.microsoft.com/office/drawing/2014/main" id="{05FD2953-6522-8162-6885-2FBC25F9023F}"/>
              </a:ext>
            </a:extLst>
          </p:cNvPr>
          <p:cNvSpPr/>
          <p:nvPr/>
        </p:nvSpPr>
        <p:spPr>
          <a:xfrm>
            <a:off x="2358091" y="5702517"/>
            <a:ext cx="7815538" cy="1586"/>
          </a:xfrm>
          <a:custGeom>
            <a:avLst/>
            <a:gdLst>
              <a:gd name="csX0" fmla="*/ 0 w 8850400"/>
              <a:gd name="csY0" fmla="*/ 0 h 1796"/>
              <a:gd name="csX1" fmla="*/ 8850401 w 8850400"/>
              <a:gd name="csY1" fmla="*/ 0 h 1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850400" h="1796">
                <a:moveTo>
                  <a:pt x="0" y="0"/>
                </a:moveTo>
                <a:lnTo>
                  <a:pt x="8850401" y="0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43" name="Freeform: Shape 242">
            <a:extLst>
              <a:ext uri="{FF2B5EF4-FFF2-40B4-BE49-F238E27FC236}">
                <a16:creationId xmlns:a16="http://schemas.microsoft.com/office/drawing/2014/main" id="{16546CEC-BEE1-55A1-E41D-245CA0C5E01B}"/>
              </a:ext>
            </a:extLst>
          </p:cNvPr>
          <p:cNvSpPr/>
          <p:nvPr/>
        </p:nvSpPr>
        <p:spPr>
          <a:xfrm>
            <a:off x="2543400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6BA8066E-D755-9801-F9F9-2EE5F144184F}"/>
              </a:ext>
            </a:extLst>
          </p:cNvPr>
          <p:cNvSpPr txBox="1"/>
          <p:nvPr/>
        </p:nvSpPr>
        <p:spPr>
          <a:xfrm>
            <a:off x="2309960" y="5737409"/>
            <a:ext cx="451849" cy="298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-10</a:t>
            </a:r>
          </a:p>
        </p:txBody>
      </p:sp>
      <p:sp>
        <p:nvSpPr>
          <p:cNvPr id="245" name="Freeform: Shape 244">
            <a:extLst>
              <a:ext uri="{FF2B5EF4-FFF2-40B4-BE49-F238E27FC236}">
                <a16:creationId xmlns:a16="http://schemas.microsoft.com/office/drawing/2014/main" id="{CC823013-11DA-A908-0B4E-C38E7EFF4270}"/>
              </a:ext>
            </a:extLst>
          </p:cNvPr>
          <p:cNvSpPr/>
          <p:nvPr/>
        </p:nvSpPr>
        <p:spPr>
          <a:xfrm>
            <a:off x="4405629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18572615-CBE9-1485-FEA4-493EF6A48D6F}"/>
              </a:ext>
            </a:extLst>
          </p:cNvPr>
          <p:cNvSpPr txBox="1"/>
          <p:nvPr/>
        </p:nvSpPr>
        <p:spPr>
          <a:xfrm>
            <a:off x="4230945" y="5737409"/>
            <a:ext cx="337189" cy="298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-5</a:t>
            </a:r>
          </a:p>
        </p:txBody>
      </p:sp>
      <p:sp>
        <p:nvSpPr>
          <p:cNvPr id="247" name="Freeform: Shape 246">
            <a:extLst>
              <a:ext uri="{FF2B5EF4-FFF2-40B4-BE49-F238E27FC236}">
                <a16:creationId xmlns:a16="http://schemas.microsoft.com/office/drawing/2014/main" id="{6C601D14-B035-9955-B22B-7592E1CE210F}"/>
              </a:ext>
            </a:extLst>
          </p:cNvPr>
          <p:cNvSpPr/>
          <p:nvPr/>
        </p:nvSpPr>
        <p:spPr>
          <a:xfrm>
            <a:off x="6267573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01D8B12F-A0F8-7BAC-6B31-CC2E46DAB8D5}"/>
              </a:ext>
            </a:extLst>
          </p:cNvPr>
          <p:cNvSpPr txBox="1"/>
          <p:nvPr/>
        </p:nvSpPr>
        <p:spPr>
          <a:xfrm>
            <a:off x="6128070" y="5737409"/>
            <a:ext cx="277735" cy="298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0</a:t>
            </a:r>
          </a:p>
        </p:txBody>
      </p:sp>
      <p:sp>
        <p:nvSpPr>
          <p:cNvPr id="249" name="Freeform: Shape 248">
            <a:extLst>
              <a:ext uri="{FF2B5EF4-FFF2-40B4-BE49-F238E27FC236}">
                <a16:creationId xmlns:a16="http://schemas.microsoft.com/office/drawing/2014/main" id="{D5B04DC2-F04C-50E6-AF7B-C5FEF28FE205}"/>
              </a:ext>
            </a:extLst>
          </p:cNvPr>
          <p:cNvSpPr/>
          <p:nvPr/>
        </p:nvSpPr>
        <p:spPr>
          <a:xfrm>
            <a:off x="8129802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B79AA290-437E-C36F-76E0-94CA726D043B}"/>
              </a:ext>
            </a:extLst>
          </p:cNvPr>
          <p:cNvSpPr txBox="1"/>
          <p:nvPr/>
        </p:nvSpPr>
        <p:spPr>
          <a:xfrm>
            <a:off x="7990298" y="5737409"/>
            <a:ext cx="277735" cy="298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5</a:t>
            </a:r>
          </a:p>
        </p:txBody>
      </p:sp>
      <p:sp>
        <p:nvSpPr>
          <p:cNvPr id="251" name="Freeform: Shape 250">
            <a:extLst>
              <a:ext uri="{FF2B5EF4-FFF2-40B4-BE49-F238E27FC236}">
                <a16:creationId xmlns:a16="http://schemas.microsoft.com/office/drawing/2014/main" id="{FAE8820A-503E-DC48-098B-DCC903251B77}"/>
              </a:ext>
            </a:extLst>
          </p:cNvPr>
          <p:cNvSpPr/>
          <p:nvPr/>
        </p:nvSpPr>
        <p:spPr>
          <a:xfrm>
            <a:off x="9992032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292BC448-6260-4C20-2BE2-814835C9929D}"/>
              </a:ext>
            </a:extLst>
          </p:cNvPr>
          <p:cNvSpPr txBox="1"/>
          <p:nvPr/>
        </p:nvSpPr>
        <p:spPr>
          <a:xfrm>
            <a:off x="9793773" y="5737409"/>
            <a:ext cx="392395" cy="298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10</a:t>
            </a:r>
          </a:p>
        </p:txBody>
      </p:sp>
      <p:sp>
        <p:nvSpPr>
          <p:cNvPr id="253" name="Freeform: Shape 252">
            <a:extLst>
              <a:ext uri="{FF2B5EF4-FFF2-40B4-BE49-F238E27FC236}">
                <a16:creationId xmlns:a16="http://schemas.microsoft.com/office/drawing/2014/main" id="{66FE1C9F-2D28-6B38-00D8-22CA15D23635}"/>
              </a:ext>
            </a:extLst>
          </p:cNvPr>
          <p:cNvSpPr/>
          <p:nvPr/>
        </p:nvSpPr>
        <p:spPr>
          <a:xfrm>
            <a:off x="2543400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54" name="Freeform: Shape 253">
            <a:extLst>
              <a:ext uri="{FF2B5EF4-FFF2-40B4-BE49-F238E27FC236}">
                <a16:creationId xmlns:a16="http://schemas.microsoft.com/office/drawing/2014/main" id="{F09340AE-5451-6081-64F0-0C8D8A928D9A}"/>
              </a:ext>
            </a:extLst>
          </p:cNvPr>
          <p:cNvSpPr/>
          <p:nvPr/>
        </p:nvSpPr>
        <p:spPr>
          <a:xfrm>
            <a:off x="2915731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55" name="Freeform: Shape 254">
            <a:extLst>
              <a:ext uri="{FF2B5EF4-FFF2-40B4-BE49-F238E27FC236}">
                <a16:creationId xmlns:a16="http://schemas.microsoft.com/office/drawing/2014/main" id="{D4929971-E83C-1D1E-C4F7-5D6F213BAF7E}"/>
              </a:ext>
            </a:extLst>
          </p:cNvPr>
          <p:cNvSpPr/>
          <p:nvPr/>
        </p:nvSpPr>
        <p:spPr>
          <a:xfrm>
            <a:off x="3288063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56" name="Freeform: Shape 255">
            <a:extLst>
              <a:ext uri="{FF2B5EF4-FFF2-40B4-BE49-F238E27FC236}">
                <a16:creationId xmlns:a16="http://schemas.microsoft.com/office/drawing/2014/main" id="{73332D2F-CEA3-8372-8EAA-1F271E87034F}"/>
              </a:ext>
            </a:extLst>
          </p:cNvPr>
          <p:cNvSpPr/>
          <p:nvPr/>
        </p:nvSpPr>
        <p:spPr>
          <a:xfrm>
            <a:off x="3660680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57" name="Freeform: Shape 256">
            <a:extLst>
              <a:ext uri="{FF2B5EF4-FFF2-40B4-BE49-F238E27FC236}">
                <a16:creationId xmlns:a16="http://schemas.microsoft.com/office/drawing/2014/main" id="{C6263828-0D66-FEB5-8D34-6A8AF0125F02}"/>
              </a:ext>
            </a:extLst>
          </p:cNvPr>
          <p:cNvSpPr/>
          <p:nvPr/>
        </p:nvSpPr>
        <p:spPr>
          <a:xfrm>
            <a:off x="4033012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58" name="Freeform: Shape 257">
            <a:extLst>
              <a:ext uri="{FF2B5EF4-FFF2-40B4-BE49-F238E27FC236}">
                <a16:creationId xmlns:a16="http://schemas.microsoft.com/office/drawing/2014/main" id="{E509351A-76D5-04F4-FB94-53F745D02CD3}"/>
              </a:ext>
            </a:extLst>
          </p:cNvPr>
          <p:cNvSpPr/>
          <p:nvPr/>
        </p:nvSpPr>
        <p:spPr>
          <a:xfrm>
            <a:off x="4405629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59" name="Freeform: Shape 258">
            <a:extLst>
              <a:ext uri="{FF2B5EF4-FFF2-40B4-BE49-F238E27FC236}">
                <a16:creationId xmlns:a16="http://schemas.microsoft.com/office/drawing/2014/main" id="{39F41070-C028-8DD5-3CFF-B8D9FF358EC4}"/>
              </a:ext>
            </a:extLst>
          </p:cNvPr>
          <p:cNvSpPr/>
          <p:nvPr/>
        </p:nvSpPr>
        <p:spPr>
          <a:xfrm>
            <a:off x="4777961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60" name="Freeform: Shape 259">
            <a:extLst>
              <a:ext uri="{FF2B5EF4-FFF2-40B4-BE49-F238E27FC236}">
                <a16:creationId xmlns:a16="http://schemas.microsoft.com/office/drawing/2014/main" id="{BA2E7C8F-273B-A778-E69A-38D856F33DF2}"/>
              </a:ext>
            </a:extLst>
          </p:cNvPr>
          <p:cNvSpPr/>
          <p:nvPr/>
        </p:nvSpPr>
        <p:spPr>
          <a:xfrm>
            <a:off x="5150292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61" name="Freeform: Shape 260">
            <a:extLst>
              <a:ext uri="{FF2B5EF4-FFF2-40B4-BE49-F238E27FC236}">
                <a16:creationId xmlns:a16="http://schemas.microsoft.com/office/drawing/2014/main" id="{B84DDEA2-706A-C1E6-B95B-0B412EBEA641}"/>
              </a:ext>
            </a:extLst>
          </p:cNvPr>
          <p:cNvSpPr/>
          <p:nvPr/>
        </p:nvSpPr>
        <p:spPr>
          <a:xfrm>
            <a:off x="5522909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62" name="Freeform: Shape 261">
            <a:extLst>
              <a:ext uri="{FF2B5EF4-FFF2-40B4-BE49-F238E27FC236}">
                <a16:creationId xmlns:a16="http://schemas.microsoft.com/office/drawing/2014/main" id="{4BA0F0D4-436D-0282-CC6A-264507145979}"/>
              </a:ext>
            </a:extLst>
          </p:cNvPr>
          <p:cNvSpPr/>
          <p:nvPr/>
        </p:nvSpPr>
        <p:spPr>
          <a:xfrm>
            <a:off x="5895242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63" name="Freeform: Shape 262">
            <a:extLst>
              <a:ext uri="{FF2B5EF4-FFF2-40B4-BE49-F238E27FC236}">
                <a16:creationId xmlns:a16="http://schemas.microsoft.com/office/drawing/2014/main" id="{7F3EBAA4-1A13-97DB-C3A8-A920EA35C771}"/>
              </a:ext>
            </a:extLst>
          </p:cNvPr>
          <p:cNvSpPr/>
          <p:nvPr/>
        </p:nvSpPr>
        <p:spPr>
          <a:xfrm>
            <a:off x="6267573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64" name="Freeform: Shape 263">
            <a:extLst>
              <a:ext uri="{FF2B5EF4-FFF2-40B4-BE49-F238E27FC236}">
                <a16:creationId xmlns:a16="http://schemas.microsoft.com/office/drawing/2014/main" id="{CE0E96FD-B799-E886-B57D-6D9AD0BA81E4}"/>
              </a:ext>
            </a:extLst>
          </p:cNvPr>
          <p:cNvSpPr/>
          <p:nvPr/>
        </p:nvSpPr>
        <p:spPr>
          <a:xfrm>
            <a:off x="6640190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65" name="Freeform: Shape 264">
            <a:extLst>
              <a:ext uri="{FF2B5EF4-FFF2-40B4-BE49-F238E27FC236}">
                <a16:creationId xmlns:a16="http://schemas.microsoft.com/office/drawing/2014/main" id="{6EF0FAAB-5C2D-7298-244F-C904C88D301D}"/>
              </a:ext>
            </a:extLst>
          </p:cNvPr>
          <p:cNvSpPr/>
          <p:nvPr/>
        </p:nvSpPr>
        <p:spPr>
          <a:xfrm>
            <a:off x="7012522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66" name="Freeform: Shape 265">
            <a:extLst>
              <a:ext uri="{FF2B5EF4-FFF2-40B4-BE49-F238E27FC236}">
                <a16:creationId xmlns:a16="http://schemas.microsoft.com/office/drawing/2014/main" id="{EB4BE335-67BA-A0EC-0E3A-3A690FC237EB}"/>
              </a:ext>
            </a:extLst>
          </p:cNvPr>
          <p:cNvSpPr/>
          <p:nvPr/>
        </p:nvSpPr>
        <p:spPr>
          <a:xfrm>
            <a:off x="7385139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67" name="Freeform: Shape 266">
            <a:extLst>
              <a:ext uri="{FF2B5EF4-FFF2-40B4-BE49-F238E27FC236}">
                <a16:creationId xmlns:a16="http://schemas.microsoft.com/office/drawing/2014/main" id="{8729E103-0CF1-D9AD-65E5-F599B60E4595}"/>
              </a:ext>
            </a:extLst>
          </p:cNvPr>
          <p:cNvSpPr/>
          <p:nvPr/>
        </p:nvSpPr>
        <p:spPr>
          <a:xfrm>
            <a:off x="7757470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68" name="Freeform: Shape 267">
            <a:extLst>
              <a:ext uri="{FF2B5EF4-FFF2-40B4-BE49-F238E27FC236}">
                <a16:creationId xmlns:a16="http://schemas.microsoft.com/office/drawing/2014/main" id="{6937846C-3B36-F74C-F01E-3FA6D9BA36B6}"/>
              </a:ext>
            </a:extLst>
          </p:cNvPr>
          <p:cNvSpPr/>
          <p:nvPr/>
        </p:nvSpPr>
        <p:spPr>
          <a:xfrm>
            <a:off x="8129802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69" name="Freeform: Shape 268">
            <a:extLst>
              <a:ext uri="{FF2B5EF4-FFF2-40B4-BE49-F238E27FC236}">
                <a16:creationId xmlns:a16="http://schemas.microsoft.com/office/drawing/2014/main" id="{AE9772BF-6244-C213-EE8F-3FD1110CA556}"/>
              </a:ext>
            </a:extLst>
          </p:cNvPr>
          <p:cNvSpPr/>
          <p:nvPr/>
        </p:nvSpPr>
        <p:spPr>
          <a:xfrm>
            <a:off x="8502420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70" name="Freeform: Shape 269">
            <a:extLst>
              <a:ext uri="{FF2B5EF4-FFF2-40B4-BE49-F238E27FC236}">
                <a16:creationId xmlns:a16="http://schemas.microsoft.com/office/drawing/2014/main" id="{0879958E-6E13-942A-058E-05CF912A72AB}"/>
              </a:ext>
            </a:extLst>
          </p:cNvPr>
          <p:cNvSpPr/>
          <p:nvPr/>
        </p:nvSpPr>
        <p:spPr>
          <a:xfrm>
            <a:off x="8874751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71" name="Freeform: Shape 270">
            <a:extLst>
              <a:ext uri="{FF2B5EF4-FFF2-40B4-BE49-F238E27FC236}">
                <a16:creationId xmlns:a16="http://schemas.microsoft.com/office/drawing/2014/main" id="{44F95E5D-8905-D4A0-6287-93B8A2917EA7}"/>
              </a:ext>
            </a:extLst>
          </p:cNvPr>
          <p:cNvSpPr/>
          <p:nvPr/>
        </p:nvSpPr>
        <p:spPr>
          <a:xfrm>
            <a:off x="9247369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72" name="Freeform: Shape 271">
            <a:extLst>
              <a:ext uri="{FF2B5EF4-FFF2-40B4-BE49-F238E27FC236}">
                <a16:creationId xmlns:a16="http://schemas.microsoft.com/office/drawing/2014/main" id="{A2B4DA5B-3972-B01B-0A83-12C569777D04}"/>
              </a:ext>
            </a:extLst>
          </p:cNvPr>
          <p:cNvSpPr/>
          <p:nvPr/>
        </p:nvSpPr>
        <p:spPr>
          <a:xfrm>
            <a:off x="9619700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73" name="Freeform: Shape 272">
            <a:extLst>
              <a:ext uri="{FF2B5EF4-FFF2-40B4-BE49-F238E27FC236}">
                <a16:creationId xmlns:a16="http://schemas.microsoft.com/office/drawing/2014/main" id="{FA0BFB78-FD64-6724-0888-5312BCF0EF2A}"/>
              </a:ext>
            </a:extLst>
          </p:cNvPr>
          <p:cNvSpPr/>
          <p:nvPr/>
        </p:nvSpPr>
        <p:spPr>
          <a:xfrm>
            <a:off x="9992032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0439BDC5-FE3E-A204-72E5-BB48FD1A00FD}"/>
              </a:ext>
            </a:extLst>
          </p:cNvPr>
          <p:cNvSpPr txBox="1"/>
          <p:nvPr/>
        </p:nvSpPr>
        <p:spPr>
          <a:xfrm>
            <a:off x="4643236" y="6026665"/>
            <a:ext cx="2831417" cy="298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Year Relative to HOPE VI Grant</a:t>
            </a:r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22DEDC28-B0A6-8757-57FB-0FB6E645C1E8}"/>
              </a:ext>
            </a:extLst>
          </p:cNvPr>
          <p:cNvSpPr/>
          <p:nvPr/>
        </p:nvSpPr>
        <p:spPr>
          <a:xfrm>
            <a:off x="2426618" y="1412993"/>
            <a:ext cx="3185091" cy="845456"/>
          </a:xfrm>
          <a:prstGeom prst="rect">
            <a:avLst/>
          </a:prstGeom>
          <a:solidFill>
            <a:srgbClr val="FFFFFF"/>
          </a:solidFill>
          <a:ln w="1796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C6F29E03-8F8A-7C33-2C92-FBE32AFAA983}"/>
              </a:ext>
            </a:extLst>
          </p:cNvPr>
          <p:cNvSpPr/>
          <p:nvPr/>
        </p:nvSpPr>
        <p:spPr>
          <a:xfrm>
            <a:off x="2432328" y="1418704"/>
            <a:ext cx="3173671" cy="834034"/>
          </a:xfrm>
          <a:prstGeom prst="rect">
            <a:avLst/>
          </a:prstGeom>
          <a:noFill/>
          <a:ln w="12930" cap="flat">
            <a:solidFill>
              <a:srgbClr val="FFFFFF">
                <a:alpha val="0"/>
              </a:srgbClr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77" name="Oval 276">
            <a:extLst>
              <a:ext uri="{FF2B5EF4-FFF2-40B4-BE49-F238E27FC236}">
                <a16:creationId xmlns:a16="http://schemas.microsoft.com/office/drawing/2014/main" id="{FB944672-0613-81FA-B194-D54AB90786CC}"/>
              </a:ext>
            </a:extLst>
          </p:cNvPr>
          <p:cNvSpPr/>
          <p:nvPr/>
        </p:nvSpPr>
        <p:spPr>
          <a:xfrm>
            <a:off x="2499428" y="1648271"/>
            <a:ext cx="97080" cy="97080"/>
          </a:xfrm>
          <a:prstGeom prst="ellipse">
            <a:avLst/>
          </a:prstGeom>
          <a:solidFill>
            <a:srgbClr val="29B6A4"/>
          </a:solidFill>
          <a:ln w="1796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78" name="Oval 277">
            <a:extLst>
              <a:ext uri="{FF2B5EF4-FFF2-40B4-BE49-F238E27FC236}">
                <a16:creationId xmlns:a16="http://schemas.microsoft.com/office/drawing/2014/main" id="{1C44E924-5ADE-9EF2-BBD4-1E0126190CFA}"/>
              </a:ext>
            </a:extLst>
          </p:cNvPr>
          <p:cNvSpPr/>
          <p:nvPr/>
        </p:nvSpPr>
        <p:spPr>
          <a:xfrm>
            <a:off x="2512277" y="1661120"/>
            <a:ext cx="71382" cy="71382"/>
          </a:xfrm>
          <a:prstGeom prst="ellipse">
            <a:avLst/>
          </a:prstGeom>
          <a:noFill/>
          <a:ln w="29093" cap="flat">
            <a:solidFill>
              <a:srgbClr val="29B6A4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677D6AF6-F44E-166A-4F2C-5B7F18819F61}"/>
              </a:ext>
            </a:extLst>
          </p:cNvPr>
          <p:cNvSpPr txBox="1"/>
          <p:nvPr/>
        </p:nvSpPr>
        <p:spPr>
          <a:xfrm>
            <a:off x="2621977" y="1447402"/>
            <a:ext cx="2524238" cy="298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Moved Out More Than One</a:t>
            </a: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028C4DF6-9BB4-4FD3-4465-EA3C28C6C16D}"/>
              </a:ext>
            </a:extLst>
          </p:cNvPr>
          <p:cNvSpPr txBox="1"/>
          <p:nvPr/>
        </p:nvSpPr>
        <p:spPr>
          <a:xfrm>
            <a:off x="2621977" y="1645846"/>
            <a:ext cx="2469031" cy="298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Year Before HOPE VI Grant</a:t>
            </a:r>
          </a:p>
        </p:txBody>
      </p:sp>
    </p:spTree>
    <p:extLst>
      <p:ext uri="{BB962C8B-B14F-4D97-AF65-F5344CB8AC3E}">
        <p14:creationId xmlns:p14="http://schemas.microsoft.com/office/powerpoint/2010/main" val="1567720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1A796-FF47-835C-D0A0-6BC9812A4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8ACE6DA-2ECB-F089-C167-86285C19865E}"/>
              </a:ext>
            </a:extLst>
          </p:cNvPr>
          <p:cNvSpPr/>
          <p:nvPr/>
        </p:nvSpPr>
        <p:spPr>
          <a:xfrm>
            <a:off x="1501030" y="927743"/>
            <a:ext cx="9196612" cy="5743547"/>
          </a:xfrm>
          <a:custGeom>
            <a:avLst/>
            <a:gdLst>
              <a:gd name="connsiteX0" fmla="*/ 0 w 9196612"/>
              <a:gd name="connsiteY0" fmla="*/ 0 h 5743547"/>
              <a:gd name="connsiteX1" fmla="*/ 9196613 w 9196612"/>
              <a:gd name="connsiteY1" fmla="*/ 0 h 5743547"/>
              <a:gd name="connsiteX2" fmla="*/ 9196613 w 9196612"/>
              <a:gd name="connsiteY2" fmla="*/ 5743548 h 5743547"/>
              <a:gd name="connsiteX3" fmla="*/ 0 w 9196612"/>
              <a:gd name="connsiteY3" fmla="*/ 5743548 h 5743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96612" h="5743547">
                <a:moveTo>
                  <a:pt x="0" y="0"/>
                </a:moveTo>
                <a:lnTo>
                  <a:pt x="9196613" y="0"/>
                </a:lnTo>
                <a:lnTo>
                  <a:pt x="9196613" y="5743548"/>
                </a:lnTo>
                <a:lnTo>
                  <a:pt x="0" y="5743548"/>
                </a:lnTo>
                <a:close/>
              </a:path>
            </a:pathLst>
          </a:custGeom>
          <a:noFill/>
          <a:ln w="115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83" name="Rectangle 183">
            <a:extLst>
              <a:ext uri="{FF2B5EF4-FFF2-40B4-BE49-F238E27FC236}">
                <a16:creationId xmlns:a16="http://schemas.microsoft.com/office/drawing/2014/main" id="{BA77187D-68BC-655D-4237-5A42ACC91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351" y="598576"/>
            <a:ext cx="100990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 </a:t>
            </a:r>
            <a:endParaRPr kumimoji="0" lang="en-US" altLang="en-US" sz="1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pic>
        <p:nvPicPr>
          <p:cNvPr id="2" name="Picture 1" descr="A black and grey text&#10;&#10;Description automatically generated">
            <a:extLst>
              <a:ext uri="{FF2B5EF4-FFF2-40B4-BE49-F238E27FC236}">
                <a16:creationId xmlns:a16="http://schemas.microsoft.com/office/drawing/2014/main" id="{5D01A34C-E4CF-2A1A-0796-CFEADD658ED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3847FF7-7BDD-C89D-05B3-545B041C7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36" y="375319"/>
            <a:ext cx="10499449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Impact of Revitalization on Children’s Incomes in Adulthood</a:t>
            </a:r>
          </a:p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anose="020B0604020202020204" pitchFamily="34" charset="0"/>
              </a:rPr>
              <a:t>Children Living in Public Housing Before vs. After Award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B5C796-BA98-BA53-E78E-CE31CF70762D}"/>
              </a:ext>
            </a:extLst>
          </p:cNvPr>
          <p:cNvCxnSpPr>
            <a:cxnSpLocks/>
          </p:cNvCxnSpPr>
          <p:nvPr/>
        </p:nvCxnSpPr>
        <p:spPr>
          <a:xfrm>
            <a:off x="620980" y="10009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1AE6C18-2A3D-B17C-DEC5-2C87961E0A4C}"/>
              </a:ext>
            </a:extLst>
          </p:cNvPr>
          <p:cNvSpPr txBox="1"/>
          <p:nvPr/>
        </p:nvSpPr>
        <p:spPr>
          <a:xfrm>
            <a:off x="568592" y="6483107"/>
            <a:ext cx="8839200" cy="307756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l" defTabSz="1217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Source: 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Chetty, Diamond, Foster, Katz, Porter, Staiger, Tach (2025)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Lato" panose="020F0502020204030203" pitchFamily="34" charset="0"/>
              <a:cs typeface="Arial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6897D1F-8CDA-3279-B6E3-BE1EC54CE854}"/>
              </a:ext>
            </a:extLst>
          </p:cNvPr>
          <p:cNvCxnSpPr>
            <a:cxnSpLocks/>
          </p:cNvCxnSpPr>
          <p:nvPr/>
        </p:nvCxnSpPr>
        <p:spPr>
          <a:xfrm>
            <a:off x="620980" y="6483107"/>
            <a:ext cx="109536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959EE8BD-D764-C854-9BAE-B044B7F87A3D}"/>
              </a:ext>
            </a:extLst>
          </p:cNvPr>
          <p:cNvSpPr/>
          <p:nvPr/>
        </p:nvSpPr>
        <p:spPr>
          <a:xfrm>
            <a:off x="2358091" y="1344466"/>
            <a:ext cx="7815538" cy="4358051"/>
          </a:xfrm>
          <a:prstGeom prst="rect">
            <a:avLst/>
          </a:prstGeom>
          <a:solidFill>
            <a:srgbClr val="FFFFFF"/>
          </a:solidFill>
          <a:ln w="1796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B0AD6CFA-3150-F77E-C162-4A0FFE6A1FE1}"/>
              </a:ext>
            </a:extLst>
          </p:cNvPr>
          <p:cNvSpPr/>
          <p:nvPr/>
        </p:nvSpPr>
        <p:spPr>
          <a:xfrm>
            <a:off x="2363801" y="1350177"/>
            <a:ext cx="7804117" cy="4346629"/>
          </a:xfrm>
          <a:prstGeom prst="rect">
            <a:avLst/>
          </a:prstGeom>
          <a:noFill/>
          <a:ln w="12930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50" name="Freeform: Shape 149">
            <a:extLst>
              <a:ext uri="{FF2B5EF4-FFF2-40B4-BE49-F238E27FC236}">
                <a16:creationId xmlns:a16="http://schemas.microsoft.com/office/drawing/2014/main" id="{84919AA4-B7A9-111C-75D8-3F2548E8C910}"/>
              </a:ext>
            </a:extLst>
          </p:cNvPr>
          <p:cNvSpPr/>
          <p:nvPr/>
        </p:nvSpPr>
        <p:spPr>
          <a:xfrm>
            <a:off x="5895242" y="5588305"/>
            <a:ext cx="1586" cy="114212"/>
          </a:xfrm>
          <a:custGeom>
            <a:avLst/>
            <a:gdLst>
              <a:gd name="csX0" fmla="*/ 0 w 1796"/>
              <a:gd name="csY0" fmla="*/ 129335 h 129335"/>
              <a:gd name="csX1" fmla="*/ 0 w 1796"/>
              <a:gd name="csY1" fmla="*/ 0 h 12933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129335">
                <a:moveTo>
                  <a:pt x="0" y="129335"/>
                </a:moveTo>
                <a:lnTo>
                  <a:pt x="0" y="0"/>
                </a:lnTo>
              </a:path>
            </a:pathLst>
          </a:custGeom>
          <a:ln w="1939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A294DA44-87EC-5C0F-7C03-9DC4BFBFF097}"/>
              </a:ext>
            </a:extLst>
          </p:cNvPr>
          <p:cNvSpPr/>
          <p:nvPr/>
        </p:nvSpPr>
        <p:spPr>
          <a:xfrm>
            <a:off x="5895242" y="5416987"/>
            <a:ext cx="1586" cy="114212"/>
          </a:xfrm>
          <a:custGeom>
            <a:avLst/>
            <a:gdLst>
              <a:gd name="csX0" fmla="*/ 0 w 1796"/>
              <a:gd name="csY0" fmla="*/ 129335 h 129335"/>
              <a:gd name="csX1" fmla="*/ 0 w 1796"/>
              <a:gd name="csY1" fmla="*/ 0 h 12933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129335">
                <a:moveTo>
                  <a:pt x="0" y="129335"/>
                </a:moveTo>
                <a:lnTo>
                  <a:pt x="0" y="0"/>
                </a:lnTo>
              </a:path>
            </a:pathLst>
          </a:custGeom>
          <a:ln w="1939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55" name="Freeform: Shape 154">
            <a:extLst>
              <a:ext uri="{FF2B5EF4-FFF2-40B4-BE49-F238E27FC236}">
                <a16:creationId xmlns:a16="http://schemas.microsoft.com/office/drawing/2014/main" id="{EFDA0A12-4D17-828C-174C-0E5A532FB38D}"/>
              </a:ext>
            </a:extLst>
          </p:cNvPr>
          <p:cNvSpPr/>
          <p:nvPr/>
        </p:nvSpPr>
        <p:spPr>
          <a:xfrm>
            <a:off x="5895242" y="5245668"/>
            <a:ext cx="1586" cy="114212"/>
          </a:xfrm>
          <a:custGeom>
            <a:avLst/>
            <a:gdLst>
              <a:gd name="csX0" fmla="*/ 0 w 1796"/>
              <a:gd name="csY0" fmla="*/ 129335 h 129335"/>
              <a:gd name="csX1" fmla="*/ 0 w 1796"/>
              <a:gd name="csY1" fmla="*/ 0 h 12933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129335">
                <a:moveTo>
                  <a:pt x="0" y="129335"/>
                </a:moveTo>
                <a:lnTo>
                  <a:pt x="0" y="0"/>
                </a:lnTo>
              </a:path>
            </a:pathLst>
          </a:custGeom>
          <a:ln w="1939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61" name="Freeform: Shape 160">
            <a:extLst>
              <a:ext uri="{FF2B5EF4-FFF2-40B4-BE49-F238E27FC236}">
                <a16:creationId xmlns:a16="http://schemas.microsoft.com/office/drawing/2014/main" id="{0FEF7DFC-359D-9A57-53EA-845E15344C59}"/>
              </a:ext>
            </a:extLst>
          </p:cNvPr>
          <p:cNvSpPr/>
          <p:nvPr/>
        </p:nvSpPr>
        <p:spPr>
          <a:xfrm>
            <a:off x="5895242" y="5074350"/>
            <a:ext cx="1586" cy="114212"/>
          </a:xfrm>
          <a:custGeom>
            <a:avLst/>
            <a:gdLst>
              <a:gd name="csX0" fmla="*/ 0 w 1796"/>
              <a:gd name="csY0" fmla="*/ 129335 h 129335"/>
              <a:gd name="csX1" fmla="*/ 0 w 1796"/>
              <a:gd name="csY1" fmla="*/ 0 h 12933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129335">
                <a:moveTo>
                  <a:pt x="0" y="129335"/>
                </a:moveTo>
                <a:lnTo>
                  <a:pt x="0" y="0"/>
                </a:lnTo>
              </a:path>
            </a:pathLst>
          </a:custGeom>
          <a:ln w="1939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62" name="Freeform: Shape 161">
            <a:extLst>
              <a:ext uri="{FF2B5EF4-FFF2-40B4-BE49-F238E27FC236}">
                <a16:creationId xmlns:a16="http://schemas.microsoft.com/office/drawing/2014/main" id="{B8EB8FE0-8717-3043-5E60-9D1F2A4847EB}"/>
              </a:ext>
            </a:extLst>
          </p:cNvPr>
          <p:cNvSpPr/>
          <p:nvPr/>
        </p:nvSpPr>
        <p:spPr>
          <a:xfrm>
            <a:off x="5895242" y="4902746"/>
            <a:ext cx="1586" cy="114497"/>
          </a:xfrm>
          <a:custGeom>
            <a:avLst/>
            <a:gdLst>
              <a:gd name="csX0" fmla="*/ 0 w 1796"/>
              <a:gd name="csY0" fmla="*/ 129659 h 129658"/>
              <a:gd name="csX1" fmla="*/ 0 w 1796"/>
              <a:gd name="csY1" fmla="*/ 0 h 1296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129658">
                <a:moveTo>
                  <a:pt x="0" y="129659"/>
                </a:moveTo>
                <a:lnTo>
                  <a:pt x="0" y="0"/>
                </a:lnTo>
              </a:path>
            </a:pathLst>
          </a:custGeom>
          <a:ln w="1939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66FC272-1FA4-CBB3-2118-8F454376F749}"/>
              </a:ext>
            </a:extLst>
          </p:cNvPr>
          <p:cNvSpPr/>
          <p:nvPr/>
        </p:nvSpPr>
        <p:spPr>
          <a:xfrm>
            <a:off x="5895242" y="4731428"/>
            <a:ext cx="1586" cy="114497"/>
          </a:xfrm>
          <a:custGeom>
            <a:avLst/>
            <a:gdLst>
              <a:gd name="csX0" fmla="*/ 0 w 1796"/>
              <a:gd name="csY0" fmla="*/ 129659 h 129658"/>
              <a:gd name="csX1" fmla="*/ 0 w 1796"/>
              <a:gd name="csY1" fmla="*/ 0 h 1296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129658">
                <a:moveTo>
                  <a:pt x="0" y="129659"/>
                </a:moveTo>
                <a:lnTo>
                  <a:pt x="0" y="0"/>
                </a:lnTo>
              </a:path>
            </a:pathLst>
          </a:custGeom>
          <a:ln w="1939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64" name="Freeform: Shape 163">
            <a:extLst>
              <a:ext uri="{FF2B5EF4-FFF2-40B4-BE49-F238E27FC236}">
                <a16:creationId xmlns:a16="http://schemas.microsoft.com/office/drawing/2014/main" id="{81A54D70-1F18-4FCB-D19B-5D1B15B8EE73}"/>
              </a:ext>
            </a:extLst>
          </p:cNvPr>
          <p:cNvSpPr/>
          <p:nvPr/>
        </p:nvSpPr>
        <p:spPr>
          <a:xfrm>
            <a:off x="5895242" y="4560110"/>
            <a:ext cx="1586" cy="114212"/>
          </a:xfrm>
          <a:custGeom>
            <a:avLst/>
            <a:gdLst>
              <a:gd name="csX0" fmla="*/ 0 w 1796"/>
              <a:gd name="csY0" fmla="*/ 129335 h 129335"/>
              <a:gd name="csX1" fmla="*/ 0 w 1796"/>
              <a:gd name="csY1" fmla="*/ 0 h 12933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129335">
                <a:moveTo>
                  <a:pt x="0" y="129335"/>
                </a:moveTo>
                <a:lnTo>
                  <a:pt x="0" y="0"/>
                </a:lnTo>
              </a:path>
            </a:pathLst>
          </a:custGeom>
          <a:ln w="1939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65" name="Freeform: Shape 164">
            <a:extLst>
              <a:ext uri="{FF2B5EF4-FFF2-40B4-BE49-F238E27FC236}">
                <a16:creationId xmlns:a16="http://schemas.microsoft.com/office/drawing/2014/main" id="{F62DFB98-C764-0D91-2251-3FE450DB365A}"/>
              </a:ext>
            </a:extLst>
          </p:cNvPr>
          <p:cNvSpPr/>
          <p:nvPr/>
        </p:nvSpPr>
        <p:spPr>
          <a:xfrm>
            <a:off x="5895242" y="4388791"/>
            <a:ext cx="1586" cy="114212"/>
          </a:xfrm>
          <a:custGeom>
            <a:avLst/>
            <a:gdLst>
              <a:gd name="csX0" fmla="*/ 0 w 1796"/>
              <a:gd name="csY0" fmla="*/ 129335 h 129335"/>
              <a:gd name="csX1" fmla="*/ 0 w 1796"/>
              <a:gd name="csY1" fmla="*/ 0 h 12933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129335">
                <a:moveTo>
                  <a:pt x="0" y="129335"/>
                </a:moveTo>
                <a:lnTo>
                  <a:pt x="0" y="0"/>
                </a:lnTo>
              </a:path>
            </a:pathLst>
          </a:custGeom>
          <a:ln w="1939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66" name="Freeform: Shape 165">
            <a:extLst>
              <a:ext uri="{FF2B5EF4-FFF2-40B4-BE49-F238E27FC236}">
                <a16:creationId xmlns:a16="http://schemas.microsoft.com/office/drawing/2014/main" id="{38787954-2F98-B9B8-E42E-54E238358366}"/>
              </a:ext>
            </a:extLst>
          </p:cNvPr>
          <p:cNvSpPr/>
          <p:nvPr/>
        </p:nvSpPr>
        <p:spPr>
          <a:xfrm>
            <a:off x="5895242" y="4217474"/>
            <a:ext cx="1586" cy="114212"/>
          </a:xfrm>
          <a:custGeom>
            <a:avLst/>
            <a:gdLst>
              <a:gd name="csX0" fmla="*/ 0 w 1796"/>
              <a:gd name="csY0" fmla="*/ 129335 h 129335"/>
              <a:gd name="csX1" fmla="*/ 0 w 1796"/>
              <a:gd name="csY1" fmla="*/ 0 h 12933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129335">
                <a:moveTo>
                  <a:pt x="0" y="129335"/>
                </a:moveTo>
                <a:lnTo>
                  <a:pt x="0" y="0"/>
                </a:lnTo>
              </a:path>
            </a:pathLst>
          </a:custGeom>
          <a:ln w="1939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67" name="Freeform: Shape 166">
            <a:extLst>
              <a:ext uri="{FF2B5EF4-FFF2-40B4-BE49-F238E27FC236}">
                <a16:creationId xmlns:a16="http://schemas.microsoft.com/office/drawing/2014/main" id="{7BB119F1-D98B-2A6A-B5BD-EBCD23265A16}"/>
              </a:ext>
            </a:extLst>
          </p:cNvPr>
          <p:cNvSpPr/>
          <p:nvPr/>
        </p:nvSpPr>
        <p:spPr>
          <a:xfrm>
            <a:off x="5895242" y="4046155"/>
            <a:ext cx="1586" cy="114212"/>
          </a:xfrm>
          <a:custGeom>
            <a:avLst/>
            <a:gdLst>
              <a:gd name="csX0" fmla="*/ 0 w 1796"/>
              <a:gd name="csY0" fmla="*/ 129335 h 129335"/>
              <a:gd name="csX1" fmla="*/ 0 w 1796"/>
              <a:gd name="csY1" fmla="*/ 0 h 12933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129335">
                <a:moveTo>
                  <a:pt x="0" y="129335"/>
                </a:moveTo>
                <a:lnTo>
                  <a:pt x="0" y="0"/>
                </a:lnTo>
              </a:path>
            </a:pathLst>
          </a:custGeom>
          <a:ln w="1939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68" name="Freeform: Shape 167">
            <a:extLst>
              <a:ext uri="{FF2B5EF4-FFF2-40B4-BE49-F238E27FC236}">
                <a16:creationId xmlns:a16="http://schemas.microsoft.com/office/drawing/2014/main" id="{F873FE55-54AF-6419-B22D-8E3EB039F6E0}"/>
              </a:ext>
            </a:extLst>
          </p:cNvPr>
          <p:cNvSpPr/>
          <p:nvPr/>
        </p:nvSpPr>
        <p:spPr>
          <a:xfrm>
            <a:off x="5895242" y="3874836"/>
            <a:ext cx="1586" cy="114212"/>
          </a:xfrm>
          <a:custGeom>
            <a:avLst/>
            <a:gdLst>
              <a:gd name="csX0" fmla="*/ 0 w 1796"/>
              <a:gd name="csY0" fmla="*/ 129335 h 129335"/>
              <a:gd name="csX1" fmla="*/ 0 w 1796"/>
              <a:gd name="csY1" fmla="*/ 0 h 12933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129335">
                <a:moveTo>
                  <a:pt x="0" y="129335"/>
                </a:moveTo>
                <a:lnTo>
                  <a:pt x="0" y="0"/>
                </a:lnTo>
              </a:path>
            </a:pathLst>
          </a:custGeom>
          <a:ln w="1939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69" name="Freeform: Shape 168">
            <a:extLst>
              <a:ext uri="{FF2B5EF4-FFF2-40B4-BE49-F238E27FC236}">
                <a16:creationId xmlns:a16="http://schemas.microsoft.com/office/drawing/2014/main" id="{2F4211FA-2D0E-964A-9AD6-8C893FB26C28}"/>
              </a:ext>
            </a:extLst>
          </p:cNvPr>
          <p:cNvSpPr/>
          <p:nvPr/>
        </p:nvSpPr>
        <p:spPr>
          <a:xfrm>
            <a:off x="5895242" y="3703519"/>
            <a:ext cx="1586" cy="114212"/>
          </a:xfrm>
          <a:custGeom>
            <a:avLst/>
            <a:gdLst>
              <a:gd name="csX0" fmla="*/ 0 w 1796"/>
              <a:gd name="csY0" fmla="*/ 129335 h 129335"/>
              <a:gd name="csX1" fmla="*/ 0 w 1796"/>
              <a:gd name="csY1" fmla="*/ 0 h 12933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129335">
                <a:moveTo>
                  <a:pt x="0" y="129335"/>
                </a:moveTo>
                <a:lnTo>
                  <a:pt x="0" y="0"/>
                </a:lnTo>
              </a:path>
            </a:pathLst>
          </a:custGeom>
          <a:ln w="1939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70" name="Freeform: Shape 169">
            <a:extLst>
              <a:ext uri="{FF2B5EF4-FFF2-40B4-BE49-F238E27FC236}">
                <a16:creationId xmlns:a16="http://schemas.microsoft.com/office/drawing/2014/main" id="{4DF9E3DA-B54E-206E-6ACC-34E5B13093B3}"/>
              </a:ext>
            </a:extLst>
          </p:cNvPr>
          <p:cNvSpPr/>
          <p:nvPr/>
        </p:nvSpPr>
        <p:spPr>
          <a:xfrm>
            <a:off x="5895242" y="3531915"/>
            <a:ext cx="1586" cy="114497"/>
          </a:xfrm>
          <a:custGeom>
            <a:avLst/>
            <a:gdLst>
              <a:gd name="csX0" fmla="*/ 0 w 1796"/>
              <a:gd name="csY0" fmla="*/ 129659 h 129658"/>
              <a:gd name="csX1" fmla="*/ 0 w 1796"/>
              <a:gd name="csY1" fmla="*/ 0 h 1296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129658">
                <a:moveTo>
                  <a:pt x="0" y="129659"/>
                </a:moveTo>
                <a:lnTo>
                  <a:pt x="0" y="0"/>
                </a:lnTo>
              </a:path>
            </a:pathLst>
          </a:custGeom>
          <a:ln w="1939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71" name="Freeform: Shape 170">
            <a:extLst>
              <a:ext uri="{FF2B5EF4-FFF2-40B4-BE49-F238E27FC236}">
                <a16:creationId xmlns:a16="http://schemas.microsoft.com/office/drawing/2014/main" id="{9DE91F64-1909-2B57-1FDB-87987D8ACB55}"/>
              </a:ext>
            </a:extLst>
          </p:cNvPr>
          <p:cNvSpPr/>
          <p:nvPr/>
        </p:nvSpPr>
        <p:spPr>
          <a:xfrm>
            <a:off x="5895242" y="3360596"/>
            <a:ext cx="1586" cy="114497"/>
          </a:xfrm>
          <a:custGeom>
            <a:avLst/>
            <a:gdLst>
              <a:gd name="csX0" fmla="*/ 0 w 1796"/>
              <a:gd name="csY0" fmla="*/ 129659 h 129658"/>
              <a:gd name="csX1" fmla="*/ 0 w 1796"/>
              <a:gd name="csY1" fmla="*/ 0 h 1296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129658">
                <a:moveTo>
                  <a:pt x="0" y="129659"/>
                </a:moveTo>
                <a:lnTo>
                  <a:pt x="0" y="0"/>
                </a:lnTo>
              </a:path>
            </a:pathLst>
          </a:custGeom>
          <a:ln w="1939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72" name="Freeform: Shape 171">
            <a:extLst>
              <a:ext uri="{FF2B5EF4-FFF2-40B4-BE49-F238E27FC236}">
                <a16:creationId xmlns:a16="http://schemas.microsoft.com/office/drawing/2014/main" id="{349C0007-4A2C-1E74-D4BF-1CE973331929}"/>
              </a:ext>
            </a:extLst>
          </p:cNvPr>
          <p:cNvSpPr/>
          <p:nvPr/>
        </p:nvSpPr>
        <p:spPr>
          <a:xfrm>
            <a:off x="5895242" y="3189279"/>
            <a:ext cx="1586" cy="114212"/>
          </a:xfrm>
          <a:custGeom>
            <a:avLst/>
            <a:gdLst>
              <a:gd name="csX0" fmla="*/ 0 w 1796"/>
              <a:gd name="csY0" fmla="*/ 129335 h 129335"/>
              <a:gd name="csX1" fmla="*/ 0 w 1796"/>
              <a:gd name="csY1" fmla="*/ 0 h 12933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129335">
                <a:moveTo>
                  <a:pt x="0" y="129335"/>
                </a:moveTo>
                <a:lnTo>
                  <a:pt x="0" y="0"/>
                </a:lnTo>
              </a:path>
            </a:pathLst>
          </a:custGeom>
          <a:ln w="1939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73" name="Freeform: Shape 172">
            <a:extLst>
              <a:ext uri="{FF2B5EF4-FFF2-40B4-BE49-F238E27FC236}">
                <a16:creationId xmlns:a16="http://schemas.microsoft.com/office/drawing/2014/main" id="{6FAC017F-FC55-7A38-90D7-64ACC8A107C8}"/>
              </a:ext>
            </a:extLst>
          </p:cNvPr>
          <p:cNvSpPr/>
          <p:nvPr/>
        </p:nvSpPr>
        <p:spPr>
          <a:xfrm>
            <a:off x="5895242" y="3017960"/>
            <a:ext cx="1586" cy="114212"/>
          </a:xfrm>
          <a:custGeom>
            <a:avLst/>
            <a:gdLst>
              <a:gd name="csX0" fmla="*/ 0 w 1796"/>
              <a:gd name="csY0" fmla="*/ 129335 h 129335"/>
              <a:gd name="csX1" fmla="*/ 0 w 1796"/>
              <a:gd name="csY1" fmla="*/ 0 h 12933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129335">
                <a:moveTo>
                  <a:pt x="0" y="129335"/>
                </a:moveTo>
                <a:lnTo>
                  <a:pt x="0" y="0"/>
                </a:lnTo>
              </a:path>
            </a:pathLst>
          </a:custGeom>
          <a:ln w="1939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74" name="Freeform: Shape 173">
            <a:extLst>
              <a:ext uri="{FF2B5EF4-FFF2-40B4-BE49-F238E27FC236}">
                <a16:creationId xmlns:a16="http://schemas.microsoft.com/office/drawing/2014/main" id="{80D772B4-F499-D619-969E-059610F34BD5}"/>
              </a:ext>
            </a:extLst>
          </p:cNvPr>
          <p:cNvSpPr/>
          <p:nvPr/>
        </p:nvSpPr>
        <p:spPr>
          <a:xfrm>
            <a:off x="5895242" y="2846642"/>
            <a:ext cx="1586" cy="114212"/>
          </a:xfrm>
          <a:custGeom>
            <a:avLst/>
            <a:gdLst>
              <a:gd name="csX0" fmla="*/ 0 w 1796"/>
              <a:gd name="csY0" fmla="*/ 129335 h 129335"/>
              <a:gd name="csX1" fmla="*/ 0 w 1796"/>
              <a:gd name="csY1" fmla="*/ 0 h 12933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129335">
                <a:moveTo>
                  <a:pt x="0" y="129335"/>
                </a:moveTo>
                <a:lnTo>
                  <a:pt x="0" y="0"/>
                </a:lnTo>
              </a:path>
            </a:pathLst>
          </a:custGeom>
          <a:ln w="1939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75" name="Freeform: Shape 174">
            <a:extLst>
              <a:ext uri="{FF2B5EF4-FFF2-40B4-BE49-F238E27FC236}">
                <a16:creationId xmlns:a16="http://schemas.microsoft.com/office/drawing/2014/main" id="{F1D4B890-FAD6-81CD-D01E-44B47334B0F8}"/>
              </a:ext>
            </a:extLst>
          </p:cNvPr>
          <p:cNvSpPr/>
          <p:nvPr/>
        </p:nvSpPr>
        <p:spPr>
          <a:xfrm>
            <a:off x="5895242" y="2675324"/>
            <a:ext cx="1586" cy="114212"/>
          </a:xfrm>
          <a:custGeom>
            <a:avLst/>
            <a:gdLst>
              <a:gd name="csX0" fmla="*/ 0 w 1796"/>
              <a:gd name="csY0" fmla="*/ 129335 h 129335"/>
              <a:gd name="csX1" fmla="*/ 0 w 1796"/>
              <a:gd name="csY1" fmla="*/ 0 h 12933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129335">
                <a:moveTo>
                  <a:pt x="0" y="129335"/>
                </a:moveTo>
                <a:lnTo>
                  <a:pt x="0" y="0"/>
                </a:lnTo>
              </a:path>
            </a:pathLst>
          </a:custGeom>
          <a:ln w="1939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76" name="Freeform: Shape 175">
            <a:extLst>
              <a:ext uri="{FF2B5EF4-FFF2-40B4-BE49-F238E27FC236}">
                <a16:creationId xmlns:a16="http://schemas.microsoft.com/office/drawing/2014/main" id="{00948911-AEE0-4797-9D04-E50F3EC49364}"/>
              </a:ext>
            </a:extLst>
          </p:cNvPr>
          <p:cNvSpPr/>
          <p:nvPr/>
        </p:nvSpPr>
        <p:spPr>
          <a:xfrm>
            <a:off x="5895242" y="2504005"/>
            <a:ext cx="1586" cy="114212"/>
          </a:xfrm>
          <a:custGeom>
            <a:avLst/>
            <a:gdLst>
              <a:gd name="csX0" fmla="*/ 0 w 1796"/>
              <a:gd name="csY0" fmla="*/ 129335 h 129335"/>
              <a:gd name="csX1" fmla="*/ 0 w 1796"/>
              <a:gd name="csY1" fmla="*/ 0 h 12933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129335">
                <a:moveTo>
                  <a:pt x="0" y="129335"/>
                </a:moveTo>
                <a:lnTo>
                  <a:pt x="0" y="0"/>
                </a:lnTo>
              </a:path>
            </a:pathLst>
          </a:custGeom>
          <a:ln w="1939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77" name="Freeform: Shape 176">
            <a:extLst>
              <a:ext uri="{FF2B5EF4-FFF2-40B4-BE49-F238E27FC236}">
                <a16:creationId xmlns:a16="http://schemas.microsoft.com/office/drawing/2014/main" id="{AA6B3869-0A83-247C-E357-86890F7D6394}"/>
              </a:ext>
            </a:extLst>
          </p:cNvPr>
          <p:cNvSpPr/>
          <p:nvPr/>
        </p:nvSpPr>
        <p:spPr>
          <a:xfrm>
            <a:off x="5895242" y="2332687"/>
            <a:ext cx="1586" cy="114212"/>
          </a:xfrm>
          <a:custGeom>
            <a:avLst/>
            <a:gdLst>
              <a:gd name="csX0" fmla="*/ 0 w 1796"/>
              <a:gd name="csY0" fmla="*/ 129335 h 129335"/>
              <a:gd name="csX1" fmla="*/ 0 w 1796"/>
              <a:gd name="csY1" fmla="*/ 0 h 12933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129335">
                <a:moveTo>
                  <a:pt x="0" y="129335"/>
                </a:moveTo>
                <a:lnTo>
                  <a:pt x="0" y="0"/>
                </a:lnTo>
              </a:path>
            </a:pathLst>
          </a:custGeom>
          <a:ln w="1939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78" name="Freeform: Shape 177">
            <a:extLst>
              <a:ext uri="{FF2B5EF4-FFF2-40B4-BE49-F238E27FC236}">
                <a16:creationId xmlns:a16="http://schemas.microsoft.com/office/drawing/2014/main" id="{CEEEEE64-48A9-FD98-1256-32A499DC440D}"/>
              </a:ext>
            </a:extLst>
          </p:cNvPr>
          <p:cNvSpPr/>
          <p:nvPr/>
        </p:nvSpPr>
        <p:spPr>
          <a:xfrm>
            <a:off x="5895242" y="2161083"/>
            <a:ext cx="1586" cy="114497"/>
          </a:xfrm>
          <a:custGeom>
            <a:avLst/>
            <a:gdLst>
              <a:gd name="csX0" fmla="*/ 0 w 1796"/>
              <a:gd name="csY0" fmla="*/ 129658 h 129658"/>
              <a:gd name="csX1" fmla="*/ 0 w 1796"/>
              <a:gd name="csY1" fmla="*/ 0 h 1296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129658">
                <a:moveTo>
                  <a:pt x="0" y="129658"/>
                </a:moveTo>
                <a:lnTo>
                  <a:pt x="0" y="0"/>
                </a:lnTo>
              </a:path>
            </a:pathLst>
          </a:custGeom>
          <a:ln w="1939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79" name="Freeform: Shape 178">
            <a:extLst>
              <a:ext uri="{FF2B5EF4-FFF2-40B4-BE49-F238E27FC236}">
                <a16:creationId xmlns:a16="http://schemas.microsoft.com/office/drawing/2014/main" id="{5F5E4726-F5AC-80F3-1DC7-C05A3627BA5E}"/>
              </a:ext>
            </a:extLst>
          </p:cNvPr>
          <p:cNvSpPr/>
          <p:nvPr/>
        </p:nvSpPr>
        <p:spPr>
          <a:xfrm>
            <a:off x="5895242" y="1989765"/>
            <a:ext cx="1586" cy="114497"/>
          </a:xfrm>
          <a:custGeom>
            <a:avLst/>
            <a:gdLst>
              <a:gd name="csX0" fmla="*/ 0 w 1796"/>
              <a:gd name="csY0" fmla="*/ 129658 h 129658"/>
              <a:gd name="csX1" fmla="*/ 0 w 1796"/>
              <a:gd name="csY1" fmla="*/ 0 h 1296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129658">
                <a:moveTo>
                  <a:pt x="0" y="129658"/>
                </a:moveTo>
                <a:lnTo>
                  <a:pt x="0" y="0"/>
                </a:lnTo>
              </a:path>
            </a:pathLst>
          </a:custGeom>
          <a:ln w="1939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80" name="Freeform: Shape 179">
            <a:extLst>
              <a:ext uri="{FF2B5EF4-FFF2-40B4-BE49-F238E27FC236}">
                <a16:creationId xmlns:a16="http://schemas.microsoft.com/office/drawing/2014/main" id="{F9F410B3-C469-DB80-B16A-9F3A40B55A16}"/>
              </a:ext>
            </a:extLst>
          </p:cNvPr>
          <p:cNvSpPr/>
          <p:nvPr/>
        </p:nvSpPr>
        <p:spPr>
          <a:xfrm>
            <a:off x="5895242" y="1818447"/>
            <a:ext cx="1586" cy="114212"/>
          </a:xfrm>
          <a:custGeom>
            <a:avLst/>
            <a:gdLst>
              <a:gd name="csX0" fmla="*/ 0 w 1796"/>
              <a:gd name="csY0" fmla="*/ 129335 h 129335"/>
              <a:gd name="csX1" fmla="*/ 0 w 1796"/>
              <a:gd name="csY1" fmla="*/ 0 h 12933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129335">
                <a:moveTo>
                  <a:pt x="0" y="129335"/>
                </a:moveTo>
                <a:lnTo>
                  <a:pt x="0" y="0"/>
                </a:lnTo>
              </a:path>
            </a:pathLst>
          </a:custGeom>
          <a:ln w="1939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81" name="Freeform: Shape 180">
            <a:extLst>
              <a:ext uri="{FF2B5EF4-FFF2-40B4-BE49-F238E27FC236}">
                <a16:creationId xmlns:a16="http://schemas.microsoft.com/office/drawing/2014/main" id="{17CB1E96-633F-4A60-5F32-2A9FF388E760}"/>
              </a:ext>
            </a:extLst>
          </p:cNvPr>
          <p:cNvSpPr/>
          <p:nvPr/>
        </p:nvSpPr>
        <p:spPr>
          <a:xfrm>
            <a:off x="5895242" y="1647128"/>
            <a:ext cx="1586" cy="114212"/>
          </a:xfrm>
          <a:custGeom>
            <a:avLst/>
            <a:gdLst>
              <a:gd name="csX0" fmla="*/ 0 w 1796"/>
              <a:gd name="csY0" fmla="*/ 129335 h 129335"/>
              <a:gd name="csX1" fmla="*/ 0 w 1796"/>
              <a:gd name="csY1" fmla="*/ 0 h 12933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129335">
                <a:moveTo>
                  <a:pt x="0" y="129335"/>
                </a:moveTo>
                <a:lnTo>
                  <a:pt x="0" y="0"/>
                </a:lnTo>
              </a:path>
            </a:pathLst>
          </a:custGeom>
          <a:ln w="1939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82" name="Freeform: Shape 181">
            <a:extLst>
              <a:ext uri="{FF2B5EF4-FFF2-40B4-BE49-F238E27FC236}">
                <a16:creationId xmlns:a16="http://schemas.microsoft.com/office/drawing/2014/main" id="{4A7693AD-6062-C168-0ECE-45300125AE10}"/>
              </a:ext>
            </a:extLst>
          </p:cNvPr>
          <p:cNvSpPr/>
          <p:nvPr/>
        </p:nvSpPr>
        <p:spPr>
          <a:xfrm>
            <a:off x="5895242" y="1475810"/>
            <a:ext cx="1586" cy="114212"/>
          </a:xfrm>
          <a:custGeom>
            <a:avLst/>
            <a:gdLst>
              <a:gd name="csX0" fmla="*/ 0 w 1796"/>
              <a:gd name="csY0" fmla="*/ 129335 h 129335"/>
              <a:gd name="csX1" fmla="*/ 0 w 1796"/>
              <a:gd name="csY1" fmla="*/ 0 h 12933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129335">
                <a:moveTo>
                  <a:pt x="0" y="129335"/>
                </a:moveTo>
                <a:lnTo>
                  <a:pt x="0" y="0"/>
                </a:lnTo>
              </a:path>
            </a:pathLst>
          </a:custGeom>
          <a:ln w="1939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83" name="Freeform: Shape 182">
            <a:extLst>
              <a:ext uri="{FF2B5EF4-FFF2-40B4-BE49-F238E27FC236}">
                <a16:creationId xmlns:a16="http://schemas.microsoft.com/office/drawing/2014/main" id="{E7285FBA-EFB1-893C-F3E9-ACECF051E343}"/>
              </a:ext>
            </a:extLst>
          </p:cNvPr>
          <p:cNvSpPr/>
          <p:nvPr/>
        </p:nvSpPr>
        <p:spPr>
          <a:xfrm>
            <a:off x="5895242" y="1344466"/>
            <a:ext cx="1586" cy="74237"/>
          </a:xfrm>
          <a:custGeom>
            <a:avLst/>
            <a:gdLst>
              <a:gd name="csX0" fmla="*/ 0 w 1796"/>
              <a:gd name="csY0" fmla="*/ 84068 h 84067"/>
              <a:gd name="csX1" fmla="*/ 0 w 1796"/>
              <a:gd name="csY1" fmla="*/ 0 h 8406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4067">
                <a:moveTo>
                  <a:pt x="0" y="84068"/>
                </a:moveTo>
                <a:lnTo>
                  <a:pt x="0" y="0"/>
                </a:lnTo>
              </a:path>
            </a:pathLst>
          </a:custGeom>
          <a:ln w="19395" cap="flat">
            <a:solidFill>
              <a:srgbClr val="000000">
                <a:alpha val="30000"/>
              </a:srgbClr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84" name="Freeform: Shape 183">
            <a:extLst>
              <a:ext uri="{FF2B5EF4-FFF2-40B4-BE49-F238E27FC236}">
                <a16:creationId xmlns:a16="http://schemas.microsoft.com/office/drawing/2014/main" id="{ACFD93B4-2B7B-5C2E-F942-601522D559E7}"/>
              </a:ext>
            </a:extLst>
          </p:cNvPr>
          <p:cNvSpPr/>
          <p:nvPr/>
        </p:nvSpPr>
        <p:spPr>
          <a:xfrm>
            <a:off x="6267573" y="1779900"/>
            <a:ext cx="3724458" cy="986793"/>
          </a:xfrm>
          <a:custGeom>
            <a:avLst/>
            <a:gdLst>
              <a:gd name="csX0" fmla="*/ 0 w 4217617"/>
              <a:gd name="csY0" fmla="*/ 1117455 h 1117455"/>
              <a:gd name="csX1" fmla="*/ 2108809 w 4217617"/>
              <a:gd name="csY1" fmla="*/ 558728 h 1117455"/>
              <a:gd name="csX2" fmla="*/ 4217618 w 4217617"/>
              <a:gd name="csY2" fmla="*/ 0 h 11174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217617" h="1117455">
                <a:moveTo>
                  <a:pt x="0" y="1117455"/>
                </a:moveTo>
                <a:lnTo>
                  <a:pt x="2108809" y="558728"/>
                </a:lnTo>
                <a:lnTo>
                  <a:pt x="4217618" y="0"/>
                </a:lnTo>
              </a:path>
            </a:pathLst>
          </a:custGeom>
          <a:noFill/>
          <a:ln w="29093" cap="flat">
            <a:solidFill>
              <a:srgbClr val="003A4F">
                <a:alpha val="30000"/>
              </a:srgb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7147EA39-34AA-AFEA-22D2-4B3E3F234F3A}"/>
              </a:ext>
            </a:extLst>
          </p:cNvPr>
          <p:cNvSpPr/>
          <p:nvPr/>
        </p:nvSpPr>
        <p:spPr>
          <a:xfrm>
            <a:off x="6219033" y="2736427"/>
            <a:ext cx="97080" cy="97080"/>
          </a:xfrm>
          <a:prstGeom prst="ellipse">
            <a:avLst/>
          </a:prstGeom>
          <a:solidFill>
            <a:srgbClr val="003A4F"/>
          </a:solidFill>
          <a:ln w="1796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951358EF-1EBC-67D9-60A9-422DB738C898}"/>
              </a:ext>
            </a:extLst>
          </p:cNvPr>
          <p:cNvSpPr/>
          <p:nvPr/>
        </p:nvSpPr>
        <p:spPr>
          <a:xfrm>
            <a:off x="6231882" y="2749276"/>
            <a:ext cx="71382" cy="71382"/>
          </a:xfrm>
          <a:prstGeom prst="ellipse">
            <a:avLst/>
          </a:prstGeom>
          <a:noFill/>
          <a:ln w="29093" cap="flat">
            <a:solidFill>
              <a:srgbClr val="003A4F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5C08C8A3-670E-21D6-D5FD-16AE14B53887}"/>
              </a:ext>
            </a:extLst>
          </p:cNvPr>
          <p:cNvSpPr/>
          <p:nvPr/>
        </p:nvSpPr>
        <p:spPr>
          <a:xfrm>
            <a:off x="6591364" y="2536555"/>
            <a:ext cx="97080" cy="97080"/>
          </a:xfrm>
          <a:prstGeom prst="ellipse">
            <a:avLst/>
          </a:prstGeom>
          <a:solidFill>
            <a:srgbClr val="003A4F"/>
          </a:solidFill>
          <a:ln w="1796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E0683A13-FEE0-8AAE-478C-6704AA32539B}"/>
              </a:ext>
            </a:extLst>
          </p:cNvPr>
          <p:cNvSpPr/>
          <p:nvPr/>
        </p:nvSpPr>
        <p:spPr>
          <a:xfrm>
            <a:off x="6604213" y="2549405"/>
            <a:ext cx="71382" cy="71382"/>
          </a:xfrm>
          <a:prstGeom prst="ellipse">
            <a:avLst/>
          </a:prstGeom>
          <a:noFill/>
          <a:ln w="29093" cap="flat">
            <a:solidFill>
              <a:srgbClr val="003A4F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4B67952A-BD58-FF62-A173-CD42B69E567B}"/>
              </a:ext>
            </a:extLst>
          </p:cNvPr>
          <p:cNvSpPr/>
          <p:nvPr/>
        </p:nvSpPr>
        <p:spPr>
          <a:xfrm>
            <a:off x="6963982" y="2343537"/>
            <a:ext cx="97080" cy="97080"/>
          </a:xfrm>
          <a:prstGeom prst="ellipse">
            <a:avLst/>
          </a:prstGeom>
          <a:solidFill>
            <a:srgbClr val="003A4F"/>
          </a:solidFill>
          <a:ln w="1796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CB0AD281-E041-6EE6-9E4F-016C465DB0AF}"/>
              </a:ext>
            </a:extLst>
          </p:cNvPr>
          <p:cNvSpPr/>
          <p:nvPr/>
        </p:nvSpPr>
        <p:spPr>
          <a:xfrm>
            <a:off x="6976830" y="2356386"/>
            <a:ext cx="71382" cy="71382"/>
          </a:xfrm>
          <a:prstGeom prst="ellipse">
            <a:avLst/>
          </a:prstGeom>
          <a:noFill/>
          <a:ln w="29093" cap="flat">
            <a:solidFill>
              <a:srgbClr val="003A4F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FC36548C-370C-F27F-73CB-4DB38AE0C55C}"/>
              </a:ext>
            </a:extLst>
          </p:cNvPr>
          <p:cNvSpPr/>
          <p:nvPr/>
        </p:nvSpPr>
        <p:spPr>
          <a:xfrm>
            <a:off x="7336313" y="2024028"/>
            <a:ext cx="97080" cy="97080"/>
          </a:xfrm>
          <a:prstGeom prst="ellipse">
            <a:avLst/>
          </a:prstGeom>
          <a:solidFill>
            <a:srgbClr val="003A4F"/>
          </a:solidFill>
          <a:ln w="1796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19EF179F-82B9-3ACF-6157-BF67726DFF5E}"/>
              </a:ext>
            </a:extLst>
          </p:cNvPr>
          <p:cNvSpPr/>
          <p:nvPr/>
        </p:nvSpPr>
        <p:spPr>
          <a:xfrm>
            <a:off x="7349162" y="2036877"/>
            <a:ext cx="71382" cy="71382"/>
          </a:xfrm>
          <a:prstGeom prst="ellipse">
            <a:avLst/>
          </a:prstGeom>
          <a:noFill/>
          <a:ln w="29093" cap="flat">
            <a:solidFill>
              <a:srgbClr val="003A4F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176B83B8-8CD8-8580-A749-9EA64ED2CDE8}"/>
              </a:ext>
            </a:extLst>
          </p:cNvPr>
          <p:cNvSpPr/>
          <p:nvPr/>
        </p:nvSpPr>
        <p:spPr>
          <a:xfrm>
            <a:off x="7708931" y="2809237"/>
            <a:ext cx="97080" cy="97080"/>
          </a:xfrm>
          <a:prstGeom prst="ellipse">
            <a:avLst/>
          </a:prstGeom>
          <a:solidFill>
            <a:srgbClr val="003A4F"/>
          </a:solidFill>
          <a:ln w="1796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78112C9A-5107-0844-AF73-A866205BB28F}"/>
              </a:ext>
            </a:extLst>
          </p:cNvPr>
          <p:cNvSpPr/>
          <p:nvPr/>
        </p:nvSpPr>
        <p:spPr>
          <a:xfrm>
            <a:off x="7721779" y="2822086"/>
            <a:ext cx="71382" cy="71382"/>
          </a:xfrm>
          <a:prstGeom prst="ellipse">
            <a:avLst/>
          </a:prstGeom>
          <a:noFill/>
          <a:ln w="29093" cap="flat">
            <a:solidFill>
              <a:srgbClr val="003A4F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F4C09CD9-F8F4-F942-C792-4ABEC6B301FE}"/>
              </a:ext>
            </a:extLst>
          </p:cNvPr>
          <p:cNvSpPr/>
          <p:nvPr/>
        </p:nvSpPr>
        <p:spPr>
          <a:xfrm>
            <a:off x="8081262" y="2601086"/>
            <a:ext cx="97080" cy="97080"/>
          </a:xfrm>
          <a:prstGeom prst="ellipse">
            <a:avLst/>
          </a:prstGeom>
          <a:solidFill>
            <a:srgbClr val="003A4F"/>
          </a:solidFill>
          <a:ln w="1796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1CD6CDBE-F87F-33C1-BB19-04E7782DF725}"/>
              </a:ext>
            </a:extLst>
          </p:cNvPr>
          <p:cNvSpPr/>
          <p:nvPr/>
        </p:nvSpPr>
        <p:spPr>
          <a:xfrm>
            <a:off x="8094111" y="2613935"/>
            <a:ext cx="71382" cy="71382"/>
          </a:xfrm>
          <a:prstGeom prst="ellipse">
            <a:avLst/>
          </a:prstGeom>
          <a:noFill/>
          <a:ln w="29093" cap="flat">
            <a:solidFill>
              <a:srgbClr val="003A4F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B5005EC6-AF0D-7811-F1CF-C897A8DD9E1C}"/>
              </a:ext>
            </a:extLst>
          </p:cNvPr>
          <p:cNvSpPr/>
          <p:nvPr/>
        </p:nvSpPr>
        <p:spPr>
          <a:xfrm>
            <a:off x="8453594" y="2260733"/>
            <a:ext cx="97080" cy="97080"/>
          </a:xfrm>
          <a:prstGeom prst="ellipse">
            <a:avLst/>
          </a:prstGeom>
          <a:solidFill>
            <a:srgbClr val="003A4F"/>
          </a:solidFill>
          <a:ln w="1796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20C76826-701E-1545-1047-CE60E9E2570D}"/>
              </a:ext>
            </a:extLst>
          </p:cNvPr>
          <p:cNvSpPr/>
          <p:nvPr/>
        </p:nvSpPr>
        <p:spPr>
          <a:xfrm>
            <a:off x="8466443" y="2273582"/>
            <a:ext cx="71382" cy="71382"/>
          </a:xfrm>
          <a:prstGeom prst="ellipse">
            <a:avLst/>
          </a:prstGeom>
          <a:noFill/>
          <a:ln w="29093" cap="flat">
            <a:solidFill>
              <a:srgbClr val="003A4F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8D3F515F-5D41-3B03-1D63-0ECDBC5B85FA}"/>
              </a:ext>
            </a:extLst>
          </p:cNvPr>
          <p:cNvSpPr/>
          <p:nvPr/>
        </p:nvSpPr>
        <p:spPr>
          <a:xfrm>
            <a:off x="8826211" y="1970634"/>
            <a:ext cx="97080" cy="97080"/>
          </a:xfrm>
          <a:prstGeom prst="ellipse">
            <a:avLst/>
          </a:prstGeom>
          <a:solidFill>
            <a:srgbClr val="003A4F"/>
          </a:solidFill>
          <a:ln w="1796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72FC1842-6C6B-B29B-6757-CD551C4E727C}"/>
              </a:ext>
            </a:extLst>
          </p:cNvPr>
          <p:cNvSpPr/>
          <p:nvPr/>
        </p:nvSpPr>
        <p:spPr>
          <a:xfrm>
            <a:off x="8839060" y="1983483"/>
            <a:ext cx="71382" cy="71382"/>
          </a:xfrm>
          <a:prstGeom prst="ellipse">
            <a:avLst/>
          </a:prstGeom>
          <a:noFill/>
          <a:ln w="29093" cap="flat">
            <a:solidFill>
              <a:srgbClr val="003A4F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E6CEE2B7-4BF2-E9E7-9E3F-4D7A12679656}"/>
              </a:ext>
            </a:extLst>
          </p:cNvPr>
          <p:cNvSpPr/>
          <p:nvPr/>
        </p:nvSpPr>
        <p:spPr>
          <a:xfrm>
            <a:off x="9198543" y="1878123"/>
            <a:ext cx="97080" cy="97080"/>
          </a:xfrm>
          <a:prstGeom prst="ellipse">
            <a:avLst/>
          </a:prstGeom>
          <a:solidFill>
            <a:srgbClr val="003A4F"/>
          </a:solidFill>
          <a:ln w="1796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7B898AE9-EC5D-5777-DABC-33F078F6F838}"/>
              </a:ext>
            </a:extLst>
          </p:cNvPr>
          <p:cNvSpPr/>
          <p:nvPr/>
        </p:nvSpPr>
        <p:spPr>
          <a:xfrm>
            <a:off x="9211391" y="1890972"/>
            <a:ext cx="71382" cy="71382"/>
          </a:xfrm>
          <a:prstGeom prst="ellipse">
            <a:avLst/>
          </a:prstGeom>
          <a:noFill/>
          <a:ln w="29093" cap="flat">
            <a:solidFill>
              <a:srgbClr val="003A4F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8484CC1D-0BA9-AA6A-03B6-2DB68DA1CD08}"/>
              </a:ext>
            </a:extLst>
          </p:cNvPr>
          <p:cNvSpPr/>
          <p:nvPr/>
        </p:nvSpPr>
        <p:spPr>
          <a:xfrm>
            <a:off x="9570874" y="1529776"/>
            <a:ext cx="97080" cy="97080"/>
          </a:xfrm>
          <a:prstGeom prst="ellipse">
            <a:avLst/>
          </a:prstGeom>
          <a:solidFill>
            <a:srgbClr val="003A4F"/>
          </a:solidFill>
          <a:ln w="1796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448FEA89-615B-277B-F730-4BA4860E65A0}"/>
              </a:ext>
            </a:extLst>
          </p:cNvPr>
          <p:cNvSpPr/>
          <p:nvPr/>
        </p:nvSpPr>
        <p:spPr>
          <a:xfrm>
            <a:off x="9583724" y="1542625"/>
            <a:ext cx="71382" cy="71382"/>
          </a:xfrm>
          <a:prstGeom prst="ellipse">
            <a:avLst/>
          </a:prstGeom>
          <a:noFill/>
          <a:ln w="29093" cap="flat">
            <a:solidFill>
              <a:srgbClr val="003A4F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9B884454-49C7-8EA9-5081-665CC62DF403}"/>
              </a:ext>
            </a:extLst>
          </p:cNvPr>
          <p:cNvSpPr/>
          <p:nvPr/>
        </p:nvSpPr>
        <p:spPr>
          <a:xfrm>
            <a:off x="9943491" y="1781613"/>
            <a:ext cx="97080" cy="97080"/>
          </a:xfrm>
          <a:prstGeom prst="ellipse">
            <a:avLst/>
          </a:prstGeom>
          <a:solidFill>
            <a:srgbClr val="003A4F"/>
          </a:solidFill>
          <a:ln w="1796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98364343-E229-8BB1-DB96-CAF049CC3F69}"/>
              </a:ext>
            </a:extLst>
          </p:cNvPr>
          <p:cNvSpPr/>
          <p:nvPr/>
        </p:nvSpPr>
        <p:spPr>
          <a:xfrm>
            <a:off x="9956340" y="1794462"/>
            <a:ext cx="71382" cy="71382"/>
          </a:xfrm>
          <a:prstGeom prst="ellipse">
            <a:avLst/>
          </a:prstGeom>
          <a:noFill/>
          <a:ln w="29093" cap="flat">
            <a:solidFill>
              <a:srgbClr val="003A4F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07" name="Freeform: Shape 206">
            <a:extLst>
              <a:ext uri="{FF2B5EF4-FFF2-40B4-BE49-F238E27FC236}">
                <a16:creationId xmlns:a16="http://schemas.microsoft.com/office/drawing/2014/main" id="{B48F5B7C-1182-181D-4AD5-2352E2FC4420}"/>
              </a:ext>
            </a:extLst>
          </p:cNvPr>
          <p:cNvSpPr/>
          <p:nvPr/>
        </p:nvSpPr>
        <p:spPr>
          <a:xfrm>
            <a:off x="2543114" y="4951002"/>
            <a:ext cx="2979510" cy="1586"/>
          </a:xfrm>
          <a:custGeom>
            <a:avLst/>
            <a:gdLst>
              <a:gd name="csX0" fmla="*/ 0 w 3374029"/>
              <a:gd name="csY0" fmla="*/ 0 h 1796"/>
              <a:gd name="csX1" fmla="*/ 421956 w 3374029"/>
              <a:gd name="csY1" fmla="*/ 0 h 1796"/>
              <a:gd name="csX2" fmla="*/ 843588 w 3374029"/>
              <a:gd name="csY2" fmla="*/ 0 h 1796"/>
              <a:gd name="csX3" fmla="*/ 1265221 w 3374029"/>
              <a:gd name="csY3" fmla="*/ 0 h 1796"/>
              <a:gd name="csX4" fmla="*/ 1687177 w 3374029"/>
              <a:gd name="csY4" fmla="*/ 0 h 1796"/>
              <a:gd name="csX5" fmla="*/ 2108809 w 3374029"/>
              <a:gd name="csY5" fmla="*/ 0 h 1796"/>
              <a:gd name="csX6" fmla="*/ 2530442 w 3374029"/>
              <a:gd name="csY6" fmla="*/ 0 h 1796"/>
              <a:gd name="csX7" fmla="*/ 2952397 w 3374029"/>
              <a:gd name="csY7" fmla="*/ 0 h 1796"/>
              <a:gd name="csX8" fmla="*/ 3374030 w 3374029"/>
              <a:gd name="csY8" fmla="*/ 0 h 1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374029" h="1796">
                <a:moveTo>
                  <a:pt x="0" y="0"/>
                </a:moveTo>
                <a:lnTo>
                  <a:pt x="421956" y="0"/>
                </a:lnTo>
                <a:lnTo>
                  <a:pt x="843588" y="0"/>
                </a:lnTo>
                <a:lnTo>
                  <a:pt x="1265221" y="0"/>
                </a:lnTo>
                <a:lnTo>
                  <a:pt x="1687177" y="0"/>
                </a:lnTo>
                <a:lnTo>
                  <a:pt x="2108809" y="0"/>
                </a:lnTo>
                <a:lnTo>
                  <a:pt x="2530442" y="0"/>
                </a:lnTo>
                <a:lnTo>
                  <a:pt x="2952397" y="0"/>
                </a:lnTo>
                <a:lnTo>
                  <a:pt x="3374030" y="0"/>
                </a:lnTo>
              </a:path>
            </a:pathLst>
          </a:custGeom>
          <a:noFill/>
          <a:ln w="29093" cap="flat">
            <a:solidFill>
              <a:srgbClr val="29B6A4">
                <a:alpha val="30000"/>
              </a:srgb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C96D7B7F-8703-E032-3393-99587189DBB5}"/>
              </a:ext>
            </a:extLst>
          </p:cNvPr>
          <p:cNvSpPr/>
          <p:nvPr/>
        </p:nvSpPr>
        <p:spPr>
          <a:xfrm>
            <a:off x="2494574" y="4878477"/>
            <a:ext cx="97080" cy="97080"/>
          </a:xfrm>
          <a:prstGeom prst="ellipse">
            <a:avLst/>
          </a:prstGeom>
          <a:solidFill>
            <a:srgbClr val="29B6A4"/>
          </a:solidFill>
          <a:ln w="1796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CC55E0D7-AAC3-F4A8-4240-94BC813C0435}"/>
              </a:ext>
            </a:extLst>
          </p:cNvPr>
          <p:cNvSpPr/>
          <p:nvPr/>
        </p:nvSpPr>
        <p:spPr>
          <a:xfrm>
            <a:off x="2507423" y="4891325"/>
            <a:ext cx="71382" cy="71382"/>
          </a:xfrm>
          <a:prstGeom prst="ellipse">
            <a:avLst/>
          </a:prstGeom>
          <a:noFill/>
          <a:ln w="29093" cap="flat">
            <a:solidFill>
              <a:srgbClr val="29B6A4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C5A990BF-E4A8-EE7F-02B9-FD5DCA046421}"/>
              </a:ext>
            </a:extLst>
          </p:cNvPr>
          <p:cNvSpPr/>
          <p:nvPr/>
        </p:nvSpPr>
        <p:spPr>
          <a:xfrm>
            <a:off x="2867191" y="4911027"/>
            <a:ext cx="97080" cy="97080"/>
          </a:xfrm>
          <a:prstGeom prst="ellipse">
            <a:avLst/>
          </a:prstGeom>
          <a:solidFill>
            <a:srgbClr val="29B6A4"/>
          </a:solidFill>
          <a:ln w="1796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6263A7F3-D493-B0A0-BBE7-0BCEB9A26CCA}"/>
              </a:ext>
            </a:extLst>
          </p:cNvPr>
          <p:cNvSpPr/>
          <p:nvPr/>
        </p:nvSpPr>
        <p:spPr>
          <a:xfrm>
            <a:off x="2880040" y="4923875"/>
            <a:ext cx="71382" cy="71382"/>
          </a:xfrm>
          <a:prstGeom prst="ellipse">
            <a:avLst/>
          </a:prstGeom>
          <a:noFill/>
          <a:ln w="29093" cap="flat">
            <a:solidFill>
              <a:srgbClr val="29B6A4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42B6FD2E-AEDE-AC94-64D8-BD51994AB282}"/>
              </a:ext>
            </a:extLst>
          </p:cNvPr>
          <p:cNvSpPr/>
          <p:nvPr/>
        </p:nvSpPr>
        <p:spPr>
          <a:xfrm>
            <a:off x="3239523" y="4883045"/>
            <a:ext cx="97080" cy="97080"/>
          </a:xfrm>
          <a:prstGeom prst="ellipse">
            <a:avLst/>
          </a:prstGeom>
          <a:solidFill>
            <a:srgbClr val="29B6A4"/>
          </a:solidFill>
          <a:ln w="1796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A1139066-27A9-6110-F235-04D8180E1774}"/>
              </a:ext>
            </a:extLst>
          </p:cNvPr>
          <p:cNvSpPr/>
          <p:nvPr/>
        </p:nvSpPr>
        <p:spPr>
          <a:xfrm>
            <a:off x="3252371" y="4895893"/>
            <a:ext cx="71382" cy="71382"/>
          </a:xfrm>
          <a:prstGeom prst="ellipse">
            <a:avLst/>
          </a:prstGeom>
          <a:noFill/>
          <a:ln w="29093" cap="flat">
            <a:solidFill>
              <a:srgbClr val="29B6A4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95A2F72F-8C21-5EDB-AE1F-2EE133E3FD36}"/>
              </a:ext>
            </a:extLst>
          </p:cNvPr>
          <p:cNvSpPr/>
          <p:nvPr/>
        </p:nvSpPr>
        <p:spPr>
          <a:xfrm>
            <a:off x="3611855" y="5089769"/>
            <a:ext cx="97080" cy="97080"/>
          </a:xfrm>
          <a:prstGeom prst="ellipse">
            <a:avLst/>
          </a:prstGeom>
          <a:solidFill>
            <a:srgbClr val="29B6A4"/>
          </a:solidFill>
          <a:ln w="1796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17B55821-202E-2703-7A8C-246BC0B6E27D}"/>
              </a:ext>
            </a:extLst>
          </p:cNvPr>
          <p:cNvSpPr/>
          <p:nvPr/>
        </p:nvSpPr>
        <p:spPr>
          <a:xfrm>
            <a:off x="3624703" y="5102618"/>
            <a:ext cx="71382" cy="71382"/>
          </a:xfrm>
          <a:prstGeom prst="ellipse">
            <a:avLst/>
          </a:prstGeom>
          <a:noFill/>
          <a:ln w="29093" cap="flat">
            <a:solidFill>
              <a:srgbClr val="29B6A4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2C567422-41DA-A908-6C9F-C37A8C67EC44}"/>
              </a:ext>
            </a:extLst>
          </p:cNvPr>
          <p:cNvSpPr/>
          <p:nvPr/>
        </p:nvSpPr>
        <p:spPr>
          <a:xfrm>
            <a:off x="3984471" y="5016102"/>
            <a:ext cx="97080" cy="97080"/>
          </a:xfrm>
          <a:prstGeom prst="ellipse">
            <a:avLst/>
          </a:prstGeom>
          <a:solidFill>
            <a:srgbClr val="29B6A4"/>
          </a:solidFill>
          <a:ln w="1796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8D09F495-FB48-3D5C-881A-525486263DB8}"/>
              </a:ext>
            </a:extLst>
          </p:cNvPr>
          <p:cNvSpPr/>
          <p:nvPr/>
        </p:nvSpPr>
        <p:spPr>
          <a:xfrm>
            <a:off x="3997321" y="5028951"/>
            <a:ext cx="71382" cy="71382"/>
          </a:xfrm>
          <a:prstGeom prst="ellipse">
            <a:avLst/>
          </a:prstGeom>
          <a:noFill/>
          <a:ln w="29093" cap="flat">
            <a:solidFill>
              <a:srgbClr val="29B6A4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A679DB82-D083-7DC1-E722-A9A0669581CD}"/>
              </a:ext>
            </a:extLst>
          </p:cNvPr>
          <p:cNvSpPr/>
          <p:nvPr/>
        </p:nvSpPr>
        <p:spPr>
          <a:xfrm>
            <a:off x="4356803" y="4826796"/>
            <a:ext cx="97080" cy="97080"/>
          </a:xfrm>
          <a:prstGeom prst="ellipse">
            <a:avLst/>
          </a:prstGeom>
          <a:solidFill>
            <a:srgbClr val="29B6A4"/>
          </a:solidFill>
          <a:ln w="1796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A436ABDC-31DD-041A-C126-00D8BD8E9581}"/>
              </a:ext>
            </a:extLst>
          </p:cNvPr>
          <p:cNvSpPr/>
          <p:nvPr/>
        </p:nvSpPr>
        <p:spPr>
          <a:xfrm>
            <a:off x="4369652" y="4839644"/>
            <a:ext cx="71382" cy="71382"/>
          </a:xfrm>
          <a:prstGeom prst="ellipse">
            <a:avLst/>
          </a:prstGeom>
          <a:noFill/>
          <a:ln w="29093" cap="flat">
            <a:solidFill>
              <a:srgbClr val="29B6A4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A18DC25D-85C5-6F20-0E86-CE65A5194432}"/>
              </a:ext>
            </a:extLst>
          </p:cNvPr>
          <p:cNvSpPr/>
          <p:nvPr/>
        </p:nvSpPr>
        <p:spPr>
          <a:xfrm>
            <a:off x="4729135" y="4883616"/>
            <a:ext cx="97080" cy="97080"/>
          </a:xfrm>
          <a:prstGeom prst="ellipse">
            <a:avLst/>
          </a:prstGeom>
          <a:solidFill>
            <a:srgbClr val="29B6A4"/>
          </a:solidFill>
          <a:ln w="1796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3768BFF2-A9E0-F493-8A79-FC7BEC0C398D}"/>
              </a:ext>
            </a:extLst>
          </p:cNvPr>
          <p:cNvSpPr/>
          <p:nvPr/>
        </p:nvSpPr>
        <p:spPr>
          <a:xfrm>
            <a:off x="4741983" y="4896465"/>
            <a:ext cx="71382" cy="71382"/>
          </a:xfrm>
          <a:prstGeom prst="ellipse">
            <a:avLst/>
          </a:prstGeom>
          <a:noFill/>
          <a:ln w="29093" cap="flat">
            <a:solidFill>
              <a:srgbClr val="29B6A4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24A6D438-4706-EA15-4321-FD95E3310236}"/>
              </a:ext>
            </a:extLst>
          </p:cNvPr>
          <p:cNvSpPr/>
          <p:nvPr/>
        </p:nvSpPr>
        <p:spPr>
          <a:xfrm>
            <a:off x="5101752" y="4946718"/>
            <a:ext cx="97080" cy="97080"/>
          </a:xfrm>
          <a:prstGeom prst="ellipse">
            <a:avLst/>
          </a:prstGeom>
          <a:solidFill>
            <a:srgbClr val="29B6A4"/>
          </a:solidFill>
          <a:ln w="1796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77486106-2B09-201C-EF22-99AC0820FAB0}"/>
              </a:ext>
            </a:extLst>
          </p:cNvPr>
          <p:cNvSpPr/>
          <p:nvPr/>
        </p:nvSpPr>
        <p:spPr>
          <a:xfrm>
            <a:off x="5114601" y="4959567"/>
            <a:ext cx="71382" cy="71382"/>
          </a:xfrm>
          <a:prstGeom prst="ellipse">
            <a:avLst/>
          </a:prstGeom>
          <a:noFill/>
          <a:ln w="29093" cap="flat">
            <a:solidFill>
              <a:srgbClr val="29B6A4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C8CF037C-A5E6-9FEC-0831-CD1565069AA6}"/>
              </a:ext>
            </a:extLst>
          </p:cNvPr>
          <p:cNvSpPr/>
          <p:nvPr/>
        </p:nvSpPr>
        <p:spPr>
          <a:xfrm>
            <a:off x="5474083" y="4687457"/>
            <a:ext cx="97080" cy="97080"/>
          </a:xfrm>
          <a:prstGeom prst="ellipse">
            <a:avLst/>
          </a:prstGeom>
          <a:solidFill>
            <a:srgbClr val="29B6A4"/>
          </a:solidFill>
          <a:ln w="1796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E5160172-18DF-5133-6475-299A3D17EDEC}"/>
              </a:ext>
            </a:extLst>
          </p:cNvPr>
          <p:cNvSpPr/>
          <p:nvPr/>
        </p:nvSpPr>
        <p:spPr>
          <a:xfrm>
            <a:off x="5486933" y="4700305"/>
            <a:ext cx="71382" cy="71382"/>
          </a:xfrm>
          <a:prstGeom prst="ellipse">
            <a:avLst/>
          </a:prstGeom>
          <a:noFill/>
          <a:ln w="29093" cap="flat">
            <a:solidFill>
              <a:srgbClr val="29B6A4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26" name="Freeform: Shape 225">
            <a:extLst>
              <a:ext uri="{FF2B5EF4-FFF2-40B4-BE49-F238E27FC236}">
                <a16:creationId xmlns:a16="http://schemas.microsoft.com/office/drawing/2014/main" id="{3100DA7F-3833-19BD-F4C3-2D4603173942}"/>
              </a:ext>
            </a:extLst>
          </p:cNvPr>
          <p:cNvSpPr/>
          <p:nvPr/>
        </p:nvSpPr>
        <p:spPr>
          <a:xfrm>
            <a:off x="2358091" y="1344466"/>
            <a:ext cx="1586" cy="4358051"/>
          </a:xfrm>
          <a:custGeom>
            <a:avLst/>
            <a:gdLst>
              <a:gd name="csX0" fmla="*/ 0 w 1796"/>
              <a:gd name="csY0" fmla="*/ 4935104 h 4935104"/>
              <a:gd name="csX1" fmla="*/ 0 w 1796"/>
              <a:gd name="csY1" fmla="*/ 0 h 493510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4935104">
                <a:moveTo>
                  <a:pt x="0" y="4935104"/>
                </a:moveTo>
                <a:lnTo>
                  <a:pt x="0" y="0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27" name="Freeform: Shape 226">
            <a:extLst>
              <a:ext uri="{FF2B5EF4-FFF2-40B4-BE49-F238E27FC236}">
                <a16:creationId xmlns:a16="http://schemas.microsoft.com/office/drawing/2014/main" id="{BD5878B2-1F50-FEC3-8134-6CF83C69FB9D}"/>
              </a:ext>
            </a:extLst>
          </p:cNvPr>
          <p:cNvSpPr/>
          <p:nvPr/>
        </p:nvSpPr>
        <p:spPr>
          <a:xfrm>
            <a:off x="2278713" y="5576884"/>
            <a:ext cx="79377" cy="1586"/>
          </a:xfrm>
          <a:custGeom>
            <a:avLst/>
            <a:gdLst>
              <a:gd name="csX0" fmla="*/ 89888 w 89887"/>
              <a:gd name="csY0" fmla="*/ 0 h 1796"/>
              <a:gd name="csX1" fmla="*/ 0 w 89887"/>
              <a:gd name="csY1" fmla="*/ 0 h 1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9887" h="1796">
                <a:moveTo>
                  <a:pt x="89888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084B7D48-9049-85C0-ED05-3E0B64F3AB56}"/>
              </a:ext>
            </a:extLst>
          </p:cNvPr>
          <p:cNvSpPr txBox="1"/>
          <p:nvPr/>
        </p:nvSpPr>
        <p:spPr>
          <a:xfrm>
            <a:off x="1667823" y="5419264"/>
            <a:ext cx="613224" cy="298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$22k</a:t>
            </a:r>
          </a:p>
        </p:txBody>
      </p:sp>
      <p:sp>
        <p:nvSpPr>
          <p:cNvPr id="229" name="Freeform: Shape 228">
            <a:extLst>
              <a:ext uri="{FF2B5EF4-FFF2-40B4-BE49-F238E27FC236}">
                <a16:creationId xmlns:a16="http://schemas.microsoft.com/office/drawing/2014/main" id="{A3F78CAA-5202-EFAD-6C93-2F23448B3804}"/>
              </a:ext>
            </a:extLst>
          </p:cNvPr>
          <p:cNvSpPr/>
          <p:nvPr/>
        </p:nvSpPr>
        <p:spPr>
          <a:xfrm>
            <a:off x="2278713" y="4892467"/>
            <a:ext cx="79377" cy="1586"/>
          </a:xfrm>
          <a:custGeom>
            <a:avLst/>
            <a:gdLst>
              <a:gd name="csX0" fmla="*/ 89888 w 89887"/>
              <a:gd name="csY0" fmla="*/ 0 h 1796"/>
              <a:gd name="csX1" fmla="*/ 0 w 89887"/>
              <a:gd name="csY1" fmla="*/ 0 h 1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9887" h="1796">
                <a:moveTo>
                  <a:pt x="89888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BD95A242-89F9-78D9-36B7-E9FF2C2EBC1D}"/>
              </a:ext>
            </a:extLst>
          </p:cNvPr>
          <p:cNvSpPr txBox="1"/>
          <p:nvPr/>
        </p:nvSpPr>
        <p:spPr>
          <a:xfrm>
            <a:off x="1667823" y="4734848"/>
            <a:ext cx="613224" cy="298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$23k</a:t>
            </a:r>
          </a:p>
        </p:txBody>
      </p:sp>
      <p:sp>
        <p:nvSpPr>
          <p:cNvPr id="231" name="Freeform: Shape 230">
            <a:extLst>
              <a:ext uri="{FF2B5EF4-FFF2-40B4-BE49-F238E27FC236}">
                <a16:creationId xmlns:a16="http://schemas.microsoft.com/office/drawing/2014/main" id="{E2B06E45-FEFE-11E4-6BF0-AAED88F20B79}"/>
              </a:ext>
            </a:extLst>
          </p:cNvPr>
          <p:cNvSpPr/>
          <p:nvPr/>
        </p:nvSpPr>
        <p:spPr>
          <a:xfrm>
            <a:off x="2278713" y="4208051"/>
            <a:ext cx="79377" cy="1586"/>
          </a:xfrm>
          <a:custGeom>
            <a:avLst/>
            <a:gdLst>
              <a:gd name="csX0" fmla="*/ 89888 w 89887"/>
              <a:gd name="csY0" fmla="*/ 0 h 1796"/>
              <a:gd name="csX1" fmla="*/ 0 w 89887"/>
              <a:gd name="csY1" fmla="*/ 0 h 1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9887" h="1796">
                <a:moveTo>
                  <a:pt x="89888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88F5F239-D8CC-669A-2D00-06602540A998}"/>
              </a:ext>
            </a:extLst>
          </p:cNvPr>
          <p:cNvSpPr txBox="1"/>
          <p:nvPr/>
        </p:nvSpPr>
        <p:spPr>
          <a:xfrm>
            <a:off x="1667823" y="4050431"/>
            <a:ext cx="613224" cy="298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$24k</a:t>
            </a:r>
          </a:p>
        </p:txBody>
      </p:sp>
      <p:sp>
        <p:nvSpPr>
          <p:cNvPr id="233" name="Freeform: Shape 232">
            <a:extLst>
              <a:ext uri="{FF2B5EF4-FFF2-40B4-BE49-F238E27FC236}">
                <a16:creationId xmlns:a16="http://schemas.microsoft.com/office/drawing/2014/main" id="{67138257-76B6-9FDC-B35C-A80CBEA3EC60}"/>
              </a:ext>
            </a:extLst>
          </p:cNvPr>
          <p:cNvSpPr/>
          <p:nvPr/>
        </p:nvSpPr>
        <p:spPr>
          <a:xfrm>
            <a:off x="2278713" y="3523349"/>
            <a:ext cx="79377" cy="1586"/>
          </a:xfrm>
          <a:custGeom>
            <a:avLst/>
            <a:gdLst>
              <a:gd name="csX0" fmla="*/ 89888 w 89887"/>
              <a:gd name="csY0" fmla="*/ 0 h 1796"/>
              <a:gd name="csX1" fmla="*/ 0 w 89887"/>
              <a:gd name="csY1" fmla="*/ 0 h 1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9887" h="1796">
                <a:moveTo>
                  <a:pt x="89888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491CA0FC-B649-4B21-ABBF-7554B542913B}"/>
              </a:ext>
            </a:extLst>
          </p:cNvPr>
          <p:cNvSpPr txBox="1"/>
          <p:nvPr/>
        </p:nvSpPr>
        <p:spPr>
          <a:xfrm>
            <a:off x="1667823" y="3365729"/>
            <a:ext cx="613224" cy="298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$25k</a:t>
            </a:r>
          </a:p>
        </p:txBody>
      </p:sp>
      <p:sp>
        <p:nvSpPr>
          <p:cNvPr id="235" name="Freeform: Shape 234">
            <a:extLst>
              <a:ext uri="{FF2B5EF4-FFF2-40B4-BE49-F238E27FC236}">
                <a16:creationId xmlns:a16="http://schemas.microsoft.com/office/drawing/2014/main" id="{38C60C14-36EE-B09C-18A5-52C350135E0B}"/>
              </a:ext>
            </a:extLst>
          </p:cNvPr>
          <p:cNvSpPr/>
          <p:nvPr/>
        </p:nvSpPr>
        <p:spPr>
          <a:xfrm>
            <a:off x="2278713" y="2838932"/>
            <a:ext cx="79377" cy="1586"/>
          </a:xfrm>
          <a:custGeom>
            <a:avLst/>
            <a:gdLst>
              <a:gd name="csX0" fmla="*/ 89888 w 89887"/>
              <a:gd name="csY0" fmla="*/ 0 h 1796"/>
              <a:gd name="csX1" fmla="*/ 0 w 89887"/>
              <a:gd name="csY1" fmla="*/ 0 h 1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9887" h="1796">
                <a:moveTo>
                  <a:pt x="89888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9828DB80-82DE-8A9C-9A83-7D47BD6CFEDD}"/>
              </a:ext>
            </a:extLst>
          </p:cNvPr>
          <p:cNvSpPr txBox="1"/>
          <p:nvPr/>
        </p:nvSpPr>
        <p:spPr>
          <a:xfrm>
            <a:off x="1667823" y="2681297"/>
            <a:ext cx="613224" cy="298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$26k</a:t>
            </a:r>
          </a:p>
        </p:txBody>
      </p:sp>
      <p:sp>
        <p:nvSpPr>
          <p:cNvPr id="237" name="Freeform: Shape 236">
            <a:extLst>
              <a:ext uri="{FF2B5EF4-FFF2-40B4-BE49-F238E27FC236}">
                <a16:creationId xmlns:a16="http://schemas.microsoft.com/office/drawing/2014/main" id="{ADBE4F32-B4F2-B94C-3DCC-222A459C62AE}"/>
              </a:ext>
            </a:extLst>
          </p:cNvPr>
          <p:cNvSpPr/>
          <p:nvPr/>
        </p:nvSpPr>
        <p:spPr>
          <a:xfrm>
            <a:off x="2278713" y="2154516"/>
            <a:ext cx="79377" cy="1586"/>
          </a:xfrm>
          <a:custGeom>
            <a:avLst/>
            <a:gdLst>
              <a:gd name="csX0" fmla="*/ 89888 w 89887"/>
              <a:gd name="csY0" fmla="*/ 0 h 1796"/>
              <a:gd name="csX1" fmla="*/ 0 w 89887"/>
              <a:gd name="csY1" fmla="*/ 0 h 1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9887" h="1796">
                <a:moveTo>
                  <a:pt x="89888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4A1BA1DA-271E-EAC1-4F3B-927F38886C82}"/>
              </a:ext>
            </a:extLst>
          </p:cNvPr>
          <p:cNvSpPr txBox="1"/>
          <p:nvPr/>
        </p:nvSpPr>
        <p:spPr>
          <a:xfrm>
            <a:off x="1667823" y="1996880"/>
            <a:ext cx="613224" cy="298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$27k</a:t>
            </a:r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037F2274-DE57-7911-A729-215DBF0F073F}"/>
              </a:ext>
            </a:extLst>
          </p:cNvPr>
          <p:cNvSpPr/>
          <p:nvPr/>
        </p:nvSpPr>
        <p:spPr>
          <a:xfrm>
            <a:off x="2278713" y="1470100"/>
            <a:ext cx="79377" cy="1586"/>
          </a:xfrm>
          <a:custGeom>
            <a:avLst/>
            <a:gdLst>
              <a:gd name="csX0" fmla="*/ 89888 w 89887"/>
              <a:gd name="csY0" fmla="*/ 0 h 1796"/>
              <a:gd name="csX1" fmla="*/ 0 w 89887"/>
              <a:gd name="csY1" fmla="*/ 0 h 1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9887" h="1796">
                <a:moveTo>
                  <a:pt x="89888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A1B18662-264A-80E6-ABAA-362902E1E255}"/>
              </a:ext>
            </a:extLst>
          </p:cNvPr>
          <p:cNvSpPr txBox="1"/>
          <p:nvPr/>
        </p:nvSpPr>
        <p:spPr>
          <a:xfrm>
            <a:off x="1667823" y="1312464"/>
            <a:ext cx="613224" cy="298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$28k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7A751C50-9487-85D0-2C59-389347858B91}"/>
              </a:ext>
            </a:extLst>
          </p:cNvPr>
          <p:cNvSpPr txBox="1"/>
          <p:nvPr/>
        </p:nvSpPr>
        <p:spPr>
          <a:xfrm rot="16200000">
            <a:off x="46674" y="3373865"/>
            <a:ext cx="2670042" cy="298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Child’s Income in Adulthood</a:t>
            </a:r>
          </a:p>
        </p:txBody>
      </p:sp>
      <p:sp>
        <p:nvSpPr>
          <p:cNvPr id="242" name="Freeform: Shape 241">
            <a:extLst>
              <a:ext uri="{FF2B5EF4-FFF2-40B4-BE49-F238E27FC236}">
                <a16:creationId xmlns:a16="http://schemas.microsoft.com/office/drawing/2014/main" id="{497059B7-57A1-9FAE-2091-DE0EC1963428}"/>
              </a:ext>
            </a:extLst>
          </p:cNvPr>
          <p:cNvSpPr/>
          <p:nvPr/>
        </p:nvSpPr>
        <p:spPr>
          <a:xfrm>
            <a:off x="2358091" y="5702517"/>
            <a:ext cx="7815538" cy="1586"/>
          </a:xfrm>
          <a:custGeom>
            <a:avLst/>
            <a:gdLst>
              <a:gd name="csX0" fmla="*/ 0 w 8850400"/>
              <a:gd name="csY0" fmla="*/ 0 h 1796"/>
              <a:gd name="csX1" fmla="*/ 8850401 w 8850400"/>
              <a:gd name="csY1" fmla="*/ 0 h 1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850400" h="1796">
                <a:moveTo>
                  <a:pt x="0" y="0"/>
                </a:moveTo>
                <a:lnTo>
                  <a:pt x="8850401" y="0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43" name="Freeform: Shape 242">
            <a:extLst>
              <a:ext uri="{FF2B5EF4-FFF2-40B4-BE49-F238E27FC236}">
                <a16:creationId xmlns:a16="http://schemas.microsoft.com/office/drawing/2014/main" id="{0C43648B-93A8-F397-93FA-226413B98A24}"/>
              </a:ext>
            </a:extLst>
          </p:cNvPr>
          <p:cNvSpPr/>
          <p:nvPr/>
        </p:nvSpPr>
        <p:spPr>
          <a:xfrm>
            <a:off x="2543400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3BD964AD-1980-3964-1111-7A15F8D4AD8A}"/>
              </a:ext>
            </a:extLst>
          </p:cNvPr>
          <p:cNvSpPr txBox="1"/>
          <p:nvPr/>
        </p:nvSpPr>
        <p:spPr>
          <a:xfrm>
            <a:off x="2309960" y="5737409"/>
            <a:ext cx="451849" cy="298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-10</a:t>
            </a:r>
          </a:p>
        </p:txBody>
      </p:sp>
      <p:sp>
        <p:nvSpPr>
          <p:cNvPr id="245" name="Freeform: Shape 244">
            <a:extLst>
              <a:ext uri="{FF2B5EF4-FFF2-40B4-BE49-F238E27FC236}">
                <a16:creationId xmlns:a16="http://schemas.microsoft.com/office/drawing/2014/main" id="{4E71F5E1-A440-3978-9530-C8533DE5F58C}"/>
              </a:ext>
            </a:extLst>
          </p:cNvPr>
          <p:cNvSpPr/>
          <p:nvPr/>
        </p:nvSpPr>
        <p:spPr>
          <a:xfrm>
            <a:off x="4405629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21A09F8D-0BCA-F3B2-2EFF-3DB5290EA910}"/>
              </a:ext>
            </a:extLst>
          </p:cNvPr>
          <p:cNvSpPr txBox="1"/>
          <p:nvPr/>
        </p:nvSpPr>
        <p:spPr>
          <a:xfrm>
            <a:off x="4230945" y="5737409"/>
            <a:ext cx="337189" cy="298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-5</a:t>
            </a:r>
          </a:p>
        </p:txBody>
      </p:sp>
      <p:sp>
        <p:nvSpPr>
          <p:cNvPr id="247" name="Freeform: Shape 246">
            <a:extLst>
              <a:ext uri="{FF2B5EF4-FFF2-40B4-BE49-F238E27FC236}">
                <a16:creationId xmlns:a16="http://schemas.microsoft.com/office/drawing/2014/main" id="{C72C0170-9692-FA3D-62A3-03A25BEC2691}"/>
              </a:ext>
            </a:extLst>
          </p:cNvPr>
          <p:cNvSpPr/>
          <p:nvPr/>
        </p:nvSpPr>
        <p:spPr>
          <a:xfrm>
            <a:off x="6267573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ED661A3B-3E35-9164-7C0D-6296A3342B23}"/>
              </a:ext>
            </a:extLst>
          </p:cNvPr>
          <p:cNvSpPr txBox="1"/>
          <p:nvPr/>
        </p:nvSpPr>
        <p:spPr>
          <a:xfrm>
            <a:off x="6128070" y="5737409"/>
            <a:ext cx="277735" cy="298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0</a:t>
            </a:r>
          </a:p>
        </p:txBody>
      </p:sp>
      <p:sp>
        <p:nvSpPr>
          <p:cNvPr id="249" name="Freeform: Shape 248">
            <a:extLst>
              <a:ext uri="{FF2B5EF4-FFF2-40B4-BE49-F238E27FC236}">
                <a16:creationId xmlns:a16="http://schemas.microsoft.com/office/drawing/2014/main" id="{0ADD0D90-1B65-849D-FF1E-275B1EE86BAC}"/>
              </a:ext>
            </a:extLst>
          </p:cNvPr>
          <p:cNvSpPr/>
          <p:nvPr/>
        </p:nvSpPr>
        <p:spPr>
          <a:xfrm>
            <a:off x="8129802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AC293A68-4A72-F362-80F4-3A21BC25E335}"/>
              </a:ext>
            </a:extLst>
          </p:cNvPr>
          <p:cNvSpPr txBox="1"/>
          <p:nvPr/>
        </p:nvSpPr>
        <p:spPr>
          <a:xfrm>
            <a:off x="7990298" y="5737409"/>
            <a:ext cx="277735" cy="298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5</a:t>
            </a:r>
          </a:p>
        </p:txBody>
      </p:sp>
      <p:sp>
        <p:nvSpPr>
          <p:cNvPr id="251" name="Freeform: Shape 250">
            <a:extLst>
              <a:ext uri="{FF2B5EF4-FFF2-40B4-BE49-F238E27FC236}">
                <a16:creationId xmlns:a16="http://schemas.microsoft.com/office/drawing/2014/main" id="{0891C51E-3D2D-7C05-DA10-E0E1C940915C}"/>
              </a:ext>
            </a:extLst>
          </p:cNvPr>
          <p:cNvSpPr/>
          <p:nvPr/>
        </p:nvSpPr>
        <p:spPr>
          <a:xfrm>
            <a:off x="9992032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52B26424-E2C0-EA99-734E-09E882F4EADD}"/>
              </a:ext>
            </a:extLst>
          </p:cNvPr>
          <p:cNvSpPr txBox="1"/>
          <p:nvPr/>
        </p:nvSpPr>
        <p:spPr>
          <a:xfrm>
            <a:off x="9793773" y="5737409"/>
            <a:ext cx="392395" cy="298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10</a:t>
            </a:r>
          </a:p>
        </p:txBody>
      </p:sp>
      <p:sp>
        <p:nvSpPr>
          <p:cNvPr id="253" name="Freeform: Shape 252">
            <a:extLst>
              <a:ext uri="{FF2B5EF4-FFF2-40B4-BE49-F238E27FC236}">
                <a16:creationId xmlns:a16="http://schemas.microsoft.com/office/drawing/2014/main" id="{D673E806-372B-8317-832E-3E1116B148D4}"/>
              </a:ext>
            </a:extLst>
          </p:cNvPr>
          <p:cNvSpPr/>
          <p:nvPr/>
        </p:nvSpPr>
        <p:spPr>
          <a:xfrm>
            <a:off x="2543400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54" name="Freeform: Shape 253">
            <a:extLst>
              <a:ext uri="{FF2B5EF4-FFF2-40B4-BE49-F238E27FC236}">
                <a16:creationId xmlns:a16="http://schemas.microsoft.com/office/drawing/2014/main" id="{0566B905-3B07-09B0-B4AA-7E837F146910}"/>
              </a:ext>
            </a:extLst>
          </p:cNvPr>
          <p:cNvSpPr/>
          <p:nvPr/>
        </p:nvSpPr>
        <p:spPr>
          <a:xfrm>
            <a:off x="2915731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55" name="Freeform: Shape 254">
            <a:extLst>
              <a:ext uri="{FF2B5EF4-FFF2-40B4-BE49-F238E27FC236}">
                <a16:creationId xmlns:a16="http://schemas.microsoft.com/office/drawing/2014/main" id="{141DF123-E2A5-31A2-E896-C6E77DA7B8DA}"/>
              </a:ext>
            </a:extLst>
          </p:cNvPr>
          <p:cNvSpPr/>
          <p:nvPr/>
        </p:nvSpPr>
        <p:spPr>
          <a:xfrm>
            <a:off x="3288063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56" name="Freeform: Shape 255">
            <a:extLst>
              <a:ext uri="{FF2B5EF4-FFF2-40B4-BE49-F238E27FC236}">
                <a16:creationId xmlns:a16="http://schemas.microsoft.com/office/drawing/2014/main" id="{C880B705-9FF5-4641-C548-6D5622A4F3C1}"/>
              </a:ext>
            </a:extLst>
          </p:cNvPr>
          <p:cNvSpPr/>
          <p:nvPr/>
        </p:nvSpPr>
        <p:spPr>
          <a:xfrm>
            <a:off x="3660680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57" name="Freeform: Shape 256">
            <a:extLst>
              <a:ext uri="{FF2B5EF4-FFF2-40B4-BE49-F238E27FC236}">
                <a16:creationId xmlns:a16="http://schemas.microsoft.com/office/drawing/2014/main" id="{B9850F79-030B-B392-C68D-09DCFFA03569}"/>
              </a:ext>
            </a:extLst>
          </p:cNvPr>
          <p:cNvSpPr/>
          <p:nvPr/>
        </p:nvSpPr>
        <p:spPr>
          <a:xfrm>
            <a:off x="4033012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58" name="Freeform: Shape 257">
            <a:extLst>
              <a:ext uri="{FF2B5EF4-FFF2-40B4-BE49-F238E27FC236}">
                <a16:creationId xmlns:a16="http://schemas.microsoft.com/office/drawing/2014/main" id="{F2C1BAD2-5A9D-30A7-DFA7-B0E5FE359357}"/>
              </a:ext>
            </a:extLst>
          </p:cNvPr>
          <p:cNvSpPr/>
          <p:nvPr/>
        </p:nvSpPr>
        <p:spPr>
          <a:xfrm>
            <a:off x="4405629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59" name="Freeform: Shape 258">
            <a:extLst>
              <a:ext uri="{FF2B5EF4-FFF2-40B4-BE49-F238E27FC236}">
                <a16:creationId xmlns:a16="http://schemas.microsoft.com/office/drawing/2014/main" id="{6ABF959C-B209-6C96-917E-162D7B1C5D29}"/>
              </a:ext>
            </a:extLst>
          </p:cNvPr>
          <p:cNvSpPr/>
          <p:nvPr/>
        </p:nvSpPr>
        <p:spPr>
          <a:xfrm>
            <a:off x="4777961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60" name="Freeform: Shape 259">
            <a:extLst>
              <a:ext uri="{FF2B5EF4-FFF2-40B4-BE49-F238E27FC236}">
                <a16:creationId xmlns:a16="http://schemas.microsoft.com/office/drawing/2014/main" id="{B3D32C0E-937C-9751-F357-A606DEC1C501}"/>
              </a:ext>
            </a:extLst>
          </p:cNvPr>
          <p:cNvSpPr/>
          <p:nvPr/>
        </p:nvSpPr>
        <p:spPr>
          <a:xfrm>
            <a:off x="5150292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61" name="Freeform: Shape 260">
            <a:extLst>
              <a:ext uri="{FF2B5EF4-FFF2-40B4-BE49-F238E27FC236}">
                <a16:creationId xmlns:a16="http://schemas.microsoft.com/office/drawing/2014/main" id="{2B1D49F6-B64B-C5F3-745F-7B644966E5D2}"/>
              </a:ext>
            </a:extLst>
          </p:cNvPr>
          <p:cNvSpPr/>
          <p:nvPr/>
        </p:nvSpPr>
        <p:spPr>
          <a:xfrm>
            <a:off x="5522909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62" name="Freeform: Shape 261">
            <a:extLst>
              <a:ext uri="{FF2B5EF4-FFF2-40B4-BE49-F238E27FC236}">
                <a16:creationId xmlns:a16="http://schemas.microsoft.com/office/drawing/2014/main" id="{67E012DC-B19D-8157-0124-F2B2931ECC35}"/>
              </a:ext>
            </a:extLst>
          </p:cNvPr>
          <p:cNvSpPr/>
          <p:nvPr/>
        </p:nvSpPr>
        <p:spPr>
          <a:xfrm>
            <a:off x="5895242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63" name="Freeform: Shape 262">
            <a:extLst>
              <a:ext uri="{FF2B5EF4-FFF2-40B4-BE49-F238E27FC236}">
                <a16:creationId xmlns:a16="http://schemas.microsoft.com/office/drawing/2014/main" id="{BAD3B394-63AB-CC0C-207A-53C0228BE9B3}"/>
              </a:ext>
            </a:extLst>
          </p:cNvPr>
          <p:cNvSpPr/>
          <p:nvPr/>
        </p:nvSpPr>
        <p:spPr>
          <a:xfrm>
            <a:off x="6267573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64" name="Freeform: Shape 263">
            <a:extLst>
              <a:ext uri="{FF2B5EF4-FFF2-40B4-BE49-F238E27FC236}">
                <a16:creationId xmlns:a16="http://schemas.microsoft.com/office/drawing/2014/main" id="{263FD14E-C4B1-E754-65BD-002F99DAD0E1}"/>
              </a:ext>
            </a:extLst>
          </p:cNvPr>
          <p:cNvSpPr/>
          <p:nvPr/>
        </p:nvSpPr>
        <p:spPr>
          <a:xfrm>
            <a:off x="6640190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65" name="Freeform: Shape 264">
            <a:extLst>
              <a:ext uri="{FF2B5EF4-FFF2-40B4-BE49-F238E27FC236}">
                <a16:creationId xmlns:a16="http://schemas.microsoft.com/office/drawing/2014/main" id="{E5F6C412-3EAF-B3A0-D10A-5F5E70037628}"/>
              </a:ext>
            </a:extLst>
          </p:cNvPr>
          <p:cNvSpPr/>
          <p:nvPr/>
        </p:nvSpPr>
        <p:spPr>
          <a:xfrm>
            <a:off x="7012522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66" name="Freeform: Shape 265">
            <a:extLst>
              <a:ext uri="{FF2B5EF4-FFF2-40B4-BE49-F238E27FC236}">
                <a16:creationId xmlns:a16="http://schemas.microsoft.com/office/drawing/2014/main" id="{4DDB1E2B-2F80-CB2D-2387-0074ABD320EA}"/>
              </a:ext>
            </a:extLst>
          </p:cNvPr>
          <p:cNvSpPr/>
          <p:nvPr/>
        </p:nvSpPr>
        <p:spPr>
          <a:xfrm>
            <a:off x="7385139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67" name="Freeform: Shape 266">
            <a:extLst>
              <a:ext uri="{FF2B5EF4-FFF2-40B4-BE49-F238E27FC236}">
                <a16:creationId xmlns:a16="http://schemas.microsoft.com/office/drawing/2014/main" id="{EB4E0512-C251-04A6-BE0D-02E5F02161C8}"/>
              </a:ext>
            </a:extLst>
          </p:cNvPr>
          <p:cNvSpPr/>
          <p:nvPr/>
        </p:nvSpPr>
        <p:spPr>
          <a:xfrm>
            <a:off x="7757470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68" name="Freeform: Shape 267">
            <a:extLst>
              <a:ext uri="{FF2B5EF4-FFF2-40B4-BE49-F238E27FC236}">
                <a16:creationId xmlns:a16="http://schemas.microsoft.com/office/drawing/2014/main" id="{33336B63-59E2-C04B-198F-B681D2959602}"/>
              </a:ext>
            </a:extLst>
          </p:cNvPr>
          <p:cNvSpPr/>
          <p:nvPr/>
        </p:nvSpPr>
        <p:spPr>
          <a:xfrm>
            <a:off x="8129802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69" name="Freeform: Shape 268">
            <a:extLst>
              <a:ext uri="{FF2B5EF4-FFF2-40B4-BE49-F238E27FC236}">
                <a16:creationId xmlns:a16="http://schemas.microsoft.com/office/drawing/2014/main" id="{78CB94B7-57DF-C6F3-983B-C17D53F68999}"/>
              </a:ext>
            </a:extLst>
          </p:cNvPr>
          <p:cNvSpPr/>
          <p:nvPr/>
        </p:nvSpPr>
        <p:spPr>
          <a:xfrm>
            <a:off x="8502420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70" name="Freeform: Shape 269">
            <a:extLst>
              <a:ext uri="{FF2B5EF4-FFF2-40B4-BE49-F238E27FC236}">
                <a16:creationId xmlns:a16="http://schemas.microsoft.com/office/drawing/2014/main" id="{B37BD993-0018-6DBA-3FDF-9050112ACE41}"/>
              </a:ext>
            </a:extLst>
          </p:cNvPr>
          <p:cNvSpPr/>
          <p:nvPr/>
        </p:nvSpPr>
        <p:spPr>
          <a:xfrm>
            <a:off x="8874751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71" name="Freeform: Shape 270">
            <a:extLst>
              <a:ext uri="{FF2B5EF4-FFF2-40B4-BE49-F238E27FC236}">
                <a16:creationId xmlns:a16="http://schemas.microsoft.com/office/drawing/2014/main" id="{46E18D2D-2220-24A0-B356-7805901FDDFA}"/>
              </a:ext>
            </a:extLst>
          </p:cNvPr>
          <p:cNvSpPr/>
          <p:nvPr/>
        </p:nvSpPr>
        <p:spPr>
          <a:xfrm>
            <a:off x="9247369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72" name="Freeform: Shape 271">
            <a:extLst>
              <a:ext uri="{FF2B5EF4-FFF2-40B4-BE49-F238E27FC236}">
                <a16:creationId xmlns:a16="http://schemas.microsoft.com/office/drawing/2014/main" id="{36C085C5-330B-E2CB-1736-394CEFC7A80D}"/>
              </a:ext>
            </a:extLst>
          </p:cNvPr>
          <p:cNvSpPr/>
          <p:nvPr/>
        </p:nvSpPr>
        <p:spPr>
          <a:xfrm>
            <a:off x="9619700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73" name="Freeform: Shape 272">
            <a:extLst>
              <a:ext uri="{FF2B5EF4-FFF2-40B4-BE49-F238E27FC236}">
                <a16:creationId xmlns:a16="http://schemas.microsoft.com/office/drawing/2014/main" id="{11DF9067-1DFA-ED4B-9D09-BEF75D8B73CF}"/>
              </a:ext>
            </a:extLst>
          </p:cNvPr>
          <p:cNvSpPr/>
          <p:nvPr/>
        </p:nvSpPr>
        <p:spPr>
          <a:xfrm>
            <a:off x="9992032" y="5702517"/>
            <a:ext cx="1586" cy="79377"/>
          </a:xfrm>
          <a:custGeom>
            <a:avLst/>
            <a:gdLst>
              <a:gd name="csX0" fmla="*/ 0 w 1796"/>
              <a:gd name="csY0" fmla="*/ 0 h 89887"/>
              <a:gd name="csX1" fmla="*/ 0 w 1796"/>
              <a:gd name="csY1" fmla="*/ 89888 h 89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96" h="89887">
                <a:moveTo>
                  <a:pt x="0" y="0"/>
                </a:moveTo>
                <a:lnTo>
                  <a:pt x="0" y="89888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1C178C54-29C7-6CFF-2372-C69C18FA5C56}"/>
              </a:ext>
            </a:extLst>
          </p:cNvPr>
          <p:cNvSpPr txBox="1"/>
          <p:nvPr/>
        </p:nvSpPr>
        <p:spPr>
          <a:xfrm>
            <a:off x="4643236" y="6026665"/>
            <a:ext cx="2831417" cy="298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Year Relative to HOPE VI Grant</a:t>
            </a:r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71067DEC-A76C-350F-9D1A-F49429D674DE}"/>
              </a:ext>
            </a:extLst>
          </p:cNvPr>
          <p:cNvSpPr/>
          <p:nvPr/>
        </p:nvSpPr>
        <p:spPr>
          <a:xfrm>
            <a:off x="2426618" y="1412993"/>
            <a:ext cx="3185091" cy="845456"/>
          </a:xfrm>
          <a:prstGeom prst="rect">
            <a:avLst/>
          </a:prstGeom>
          <a:solidFill>
            <a:srgbClr val="FFFFFF"/>
          </a:solidFill>
          <a:ln w="1796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353900FD-CC77-2C63-FBA3-4651B531E428}"/>
              </a:ext>
            </a:extLst>
          </p:cNvPr>
          <p:cNvSpPr/>
          <p:nvPr/>
        </p:nvSpPr>
        <p:spPr>
          <a:xfrm>
            <a:off x="2432328" y="1418704"/>
            <a:ext cx="3173671" cy="834034"/>
          </a:xfrm>
          <a:prstGeom prst="rect">
            <a:avLst/>
          </a:prstGeom>
          <a:noFill/>
          <a:ln w="12930" cap="flat">
            <a:solidFill>
              <a:srgbClr val="FFFFFF">
                <a:alpha val="0"/>
              </a:srgbClr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77" name="Oval 276">
            <a:extLst>
              <a:ext uri="{FF2B5EF4-FFF2-40B4-BE49-F238E27FC236}">
                <a16:creationId xmlns:a16="http://schemas.microsoft.com/office/drawing/2014/main" id="{BF7FADBB-718B-8239-0DAD-EAFD571061D9}"/>
              </a:ext>
            </a:extLst>
          </p:cNvPr>
          <p:cNvSpPr/>
          <p:nvPr/>
        </p:nvSpPr>
        <p:spPr>
          <a:xfrm>
            <a:off x="2499428" y="1648271"/>
            <a:ext cx="97080" cy="97080"/>
          </a:xfrm>
          <a:prstGeom prst="ellipse">
            <a:avLst/>
          </a:prstGeom>
          <a:solidFill>
            <a:srgbClr val="29B6A4"/>
          </a:solidFill>
          <a:ln w="1796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78" name="Oval 277">
            <a:extLst>
              <a:ext uri="{FF2B5EF4-FFF2-40B4-BE49-F238E27FC236}">
                <a16:creationId xmlns:a16="http://schemas.microsoft.com/office/drawing/2014/main" id="{868021F4-99CA-382D-7F39-E2899D3232B3}"/>
              </a:ext>
            </a:extLst>
          </p:cNvPr>
          <p:cNvSpPr/>
          <p:nvPr/>
        </p:nvSpPr>
        <p:spPr>
          <a:xfrm>
            <a:off x="2512277" y="1661120"/>
            <a:ext cx="71382" cy="71382"/>
          </a:xfrm>
          <a:prstGeom prst="ellipse">
            <a:avLst/>
          </a:prstGeom>
          <a:noFill/>
          <a:ln w="29093" cap="flat">
            <a:solidFill>
              <a:srgbClr val="29B6A4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79" name="Oval 278">
            <a:extLst>
              <a:ext uri="{FF2B5EF4-FFF2-40B4-BE49-F238E27FC236}">
                <a16:creationId xmlns:a16="http://schemas.microsoft.com/office/drawing/2014/main" id="{AEBF2425-387E-0552-BBE2-6F058A6430FB}"/>
              </a:ext>
            </a:extLst>
          </p:cNvPr>
          <p:cNvSpPr/>
          <p:nvPr/>
        </p:nvSpPr>
        <p:spPr>
          <a:xfrm>
            <a:off x="2499428" y="2025171"/>
            <a:ext cx="97080" cy="97080"/>
          </a:xfrm>
          <a:prstGeom prst="ellipse">
            <a:avLst/>
          </a:prstGeom>
          <a:solidFill>
            <a:srgbClr val="003A4F"/>
          </a:solidFill>
          <a:ln w="1796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80" name="Oval 279">
            <a:extLst>
              <a:ext uri="{FF2B5EF4-FFF2-40B4-BE49-F238E27FC236}">
                <a16:creationId xmlns:a16="http://schemas.microsoft.com/office/drawing/2014/main" id="{58B92302-9930-A2C3-6605-F89ADEED6914}"/>
              </a:ext>
            </a:extLst>
          </p:cNvPr>
          <p:cNvSpPr/>
          <p:nvPr/>
        </p:nvSpPr>
        <p:spPr>
          <a:xfrm>
            <a:off x="2512277" y="2038020"/>
            <a:ext cx="71382" cy="71382"/>
          </a:xfrm>
          <a:prstGeom prst="ellipse">
            <a:avLst/>
          </a:prstGeom>
          <a:noFill/>
          <a:ln w="29093" cap="flat">
            <a:solidFill>
              <a:srgbClr val="003A4F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38ADC9CE-734A-57C2-C82B-7FEF6A9B186E}"/>
              </a:ext>
            </a:extLst>
          </p:cNvPr>
          <p:cNvSpPr txBox="1"/>
          <p:nvPr/>
        </p:nvSpPr>
        <p:spPr>
          <a:xfrm>
            <a:off x="2621977" y="1447402"/>
            <a:ext cx="2524238" cy="298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Moved Out More Than One</a:t>
            </a: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FD4A5647-BAEF-5EE2-1C18-C92A8C81264A}"/>
              </a:ext>
            </a:extLst>
          </p:cNvPr>
          <p:cNvSpPr txBox="1"/>
          <p:nvPr/>
        </p:nvSpPr>
        <p:spPr>
          <a:xfrm>
            <a:off x="2621977" y="1645846"/>
            <a:ext cx="2469031" cy="298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Year Before HOPE VI Grant</a:t>
            </a: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54A333CF-3AC8-20A2-55FE-60885F6E7634}"/>
              </a:ext>
            </a:extLst>
          </p:cNvPr>
          <p:cNvSpPr txBox="1"/>
          <p:nvPr/>
        </p:nvSpPr>
        <p:spPr>
          <a:xfrm>
            <a:off x="2621977" y="1923381"/>
            <a:ext cx="2754976" cy="298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Moved In After HOPE VI Grant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1182E6-704A-9AF6-A166-5049BEEB8F59}"/>
              </a:ext>
            </a:extLst>
          </p:cNvPr>
          <p:cNvSpPr txBox="1"/>
          <p:nvPr/>
        </p:nvSpPr>
        <p:spPr>
          <a:xfrm>
            <a:off x="6219033" y="3521921"/>
            <a:ext cx="3947299" cy="1138773"/>
          </a:xfrm>
          <a:prstGeom prst="rect">
            <a:avLst/>
          </a:prstGeom>
          <a:noFill/>
          <a:ln w="6350">
            <a:solidFill>
              <a:srgbClr val="003A4F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3A4F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+$500K </a:t>
            </a:r>
            <a:b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29B6A4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in additional lifetime income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29B6A4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9319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BF8CB-1523-2443-63E4-2086B86D4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14EA96-2037-67CF-4632-24E0828978FD}"/>
              </a:ext>
            </a:extLst>
          </p:cNvPr>
          <p:cNvSpPr/>
          <p:nvPr/>
        </p:nvSpPr>
        <p:spPr>
          <a:xfrm>
            <a:off x="1501030" y="927743"/>
            <a:ext cx="9196612" cy="5743547"/>
          </a:xfrm>
          <a:custGeom>
            <a:avLst/>
            <a:gdLst>
              <a:gd name="connsiteX0" fmla="*/ 0 w 9196612"/>
              <a:gd name="connsiteY0" fmla="*/ 0 h 5743547"/>
              <a:gd name="connsiteX1" fmla="*/ 9196613 w 9196612"/>
              <a:gd name="connsiteY1" fmla="*/ 0 h 5743547"/>
              <a:gd name="connsiteX2" fmla="*/ 9196613 w 9196612"/>
              <a:gd name="connsiteY2" fmla="*/ 5743548 h 5743547"/>
              <a:gd name="connsiteX3" fmla="*/ 0 w 9196612"/>
              <a:gd name="connsiteY3" fmla="*/ 5743548 h 5743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96612" h="5743547">
                <a:moveTo>
                  <a:pt x="0" y="0"/>
                </a:moveTo>
                <a:lnTo>
                  <a:pt x="9196613" y="0"/>
                </a:lnTo>
                <a:lnTo>
                  <a:pt x="9196613" y="5743548"/>
                </a:lnTo>
                <a:lnTo>
                  <a:pt x="0" y="5743548"/>
                </a:lnTo>
                <a:close/>
              </a:path>
            </a:pathLst>
          </a:custGeom>
          <a:noFill/>
          <a:ln w="115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83" name="Rectangle 183">
            <a:extLst>
              <a:ext uri="{FF2B5EF4-FFF2-40B4-BE49-F238E27FC236}">
                <a16:creationId xmlns:a16="http://schemas.microsoft.com/office/drawing/2014/main" id="{22E45E0D-40BB-D7A4-59C7-12C89AAC8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351" y="598576"/>
            <a:ext cx="100990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 </a:t>
            </a:r>
            <a:endParaRPr kumimoji="0" lang="en-US" altLang="en-US" sz="1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pic>
        <p:nvPicPr>
          <p:cNvPr id="2" name="Picture 1" descr="A black and grey text&#10;&#10;Description automatically generated">
            <a:extLst>
              <a:ext uri="{FF2B5EF4-FFF2-40B4-BE49-F238E27FC236}">
                <a16:creationId xmlns:a16="http://schemas.microsoft.com/office/drawing/2014/main" id="{4F50E854-4753-92FB-B945-4A0A5B0711A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BAB0FF6-DDE9-C446-4E0A-A5D169C16432}"/>
              </a:ext>
            </a:extLst>
          </p:cNvPr>
          <p:cNvCxnSpPr>
            <a:cxnSpLocks/>
          </p:cNvCxnSpPr>
          <p:nvPr/>
        </p:nvCxnSpPr>
        <p:spPr>
          <a:xfrm>
            <a:off x="620980" y="6483107"/>
            <a:ext cx="109536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3B551D7-F3CC-9229-5AE5-46E8C2917A5B}"/>
              </a:ext>
            </a:extLst>
          </p:cNvPr>
          <p:cNvSpPr txBox="1"/>
          <p:nvPr/>
        </p:nvSpPr>
        <p:spPr>
          <a:xfrm>
            <a:off x="568592" y="6483107"/>
            <a:ext cx="8839200" cy="307756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l" defTabSz="1217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Source: 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Chetty, Diamond, Foster, Katz, Porter, Staiger, Tach (2026)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Lato" panose="020F0502020204030203" pitchFamily="34" charset="0"/>
              <a:cs typeface="Arial" pitchFamily="34" charset="0"/>
            </a:endParaRPr>
          </a:p>
        </p:txBody>
      </p: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61E62C57-3DCA-E653-82CE-7C7C334DB8FC}"/>
              </a:ext>
            </a:extLst>
          </p:cNvPr>
          <p:cNvSpPr/>
          <p:nvPr/>
        </p:nvSpPr>
        <p:spPr>
          <a:xfrm>
            <a:off x="2213587" y="5431880"/>
            <a:ext cx="8050475" cy="1631"/>
          </a:xfrm>
          <a:custGeom>
            <a:avLst/>
            <a:gdLst>
              <a:gd name="csX0" fmla="*/ 0 w 6962842"/>
              <a:gd name="csY0" fmla="*/ 0 h 1413"/>
              <a:gd name="csX1" fmla="*/ 6962843 w 6962842"/>
              <a:gd name="csY1" fmla="*/ 0 h 14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962842" h="1413">
                <a:moveTo>
                  <a:pt x="0" y="0"/>
                </a:moveTo>
                <a:lnTo>
                  <a:pt x="6962843" y="0"/>
                </a:lnTo>
              </a:path>
            </a:pathLst>
          </a:custGeom>
          <a:ln w="15252" cap="flat">
            <a:solidFill>
              <a:srgbClr val="808080">
                <a:alpha val="30000"/>
              </a:srgbClr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23EF26CF-3097-4C52-AAE5-8979177A5B68}"/>
              </a:ext>
            </a:extLst>
          </p:cNvPr>
          <p:cNvSpPr/>
          <p:nvPr/>
        </p:nvSpPr>
        <p:spPr>
          <a:xfrm>
            <a:off x="2343006" y="5431880"/>
            <a:ext cx="1798047" cy="122447"/>
          </a:xfrm>
          <a:prstGeom prst="rect">
            <a:avLst/>
          </a:prstGeom>
          <a:solidFill>
            <a:srgbClr val="FBB74F"/>
          </a:solidFill>
          <a:ln w="1412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02752F82-DC5F-D541-9FC8-D68886256433}"/>
              </a:ext>
            </a:extLst>
          </p:cNvPr>
          <p:cNvSpPr/>
          <p:nvPr/>
        </p:nvSpPr>
        <p:spPr>
          <a:xfrm>
            <a:off x="2348889" y="5437753"/>
            <a:ext cx="1786282" cy="110702"/>
          </a:xfrm>
          <a:prstGeom prst="rect">
            <a:avLst/>
          </a:prstGeom>
          <a:noFill/>
          <a:ln w="10168" cap="flat">
            <a:solidFill>
              <a:srgbClr val="FAA523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3F07F6CC-C214-33BE-67C6-2439CE93CC22}"/>
              </a:ext>
            </a:extLst>
          </p:cNvPr>
          <p:cNvSpPr/>
          <p:nvPr/>
        </p:nvSpPr>
        <p:spPr>
          <a:xfrm>
            <a:off x="5339654" y="4084953"/>
            <a:ext cx="1798047" cy="1346927"/>
          </a:xfrm>
          <a:prstGeom prst="rect">
            <a:avLst/>
          </a:prstGeom>
          <a:solidFill>
            <a:srgbClr val="54C5B6"/>
          </a:solidFill>
          <a:ln w="1412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C83198DB-060C-6AF1-C632-908163B62A19}"/>
              </a:ext>
            </a:extLst>
          </p:cNvPr>
          <p:cNvSpPr/>
          <p:nvPr/>
        </p:nvSpPr>
        <p:spPr>
          <a:xfrm>
            <a:off x="5345536" y="4090826"/>
            <a:ext cx="1786282" cy="1335182"/>
          </a:xfrm>
          <a:prstGeom prst="rect">
            <a:avLst/>
          </a:prstGeom>
          <a:noFill/>
          <a:ln w="10168" cap="flat">
            <a:solidFill>
              <a:srgbClr val="29B6A4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9C4BA561-51B7-E684-4727-0B061936E79E}"/>
              </a:ext>
            </a:extLst>
          </p:cNvPr>
          <p:cNvSpPr/>
          <p:nvPr/>
        </p:nvSpPr>
        <p:spPr>
          <a:xfrm>
            <a:off x="8336596" y="1580495"/>
            <a:ext cx="1798047" cy="3851385"/>
          </a:xfrm>
          <a:prstGeom prst="rect">
            <a:avLst/>
          </a:prstGeom>
          <a:solidFill>
            <a:srgbClr val="54C5B6"/>
          </a:solidFill>
          <a:ln w="1412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0FB2E842-9393-DA9F-6E45-E32179A87489}"/>
              </a:ext>
            </a:extLst>
          </p:cNvPr>
          <p:cNvSpPr/>
          <p:nvPr/>
        </p:nvSpPr>
        <p:spPr>
          <a:xfrm>
            <a:off x="8342478" y="1586368"/>
            <a:ext cx="1786282" cy="3839640"/>
          </a:xfrm>
          <a:prstGeom prst="rect">
            <a:avLst/>
          </a:prstGeom>
          <a:noFill/>
          <a:ln w="10168" cap="flat">
            <a:solidFill>
              <a:srgbClr val="29B6A4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66" name="Freeform: Shape 165">
            <a:extLst>
              <a:ext uri="{FF2B5EF4-FFF2-40B4-BE49-F238E27FC236}">
                <a16:creationId xmlns:a16="http://schemas.microsoft.com/office/drawing/2014/main" id="{558E20C5-19B8-7A3C-930E-783ECE473090}"/>
              </a:ext>
            </a:extLst>
          </p:cNvPr>
          <p:cNvSpPr/>
          <p:nvPr/>
        </p:nvSpPr>
        <p:spPr>
          <a:xfrm>
            <a:off x="2213587" y="1319154"/>
            <a:ext cx="1634" cy="4364376"/>
          </a:xfrm>
          <a:custGeom>
            <a:avLst/>
            <a:gdLst>
              <a:gd name="csX0" fmla="*/ 0 w 1413"/>
              <a:gd name="csY0" fmla="*/ 3781101 h 3781101"/>
              <a:gd name="csX1" fmla="*/ 0 w 1413"/>
              <a:gd name="csY1" fmla="*/ 0 h 378110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13" h="3781101">
                <a:moveTo>
                  <a:pt x="0" y="3781101"/>
                </a:moveTo>
                <a:lnTo>
                  <a:pt x="0" y="0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67" name="Freeform: Shape 166">
            <a:extLst>
              <a:ext uri="{FF2B5EF4-FFF2-40B4-BE49-F238E27FC236}">
                <a16:creationId xmlns:a16="http://schemas.microsoft.com/office/drawing/2014/main" id="{6F39A64F-C10A-ABF2-FFF6-CF0FB9F599FE}"/>
              </a:ext>
            </a:extLst>
          </p:cNvPr>
          <p:cNvSpPr/>
          <p:nvPr/>
        </p:nvSpPr>
        <p:spPr>
          <a:xfrm>
            <a:off x="2131817" y="5431880"/>
            <a:ext cx="81769" cy="1631"/>
          </a:xfrm>
          <a:custGeom>
            <a:avLst/>
            <a:gdLst>
              <a:gd name="csX0" fmla="*/ 70722 w 70722"/>
              <a:gd name="csY0" fmla="*/ 0 h 1413"/>
              <a:gd name="csX1" fmla="*/ 0 w 70722"/>
              <a:gd name="csY1" fmla="*/ 0 h 14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0722" h="1413">
                <a:moveTo>
                  <a:pt x="70722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FF255703-7A6F-47EE-5CE6-E3EB0F248A3D}"/>
              </a:ext>
            </a:extLst>
          </p:cNvPr>
          <p:cNvSpPr txBox="1"/>
          <p:nvPr/>
        </p:nvSpPr>
        <p:spPr>
          <a:xfrm>
            <a:off x="1743105" y="5258532"/>
            <a:ext cx="513762" cy="390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$0</a:t>
            </a:r>
          </a:p>
        </p:txBody>
      </p:sp>
      <p:sp>
        <p:nvSpPr>
          <p:cNvPr id="169" name="Freeform: Shape 168">
            <a:extLst>
              <a:ext uri="{FF2B5EF4-FFF2-40B4-BE49-F238E27FC236}">
                <a16:creationId xmlns:a16="http://schemas.microsoft.com/office/drawing/2014/main" id="{2D94277B-FDCC-AAC6-0800-AFDD808F16A0}"/>
              </a:ext>
            </a:extLst>
          </p:cNvPr>
          <p:cNvSpPr/>
          <p:nvPr/>
        </p:nvSpPr>
        <p:spPr>
          <a:xfrm>
            <a:off x="2131817" y="4635235"/>
            <a:ext cx="81769" cy="1631"/>
          </a:xfrm>
          <a:custGeom>
            <a:avLst/>
            <a:gdLst>
              <a:gd name="csX0" fmla="*/ 70722 w 70722"/>
              <a:gd name="csY0" fmla="*/ 0 h 1413"/>
              <a:gd name="csX1" fmla="*/ 0 w 70722"/>
              <a:gd name="csY1" fmla="*/ 0 h 14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0722" h="1413">
                <a:moveTo>
                  <a:pt x="70722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4B0F70B4-DC09-B523-1390-29E2801AA3FD}"/>
              </a:ext>
            </a:extLst>
          </p:cNvPr>
          <p:cNvSpPr txBox="1"/>
          <p:nvPr/>
        </p:nvSpPr>
        <p:spPr>
          <a:xfrm>
            <a:off x="1634275" y="4461870"/>
            <a:ext cx="652768" cy="390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$1k</a:t>
            </a:r>
          </a:p>
        </p:txBody>
      </p:sp>
      <p:sp>
        <p:nvSpPr>
          <p:cNvPr id="171" name="Freeform: Shape 170">
            <a:extLst>
              <a:ext uri="{FF2B5EF4-FFF2-40B4-BE49-F238E27FC236}">
                <a16:creationId xmlns:a16="http://schemas.microsoft.com/office/drawing/2014/main" id="{E57186EE-2BEC-99A8-4DB1-C0B356FA7E99}"/>
              </a:ext>
            </a:extLst>
          </p:cNvPr>
          <p:cNvSpPr/>
          <p:nvPr/>
        </p:nvSpPr>
        <p:spPr>
          <a:xfrm>
            <a:off x="2131817" y="3838589"/>
            <a:ext cx="81769" cy="1631"/>
          </a:xfrm>
          <a:custGeom>
            <a:avLst/>
            <a:gdLst>
              <a:gd name="csX0" fmla="*/ 70722 w 70722"/>
              <a:gd name="csY0" fmla="*/ 0 h 1413"/>
              <a:gd name="csX1" fmla="*/ 0 w 70722"/>
              <a:gd name="csY1" fmla="*/ 0 h 14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0722" h="1413">
                <a:moveTo>
                  <a:pt x="70722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CB99D4B6-5C34-48AC-0C3D-A029830C9972}"/>
              </a:ext>
            </a:extLst>
          </p:cNvPr>
          <p:cNvSpPr txBox="1"/>
          <p:nvPr/>
        </p:nvSpPr>
        <p:spPr>
          <a:xfrm>
            <a:off x="1634275" y="3665239"/>
            <a:ext cx="652768" cy="390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$2k</a:t>
            </a:r>
          </a:p>
        </p:txBody>
      </p:sp>
      <p:sp>
        <p:nvSpPr>
          <p:cNvPr id="173" name="Freeform: Shape 172">
            <a:extLst>
              <a:ext uri="{FF2B5EF4-FFF2-40B4-BE49-F238E27FC236}">
                <a16:creationId xmlns:a16="http://schemas.microsoft.com/office/drawing/2014/main" id="{F84C7785-762F-D8DF-A04A-EFA87F9D2939}"/>
              </a:ext>
            </a:extLst>
          </p:cNvPr>
          <p:cNvSpPr/>
          <p:nvPr/>
        </p:nvSpPr>
        <p:spPr>
          <a:xfrm>
            <a:off x="2131817" y="3041649"/>
            <a:ext cx="81769" cy="1631"/>
          </a:xfrm>
          <a:custGeom>
            <a:avLst/>
            <a:gdLst>
              <a:gd name="csX0" fmla="*/ 70722 w 70722"/>
              <a:gd name="csY0" fmla="*/ 0 h 1413"/>
              <a:gd name="csX1" fmla="*/ 0 w 70722"/>
              <a:gd name="csY1" fmla="*/ 0 h 14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0722" h="1413">
                <a:moveTo>
                  <a:pt x="70722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C16798D8-FB93-2BB8-90BD-F81448B9BDC6}"/>
              </a:ext>
            </a:extLst>
          </p:cNvPr>
          <p:cNvSpPr txBox="1"/>
          <p:nvPr/>
        </p:nvSpPr>
        <p:spPr>
          <a:xfrm>
            <a:off x="1634275" y="2868300"/>
            <a:ext cx="652768" cy="390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$3k</a:t>
            </a:r>
          </a:p>
        </p:txBody>
      </p:sp>
      <p:sp>
        <p:nvSpPr>
          <p:cNvPr id="175" name="Freeform: Shape 174">
            <a:extLst>
              <a:ext uri="{FF2B5EF4-FFF2-40B4-BE49-F238E27FC236}">
                <a16:creationId xmlns:a16="http://schemas.microsoft.com/office/drawing/2014/main" id="{1DA69FD3-4504-35C4-761B-693B1E10C89B}"/>
              </a:ext>
            </a:extLst>
          </p:cNvPr>
          <p:cNvSpPr/>
          <p:nvPr/>
        </p:nvSpPr>
        <p:spPr>
          <a:xfrm>
            <a:off x="2131817" y="2245003"/>
            <a:ext cx="81769" cy="1631"/>
          </a:xfrm>
          <a:custGeom>
            <a:avLst/>
            <a:gdLst>
              <a:gd name="csX0" fmla="*/ 70722 w 70722"/>
              <a:gd name="csY0" fmla="*/ 0 h 1413"/>
              <a:gd name="csX1" fmla="*/ 0 w 70722"/>
              <a:gd name="csY1" fmla="*/ 0 h 14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0722" h="1413">
                <a:moveTo>
                  <a:pt x="70722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CD0EADEB-EA56-1F5B-C739-7A84CAF45E19}"/>
              </a:ext>
            </a:extLst>
          </p:cNvPr>
          <p:cNvSpPr txBox="1"/>
          <p:nvPr/>
        </p:nvSpPr>
        <p:spPr>
          <a:xfrm>
            <a:off x="1634275" y="2071654"/>
            <a:ext cx="652768" cy="390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$4k</a:t>
            </a:r>
          </a:p>
        </p:txBody>
      </p:sp>
      <p:sp>
        <p:nvSpPr>
          <p:cNvPr id="177" name="Freeform: Shape 176">
            <a:extLst>
              <a:ext uri="{FF2B5EF4-FFF2-40B4-BE49-F238E27FC236}">
                <a16:creationId xmlns:a16="http://schemas.microsoft.com/office/drawing/2014/main" id="{263334B2-2191-7DCF-39F6-A66E7DDF151C}"/>
              </a:ext>
            </a:extLst>
          </p:cNvPr>
          <p:cNvSpPr/>
          <p:nvPr/>
        </p:nvSpPr>
        <p:spPr>
          <a:xfrm>
            <a:off x="2131817" y="1448356"/>
            <a:ext cx="81769" cy="1631"/>
          </a:xfrm>
          <a:custGeom>
            <a:avLst/>
            <a:gdLst>
              <a:gd name="csX0" fmla="*/ 70722 w 70722"/>
              <a:gd name="csY0" fmla="*/ 0 h 1413"/>
              <a:gd name="csX1" fmla="*/ 0 w 70722"/>
              <a:gd name="csY1" fmla="*/ 0 h 14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0722" h="1413">
                <a:moveTo>
                  <a:pt x="70722" y="0"/>
                </a:moveTo>
                <a:lnTo>
                  <a:pt x="0" y="0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A7E3763E-F1DA-43E3-529C-5B18C92721FB}"/>
              </a:ext>
            </a:extLst>
          </p:cNvPr>
          <p:cNvSpPr txBox="1"/>
          <p:nvPr/>
        </p:nvSpPr>
        <p:spPr>
          <a:xfrm>
            <a:off x="1634275" y="1274991"/>
            <a:ext cx="652768" cy="390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$5k</a:t>
            </a:r>
          </a:p>
        </p:txBody>
      </p:sp>
      <p:sp>
        <p:nvSpPr>
          <p:cNvPr id="181" name="Freeform: Shape 180">
            <a:extLst>
              <a:ext uri="{FF2B5EF4-FFF2-40B4-BE49-F238E27FC236}">
                <a16:creationId xmlns:a16="http://schemas.microsoft.com/office/drawing/2014/main" id="{E654C259-7B42-E44F-DCDA-FF040D4BF3C7}"/>
              </a:ext>
            </a:extLst>
          </p:cNvPr>
          <p:cNvSpPr/>
          <p:nvPr/>
        </p:nvSpPr>
        <p:spPr>
          <a:xfrm>
            <a:off x="2213587" y="5683531"/>
            <a:ext cx="8050475" cy="1631"/>
          </a:xfrm>
          <a:custGeom>
            <a:avLst/>
            <a:gdLst>
              <a:gd name="csX0" fmla="*/ 0 w 6962842"/>
              <a:gd name="csY0" fmla="*/ 0 h 1413"/>
              <a:gd name="csX1" fmla="*/ 6962843 w 6962842"/>
              <a:gd name="csY1" fmla="*/ 0 h 14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962842" h="1413">
                <a:moveTo>
                  <a:pt x="0" y="0"/>
                </a:moveTo>
                <a:lnTo>
                  <a:pt x="6962843" y="0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82" name="Freeform: Shape 181">
            <a:extLst>
              <a:ext uri="{FF2B5EF4-FFF2-40B4-BE49-F238E27FC236}">
                <a16:creationId xmlns:a16="http://schemas.microsoft.com/office/drawing/2014/main" id="{4554A7C9-0E51-2633-6385-9511A9CCCA12}"/>
              </a:ext>
            </a:extLst>
          </p:cNvPr>
          <p:cNvSpPr/>
          <p:nvPr/>
        </p:nvSpPr>
        <p:spPr>
          <a:xfrm>
            <a:off x="3241883" y="5683531"/>
            <a:ext cx="1634" cy="81632"/>
          </a:xfrm>
          <a:custGeom>
            <a:avLst/>
            <a:gdLst>
              <a:gd name="csX0" fmla="*/ 0 w 1413"/>
              <a:gd name="csY0" fmla="*/ 0 h 70722"/>
              <a:gd name="csX1" fmla="*/ 0 w 1413"/>
              <a:gd name="csY1" fmla="*/ 70722 h 70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13" h="70722">
                <a:moveTo>
                  <a:pt x="0" y="0"/>
                </a:moveTo>
                <a:lnTo>
                  <a:pt x="0" y="70722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4C25AA2B-6A03-B1F2-76B0-1BBA4BF912A5}"/>
              </a:ext>
            </a:extLst>
          </p:cNvPr>
          <p:cNvSpPr txBox="1"/>
          <p:nvPr/>
        </p:nvSpPr>
        <p:spPr>
          <a:xfrm>
            <a:off x="2936514" y="5708160"/>
            <a:ext cx="669449" cy="390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Low</a:t>
            </a:r>
          </a:p>
        </p:txBody>
      </p:sp>
      <p:sp>
        <p:nvSpPr>
          <p:cNvPr id="184" name="Freeform: Shape 183">
            <a:extLst>
              <a:ext uri="{FF2B5EF4-FFF2-40B4-BE49-F238E27FC236}">
                <a16:creationId xmlns:a16="http://schemas.microsoft.com/office/drawing/2014/main" id="{5A92E551-A2F5-C08B-56A7-B7B1D62923E7}"/>
              </a:ext>
            </a:extLst>
          </p:cNvPr>
          <p:cNvSpPr/>
          <p:nvPr/>
        </p:nvSpPr>
        <p:spPr>
          <a:xfrm>
            <a:off x="6238825" y="5683531"/>
            <a:ext cx="1634" cy="81632"/>
          </a:xfrm>
          <a:custGeom>
            <a:avLst/>
            <a:gdLst>
              <a:gd name="csX0" fmla="*/ 0 w 1413"/>
              <a:gd name="csY0" fmla="*/ 0 h 70722"/>
              <a:gd name="csX1" fmla="*/ 0 w 1413"/>
              <a:gd name="csY1" fmla="*/ 70722 h 70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13" h="70722">
                <a:moveTo>
                  <a:pt x="0" y="0"/>
                </a:moveTo>
                <a:lnTo>
                  <a:pt x="0" y="70722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FD9A4AC5-82D2-F0FA-4A68-E75BD121AB24}"/>
              </a:ext>
            </a:extLst>
          </p:cNvPr>
          <p:cNvSpPr txBox="1"/>
          <p:nvPr/>
        </p:nvSpPr>
        <p:spPr>
          <a:xfrm>
            <a:off x="5812510" y="5708160"/>
            <a:ext cx="986381" cy="390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Middle</a:t>
            </a:r>
          </a:p>
        </p:txBody>
      </p:sp>
      <p:sp>
        <p:nvSpPr>
          <p:cNvPr id="186" name="Freeform: Shape 185">
            <a:extLst>
              <a:ext uri="{FF2B5EF4-FFF2-40B4-BE49-F238E27FC236}">
                <a16:creationId xmlns:a16="http://schemas.microsoft.com/office/drawing/2014/main" id="{D94FA7F9-264C-9D99-372B-D9A9FC737F29}"/>
              </a:ext>
            </a:extLst>
          </p:cNvPr>
          <p:cNvSpPr/>
          <p:nvPr/>
        </p:nvSpPr>
        <p:spPr>
          <a:xfrm>
            <a:off x="9235472" y="5683531"/>
            <a:ext cx="1634" cy="81632"/>
          </a:xfrm>
          <a:custGeom>
            <a:avLst/>
            <a:gdLst>
              <a:gd name="csX0" fmla="*/ 0 w 1413"/>
              <a:gd name="csY0" fmla="*/ 0 h 70722"/>
              <a:gd name="csX1" fmla="*/ 0 w 1413"/>
              <a:gd name="csY1" fmla="*/ 70722 h 70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13" h="70722">
                <a:moveTo>
                  <a:pt x="0" y="0"/>
                </a:moveTo>
                <a:lnTo>
                  <a:pt x="0" y="70722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6E5017CE-71A9-4D46-99D3-A9FC1AE466B4}"/>
              </a:ext>
            </a:extLst>
          </p:cNvPr>
          <p:cNvSpPr txBox="1"/>
          <p:nvPr/>
        </p:nvSpPr>
        <p:spPr>
          <a:xfrm>
            <a:off x="8905925" y="5708160"/>
            <a:ext cx="750998" cy="390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High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EF0AD428-CC84-7103-6894-40E4710A0116}"/>
              </a:ext>
            </a:extLst>
          </p:cNvPr>
          <p:cNvSpPr txBox="1"/>
          <p:nvPr/>
        </p:nvSpPr>
        <p:spPr>
          <a:xfrm>
            <a:off x="2438356" y="6054676"/>
            <a:ext cx="76006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Average Income in Adulthood for Similar Children Living Within One Mile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C11E3FD-12C7-0402-4BD9-69C3DE7BA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36" y="375319"/>
            <a:ext cx="104994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Impacts of Revitalization by Incomes in Surrounding Community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27BC070-051A-E0FB-38D4-A8CFA2D09927}"/>
              </a:ext>
            </a:extLst>
          </p:cNvPr>
          <p:cNvSpPr txBox="1"/>
          <p:nvPr/>
        </p:nvSpPr>
        <p:spPr>
          <a:xfrm rot="16200000">
            <a:off x="-769114" y="3102932"/>
            <a:ext cx="38603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Impact of HOPE VI Revitalization </a:t>
            </a:r>
            <a:br>
              <a:rPr kumimoji="0" lang="en-US" sz="1600" b="0" i="0" u="none" strike="noStrike" kern="1200" cap="none" spc="0" normalizeH="0" baseline="0" noProof="0" dirty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</a:br>
            <a:r>
              <a:rPr kumimoji="0" lang="en-US" sz="1600" b="0" i="0" u="none" strike="noStrike" kern="1200" cap="none" spc="0" normalizeH="0" baseline="0" noProof="0" dirty="0">
                <a:ln/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Helvetica"/>
                <a:sym typeface="Helvetica"/>
                <a:rtl val="0"/>
              </a:rPr>
              <a:t>on Children’s Earnings in Adulthood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30309D9-2F13-E6E4-C186-B7F93CD051C8}"/>
              </a:ext>
            </a:extLst>
          </p:cNvPr>
          <p:cNvCxnSpPr>
            <a:cxnSpLocks/>
          </p:cNvCxnSpPr>
          <p:nvPr/>
        </p:nvCxnSpPr>
        <p:spPr>
          <a:xfrm>
            <a:off x="620980" y="8358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3514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D5F8D-6B0F-FA95-7F26-27AD7DB5C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A5A3C69-6FCC-FD3A-D830-280AD66E6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328" y="1711615"/>
            <a:ext cx="5438743" cy="3554405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673AB75-0D63-9D44-ACF1-6D1B33ED0C91}"/>
              </a:ext>
            </a:extLst>
          </p:cNvPr>
          <p:cNvSpPr txBox="1">
            <a:spLocks/>
          </p:cNvSpPr>
          <p:nvPr/>
        </p:nvSpPr>
        <p:spPr>
          <a:xfrm>
            <a:off x="582152" y="1609202"/>
            <a:ext cx="5513848" cy="1196256"/>
          </a:xfrm>
          <a:prstGeom prst="rect">
            <a:avLst/>
          </a:prstGeom>
        </p:spPr>
        <p:txBody>
          <a:bodyPr vert="horz" lIns="91160" tIns="45718" rIns="91160" bIns="45718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anose="020B0604020202020204" pitchFamily="34" charset="0"/>
              </a:rPr>
              <a:t>Comprehensive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9B6A4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anose="020B0604020202020204" pitchFamily="34" charset="0"/>
              </a:rPr>
              <a:t>student support program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anose="020B0604020202020204" pitchFamily="34" charset="0"/>
              </a:rPr>
              <a:t> that provides services to help students overcome barriers:</a:t>
            </a:r>
          </a:p>
          <a:p>
            <a:pPr lvl="0" fontAlgn="base">
              <a:spcAft>
                <a:spcPct val="0"/>
              </a:spcAft>
              <a:defRPr/>
            </a:pPr>
            <a:r>
              <a:rPr lang="en-US" sz="2400" dirty="0">
                <a:solidFill>
                  <a:prstClr val="black"/>
                </a:solidFill>
                <a:latin typeface="Lucida Sans" panose="020B0602030504020204" pitchFamily="34" charset="0"/>
                <a:cs typeface="Arial" panose="020B0604020202020204" pitchFamily="34" charset="0"/>
              </a:rPr>
              <a:t>Academic tutoring</a:t>
            </a:r>
          </a:p>
          <a:p>
            <a:pPr lvl="0" fontAlgn="base">
              <a:spcAft>
                <a:spcPct val="0"/>
              </a:spcAft>
              <a:defRPr/>
            </a:pPr>
            <a:r>
              <a:rPr lang="en-US" sz="2400" dirty="0">
                <a:solidFill>
                  <a:prstClr val="black"/>
                </a:solidFill>
                <a:latin typeface="Lucida Sans" panose="020B0602030504020204" pitchFamily="34" charset="0"/>
                <a:cs typeface="Arial" panose="020B0604020202020204" pitchFamily="34" charset="0"/>
              </a:rPr>
              <a:t>Mental health counseling</a:t>
            </a:r>
          </a:p>
          <a:p>
            <a:pPr lvl="0" fontAlgn="base">
              <a:spcAft>
                <a:spcPct val="0"/>
              </a:spcAft>
              <a:defRPr/>
            </a:pPr>
            <a:r>
              <a:rPr lang="en-US" sz="2400" dirty="0">
                <a:solidFill>
                  <a:prstClr val="black"/>
                </a:solidFill>
                <a:latin typeface="Lucida Sans" panose="020B0602030504020204" pitchFamily="34" charset="0"/>
                <a:cs typeface="Arial" panose="020B0604020202020204" pitchFamily="34" charset="0"/>
              </a:rPr>
              <a:t>Basic needs assistance</a:t>
            </a:r>
          </a:p>
          <a:p>
            <a:pPr lvl="0" fontAlgn="base">
              <a:spcAft>
                <a:spcPct val="0"/>
              </a:spcAft>
              <a:defRPr/>
            </a:pPr>
            <a:r>
              <a:rPr lang="en-US" sz="2400" dirty="0">
                <a:solidFill>
                  <a:prstClr val="black"/>
                </a:solidFill>
                <a:latin typeface="Lucida Sans" panose="020B0602030504020204" pitchFamily="34" charset="0"/>
                <a:cs typeface="Arial" panose="020B0604020202020204" pitchFamily="34" charset="0"/>
              </a:rPr>
              <a:t>Family engagement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b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anose="020B0604020202020204" pitchFamily="34" charset="0"/>
              </a:rPr>
            </a:b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AutoShape 94">
            <a:extLst>
              <a:ext uri="{FF2B5EF4-FFF2-40B4-BE49-F238E27FC236}">
                <a16:creationId xmlns:a16="http://schemas.microsoft.com/office/drawing/2014/main" id="{02F752A6-3A57-F6D4-AD4B-E63266B8670D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524057" y="277836"/>
            <a:ext cx="9144001" cy="665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152" tIns="45718" rIns="91152" bIns="45718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2191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3" name="Rectangle 183">
            <a:extLst>
              <a:ext uri="{FF2B5EF4-FFF2-40B4-BE49-F238E27FC236}">
                <a16:creationId xmlns:a16="http://schemas.microsoft.com/office/drawing/2014/main" id="{E15C9306-2D9F-D102-20CF-2909449CE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351" y="598576"/>
            <a:ext cx="0" cy="357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1E2D53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 </a:t>
            </a:r>
            <a:endParaRPr kumimoji="0" lang="en-US" alt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B35BD8-9F42-7E4E-0AA0-CE51837EB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36" y="375319"/>
            <a:ext cx="104994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Communities in Schools</a:t>
            </a:r>
          </a:p>
        </p:txBody>
      </p:sp>
      <p:pic>
        <p:nvPicPr>
          <p:cNvPr id="9" name="Picture 8" descr="A black and grey text&#10;&#10;Description automatically generated">
            <a:extLst>
              <a:ext uri="{FF2B5EF4-FFF2-40B4-BE49-F238E27FC236}">
                <a16:creationId xmlns:a16="http://schemas.microsoft.com/office/drawing/2014/main" id="{77DFD50F-9D90-B39F-95E6-47CF6875F8F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6627085-EC1C-C8F9-9CAC-A10FEFF88F65}"/>
              </a:ext>
            </a:extLst>
          </p:cNvPr>
          <p:cNvCxnSpPr>
            <a:cxnSpLocks/>
          </p:cNvCxnSpPr>
          <p:nvPr/>
        </p:nvCxnSpPr>
        <p:spPr>
          <a:xfrm>
            <a:off x="620980" y="8358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Home - Communities In Schools">
            <a:extLst>
              <a:ext uri="{FF2B5EF4-FFF2-40B4-BE49-F238E27FC236}">
                <a16:creationId xmlns:a16="http://schemas.microsoft.com/office/drawing/2014/main" id="{B1B47CFD-882C-1C9A-D4C8-FD11E082D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205" y="5469859"/>
            <a:ext cx="2220770" cy="689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9512C6-7050-5BC8-4676-93B40C9F3B9A}"/>
              </a:ext>
            </a:extLst>
          </p:cNvPr>
          <p:cNvSpPr txBox="1"/>
          <p:nvPr/>
        </p:nvSpPr>
        <p:spPr>
          <a:xfrm>
            <a:off x="620980" y="4984371"/>
            <a:ext cx="4443586" cy="1200329"/>
          </a:xfrm>
          <a:prstGeom prst="rect">
            <a:avLst/>
          </a:prstGeom>
          <a:noFill/>
          <a:ln w="6350">
            <a:solidFill>
              <a:srgbClr val="29B6A4"/>
            </a:solidFill>
          </a:ln>
        </p:spPr>
        <p:txBody>
          <a:bodyPr wrap="square" rtlCol="0">
            <a:spAutoFit/>
          </a:bodyPr>
          <a:lstStyle/>
          <a:p>
            <a:pPr lvl="0" algn="ctr" defTabSz="914411"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29B6A4"/>
                </a:solidFill>
                <a:effectLst/>
                <a:uLnTx/>
                <a:uFillTx/>
                <a:latin typeface="Lucida Bright" panose="02040602050505020304" pitchFamily="18" charset="0"/>
                <a:cs typeface="Arial" pitchFamily="34" charset="0"/>
              </a:rPr>
              <a:t>+$100K </a:t>
            </a:r>
            <a:b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29B6A4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</a:br>
            <a:r>
              <a:rPr lang="en-US" sz="2400" dirty="0">
                <a:solidFill>
                  <a:prstClr val="black"/>
                </a:solidFill>
                <a:latin typeface="Lucida Sans" panose="020B0602030504020204" pitchFamily="34" charset="0"/>
                <a:cs typeface="Arial" pitchFamily="34" charset="0"/>
              </a:rPr>
              <a:t>in additional lifetime income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29B6A4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55E243B-15D3-D52F-65E7-7383858B7D6C}"/>
              </a:ext>
            </a:extLst>
          </p:cNvPr>
          <p:cNvCxnSpPr>
            <a:cxnSpLocks/>
          </p:cNvCxnSpPr>
          <p:nvPr/>
        </p:nvCxnSpPr>
        <p:spPr>
          <a:xfrm>
            <a:off x="620980" y="6483107"/>
            <a:ext cx="109536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01B5BED-F17A-125E-5386-459E2A757201}"/>
              </a:ext>
            </a:extLst>
          </p:cNvPr>
          <p:cNvSpPr txBox="1"/>
          <p:nvPr/>
        </p:nvSpPr>
        <p:spPr>
          <a:xfrm>
            <a:off x="568592" y="6483107"/>
            <a:ext cx="8839200" cy="307756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l" defTabSz="1217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Source: 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Goldman, Gracie, and Porter (2025)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Lato" panose="020F0502020204030203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4442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I Colors">
    <a:dk1>
      <a:srgbClr val="262626"/>
    </a:dk1>
    <a:lt1>
      <a:srgbClr val="FFFFFF"/>
    </a:lt1>
    <a:dk2>
      <a:srgbClr val="29B6A4"/>
    </a:dk2>
    <a:lt2>
      <a:srgbClr val="2B8F43"/>
    </a:lt2>
    <a:accent1>
      <a:srgbClr val="6BBD43"/>
    </a:accent1>
    <a:accent2>
      <a:srgbClr val="015B59"/>
    </a:accent2>
    <a:accent3>
      <a:srgbClr val="7BCDCE"/>
    </a:accent3>
    <a:accent4>
      <a:srgbClr val="0073A2"/>
    </a:accent4>
    <a:accent5>
      <a:srgbClr val="7F4892"/>
    </a:accent5>
    <a:accent6>
      <a:srgbClr val="E54060"/>
    </a:accent6>
    <a:hlink>
      <a:srgbClr val="FAA523"/>
    </a:hlink>
    <a:folHlink>
      <a:srgbClr val="FFD400"/>
    </a:folHlink>
  </a:clrScheme>
  <a:fontScheme name="OI Fonts">
    <a:majorFont>
      <a:latin typeface="Lora"/>
      <a:ea typeface=""/>
      <a:cs typeface=""/>
    </a:majorFont>
    <a:minorFont>
      <a:latin typeface="Source Sans Pro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625</Words>
  <Application>Microsoft Office PowerPoint</Application>
  <PresentationFormat>Widescreen</PresentationFormat>
  <Paragraphs>146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Aptos</vt:lpstr>
      <vt:lpstr>Lucida Sans</vt:lpstr>
      <vt:lpstr>Calibri</vt:lpstr>
      <vt:lpstr>Aptos Display</vt:lpstr>
      <vt:lpstr>Lucida Bright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Harvard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Leff, Emily C</dc:creator>
  <cp:lastModifiedBy>Leff, Emily C</cp:lastModifiedBy>
  <cp:revision>3</cp:revision>
  <dcterms:created xsi:type="dcterms:W3CDTF">2025-05-29T10:30:08Z</dcterms:created>
  <dcterms:modified xsi:type="dcterms:W3CDTF">2026-05-06T15:52:46Z</dcterms:modified>
</cp:coreProperties>
</file>