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73" r:id="rId3"/>
    <p:sldMasterId id="2147483686" r:id="rId4"/>
  </p:sldMasterIdLst>
  <p:notesMasterIdLst>
    <p:notesMasterId r:id="rId31"/>
  </p:notesMasterIdLst>
  <p:sldIdLst>
    <p:sldId id="4505" r:id="rId5"/>
    <p:sldId id="4464" r:id="rId6"/>
    <p:sldId id="9753" r:id="rId7"/>
    <p:sldId id="9754" r:id="rId8"/>
    <p:sldId id="9689" r:id="rId9"/>
    <p:sldId id="9688" r:id="rId10"/>
    <p:sldId id="9687" r:id="rId11"/>
    <p:sldId id="9245" r:id="rId12"/>
    <p:sldId id="9755" r:id="rId13"/>
    <p:sldId id="9771" r:id="rId14"/>
    <p:sldId id="9121" r:id="rId15"/>
    <p:sldId id="9183" r:id="rId16"/>
    <p:sldId id="9207" r:id="rId17"/>
    <p:sldId id="9209" r:id="rId18"/>
    <p:sldId id="9464" r:id="rId19"/>
    <p:sldId id="3615" r:id="rId20"/>
    <p:sldId id="9372" r:id="rId21"/>
    <p:sldId id="9373" r:id="rId22"/>
    <p:sldId id="9044" r:id="rId23"/>
    <p:sldId id="9045" r:id="rId24"/>
    <p:sldId id="9166" r:id="rId25"/>
    <p:sldId id="9211" r:id="rId26"/>
    <p:sldId id="9430" r:id="rId27"/>
    <p:sldId id="9009" r:id="rId28"/>
    <p:sldId id="4200" r:id="rId29"/>
    <p:sldId id="9465" r:id="rId30"/>
  </p:sldIdLst>
  <p:sldSz cx="12192000" cy="6858000"/>
  <p:notesSz cx="6858000" cy="9144000"/>
  <p:embeddedFontLst>
    <p:embeddedFont>
      <p:font typeface="Lucida Bright" panose="02040602050505020304" pitchFamily="18" charset="0"/>
      <p:regular r:id="rId32"/>
      <p:bold r:id="rId33"/>
      <p:italic r:id="rId34"/>
      <p:boldItalic r:id="rId35"/>
    </p:embeddedFont>
    <p:embeddedFont>
      <p:font typeface="Lucida Sans" panose="020B0602030504020204" pitchFamily="34" charset="0"/>
      <p:regular r:id="rId36"/>
      <p:bold r:id="rId37"/>
      <p:italic r:id="rId38"/>
      <p:boldItalic r:id="rId39"/>
    </p:embeddedFont>
    <p:embeddedFont>
      <p:font typeface="Source Sans Pro" panose="020B0503030403020204" pitchFamily="34" charset="0"/>
      <p:regular r:id="rId40"/>
      <p:bold r:id="rId41"/>
      <p:italic r:id="rId42"/>
      <p:bold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B253E3-844B-4DBE-9A5C-C97B069A25DA}" v="2" dt="2025-05-29T10:56:14.8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94660"/>
  </p:normalViewPr>
  <p:slideViewPr>
    <p:cSldViewPr snapToGrid="0">
      <p:cViewPr varScale="1">
        <p:scale>
          <a:sx n="101" d="100"/>
          <a:sy n="101" d="100"/>
        </p:scale>
        <p:origin x="49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4.fntdata"/><Relationship Id="rId43" Type="http://schemas.openxmlformats.org/officeDocument/2006/relationships/font" Target="fonts/font12.fntdata"/><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ff, Emily C" userId="bd8dcee0-2e5a-4398-9aec-89b2bd080e78" providerId="ADAL" clId="{5CB253E3-844B-4DBE-9A5C-C97B069A25DA}"/>
    <pc:docChg chg="addSld delSld modSld">
      <pc:chgData name="Leff, Emily C" userId="bd8dcee0-2e5a-4398-9aec-89b2bd080e78" providerId="ADAL" clId="{5CB253E3-844B-4DBE-9A5C-C97B069A25DA}" dt="2025-05-29T10:56:28.564" v="4"/>
      <pc:docMkLst>
        <pc:docMk/>
      </pc:docMkLst>
      <pc:sldChg chg="add modNotesTx">
        <pc:chgData name="Leff, Emily C" userId="bd8dcee0-2e5a-4398-9aec-89b2bd080e78" providerId="ADAL" clId="{5CB253E3-844B-4DBE-9A5C-C97B069A25DA}" dt="2025-05-29T10:56:28.564" v="4"/>
        <pc:sldMkLst>
          <pc:docMk/>
          <pc:sldMk cId="599210740" sldId="9230"/>
        </pc:sldMkLst>
      </pc:sldChg>
      <pc:sldChg chg="add">
        <pc:chgData name="Leff, Emily C" userId="bd8dcee0-2e5a-4398-9aec-89b2bd080e78" providerId="ADAL" clId="{5CB253E3-844B-4DBE-9A5C-C97B069A25DA}" dt="2025-05-29T10:56:14.854" v="1"/>
        <pc:sldMkLst>
          <pc:docMk/>
          <pc:sldMk cId="3007824258" sldId="9231"/>
        </pc:sldMkLst>
      </pc:sldChg>
      <pc:sldChg chg="add">
        <pc:chgData name="Leff, Emily C" userId="bd8dcee0-2e5a-4398-9aec-89b2bd080e78" providerId="ADAL" clId="{5CB253E3-844B-4DBE-9A5C-C97B069A25DA}" dt="2025-05-29T10:56:14.854" v="1"/>
        <pc:sldMkLst>
          <pc:docMk/>
          <pc:sldMk cId="1981823270" sldId="9232"/>
        </pc:sldMkLst>
      </pc:sldChg>
      <pc:sldChg chg="add">
        <pc:chgData name="Leff, Emily C" userId="bd8dcee0-2e5a-4398-9aec-89b2bd080e78" providerId="ADAL" clId="{5CB253E3-844B-4DBE-9A5C-C97B069A25DA}" dt="2025-05-29T10:56:14.854" v="1"/>
        <pc:sldMkLst>
          <pc:docMk/>
          <pc:sldMk cId="3173404738" sldId="9233"/>
        </pc:sldMkLst>
      </pc:sldChg>
      <pc:sldChg chg="add modNotesTx">
        <pc:chgData name="Leff, Emily C" userId="bd8dcee0-2e5a-4398-9aec-89b2bd080e78" providerId="ADAL" clId="{5CB253E3-844B-4DBE-9A5C-C97B069A25DA}" dt="2025-05-29T10:56:25.031" v="3"/>
        <pc:sldMkLst>
          <pc:docMk/>
          <pc:sldMk cId="2059701075" sldId="9463"/>
        </pc:sldMkLst>
      </pc:sldChg>
      <pc:sldChg chg="del">
        <pc:chgData name="Leff, Emily C" userId="bd8dcee0-2e5a-4398-9aec-89b2bd080e78" providerId="ADAL" clId="{5CB253E3-844B-4DBE-9A5C-C97B069A25DA}" dt="2025-05-29T10:56:19.375" v="2" actId="47"/>
        <pc:sldMkLst>
          <pc:docMk/>
          <pc:sldMk cId="4190695302" sldId="9660"/>
        </pc:sldMkLst>
      </pc:sldChg>
      <pc:sldChg chg="del">
        <pc:chgData name="Leff, Emily C" userId="bd8dcee0-2e5a-4398-9aec-89b2bd080e78" providerId="ADAL" clId="{5CB253E3-844B-4DBE-9A5C-C97B069A25DA}" dt="2025-05-29T10:56:19.375" v="2" actId="47"/>
        <pc:sldMkLst>
          <pc:docMk/>
          <pc:sldMk cId="4081293860" sldId="9661"/>
        </pc:sldMkLst>
      </pc:sldChg>
      <pc:sldChg chg="del">
        <pc:chgData name="Leff, Emily C" userId="bd8dcee0-2e5a-4398-9aec-89b2bd080e78" providerId="ADAL" clId="{5CB253E3-844B-4DBE-9A5C-C97B069A25DA}" dt="2025-05-29T10:56:19.375" v="2" actId="47"/>
        <pc:sldMkLst>
          <pc:docMk/>
          <pc:sldMk cId="116950507" sldId="9662"/>
        </pc:sldMkLst>
      </pc:sldChg>
      <pc:sldChg chg="del">
        <pc:chgData name="Leff, Emily C" userId="bd8dcee0-2e5a-4398-9aec-89b2bd080e78" providerId="ADAL" clId="{5CB253E3-844B-4DBE-9A5C-C97B069A25DA}" dt="2025-05-29T10:56:19.375" v="2" actId="47"/>
        <pc:sldMkLst>
          <pc:docMk/>
          <pc:sldMk cId="3196465562" sldId="96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7AA47C-10D5-4407-A384-FC31B4CFF95C}"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E69312-78BF-408D-BE9E-C4C559BEF396}" type="slidenum">
              <a:rPr lang="en-US" smtClean="0"/>
              <a:t>‹#›</a:t>
            </a:fld>
            <a:endParaRPr lang="en-US"/>
          </a:p>
        </p:txBody>
      </p:sp>
    </p:spTree>
    <p:extLst>
      <p:ext uri="{BB962C8B-B14F-4D97-AF65-F5344CB8AC3E}">
        <p14:creationId xmlns:p14="http://schemas.microsoft.com/office/powerpoint/2010/main" val="1367549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u="none" strike="noStrike" dirty="0"/>
          </a:p>
        </p:txBody>
      </p:sp>
      <p:sp>
        <p:nvSpPr>
          <p:cNvPr id="4" name="Slide Number Placeholder 3"/>
          <p:cNvSpPr>
            <a:spLocks noGrp="1"/>
          </p:cNvSpPr>
          <p:nvPr>
            <p:ph type="sldNum" sz="quarter" idx="10"/>
          </p:nvPr>
        </p:nvSpPr>
        <p:spPr/>
        <p:txBody>
          <a:bodyPr/>
          <a:lstStyle/>
          <a:p>
            <a:pPr marL="0" marR="0" lvl="0" indent="0" algn="r" defTabSz="965114"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a:ln>
                  <a:noFill/>
                </a:ln>
                <a:solidFill>
                  <a:srgbClr val="000000"/>
                </a:solidFill>
                <a:effectLst/>
                <a:uLnTx/>
                <a:uFillTx/>
                <a:latin typeface="Lucida Sans" panose="020B0602030504020204" pitchFamily="34" charset="0"/>
                <a:ea typeface="ＭＳ Ｐゴシック" pitchFamily="34" charset="-128"/>
                <a:cs typeface="+mn-cs"/>
              </a:rPr>
              <a:pPr marL="0" marR="0" lvl="0" indent="0" algn="r" defTabSz="965114"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dirty="0">
              <a:ln>
                <a:noFill/>
              </a:ln>
              <a:solidFill>
                <a:srgbClr val="000000"/>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1271327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indent="-171450">
              <a:buFontTx/>
              <a:buChar char="-"/>
            </a:pPr>
            <a:endParaRPr lang="en-US" strike="noStrike" dirty="0"/>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924285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65963-2DDE-C1BA-4C54-19EEF96BE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13134-DE95-09B8-D358-21C0A03ACC9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27E0E72-7637-CC20-BC14-E344C0761C9B}"/>
              </a:ext>
            </a:extLst>
          </p:cNvPr>
          <p:cNvSpPr>
            <a:spLocks noGrp="1"/>
          </p:cNvSpPr>
          <p:nvPr>
            <p:ph type="body" idx="1"/>
          </p:nvPr>
        </p:nvSpPr>
        <p:spPr/>
        <p:txBody>
          <a:bodyPr/>
          <a:lstStyle/>
          <a:p>
            <a:r>
              <a:rPr lang="en-US" strike="noStrike" dirty="0"/>
              <a:t>Gotha: 62K (2025$)</a:t>
            </a:r>
          </a:p>
          <a:p>
            <a:r>
              <a:rPr lang="en-US" strike="noStrike" dirty="0"/>
              <a:t>Pine Hills: 34.5K (2025$)</a:t>
            </a:r>
          </a:p>
          <a:p>
            <a:endParaRPr lang="en-US" strike="noStrike" dirty="0"/>
          </a:p>
          <a:p>
            <a:endParaRPr lang="en-US" strike="noStrike" dirty="0"/>
          </a:p>
          <a:p>
            <a:br>
              <a:rPr lang="en-US" strike="noStrike" dirty="0"/>
            </a:br>
            <a:br>
              <a:rPr lang="en-US" strike="noStrike" dirty="0"/>
            </a:br>
            <a:endParaRPr lang="en-US" strike="noStrike" dirty="0"/>
          </a:p>
        </p:txBody>
      </p:sp>
      <p:sp>
        <p:nvSpPr>
          <p:cNvPr id="4" name="Slide Number Placeholder 3">
            <a:extLst>
              <a:ext uri="{FF2B5EF4-FFF2-40B4-BE49-F238E27FC236}">
                <a16:creationId xmlns:a16="http://schemas.microsoft.com/office/drawing/2014/main" id="{6931D94C-E5C7-B273-7A27-4684C7B9B7B8}"/>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616271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E415D-7C2A-479F-EB32-993E6594A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17FDC-B8DE-10B2-7133-057D9469A13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11DE953-DD30-3562-481B-C4B7C72029E0}"/>
              </a:ext>
            </a:extLst>
          </p:cNvPr>
          <p:cNvSpPr>
            <a:spLocks noGrp="1"/>
          </p:cNvSpPr>
          <p:nvPr>
            <p:ph type="body" idx="1"/>
          </p:nvPr>
        </p:nvSpPr>
        <p:spPr/>
        <p:txBody>
          <a:bodyPr/>
          <a:lstStyle/>
          <a:p>
            <a:endParaRPr lang="en-US" strike="noStrike" dirty="0"/>
          </a:p>
        </p:txBody>
      </p:sp>
      <p:sp>
        <p:nvSpPr>
          <p:cNvPr id="4" name="Slide Number Placeholder 3">
            <a:extLst>
              <a:ext uri="{FF2B5EF4-FFF2-40B4-BE49-F238E27FC236}">
                <a16:creationId xmlns:a16="http://schemas.microsoft.com/office/drawing/2014/main" id="{458537FB-54A8-4F7C-6257-70DFF679F7A4}"/>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724913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E3AB-6405-BCEA-BEEA-993F4EDF4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FD54D-EAA3-0A68-8B5C-CEE803CDBEA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28B7C2C-311D-CB77-4A39-51182D51F311}"/>
              </a:ext>
            </a:extLst>
          </p:cNvPr>
          <p:cNvSpPr>
            <a:spLocks noGrp="1"/>
          </p:cNvSpPr>
          <p:nvPr>
            <p:ph type="body" idx="1"/>
          </p:nvPr>
        </p:nvSpPr>
        <p:spPr/>
        <p:txBody>
          <a:bodyPr/>
          <a:lstStyle/>
          <a:p>
            <a:endParaRPr lang="en-US" strike="noStrike" dirty="0"/>
          </a:p>
        </p:txBody>
      </p:sp>
      <p:sp>
        <p:nvSpPr>
          <p:cNvPr id="4" name="Slide Number Placeholder 3">
            <a:extLst>
              <a:ext uri="{FF2B5EF4-FFF2-40B4-BE49-F238E27FC236}">
                <a16:creationId xmlns:a16="http://schemas.microsoft.com/office/drawing/2014/main" id="{3CA16FD9-795C-BF2A-9E71-7F984545B877}"/>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2756574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19F05-BCDF-2DB0-C7AF-F9DB078B3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180FEB-3832-597F-C09E-C62EAA71772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1CF546-1C38-1EE5-63DA-9C704F962530}"/>
              </a:ext>
            </a:extLst>
          </p:cNvPr>
          <p:cNvSpPr>
            <a:spLocks noGrp="1"/>
          </p:cNvSpPr>
          <p:nvPr>
            <p:ph type="body" idx="1"/>
          </p:nvPr>
        </p:nvSpPr>
        <p:spPr/>
        <p:txBody>
          <a:bodyPr/>
          <a:lstStyle/>
          <a:p>
            <a:endParaRPr lang="en-US" strike="noStrike" dirty="0"/>
          </a:p>
        </p:txBody>
      </p:sp>
      <p:sp>
        <p:nvSpPr>
          <p:cNvPr id="4" name="Slide Number Placeholder 3">
            <a:extLst>
              <a:ext uri="{FF2B5EF4-FFF2-40B4-BE49-F238E27FC236}">
                <a16:creationId xmlns:a16="http://schemas.microsoft.com/office/drawing/2014/main" id="{BA311F86-F015-6F1C-0B81-AA0F04074943}"/>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3409078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6164-91CF-C744-4A42-E7F2CE021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CB2B6-7499-D213-8649-BD7274B59CD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8E1A758-FFE0-0B03-2D5A-56814C192583}"/>
              </a:ext>
            </a:extLst>
          </p:cNvPr>
          <p:cNvSpPr>
            <a:spLocks noGrp="1"/>
          </p:cNvSpPr>
          <p:nvPr>
            <p:ph type="body" idx="1"/>
          </p:nvPr>
        </p:nvSpPr>
        <p:spPr/>
        <p:txBody>
          <a:bodyPr/>
          <a:lstStyle/>
          <a:p>
            <a:endParaRPr lang="en-US" strike="noStrike" dirty="0"/>
          </a:p>
        </p:txBody>
      </p:sp>
      <p:sp>
        <p:nvSpPr>
          <p:cNvPr id="4" name="Slide Number Placeholder 3">
            <a:extLst>
              <a:ext uri="{FF2B5EF4-FFF2-40B4-BE49-F238E27FC236}">
                <a16:creationId xmlns:a16="http://schemas.microsoft.com/office/drawing/2014/main" id="{3ED8B811-1FEE-FB69-BA90-5ECC09EA53A8}"/>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3100135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strike="noStrike" dirty="0"/>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2000650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1ED18-1A29-F911-C8BC-71F7D3EF9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5C9E3-C512-A077-37D6-C832F2129C4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25B21B8-0AA2-4851-F761-A713CB6B5199}"/>
              </a:ext>
            </a:extLst>
          </p:cNvPr>
          <p:cNvSpPr>
            <a:spLocks noGrp="1"/>
          </p:cNvSpPr>
          <p:nvPr>
            <p:ph type="body" idx="1"/>
          </p:nvPr>
        </p:nvSpPr>
        <p:spPr/>
        <p:txBody>
          <a:bodyPr/>
          <a:lstStyle/>
          <a:p>
            <a:endParaRPr lang="en-US" strike="noStrike" dirty="0"/>
          </a:p>
        </p:txBody>
      </p:sp>
      <p:sp>
        <p:nvSpPr>
          <p:cNvPr id="4" name="Slide Number Placeholder 3">
            <a:extLst>
              <a:ext uri="{FF2B5EF4-FFF2-40B4-BE49-F238E27FC236}">
                <a16:creationId xmlns:a16="http://schemas.microsoft.com/office/drawing/2014/main" id="{F0C0D391-91BF-E874-E7E2-E7C24F5E5371}"/>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4029469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0244A-C43E-0F17-D9BF-D22C00854A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7B13F-2CFC-513D-993D-8CDC0949841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35EBE2B-F3DC-4CE0-561C-77AF733F38A7}"/>
              </a:ext>
            </a:extLst>
          </p:cNvPr>
          <p:cNvSpPr>
            <a:spLocks noGrp="1"/>
          </p:cNvSpPr>
          <p:nvPr>
            <p:ph type="body" idx="1"/>
          </p:nvPr>
        </p:nvSpPr>
        <p:spPr/>
        <p:txBody>
          <a:bodyPr/>
          <a:lstStyle/>
          <a:p>
            <a:endParaRPr lang="en-US" strike="noStrike" dirty="0"/>
          </a:p>
        </p:txBody>
      </p:sp>
      <p:sp>
        <p:nvSpPr>
          <p:cNvPr id="4" name="Slide Number Placeholder 3">
            <a:extLst>
              <a:ext uri="{FF2B5EF4-FFF2-40B4-BE49-F238E27FC236}">
                <a16:creationId xmlns:a16="http://schemas.microsoft.com/office/drawing/2014/main" id="{817CFD5C-61B6-86F7-EAB7-ADFE5BF41C23}"/>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2963470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trike="noStrike" dirty="0"/>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224974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02645-952E-F5E8-63D3-A832CBCE4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7F4F4-D0B1-7C5B-66F7-866B6133DA6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B8F922F-6420-F863-1603-0ED15FA3152C}"/>
              </a:ext>
            </a:extLst>
          </p:cNvPr>
          <p:cNvSpPr>
            <a:spLocks noGrp="1"/>
          </p:cNvSpPr>
          <p:nvPr>
            <p:ph type="body" idx="1"/>
          </p:nvPr>
        </p:nvSpPr>
        <p:spPr/>
        <p:txBody>
          <a:bodyPr/>
          <a:lstStyle/>
          <a:p>
            <a:pPr marL="457200" marR="0" lvl="1" indent="0" algn="l" defTabSz="914400" rtl="0" eaLnBrk="1" fontAlgn="auto" latinLnBrk="0" hangingPunct="1">
              <a:lnSpc>
                <a:spcPct val="100000"/>
              </a:lnSpc>
              <a:spcBef>
                <a:spcPts val="0"/>
              </a:spcBef>
              <a:spcAft>
                <a:spcPts val="0"/>
              </a:spcAft>
              <a:buClr>
                <a:srgbClr val="39B6A3"/>
              </a:buClr>
              <a:buSzTx/>
              <a:buFont typeface="Wingdings" pitchFamily="2" charset="2"/>
              <a:buNone/>
              <a:tabLst/>
              <a:defRPr/>
            </a:pPr>
            <a:endParaRPr lang="en-US" strike="noStrike" dirty="0"/>
          </a:p>
        </p:txBody>
      </p:sp>
      <p:sp>
        <p:nvSpPr>
          <p:cNvPr id="4" name="Slide Number Placeholder 3">
            <a:extLst>
              <a:ext uri="{FF2B5EF4-FFF2-40B4-BE49-F238E27FC236}">
                <a16:creationId xmlns:a16="http://schemas.microsoft.com/office/drawing/2014/main" id="{6B4C6F04-9706-7243-68BA-604E1BFBD42D}"/>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1044117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173" rtl="0" eaLnBrk="1" fontAlgn="auto" latinLnBrk="0" hangingPunct="1">
              <a:lnSpc>
                <a:spcPct val="100000"/>
              </a:lnSpc>
              <a:spcBef>
                <a:spcPts val="0"/>
              </a:spcBef>
              <a:spcAft>
                <a:spcPts val="0"/>
              </a:spcAft>
              <a:buClrTx/>
              <a:buSzTx/>
              <a:buFontTx/>
              <a:buNone/>
              <a:tabLst/>
              <a:defRPr/>
            </a:pPr>
            <a:endParaRPr lang="en-US" strike="noStrike" dirty="0"/>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988046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173" rtl="0" eaLnBrk="1" fontAlgn="auto" latinLnBrk="0" hangingPunct="1">
              <a:lnSpc>
                <a:spcPct val="100000"/>
              </a:lnSpc>
              <a:spcBef>
                <a:spcPts val="0"/>
              </a:spcBef>
              <a:spcAft>
                <a:spcPts val="0"/>
              </a:spcAft>
              <a:buClrTx/>
              <a:buSzTx/>
              <a:buFontTx/>
              <a:buNone/>
              <a:tabLst/>
              <a:defRPr/>
            </a:pPr>
            <a:endParaRPr lang="en-US" strike="noStrike" dirty="0"/>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2352507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64D5A2-BF05-1D4C-AF84-736935566D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6294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64D5A2-BF05-1D4C-AF84-736935566D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8898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64D5A2-BF05-1D4C-AF84-736935566D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0483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1-3A</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64D5A2-BF05-1D4C-AF84-736935566D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0760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indent="0">
              <a:buNone/>
            </a:pPr>
            <a:r>
              <a:rPr lang="en-US" strike="noStrike" dirty="0"/>
              <a:t>Representatives from these 3 examples will be in the audience</a:t>
            </a:r>
          </a:p>
          <a:p>
            <a:pPr marL="0" indent="0">
              <a:buNone/>
            </a:pPr>
            <a:endParaRPr lang="en-US" strike="noStrike" dirty="0"/>
          </a:p>
          <a:p>
            <a:pPr marL="228600" indent="-228600">
              <a:buAutoNum type="arabicParenR"/>
            </a:pPr>
            <a:r>
              <a:rPr lang="en-US" strike="noStrike" dirty="0"/>
              <a:t>Richard King Mellon Foundation investments in social capital </a:t>
            </a:r>
          </a:p>
          <a:p>
            <a:pPr marL="457200" lvl="1" indent="0">
              <a:buNone/>
            </a:pPr>
            <a:r>
              <a:rPr lang="en-US" strike="noStrike" dirty="0"/>
              <a:t>- RFP to </a:t>
            </a:r>
            <a:r>
              <a:rPr lang="en-US" b="0" i="0" dirty="0">
                <a:solidFill>
                  <a:srgbClr val="111111"/>
                </a:solidFill>
                <a:effectLst/>
                <a:highlight>
                  <a:srgbClr val="FFFFFF"/>
                </a:highlight>
                <a:latin typeface="Lucida Sans" panose="020B0602030504020204" pitchFamily="34" charset="0"/>
              </a:rPr>
              <a:t>understand and develop an implementation toolkit for rural providers working on mobility in Allegheny and Westmoreland counties in Pennsylvania</a:t>
            </a:r>
            <a:endParaRPr lang="en-US" b="0" i="0" strike="noStrike" dirty="0">
              <a:solidFill>
                <a:srgbClr val="111111"/>
              </a:solidFill>
              <a:effectLst/>
              <a:highlight>
                <a:srgbClr val="FFFFFF"/>
              </a:highlight>
              <a:latin typeface="Lucida Sans" panose="020B0602030504020204" pitchFamily="34" charset="0"/>
            </a:endParaRPr>
          </a:p>
          <a:p>
            <a:pPr marL="228600" indent="-228600">
              <a:buAutoNum type="arabicParenR"/>
            </a:pPr>
            <a:r>
              <a:rPr lang="en-US" b="0" i="0" strike="noStrike" dirty="0" err="1">
                <a:solidFill>
                  <a:srgbClr val="111111"/>
                </a:solidFill>
                <a:effectLst/>
                <a:highlight>
                  <a:srgbClr val="FFFFFF"/>
                </a:highlight>
                <a:latin typeface="Lucida Sans" panose="020B0602030504020204" pitchFamily="34" charset="0"/>
              </a:rPr>
              <a:t>Innercity</a:t>
            </a:r>
            <a:r>
              <a:rPr lang="en-US" b="0" i="0" strike="noStrike" dirty="0">
                <a:solidFill>
                  <a:srgbClr val="111111"/>
                </a:solidFill>
                <a:effectLst/>
                <a:highlight>
                  <a:srgbClr val="FFFFFF"/>
                </a:highlight>
                <a:latin typeface="Lucida Sans" panose="020B0602030504020204" pitchFamily="34" charset="0"/>
              </a:rPr>
              <a:t> Weightlifting</a:t>
            </a:r>
          </a:p>
          <a:p>
            <a:pPr marL="457200" lvl="1" indent="0">
              <a:buNone/>
            </a:pPr>
            <a:r>
              <a:rPr lang="en-US" b="0" i="0" strike="noStrike" dirty="0">
                <a:solidFill>
                  <a:srgbClr val="111111"/>
                </a:solidFill>
                <a:effectLst/>
                <a:highlight>
                  <a:srgbClr val="FFFFFF"/>
                </a:highlight>
                <a:latin typeface="Lucida Sans" panose="020B0602030504020204" pitchFamily="34" charset="0"/>
              </a:rPr>
              <a:t>- gym/nonprofit in Boston that targets populations affected by mass incarceration and systemic racism by focusing on building relationships between students and staff of different socioeconomic backgrounds (through weightlifting/fitness classes) </a:t>
            </a:r>
          </a:p>
          <a:p>
            <a:pPr marL="228600" indent="-228600">
              <a:buAutoNum type="arabicParenR"/>
            </a:pPr>
            <a:r>
              <a:rPr lang="en-US" b="0" i="0" strike="noStrike" dirty="0">
                <a:solidFill>
                  <a:srgbClr val="111111"/>
                </a:solidFill>
                <a:effectLst/>
                <a:highlight>
                  <a:srgbClr val="FFFFFF"/>
                </a:highlight>
                <a:latin typeface="Lucida Sans" panose="020B0602030504020204" pitchFamily="34" charset="0"/>
              </a:rPr>
              <a:t>AVID + AP Capstone Peer Mentorship program at Palo Alto High School, CA </a:t>
            </a:r>
          </a:p>
          <a:p>
            <a:pPr marL="628650" lvl="1" indent="-171450">
              <a:buFontTx/>
              <a:buChar char="-"/>
            </a:pPr>
            <a:r>
              <a:rPr lang="en-US" b="0" i="0" strike="noStrike" dirty="0">
                <a:solidFill>
                  <a:srgbClr val="111111"/>
                </a:solidFill>
                <a:effectLst/>
                <a:highlight>
                  <a:srgbClr val="FFFFFF"/>
                </a:highlight>
                <a:latin typeface="Lucida Sans" panose="020B0602030504020204" pitchFamily="34" charset="0"/>
              </a:rPr>
              <a:t>Pilot program at CA high school that pairs low and high SES students who are rising into AP courses, pairs meet regularly and work towards structured learning targets</a:t>
            </a:r>
          </a:p>
          <a:p>
            <a:pPr marL="628650" lvl="1" indent="-171450">
              <a:buFontTx/>
              <a:buChar char="-"/>
            </a:pPr>
            <a:r>
              <a:rPr lang="en-US" b="0" i="0" strike="noStrike" dirty="0">
                <a:solidFill>
                  <a:srgbClr val="111111"/>
                </a:solidFill>
                <a:effectLst/>
                <a:highlight>
                  <a:srgbClr val="FFFFFF"/>
                </a:highlight>
                <a:latin typeface="Lucida Sans" panose="020B0602030504020204" pitchFamily="34" charset="0"/>
              </a:rPr>
              <a:t>Stated goal of project is to reduce friending bias (directly citing OI)</a:t>
            </a:r>
          </a:p>
        </p:txBody>
      </p:sp>
      <p:sp>
        <p:nvSpPr>
          <p:cNvPr id="4" name="Slide Number Placeholder 3"/>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13745984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1ED18-1A29-F911-C8BC-71F7D3EF9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5C9E3-C512-A077-37D6-C832F2129C4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25B21B8-0AA2-4851-F761-A713CB6B5199}"/>
              </a:ext>
            </a:extLst>
          </p:cNvPr>
          <p:cNvSpPr>
            <a:spLocks noGrp="1"/>
          </p:cNvSpPr>
          <p:nvPr>
            <p:ph type="body" idx="1"/>
          </p:nvPr>
        </p:nvSpPr>
        <p:spPr/>
        <p:txBody>
          <a:bodyPr/>
          <a:lstStyle/>
          <a:p>
            <a:endParaRPr lang="en-US" strike="noStrike" dirty="0"/>
          </a:p>
        </p:txBody>
      </p:sp>
      <p:sp>
        <p:nvSpPr>
          <p:cNvPr id="4" name="Slide Number Placeholder 3">
            <a:extLst>
              <a:ext uri="{FF2B5EF4-FFF2-40B4-BE49-F238E27FC236}">
                <a16:creationId xmlns:a16="http://schemas.microsoft.com/office/drawing/2014/main" id="{F0C0D391-91BF-E874-E7E2-E7C24F5E5371}"/>
              </a:ext>
            </a:extLst>
          </p:cNvPr>
          <p:cNvSpPr>
            <a:spLocks noGrp="1"/>
          </p:cNvSpPr>
          <p:nvPr>
            <p:ph type="sldNum" sz="quarter" idx="10"/>
          </p:nvPr>
        </p:nvSpPr>
        <p:spPr/>
        <p:txBody>
          <a:bodyPr/>
          <a:lstStyle/>
          <a:p>
            <a:pPr marL="0" marR="0" lvl="0" indent="0" algn="r" defTabSz="965200" rtl="0" eaLnBrk="0" fontAlgn="base" latinLnBrk="0" hangingPunct="0">
              <a:lnSpc>
                <a:spcPct val="100000"/>
              </a:lnSpc>
              <a:spcBef>
                <a:spcPct val="0"/>
              </a:spcBef>
              <a:spcAft>
                <a:spcPct val="0"/>
              </a:spcAft>
              <a:buClrTx/>
              <a:buSzTx/>
              <a:buFontTx/>
              <a:buNone/>
              <a:tabLst/>
              <a:defRPr/>
            </a:pPr>
            <a:fld id="{00712CF3-E26A-4AC6-973D-B772AF83308B}" type="slidenum">
              <a:rPr kumimoji="0" lang="en-US" sz="1200" b="0" i="0" u="none" strike="noStrike" kern="1200" cap="none" spc="0" normalizeH="0" baseline="0" noProof="0" smtClean="0">
                <a:ln>
                  <a:noFill/>
                </a:ln>
                <a:solidFill>
                  <a:prstClr val="black"/>
                </a:solidFill>
                <a:effectLst/>
                <a:uLnTx/>
                <a:uFillTx/>
                <a:latin typeface="Lucida Sans" panose="020B0602030504020204" pitchFamily="34" charset="0"/>
                <a:ea typeface="ＭＳ Ｐゴシック" pitchFamily="34" charset="-128"/>
                <a:cs typeface="+mn-cs"/>
              </a:rPr>
              <a:pPr marL="0" marR="0" lvl="0" indent="0" algn="r" defTabSz="965200" rtl="0" eaLnBrk="0" fontAlgn="base" latinLnBrk="0" hangingPunct="0">
                <a:lnSpc>
                  <a:spcPct val="100000"/>
                </a:lnSpc>
                <a:spcBef>
                  <a:spcPct val="0"/>
                </a:spcBef>
                <a:spcAft>
                  <a:spcPct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ＭＳ Ｐゴシック" pitchFamily="34" charset="-128"/>
              <a:cs typeface="+mn-cs"/>
            </a:endParaRPr>
          </a:p>
        </p:txBody>
      </p:sp>
    </p:spTree>
    <p:extLst>
      <p:ext uri="{BB962C8B-B14F-4D97-AF65-F5344CB8AC3E}">
        <p14:creationId xmlns:p14="http://schemas.microsoft.com/office/powerpoint/2010/main" val="3198761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B9771-653C-7D98-DB55-9EC3F05C1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EAD16E-EA72-0089-CC4A-2CD91A8FC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F4D5D-3BEA-F519-AE86-EDC9F0E0A4DD}"/>
              </a:ext>
            </a:extLst>
          </p:cNvPr>
          <p:cNvSpPr>
            <a:spLocks noGrp="1"/>
          </p:cNvSpPr>
          <p:nvPr>
            <p:ph type="body" idx="1"/>
          </p:nvPr>
        </p:nvSpPr>
        <p:spPr/>
        <p:txBody>
          <a:bodyPr/>
          <a:lstStyle/>
          <a:p>
            <a:endParaRPr lang="en-US" strike="noStrike" baseline="0" dirty="0"/>
          </a:p>
        </p:txBody>
      </p:sp>
      <p:sp>
        <p:nvSpPr>
          <p:cNvPr id="4" name="Slide Number Placeholder 3">
            <a:extLst>
              <a:ext uri="{FF2B5EF4-FFF2-40B4-BE49-F238E27FC236}">
                <a16:creationId xmlns:a16="http://schemas.microsoft.com/office/drawing/2014/main" id="{0BDC4E04-0E2A-24D0-FB71-087A3C19F2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64D5A2-BF05-1D4C-AF84-736935566D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9961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64D5A2-BF05-1D4C-AF84-736935566D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ＭＳ Ｐゴシック"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ＭＳ Ｐゴシック" pitchFamily="34" charset="-128"/>
              <a:cs typeface="+mn-cs"/>
            </a:endParaRPr>
          </a:p>
        </p:txBody>
      </p:sp>
    </p:spTree>
    <p:extLst>
      <p:ext uri="{BB962C8B-B14F-4D97-AF65-F5344CB8AC3E}">
        <p14:creationId xmlns:p14="http://schemas.microsoft.com/office/powerpoint/2010/main" val="1859760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trike="noStrike"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64D5A2-BF05-1D4C-AF84-736935566D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ＭＳ Ｐゴシック"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ＭＳ Ｐゴシック" pitchFamily="34" charset="-128"/>
              <a:cs typeface="+mn-cs"/>
            </a:endParaRPr>
          </a:p>
        </p:txBody>
      </p:sp>
    </p:spTree>
    <p:extLst>
      <p:ext uri="{BB962C8B-B14F-4D97-AF65-F5344CB8AC3E}">
        <p14:creationId xmlns:p14="http://schemas.microsoft.com/office/powerpoint/2010/main" val="4189013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B9771-653C-7D98-DB55-9EC3F05C1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EAD16E-EA72-0089-CC4A-2CD91A8FC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F4D5D-3BEA-F519-AE86-EDC9F0E0A4DD}"/>
              </a:ext>
            </a:extLst>
          </p:cNvPr>
          <p:cNvSpPr>
            <a:spLocks noGrp="1"/>
          </p:cNvSpPr>
          <p:nvPr>
            <p:ph type="body" idx="1"/>
          </p:nvPr>
        </p:nvSpPr>
        <p:spPr/>
        <p:txBody>
          <a:bodyPr/>
          <a:lstStyle/>
          <a:p>
            <a:r>
              <a:rPr lang="en-US" strike="noStrike" baseline="0" dirty="0"/>
              <a:t>Another version of the previous slide</a:t>
            </a:r>
          </a:p>
        </p:txBody>
      </p:sp>
      <p:sp>
        <p:nvSpPr>
          <p:cNvPr id="4" name="Slide Number Placeholder 3">
            <a:extLst>
              <a:ext uri="{FF2B5EF4-FFF2-40B4-BE49-F238E27FC236}">
                <a16:creationId xmlns:a16="http://schemas.microsoft.com/office/drawing/2014/main" id="{0BDC4E04-0E2A-24D0-FB71-087A3C19F2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64D5A2-BF05-1D4C-AF84-736935566D2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ＭＳ Ｐゴシック"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ＭＳ Ｐゴシック" pitchFamily="34" charset="-128"/>
              <a:cs typeface="+mn-cs"/>
            </a:endParaRPr>
          </a:p>
        </p:txBody>
      </p:sp>
    </p:spTree>
    <p:extLst>
      <p:ext uri="{BB962C8B-B14F-4D97-AF65-F5344CB8AC3E}">
        <p14:creationId xmlns:p14="http://schemas.microsoft.com/office/powerpoint/2010/main" val="1809961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523C7-72A3-53F7-82E7-B17314B5AE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57F585-5BBE-6032-6049-964671D483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20F935-905F-1C5A-39B9-FA59D58295A1}"/>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5" name="Footer Placeholder 4">
            <a:extLst>
              <a:ext uri="{FF2B5EF4-FFF2-40B4-BE49-F238E27FC236}">
                <a16:creationId xmlns:a16="http://schemas.microsoft.com/office/drawing/2014/main" id="{3938D95E-1533-193D-4043-EA2160E5EA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A14BA4-DCD6-0D11-637D-AA7C0C1F26BE}"/>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1644496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B053D-90C0-A7FA-8FE8-F7A10F291A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C43F92-D762-800C-F4C5-5AF7F652BF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ACAC7C-B132-1EC0-EB54-08224B9FC6E0}"/>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5" name="Footer Placeholder 4">
            <a:extLst>
              <a:ext uri="{FF2B5EF4-FFF2-40B4-BE49-F238E27FC236}">
                <a16:creationId xmlns:a16="http://schemas.microsoft.com/office/drawing/2014/main" id="{DEC29D01-6ABD-565E-1020-AF65F3BF62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06AA6-C595-6CD5-EAD4-1D2598E980DD}"/>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1753670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9BE36-1350-6E02-4B36-EB38EF2C31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879413-468F-A6D6-11FD-105A965A54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947215-49FD-7B22-6851-F48AA6F8144A}"/>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5" name="Footer Placeholder 4">
            <a:extLst>
              <a:ext uri="{FF2B5EF4-FFF2-40B4-BE49-F238E27FC236}">
                <a16:creationId xmlns:a16="http://schemas.microsoft.com/office/drawing/2014/main" id="{990DD804-08BC-9292-5078-C25BD67EC4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836C2-0DC4-7989-54AA-C0C6A1D2220A}"/>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3650614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D1EB-8B39-BF63-3876-B9B157E47C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3CC031-C501-8719-04A9-12919A5EDD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0EFFAF-4602-0FF7-6873-24B2D9A5F6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4CC8A6-3894-D83A-748B-6FEA51474428}"/>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6" name="Footer Placeholder 5">
            <a:extLst>
              <a:ext uri="{FF2B5EF4-FFF2-40B4-BE49-F238E27FC236}">
                <a16:creationId xmlns:a16="http://schemas.microsoft.com/office/drawing/2014/main" id="{524A9998-C7D1-BA4C-B590-AF15EB398B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E025C0-6F30-7AE7-0E03-4F7E6BD81773}"/>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1872411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0039F-37BE-E160-2AA7-79BB60436F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5DEB28-FD56-EE0E-F2B9-88228ADAD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12C203-2AB3-19E6-51D8-20D60032E5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6AF401-BE5D-6285-E00D-78FBEE7C85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E14052-D876-4DAF-AD30-E5EA57D22F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CEF555F-E63D-6BAA-48ED-6647BAE9306A}"/>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8" name="Footer Placeholder 7">
            <a:extLst>
              <a:ext uri="{FF2B5EF4-FFF2-40B4-BE49-F238E27FC236}">
                <a16:creationId xmlns:a16="http://schemas.microsoft.com/office/drawing/2014/main" id="{AAE137C1-DA40-B8F2-46DB-4F6ADA28D5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B43612-5F18-F919-7D3E-BE3CDBB53A41}"/>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429045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E84D-1848-ED6E-95B2-93F2011051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BD7610-FF77-795D-BC58-A0905A8CDBE7}"/>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4" name="Footer Placeholder 3">
            <a:extLst>
              <a:ext uri="{FF2B5EF4-FFF2-40B4-BE49-F238E27FC236}">
                <a16:creationId xmlns:a16="http://schemas.microsoft.com/office/drawing/2014/main" id="{57FAAE7C-0D18-5E75-7C9F-25366DC285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58BEAF-BFB6-F1A2-7717-5B9994D294DD}"/>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356390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129461-2DB2-600D-A17F-C09E22ECF3AA}"/>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3" name="Footer Placeholder 2">
            <a:extLst>
              <a:ext uri="{FF2B5EF4-FFF2-40B4-BE49-F238E27FC236}">
                <a16:creationId xmlns:a16="http://schemas.microsoft.com/office/drawing/2014/main" id="{1A141338-BCCB-3A79-1F95-E4F57AD5C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AE594E-142B-FE33-6F85-1588893BE9E1}"/>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512325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E645A-4EFC-7830-BB2C-72312FB308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EBCA20-9D41-A697-3CE8-180028C79F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EE9EC6-51A2-6086-869C-B7F0BAF442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1CD590-758D-A2A8-E754-D65B609B4034}"/>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6" name="Footer Placeholder 5">
            <a:extLst>
              <a:ext uri="{FF2B5EF4-FFF2-40B4-BE49-F238E27FC236}">
                <a16:creationId xmlns:a16="http://schemas.microsoft.com/office/drawing/2014/main" id="{D690BBBF-218A-4DD0-1CBC-24138DB6F6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3D9E07-3A0E-2FAA-8EAE-B8264E3BD2D0}"/>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3661116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503DC-4D34-9F81-B6D4-678137229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35BF70-300C-07A5-6930-1F2FFB9EC2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97C510-3FD6-4456-335B-EDD98D470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63F476-D21C-4CE0-D157-1EEF20839685}"/>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6" name="Footer Placeholder 5">
            <a:extLst>
              <a:ext uri="{FF2B5EF4-FFF2-40B4-BE49-F238E27FC236}">
                <a16:creationId xmlns:a16="http://schemas.microsoft.com/office/drawing/2014/main" id="{46F80FB5-C56C-48BD-FF52-9A0C0A6B1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1331CB-F90B-2A45-01DF-F99CB865E64D}"/>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1202349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DBDB-BEA9-D8EF-257E-3A1E887DC3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6D763F-26DF-29D7-644B-65A9D197A8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0AE56F-B597-CA88-06C4-60631A0FD301}"/>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5" name="Footer Placeholder 4">
            <a:extLst>
              <a:ext uri="{FF2B5EF4-FFF2-40B4-BE49-F238E27FC236}">
                <a16:creationId xmlns:a16="http://schemas.microsoft.com/office/drawing/2014/main" id="{29919EB3-D1D8-F788-26C3-DC2722CC5F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89D2AB-3695-1720-B97C-383B40934364}"/>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1415792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857DF6-31F5-6030-DD4C-C0544C36A1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A00A3B-5428-0D94-9465-2C477EE6AB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FB17B5-070B-BB41-E66C-749DDCB7160E}"/>
              </a:ext>
            </a:extLst>
          </p:cNvPr>
          <p:cNvSpPr>
            <a:spLocks noGrp="1"/>
          </p:cNvSpPr>
          <p:nvPr>
            <p:ph type="dt" sz="half" idx="10"/>
          </p:nvPr>
        </p:nvSpPr>
        <p:spPr/>
        <p:txBody>
          <a:bodyPr/>
          <a:lstStyle/>
          <a:p>
            <a:fld id="{E10C7AB9-61B7-468B-89CB-CDA30591A5A6}" type="datetimeFigureOut">
              <a:rPr lang="en-US" smtClean="0"/>
              <a:t>5/6/2026</a:t>
            </a:fld>
            <a:endParaRPr lang="en-US"/>
          </a:p>
        </p:txBody>
      </p:sp>
      <p:sp>
        <p:nvSpPr>
          <p:cNvPr id="5" name="Footer Placeholder 4">
            <a:extLst>
              <a:ext uri="{FF2B5EF4-FFF2-40B4-BE49-F238E27FC236}">
                <a16:creationId xmlns:a16="http://schemas.microsoft.com/office/drawing/2014/main" id="{8A10B2CD-66C0-AC3B-8D5D-AE3B8FFFE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D2B94-F031-6B17-4455-DDF9B748E9D9}"/>
              </a:ext>
            </a:extLst>
          </p:cNvPr>
          <p:cNvSpPr>
            <a:spLocks noGrp="1"/>
          </p:cNvSpPr>
          <p:nvPr>
            <p:ph type="sldNum" sz="quarter" idx="12"/>
          </p:nvPr>
        </p:nvSpPr>
        <p:spPr/>
        <p:txBody>
          <a:bodyPr/>
          <a:lstStyle/>
          <a:p>
            <a:fld id="{3AE9FEC7-E36F-48B2-BFDA-1D7A7D0A76E7}" type="slidenum">
              <a:rPr lang="en-US" smtClean="0"/>
              <a:t>‹#›</a:t>
            </a:fld>
            <a:endParaRPr lang="en-US"/>
          </a:p>
        </p:txBody>
      </p:sp>
    </p:spTree>
    <p:extLst>
      <p:ext uri="{BB962C8B-B14F-4D97-AF65-F5344CB8AC3E}">
        <p14:creationId xmlns:p14="http://schemas.microsoft.com/office/powerpoint/2010/main" val="11990769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2CC6F-7ECE-4A09-B490-13688694F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91B936-744F-4C5A-8E0D-B04655655A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25C57E-591B-4DF9-B53C-A6650B6A27F7}"/>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1BFD6403-77F4-43EC-8872-019B61FB2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3DF30-532C-48E7-B334-B3FD5B949192}"/>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4884772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6EF1E-E0DD-4FD3-A9B1-9A7FFF298A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3AF19A-9420-42DA-A4FD-402527556E9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474A8-3802-48E1-B6F4-C0DB935B5DC8}"/>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A942404B-867D-4362-BBF2-0D05683E70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F9A96-C10A-47AB-BC95-EC703FAD12D4}"/>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1118917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359F-5AB4-4A63-B79B-85C6E5780F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01DC3F-4666-4C4E-9926-E1FBC70F86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A68942D-A4A7-4966-8C53-3606D0B9AE47}"/>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61EF3686-02FC-4519-B1A9-5785FE2F97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0F926-961D-4273-9BC7-915C98F4FF2D}"/>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1820539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A6AA-6071-4DD7-B3A9-B66DF99DB2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96D8F7-D3FA-474B-8146-BF8961B6C43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5137C1-2D91-42AF-A052-D27FD93E251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A658A3-7D42-4D8C-9705-71D2AD7A18F4}"/>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6" name="Footer Placeholder 5">
            <a:extLst>
              <a:ext uri="{FF2B5EF4-FFF2-40B4-BE49-F238E27FC236}">
                <a16:creationId xmlns:a16="http://schemas.microsoft.com/office/drawing/2014/main" id="{9621D34C-F271-4D6A-80EE-6FCA17B053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CFB502-FB58-4BA9-B7D1-E1B5EE48CA46}"/>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66076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00A2-CF63-40DD-9422-E9B2848D56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335740-28DD-4AF4-8C71-033FB76971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DF5A5FB-0B87-4C80-A8E4-79483CAB9C4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BE6443-49DA-4B08-A9C9-B6998A921F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7ACD46B-79CD-41E7-B8D2-771D1B21D29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8DC3DB-8539-4C34-B46F-E4420020DC68}"/>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8" name="Footer Placeholder 7">
            <a:extLst>
              <a:ext uri="{FF2B5EF4-FFF2-40B4-BE49-F238E27FC236}">
                <a16:creationId xmlns:a16="http://schemas.microsoft.com/office/drawing/2014/main" id="{69123D27-C857-46C1-A1FB-6771D60721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FD3E87-EF06-4678-900A-C84D73027ABE}"/>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14917323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1CAB1-53BE-46CF-B5BA-5AAA68DA5F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37CFB1-D198-49FF-AF66-0E63FC60695F}"/>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4" name="Footer Placeholder 3">
            <a:extLst>
              <a:ext uri="{FF2B5EF4-FFF2-40B4-BE49-F238E27FC236}">
                <a16:creationId xmlns:a16="http://schemas.microsoft.com/office/drawing/2014/main" id="{AC608374-7791-44CB-BEF0-B3466B5A3C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2BE6D1-2952-47EC-8402-8760CB315522}"/>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4222486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D9017A-E00D-47C6-89A3-DBD5591E719E}"/>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3" name="Footer Placeholder 2">
            <a:extLst>
              <a:ext uri="{FF2B5EF4-FFF2-40B4-BE49-F238E27FC236}">
                <a16:creationId xmlns:a16="http://schemas.microsoft.com/office/drawing/2014/main" id="{17E2EAF2-673C-49DA-825E-EA62E971EF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452E63-0B6C-4A26-B0A9-9D26FC312364}"/>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7273827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B8568-B3CB-42C0-9BBF-5FE29DDE10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5AFA6A-A519-4E7B-934A-41B6986AFF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51377D-231D-42C3-A367-1737666128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F4ACCCC-03D0-4119-8EA4-C108763742C9}"/>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6" name="Footer Placeholder 5">
            <a:extLst>
              <a:ext uri="{FF2B5EF4-FFF2-40B4-BE49-F238E27FC236}">
                <a16:creationId xmlns:a16="http://schemas.microsoft.com/office/drawing/2014/main" id="{65D81C1D-E8CE-41ED-B05F-28A0E7EF5B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45727-D7F9-4B1C-A0A4-EC6372430D49}"/>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39574541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95BE5-8C79-4955-9DE5-7B721E637C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D0EC1D-CA11-4FD7-90DF-55CA482C1D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C6C5C4-4702-4194-ADBB-56A18D47B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93E8FE-C201-4F9B-B008-710E0A05F4AD}"/>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6" name="Footer Placeholder 5">
            <a:extLst>
              <a:ext uri="{FF2B5EF4-FFF2-40B4-BE49-F238E27FC236}">
                <a16:creationId xmlns:a16="http://schemas.microsoft.com/office/drawing/2014/main" id="{48D1B9E8-7AF8-4369-A59F-3E43B1358E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2D17C1-0EAB-4991-A536-102A2B60D90C}"/>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16943364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20ABF-EE10-41D6-BFB4-6FE4B29C7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5E5ADC-DD23-4B80-A71E-6FF0D85AD5E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83FEA-6F14-488B-ADFF-8BE5D3E1A6A3}"/>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80D3D852-9E9D-458A-A490-FE9065A606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BAF01-4FFB-41D2-B589-E97DBB5C977D}"/>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6845904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C9009B-E528-4250-AADF-E06DE5063D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F9734D-3CC4-4EC9-AC02-807EB6C9505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D1BC8-850F-4BAD-9631-97D359FD50F5}"/>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02849E8F-6E69-4CCD-BCD4-691535F83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5B1D8B-08F8-4440-AFDD-389D74B8AC14}"/>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9172115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98A436F-3574-4E4E-8F21-410F75A20834}"/>
              </a:ext>
            </a:extLst>
          </p:cNvPr>
          <p:cNvSpPr>
            <a:spLocks noGrp="1"/>
          </p:cNvSpPr>
          <p:nvPr>
            <p:ph type="title"/>
          </p:nvPr>
        </p:nvSpPr>
        <p:spPr>
          <a:xfrm>
            <a:off x="596765" y="258185"/>
            <a:ext cx="10998199" cy="506079"/>
          </a:xfrm>
          <a:prstGeom prst="rect">
            <a:avLst/>
          </a:prstGeom>
        </p:spPr>
        <p:txBody>
          <a:bodyPr lIns="91338" tIns="45718" rIns="91338" bIns="45718"/>
          <a:lstStyle>
            <a:lvl1pPr>
              <a:defRPr sz="2800" b="1">
                <a:solidFill>
                  <a:schemeClr val="bg2"/>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68C554DE-AF41-46DC-B425-CBDAE94F6898}"/>
              </a:ext>
            </a:extLst>
          </p:cNvPr>
          <p:cNvSpPr>
            <a:spLocks noGrp="1"/>
          </p:cNvSpPr>
          <p:nvPr>
            <p:ph type="body" sz="quarter" idx="13"/>
          </p:nvPr>
        </p:nvSpPr>
        <p:spPr>
          <a:xfrm>
            <a:off x="596900" y="1089028"/>
            <a:ext cx="10998200" cy="5267325"/>
          </a:xfrm>
          <a:prstGeom prst="rect">
            <a:avLst/>
          </a:prstGeom>
        </p:spPr>
        <p:txBody>
          <a:bodyPr lIns="91338" tIns="45718" rIns="91338" bIns="45718"/>
          <a:lstStyle>
            <a:lvl1pPr marL="228328" indent="-228328">
              <a:buClr>
                <a:schemeClr val="bg2"/>
              </a:buClr>
              <a:buSzPct val="125000"/>
              <a:buFont typeface="Wingdings" panose="05000000000000000000" pitchFamily="2" charset="2"/>
              <a:buChar char="§"/>
              <a:defRPr sz="2400"/>
            </a:lvl1pPr>
            <a:lvl2pPr marL="684982" indent="-228328">
              <a:buClr>
                <a:schemeClr val="bg2"/>
              </a:buClr>
              <a:buSzPct val="125000"/>
              <a:buFont typeface="Lucida Sans" panose="020B0602030504020204" pitchFamily="34" charset="0"/>
              <a:buChar char="–"/>
              <a:defRPr sz="2400"/>
            </a:lvl2pPr>
            <a:lvl3pPr marL="1141570" indent="-228328">
              <a:buClr>
                <a:schemeClr val="bg2"/>
              </a:buClr>
              <a:buSzPct val="125000"/>
              <a:buFont typeface="Courier New" panose="02070309020205020404" pitchFamily="49" charset="0"/>
              <a:buChar char="o"/>
              <a:defRPr sz="2400"/>
            </a:lvl3pPr>
            <a:lvl4pPr marL="1598160" indent="-228328">
              <a:buClr>
                <a:schemeClr val="bg2"/>
              </a:buClr>
              <a:buSzPct val="125000"/>
              <a:buFont typeface="Wingdings" panose="05000000000000000000" pitchFamily="2" charset="2"/>
              <a:buChar char="§"/>
              <a:defRPr sz="2400"/>
            </a:lvl4pPr>
            <a:lvl5pPr marL="2054751" indent="-228328">
              <a:buClr>
                <a:schemeClr val="bg2"/>
              </a:buClr>
              <a:buSzPct val="125000"/>
              <a:buFont typeface="Wingdings" panose="05000000000000000000" pitchFamily="2" charset="2"/>
              <a:buChar char="§"/>
              <a:defRPr sz="2400"/>
            </a:lvl5pPr>
          </a:lstStyle>
          <a:p>
            <a:pPr lvl="0"/>
            <a:r>
              <a:rPr lang="en-US" dirty="0"/>
              <a:t>Edit Master text styles</a:t>
            </a:r>
          </a:p>
          <a:p>
            <a:pPr lvl="1"/>
            <a:r>
              <a:rPr lang="en-US" dirty="0"/>
              <a:t>Second level</a:t>
            </a:r>
          </a:p>
          <a:p>
            <a:pPr lvl="2"/>
            <a:r>
              <a:rPr lang="en-US" dirty="0"/>
              <a:t> Third level</a:t>
            </a:r>
          </a:p>
        </p:txBody>
      </p:sp>
    </p:spTree>
    <p:extLst>
      <p:ext uri="{BB962C8B-B14F-4D97-AF65-F5344CB8AC3E}">
        <p14:creationId xmlns:p14="http://schemas.microsoft.com/office/powerpoint/2010/main" val="37933521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2CC6F-7ECE-4A09-B490-13688694F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91B936-744F-4C5A-8E0D-B04655655A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25C57E-591B-4DF9-B53C-A6650B6A27F7}"/>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1BFD6403-77F4-43EC-8872-019B61FB2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3DF30-532C-48E7-B334-B3FD5B949192}"/>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500753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6EF1E-E0DD-4FD3-A9B1-9A7FFF298A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3AF19A-9420-42DA-A4FD-402527556E9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474A8-3802-48E1-B6F4-C0DB935B5DC8}"/>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A942404B-867D-4362-BBF2-0D05683E70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F9A96-C10A-47AB-BC95-EC703FAD12D4}"/>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14284353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359F-5AB4-4A63-B79B-85C6E5780F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01DC3F-4666-4C4E-9926-E1FBC70F86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A68942D-A4A7-4966-8C53-3606D0B9AE47}"/>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61EF3686-02FC-4519-B1A9-5785FE2F97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0F926-961D-4273-9BC7-915C98F4FF2D}"/>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8446082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A6AA-6071-4DD7-B3A9-B66DF99DB2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96D8F7-D3FA-474B-8146-BF8961B6C43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5137C1-2D91-42AF-A052-D27FD93E251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A658A3-7D42-4D8C-9705-71D2AD7A18F4}"/>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6" name="Footer Placeholder 5">
            <a:extLst>
              <a:ext uri="{FF2B5EF4-FFF2-40B4-BE49-F238E27FC236}">
                <a16:creationId xmlns:a16="http://schemas.microsoft.com/office/drawing/2014/main" id="{9621D34C-F271-4D6A-80EE-6FCA17B053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CFB502-FB58-4BA9-B7D1-E1B5EE48CA46}"/>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4718327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00A2-CF63-40DD-9422-E9B2848D56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335740-28DD-4AF4-8C71-033FB76971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DF5A5FB-0B87-4C80-A8E4-79483CAB9C4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BE6443-49DA-4B08-A9C9-B6998A921F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7ACD46B-79CD-41E7-B8D2-771D1B21D29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8DC3DB-8539-4C34-B46F-E4420020DC68}"/>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8" name="Footer Placeholder 7">
            <a:extLst>
              <a:ext uri="{FF2B5EF4-FFF2-40B4-BE49-F238E27FC236}">
                <a16:creationId xmlns:a16="http://schemas.microsoft.com/office/drawing/2014/main" id="{69123D27-C857-46C1-A1FB-6771D60721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FD3E87-EF06-4678-900A-C84D73027ABE}"/>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8198566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1CAB1-53BE-46CF-B5BA-5AAA68DA5F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37CFB1-D198-49FF-AF66-0E63FC60695F}"/>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4" name="Footer Placeholder 3">
            <a:extLst>
              <a:ext uri="{FF2B5EF4-FFF2-40B4-BE49-F238E27FC236}">
                <a16:creationId xmlns:a16="http://schemas.microsoft.com/office/drawing/2014/main" id="{AC608374-7791-44CB-BEF0-B3466B5A3C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2BE6D1-2952-47EC-8402-8760CB315522}"/>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6202902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D9017A-E00D-47C6-89A3-DBD5591E719E}"/>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3" name="Footer Placeholder 2">
            <a:extLst>
              <a:ext uri="{FF2B5EF4-FFF2-40B4-BE49-F238E27FC236}">
                <a16:creationId xmlns:a16="http://schemas.microsoft.com/office/drawing/2014/main" id="{17E2EAF2-673C-49DA-825E-EA62E971EF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452E63-0B6C-4A26-B0A9-9D26FC312364}"/>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19341991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B8568-B3CB-42C0-9BBF-5FE29DDE10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5AFA6A-A519-4E7B-934A-41B6986AFF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51377D-231D-42C3-A367-1737666128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F4ACCCC-03D0-4119-8EA4-C108763742C9}"/>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6" name="Footer Placeholder 5">
            <a:extLst>
              <a:ext uri="{FF2B5EF4-FFF2-40B4-BE49-F238E27FC236}">
                <a16:creationId xmlns:a16="http://schemas.microsoft.com/office/drawing/2014/main" id="{65D81C1D-E8CE-41ED-B05F-28A0E7EF5B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45727-D7F9-4B1C-A0A4-EC6372430D49}"/>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29560558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95BE5-8C79-4955-9DE5-7B721E637C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D0EC1D-CA11-4FD7-90DF-55CA482C1D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C6C5C4-4702-4194-ADBB-56A18D47B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93E8FE-C201-4F9B-B008-710E0A05F4AD}"/>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6" name="Footer Placeholder 5">
            <a:extLst>
              <a:ext uri="{FF2B5EF4-FFF2-40B4-BE49-F238E27FC236}">
                <a16:creationId xmlns:a16="http://schemas.microsoft.com/office/drawing/2014/main" id="{48D1B9E8-7AF8-4369-A59F-3E43B1358E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2D17C1-0EAB-4991-A536-102A2B60D90C}"/>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6327967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20ABF-EE10-41D6-BFB4-6FE4B29C7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5E5ADC-DD23-4B80-A71E-6FF0D85AD5E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83FEA-6F14-488B-ADFF-8BE5D3E1A6A3}"/>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80D3D852-9E9D-458A-A490-FE9065A606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BAF01-4FFB-41D2-B589-E97DBB5C977D}"/>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38291803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C9009B-E528-4250-AADF-E06DE5063D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F9734D-3CC4-4EC9-AC02-807EB6C9505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D1BC8-850F-4BAD-9631-97D359FD50F5}"/>
              </a:ext>
            </a:extLst>
          </p:cNvPr>
          <p:cNvSpPr>
            <a:spLocks noGrp="1"/>
          </p:cNvSpPr>
          <p:nvPr>
            <p:ph type="dt" sz="half" idx="10"/>
          </p:nvPr>
        </p:nvSpPr>
        <p:spPr/>
        <p:txBody>
          <a:body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02849E8F-6E69-4CCD-BCD4-691535F83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5B1D8B-08F8-4440-AFDD-389D74B8AC14}"/>
              </a:ext>
            </a:extLst>
          </p:cNvPr>
          <p:cNvSpPr>
            <a:spLocks noGrp="1"/>
          </p:cNvSpPr>
          <p:nvPr>
            <p:ph type="sldNum" sz="quarter" idx="12"/>
          </p:nvPr>
        </p:nvSpPr>
        <p:spPr/>
        <p:txBody>
          <a:bodyPr/>
          <a:lstStyle/>
          <a:p>
            <a:fld id="{B0F7B59C-6EC9-4291-90E9-25D96C1EB964}" type="slidenum">
              <a:rPr lang="en-US" smtClean="0"/>
              <a:t>‹#›</a:t>
            </a:fld>
            <a:endParaRPr lang="en-US"/>
          </a:p>
        </p:txBody>
      </p:sp>
    </p:spTree>
    <p:extLst>
      <p:ext uri="{BB962C8B-B14F-4D97-AF65-F5344CB8AC3E}">
        <p14:creationId xmlns:p14="http://schemas.microsoft.com/office/powerpoint/2010/main" val="6057837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98A436F-3574-4E4E-8F21-410F75A20834}"/>
              </a:ext>
            </a:extLst>
          </p:cNvPr>
          <p:cNvSpPr>
            <a:spLocks noGrp="1"/>
          </p:cNvSpPr>
          <p:nvPr>
            <p:ph type="title"/>
          </p:nvPr>
        </p:nvSpPr>
        <p:spPr>
          <a:xfrm>
            <a:off x="596765" y="258185"/>
            <a:ext cx="10998199" cy="506079"/>
          </a:xfrm>
          <a:prstGeom prst="rect">
            <a:avLst/>
          </a:prstGeom>
        </p:spPr>
        <p:txBody>
          <a:bodyPr lIns="91338" tIns="45718" rIns="91338" bIns="45718"/>
          <a:lstStyle>
            <a:lvl1pPr>
              <a:defRPr sz="2800" b="1">
                <a:solidFill>
                  <a:schemeClr val="bg2"/>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68C554DE-AF41-46DC-B425-CBDAE94F6898}"/>
              </a:ext>
            </a:extLst>
          </p:cNvPr>
          <p:cNvSpPr>
            <a:spLocks noGrp="1"/>
          </p:cNvSpPr>
          <p:nvPr>
            <p:ph type="body" sz="quarter" idx="13"/>
          </p:nvPr>
        </p:nvSpPr>
        <p:spPr>
          <a:xfrm>
            <a:off x="596900" y="1089028"/>
            <a:ext cx="10998200" cy="5267325"/>
          </a:xfrm>
          <a:prstGeom prst="rect">
            <a:avLst/>
          </a:prstGeom>
        </p:spPr>
        <p:txBody>
          <a:bodyPr lIns="91338" tIns="45718" rIns="91338" bIns="45718"/>
          <a:lstStyle>
            <a:lvl1pPr marL="228328" indent="-228328">
              <a:buClr>
                <a:schemeClr val="bg2"/>
              </a:buClr>
              <a:buSzPct val="125000"/>
              <a:buFont typeface="Wingdings" panose="05000000000000000000" pitchFamily="2" charset="2"/>
              <a:buChar char="§"/>
              <a:defRPr sz="2400"/>
            </a:lvl1pPr>
            <a:lvl2pPr marL="684982" indent="-228328">
              <a:buClr>
                <a:schemeClr val="bg2"/>
              </a:buClr>
              <a:buSzPct val="125000"/>
              <a:buFont typeface="Lucida Sans" panose="020B0602030504020204" pitchFamily="34" charset="0"/>
              <a:buChar char="–"/>
              <a:defRPr sz="2400"/>
            </a:lvl2pPr>
            <a:lvl3pPr marL="1141570" indent="-228328">
              <a:buClr>
                <a:schemeClr val="bg2"/>
              </a:buClr>
              <a:buSzPct val="125000"/>
              <a:buFont typeface="Courier New" panose="02070309020205020404" pitchFamily="49" charset="0"/>
              <a:buChar char="o"/>
              <a:defRPr sz="2400"/>
            </a:lvl3pPr>
            <a:lvl4pPr marL="1598160" indent="-228328">
              <a:buClr>
                <a:schemeClr val="bg2"/>
              </a:buClr>
              <a:buSzPct val="125000"/>
              <a:buFont typeface="Wingdings" panose="05000000000000000000" pitchFamily="2" charset="2"/>
              <a:buChar char="§"/>
              <a:defRPr sz="2400"/>
            </a:lvl4pPr>
            <a:lvl5pPr marL="2054751" indent="-228328">
              <a:buClr>
                <a:schemeClr val="bg2"/>
              </a:buClr>
              <a:buSzPct val="125000"/>
              <a:buFont typeface="Wingdings" panose="05000000000000000000" pitchFamily="2" charset="2"/>
              <a:buChar char="§"/>
              <a:defRPr sz="2400"/>
            </a:lvl5pPr>
          </a:lstStyle>
          <a:p>
            <a:pPr lvl="0"/>
            <a:r>
              <a:rPr lang="en-US" dirty="0"/>
              <a:t>Edit Master text styles</a:t>
            </a:r>
          </a:p>
          <a:p>
            <a:pPr lvl="1"/>
            <a:r>
              <a:rPr lang="en-US" dirty="0"/>
              <a:t>Second level</a:t>
            </a:r>
          </a:p>
          <a:p>
            <a:pPr lvl="2"/>
            <a:r>
              <a:rPr lang="en-US" dirty="0"/>
              <a:t> Third level</a:t>
            </a:r>
          </a:p>
        </p:txBody>
      </p:sp>
    </p:spTree>
    <p:extLst>
      <p:ext uri="{BB962C8B-B14F-4D97-AF65-F5344CB8AC3E}">
        <p14:creationId xmlns:p14="http://schemas.microsoft.com/office/powerpoint/2010/main" val="19946814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AF6D3-7D0E-4A68-98B0-65BED9F5D6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F28074-3E31-41E1-BF1B-CB8B13E9E8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04DD42-474B-4947-9FBC-9E5EC7E48D3C}"/>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5" name="Footer Placeholder 4">
            <a:extLst>
              <a:ext uri="{FF2B5EF4-FFF2-40B4-BE49-F238E27FC236}">
                <a16:creationId xmlns:a16="http://schemas.microsoft.com/office/drawing/2014/main" id="{5DB384DB-DA50-448E-9A38-75D1217FD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5A7737-D573-443D-BF53-0E575D5123E4}"/>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28522891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EFE2-BC21-4635-B1EF-F6A2F7F782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4BB32C-03EC-4CF4-9D26-885CB46CCF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67975E-E740-401E-BEF1-1AC2D8185B4E}"/>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5" name="Footer Placeholder 4">
            <a:extLst>
              <a:ext uri="{FF2B5EF4-FFF2-40B4-BE49-F238E27FC236}">
                <a16:creationId xmlns:a16="http://schemas.microsoft.com/office/drawing/2014/main" id="{B389D194-7CFB-450E-B731-E8A9332C1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FF252-BD93-4461-BA7C-1659BC752760}"/>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42497587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E207A-1EE0-49F0-BD3B-A7E4274CBB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6C0306-79EB-4A79-AE37-A8B84CBF45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82606B-9BB0-44E3-9BFA-7282469B3FDB}"/>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5" name="Footer Placeholder 4">
            <a:extLst>
              <a:ext uri="{FF2B5EF4-FFF2-40B4-BE49-F238E27FC236}">
                <a16:creationId xmlns:a16="http://schemas.microsoft.com/office/drawing/2014/main" id="{CCCE36CB-863A-491C-BEB2-5FE0CB55F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BA9CED-89FD-4FA6-98FB-483D64835752}"/>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36853036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DD076-F43F-4448-9EF2-0EA02A412A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EC0738-8B93-452D-AD04-114F48C6E7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402254-3737-4910-8314-3EB21DCEC8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4F7FC3-F22D-45FC-BA72-15F7B04BFEAB}"/>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6" name="Footer Placeholder 5">
            <a:extLst>
              <a:ext uri="{FF2B5EF4-FFF2-40B4-BE49-F238E27FC236}">
                <a16:creationId xmlns:a16="http://schemas.microsoft.com/office/drawing/2014/main" id="{89E5149F-1918-414E-8BB8-9FF0200256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6BFEE1-04C4-42FC-8BED-7A5C6FBE4D13}"/>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10535905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52044-6566-4AEB-BA16-7971DA9C87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5814C8-CC92-4951-AB55-6155AAA47C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3C3E1D-364E-4EA4-9553-DE177D5906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BFEA37-9EE2-4AE5-A33B-B7374C5A5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7406E3-D40A-4E78-ACF4-1113227C3B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6524C9-C856-4B34-AC90-E9C8928F1B00}"/>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8" name="Footer Placeholder 7">
            <a:extLst>
              <a:ext uri="{FF2B5EF4-FFF2-40B4-BE49-F238E27FC236}">
                <a16:creationId xmlns:a16="http://schemas.microsoft.com/office/drawing/2014/main" id="{2F592B87-4E78-4790-9966-655726ABBC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900FE2-A9D2-4B96-9351-15AF56C5D399}"/>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30700855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58C6E-0C95-485C-8775-E3064F6C6F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EB8B9F-9618-4EB9-B4CF-2D0C022A7821}"/>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4" name="Footer Placeholder 3">
            <a:extLst>
              <a:ext uri="{FF2B5EF4-FFF2-40B4-BE49-F238E27FC236}">
                <a16:creationId xmlns:a16="http://schemas.microsoft.com/office/drawing/2014/main" id="{BF363F46-17FA-4865-A313-491054B3AE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5244B9-5B62-40EE-8F6A-2C39A1BCFFC4}"/>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121028144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4DEE43-57EE-4B8B-8627-B9B2F40E808D}"/>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3" name="Footer Placeholder 2">
            <a:extLst>
              <a:ext uri="{FF2B5EF4-FFF2-40B4-BE49-F238E27FC236}">
                <a16:creationId xmlns:a16="http://schemas.microsoft.com/office/drawing/2014/main" id="{F825EB0B-C4F4-4749-8889-440B37442E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08CF6C-6338-4064-BDE5-70A97F363DD7}"/>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33364637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32849-EE27-47E5-B337-6B4DD494E2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65D6D6-3BEE-4903-8517-55FC164B58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457694-A707-45AD-AD70-0E79A5B195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9C4309-3FE0-44CA-9A2E-0CF0EA90A619}"/>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6" name="Footer Placeholder 5">
            <a:extLst>
              <a:ext uri="{FF2B5EF4-FFF2-40B4-BE49-F238E27FC236}">
                <a16:creationId xmlns:a16="http://schemas.microsoft.com/office/drawing/2014/main" id="{AC77CCB4-9B4B-4DBF-A691-0456ADBE16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011948-2ED9-46A1-90C2-00D4F0980D54}"/>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28863990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BEEB-1471-4DAC-B055-E3EEACBD22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7287B9-9BF3-4500-94FD-872DC2832F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F74348-2F94-41C9-B7D5-A07ED00F71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7173AC-3B29-482C-B88D-6CC3353EB26D}"/>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6" name="Footer Placeholder 5">
            <a:extLst>
              <a:ext uri="{FF2B5EF4-FFF2-40B4-BE49-F238E27FC236}">
                <a16:creationId xmlns:a16="http://schemas.microsoft.com/office/drawing/2014/main" id="{41403C43-18DC-47BD-9494-3D512D4A00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AC0B33-6307-4A31-A5BD-D0A667D9900C}"/>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8045686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8F604-B5BD-466D-B095-D101F0794F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3AA32E-37BC-4E4D-9C28-2A1595EF1B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F88FE5-1EA7-4C95-BD8C-A731777D973E}"/>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5" name="Footer Placeholder 4">
            <a:extLst>
              <a:ext uri="{FF2B5EF4-FFF2-40B4-BE49-F238E27FC236}">
                <a16:creationId xmlns:a16="http://schemas.microsoft.com/office/drawing/2014/main" id="{B1999888-7668-42E2-B70E-60CF04D9B6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29F0DA-FB85-471C-A900-F12BC8A65B2D}"/>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36350725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18921F-E2B1-447D-995E-AD4DF5BA2E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54867C-2ED9-4A23-BA24-0E41BCA48B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8D6A5E-840A-4F02-AD6A-40608B4313DA}"/>
              </a:ext>
            </a:extLst>
          </p:cNvPr>
          <p:cNvSpPr>
            <a:spLocks noGrp="1"/>
          </p:cNvSpPr>
          <p:nvPr>
            <p:ph type="dt" sz="half" idx="10"/>
          </p:nvPr>
        </p:nvSpPr>
        <p:spPr/>
        <p:txBody>
          <a:bodyPr/>
          <a:lstStyle/>
          <a:p>
            <a:fld id="{8C686D32-8C9A-4AE2-A4D6-41187B6D9B8D}" type="datetimeFigureOut">
              <a:rPr lang="en-US" smtClean="0"/>
              <a:t>5/6/2026</a:t>
            </a:fld>
            <a:endParaRPr lang="en-US"/>
          </a:p>
        </p:txBody>
      </p:sp>
      <p:sp>
        <p:nvSpPr>
          <p:cNvPr id="5" name="Footer Placeholder 4">
            <a:extLst>
              <a:ext uri="{FF2B5EF4-FFF2-40B4-BE49-F238E27FC236}">
                <a16:creationId xmlns:a16="http://schemas.microsoft.com/office/drawing/2014/main" id="{06AABED6-4426-4CA7-9FCA-BE0EF8D08F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CA972-96F6-42F1-BC46-C60EE9CE396F}"/>
              </a:ext>
            </a:extLst>
          </p:cNvPr>
          <p:cNvSpPr>
            <a:spLocks noGrp="1"/>
          </p:cNvSpPr>
          <p:nvPr>
            <p:ph type="sldNum" sz="quarter" idx="12"/>
          </p:nvPr>
        </p:nvSpPr>
        <p:spPr/>
        <p:txBody>
          <a:bodyPr/>
          <a:lstStyle/>
          <a:p>
            <a:fld id="{85CB0BE1-5F30-4C32-AD1E-0B9EC02FE670}" type="slidenum">
              <a:rPr lang="en-US" smtClean="0"/>
              <a:t>‹#›</a:t>
            </a:fld>
            <a:endParaRPr lang="en-US"/>
          </a:p>
        </p:txBody>
      </p:sp>
    </p:spTree>
    <p:extLst>
      <p:ext uri="{BB962C8B-B14F-4D97-AF65-F5344CB8AC3E}">
        <p14:creationId xmlns:p14="http://schemas.microsoft.com/office/powerpoint/2010/main" val="1303171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ABA71A-6BAB-B41E-F458-D6F81A4D0D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4F5697-58EA-89C6-E553-0265ECC759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28DCC0-9AD7-81F9-7420-5FC370B299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0C7AB9-61B7-468B-89CB-CDA30591A5A6}" type="datetimeFigureOut">
              <a:rPr lang="en-US" smtClean="0"/>
              <a:t>5/6/2026</a:t>
            </a:fld>
            <a:endParaRPr lang="en-US"/>
          </a:p>
        </p:txBody>
      </p:sp>
      <p:sp>
        <p:nvSpPr>
          <p:cNvPr id="5" name="Footer Placeholder 4">
            <a:extLst>
              <a:ext uri="{FF2B5EF4-FFF2-40B4-BE49-F238E27FC236}">
                <a16:creationId xmlns:a16="http://schemas.microsoft.com/office/drawing/2014/main" id="{823F0F3D-518F-C644-7594-501EB5E061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52CC42-F2BB-2349-9411-C428A0E9AC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E9FEC7-E36F-48B2-BFDA-1D7A7D0A76E7}" type="slidenum">
              <a:rPr lang="en-US" smtClean="0"/>
              <a:t>‹#›</a:t>
            </a:fld>
            <a:endParaRPr lang="en-US"/>
          </a:p>
        </p:txBody>
      </p:sp>
    </p:spTree>
    <p:extLst>
      <p:ext uri="{BB962C8B-B14F-4D97-AF65-F5344CB8AC3E}">
        <p14:creationId xmlns:p14="http://schemas.microsoft.com/office/powerpoint/2010/main" val="2038355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915B83-5D7E-455F-8C1E-C3952F9186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C8ECB1-937A-4B1B-8D13-3174234B9B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235159-D928-40E7-A35C-CF3B22B361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B2701DB4-9FB1-4221-897A-D124EBCD58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41A063-8549-44FF-96C5-8D37856B28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F7B59C-6EC9-4291-90E9-25D96C1EB964}" type="slidenum">
              <a:rPr lang="en-US" smtClean="0"/>
              <a:t>‹#›</a:t>
            </a:fld>
            <a:endParaRPr lang="en-US"/>
          </a:p>
        </p:txBody>
      </p:sp>
    </p:spTree>
    <p:extLst>
      <p:ext uri="{BB962C8B-B14F-4D97-AF65-F5344CB8AC3E}">
        <p14:creationId xmlns:p14="http://schemas.microsoft.com/office/powerpoint/2010/main" val="27140160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915B83-5D7E-455F-8C1E-C3952F9186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C8ECB1-937A-4B1B-8D13-3174234B9B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235159-D928-40E7-A35C-CF3B22B361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593BC0-03F7-4BE1-9B27-6AC33BEA0BAF}" type="datetimeFigureOut">
              <a:rPr lang="en-US" smtClean="0"/>
              <a:t>5/6/2026</a:t>
            </a:fld>
            <a:endParaRPr lang="en-US"/>
          </a:p>
        </p:txBody>
      </p:sp>
      <p:sp>
        <p:nvSpPr>
          <p:cNvPr id="5" name="Footer Placeholder 4">
            <a:extLst>
              <a:ext uri="{FF2B5EF4-FFF2-40B4-BE49-F238E27FC236}">
                <a16:creationId xmlns:a16="http://schemas.microsoft.com/office/drawing/2014/main" id="{B2701DB4-9FB1-4221-897A-D124EBCD58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41A063-8549-44FF-96C5-8D37856B28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F7B59C-6EC9-4291-90E9-25D96C1EB964}" type="slidenum">
              <a:rPr lang="en-US" smtClean="0"/>
              <a:t>‹#›</a:t>
            </a:fld>
            <a:endParaRPr lang="en-US"/>
          </a:p>
        </p:txBody>
      </p:sp>
    </p:spTree>
    <p:extLst>
      <p:ext uri="{BB962C8B-B14F-4D97-AF65-F5344CB8AC3E}">
        <p14:creationId xmlns:p14="http://schemas.microsoft.com/office/powerpoint/2010/main" val="292008094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96A5BC-F535-419C-A0AE-7A274B2B37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B0AD9F-B74B-4509-962C-CC6C52033D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A332EA-EEE7-4F3C-AC0C-CBAFCE864A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686D32-8C9A-4AE2-A4D6-41187B6D9B8D}" type="datetimeFigureOut">
              <a:rPr lang="en-US" smtClean="0"/>
              <a:t>5/6/2026</a:t>
            </a:fld>
            <a:endParaRPr lang="en-US"/>
          </a:p>
        </p:txBody>
      </p:sp>
      <p:sp>
        <p:nvSpPr>
          <p:cNvPr id="5" name="Footer Placeholder 4">
            <a:extLst>
              <a:ext uri="{FF2B5EF4-FFF2-40B4-BE49-F238E27FC236}">
                <a16:creationId xmlns:a16="http://schemas.microsoft.com/office/drawing/2014/main" id="{4891B51D-E129-4CDB-977F-C2D3C78872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21231-0FD5-47FC-A18D-CD721AC06F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CB0BE1-5F30-4C32-AD1E-0B9EC02FE670}" type="slidenum">
              <a:rPr lang="en-US" smtClean="0"/>
              <a:t>‹#›</a:t>
            </a:fld>
            <a:endParaRPr lang="en-US"/>
          </a:p>
        </p:txBody>
      </p:sp>
    </p:spTree>
    <p:extLst>
      <p:ext uri="{BB962C8B-B14F-4D97-AF65-F5344CB8AC3E}">
        <p14:creationId xmlns:p14="http://schemas.microsoft.com/office/powerpoint/2010/main" val="112109489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png"/><Relationship Id="rId7"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8.png"/><Relationship Id="rId5" Type="http://schemas.microsoft.com/office/2007/relationships/hdphoto" Target="../media/hdphoto1.wdp"/><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43.emf"/><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hyperlink" Target="https://opportunityinsights.org/paper/social-capital-i-measurement-and-associations-with-economic-mobility/"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hyperlink" Target="https://opportunityinsights.org/paper/social-capital-i-measurement-and-associations-with-economic-mobility/" TargetMode="External"/><Relationship Id="rId2" Type="http://schemas.openxmlformats.org/officeDocument/2006/relationships/notesSlide" Target="../notesSlides/notesSlide23.xml"/><Relationship Id="rId1" Type="http://schemas.openxmlformats.org/officeDocument/2006/relationships/slideLayout" Target="../slideLayouts/slideLayout25.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hyperlink" Target="https://opportunityinsights.org/paper/social-capital-i-measurement-and-associations-with-economic-mobility/" TargetMode="External"/><Relationship Id="rId2" Type="http://schemas.openxmlformats.org/officeDocument/2006/relationships/notesSlide" Target="../notesSlides/notesSlide24.xml"/><Relationship Id="rId1" Type="http://schemas.openxmlformats.org/officeDocument/2006/relationships/slideLayout" Target="../slideLayouts/slideLayout25.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D7E9AF24-7BC6-4B8E-930F-F82A71EAC4EB}"/>
              </a:ext>
            </a:extLst>
          </p:cNvPr>
          <p:cNvGrpSpPr/>
          <p:nvPr/>
        </p:nvGrpSpPr>
        <p:grpSpPr>
          <a:xfrm>
            <a:off x="-62556" y="4111308"/>
            <a:ext cx="10693101" cy="1693586"/>
            <a:chOff x="0" y="3593054"/>
            <a:chExt cx="10693101" cy="2201595"/>
          </a:xfrm>
        </p:grpSpPr>
        <p:sp>
          <p:nvSpPr>
            <p:cNvPr id="14" name="Rectangle 13">
              <a:extLst>
                <a:ext uri="{FF2B5EF4-FFF2-40B4-BE49-F238E27FC236}">
                  <a16:creationId xmlns:a16="http://schemas.microsoft.com/office/drawing/2014/main" id="{08AB1136-6F51-48AC-8287-A87E231D6148}"/>
                </a:ext>
              </a:extLst>
            </p:cNvPr>
            <p:cNvSpPr/>
            <p:nvPr/>
          </p:nvSpPr>
          <p:spPr>
            <a:xfrm>
              <a:off x="0" y="3863693"/>
              <a:ext cx="10553475" cy="1930956"/>
            </a:xfrm>
            <a:prstGeom prst="rect">
              <a:avLst/>
            </a:prstGeom>
            <a:solidFill>
              <a:srgbClr val="28B6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Isosceles Triangle 14">
              <a:extLst>
                <a:ext uri="{FF2B5EF4-FFF2-40B4-BE49-F238E27FC236}">
                  <a16:creationId xmlns:a16="http://schemas.microsoft.com/office/drawing/2014/main" id="{EA179EF8-161F-416F-97AF-8751A774A7C5}"/>
                </a:ext>
              </a:extLst>
            </p:cNvPr>
            <p:cNvSpPr/>
            <p:nvPr/>
          </p:nvSpPr>
          <p:spPr>
            <a:xfrm>
              <a:off x="8380207" y="3593054"/>
              <a:ext cx="2312894" cy="2201595"/>
            </a:xfrm>
            <a:prstGeom prst="triangle">
              <a:avLst>
                <a:gd name="adj" fmla="val 954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6" name="Content Placeholder 2">
            <a:extLst>
              <a:ext uri="{FF2B5EF4-FFF2-40B4-BE49-F238E27FC236}">
                <a16:creationId xmlns:a16="http://schemas.microsoft.com/office/drawing/2014/main" id="{07060544-589F-4FB4-9051-00EBABA3600C}"/>
              </a:ext>
            </a:extLst>
          </p:cNvPr>
          <p:cNvSpPr txBox="1">
            <a:spLocks/>
          </p:cNvSpPr>
          <p:nvPr/>
        </p:nvSpPr>
        <p:spPr>
          <a:xfrm>
            <a:off x="135697" y="4463002"/>
            <a:ext cx="9025236" cy="14392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1F497D"/>
              </a:buClr>
              <a:buSzTx/>
              <a:buFont typeface="Arial" panose="020B0604020202020204" pitchFamily="34" charset="0"/>
              <a:buNone/>
              <a:tabLst/>
              <a:defRPr/>
            </a:pPr>
            <a:r>
              <a:rPr kumimoji="0" lang="en-US" sz="3600" b="1" i="0" u="none" strike="noStrike" kern="1200" cap="none" spc="0" normalizeH="0" baseline="0" noProof="0" dirty="0">
                <a:ln>
                  <a:noFill/>
                </a:ln>
                <a:solidFill>
                  <a:prstClr val="white"/>
                </a:solidFill>
                <a:effectLst/>
                <a:uLnTx/>
                <a:uFillTx/>
                <a:latin typeface="Lucida Sans" panose="020B0602030504020204" pitchFamily="34" charset="0"/>
                <a:ea typeface="+mn-ea"/>
                <a:cs typeface="Arial" panose="020B0604020202020204" pitchFamily="34" charset="0"/>
              </a:rPr>
              <a:t>Determinants of Economic Mobility</a:t>
            </a:r>
          </a:p>
        </p:txBody>
      </p:sp>
      <p:pic>
        <p:nvPicPr>
          <p:cNvPr id="2" name="Picture 1" descr="A black and grey text&#10;&#10;Description automatically generated">
            <a:extLst>
              <a:ext uri="{FF2B5EF4-FFF2-40B4-BE49-F238E27FC236}">
                <a16:creationId xmlns:a16="http://schemas.microsoft.com/office/drawing/2014/main" id="{A133DD2B-A441-517F-DDC8-D957D12A2557}"/>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Tree>
    <p:extLst>
      <p:ext uri="{BB962C8B-B14F-4D97-AF65-F5344CB8AC3E}">
        <p14:creationId xmlns:p14="http://schemas.microsoft.com/office/powerpoint/2010/main" val="3973019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183"/>
          <p:cNvSpPr>
            <a:spLocks noChangeArrowheads="1"/>
          </p:cNvSpPr>
          <p:nvPr/>
        </p:nvSpPr>
        <p:spPr bwMode="auto">
          <a:xfrm>
            <a:off x="6462351" y="598576"/>
            <a:ext cx="10099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AF21E452-DCAE-DA58-0AB7-0C6962FEED62}"/>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15" name="Straight Connector 14">
            <a:extLst>
              <a:ext uri="{FF2B5EF4-FFF2-40B4-BE49-F238E27FC236}">
                <a16:creationId xmlns:a16="http://schemas.microsoft.com/office/drawing/2014/main" id="{134EEE36-1094-8E6C-67A3-F5359C370400}"/>
              </a:ext>
            </a:extLst>
          </p:cNvPr>
          <p:cNvCxnSpPr>
            <a:cxnSpLocks/>
          </p:cNvCxnSpPr>
          <p:nvPr/>
        </p:nvCxnSpPr>
        <p:spPr>
          <a:xfrm>
            <a:off x="620980" y="6483107"/>
            <a:ext cx="109536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C6562049-0CE6-FE65-87C2-23AD5671386A}"/>
              </a:ext>
            </a:extLst>
          </p:cNvPr>
          <p:cNvCxnSpPr>
            <a:cxnSpLocks/>
          </p:cNvCxnSpPr>
          <p:nvPr/>
        </p:nvCxnSpPr>
        <p:spPr>
          <a:xfrm>
            <a:off x="620980" y="1000920"/>
            <a:ext cx="1913229" cy="0"/>
          </a:xfrm>
          <a:prstGeom prst="line">
            <a:avLst/>
          </a:prstGeom>
          <a:ln>
            <a:solidFill>
              <a:srgbClr val="29B6A4"/>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A3D9527-1BFF-D891-1B8C-3A5028EB1CA0}"/>
              </a:ext>
            </a:extLst>
          </p:cNvPr>
          <p:cNvSpPr>
            <a:spLocks noChangeArrowheads="1"/>
          </p:cNvSpPr>
          <p:nvPr/>
        </p:nvSpPr>
        <p:spPr bwMode="auto">
          <a:xfrm>
            <a:off x="613836" y="375319"/>
            <a:ext cx="1095718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The Geography of Upward Mobility in Orlando</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Average Income at Age 35 for Children whose Parents Earned $41K (25th percentile)</a:t>
            </a:r>
          </a:p>
        </p:txBody>
      </p:sp>
      <p:pic>
        <p:nvPicPr>
          <p:cNvPr id="8" name="Picture 7">
            <a:extLst>
              <a:ext uri="{FF2B5EF4-FFF2-40B4-BE49-F238E27FC236}">
                <a16:creationId xmlns:a16="http://schemas.microsoft.com/office/drawing/2014/main" id="{208765B9-FDE4-A9D7-CAEF-B55FDF46005C}"/>
              </a:ext>
            </a:extLst>
          </p:cNvPr>
          <p:cNvPicPr>
            <a:picLocks noChangeAspect="1"/>
          </p:cNvPicPr>
          <p:nvPr/>
        </p:nvPicPr>
        <p:blipFill>
          <a:blip r:embed="rId4"/>
          <a:srcRect t="14616" b="14616"/>
          <a:stretch/>
        </p:blipFill>
        <p:spPr>
          <a:xfrm>
            <a:off x="613836" y="1244744"/>
            <a:ext cx="10927080" cy="5130534"/>
          </a:xfrm>
          <a:prstGeom prst="rect">
            <a:avLst/>
          </a:prstGeom>
        </p:spPr>
      </p:pic>
      <p:grpSp>
        <p:nvGrpSpPr>
          <p:cNvPr id="5" name="Group 4"/>
          <p:cNvGrpSpPr/>
          <p:nvPr/>
        </p:nvGrpSpPr>
        <p:grpSpPr>
          <a:xfrm>
            <a:off x="8244115" y="3891645"/>
            <a:ext cx="3331718" cy="2429323"/>
            <a:chOff x="8280400" y="3354620"/>
            <a:chExt cx="3331718" cy="2429323"/>
          </a:xfrm>
        </p:grpSpPr>
        <p:grpSp>
          <p:nvGrpSpPr>
            <p:cNvPr id="2" name="Group 1"/>
            <p:cNvGrpSpPr/>
            <p:nvPr/>
          </p:nvGrpSpPr>
          <p:grpSpPr>
            <a:xfrm>
              <a:off x="8280400" y="3354620"/>
              <a:ext cx="3297764" cy="2429323"/>
              <a:chOff x="8280400" y="3361877"/>
              <a:chExt cx="3297764" cy="2429323"/>
            </a:xfrm>
          </p:grpSpPr>
          <p:grpSp>
            <p:nvGrpSpPr>
              <p:cNvPr id="6" name="Group 5">
                <a:extLst>
                  <a:ext uri="{FF2B5EF4-FFF2-40B4-BE49-F238E27FC236}">
                    <a16:creationId xmlns:a16="http://schemas.microsoft.com/office/drawing/2014/main" id="{E29A353F-50E7-C9E9-8360-2E101E58E841}"/>
                  </a:ext>
                </a:extLst>
              </p:cNvPr>
              <p:cNvGrpSpPr/>
              <p:nvPr/>
            </p:nvGrpSpPr>
            <p:grpSpPr>
              <a:xfrm>
                <a:off x="8280400" y="3361877"/>
                <a:ext cx="3294229" cy="2429323"/>
                <a:chOff x="8280400" y="3289306"/>
                <a:chExt cx="3294229" cy="2978144"/>
              </a:xfrm>
            </p:grpSpPr>
            <p:sp>
              <p:nvSpPr>
                <p:cNvPr id="13" name="Rectangle 12">
                  <a:extLst>
                    <a:ext uri="{FF2B5EF4-FFF2-40B4-BE49-F238E27FC236}">
                      <a16:creationId xmlns:a16="http://schemas.microsoft.com/office/drawing/2014/main" id="{70B53F5E-2A53-B459-8828-977039630253}"/>
                    </a:ext>
                  </a:extLst>
                </p:cNvPr>
                <p:cNvSpPr/>
                <p:nvPr/>
              </p:nvSpPr>
              <p:spPr>
                <a:xfrm>
                  <a:off x="8280400" y="3289306"/>
                  <a:ext cx="3294229" cy="2978144"/>
                </a:xfrm>
                <a:prstGeom prst="rect">
                  <a:avLst/>
                </a:prstGeom>
                <a:solidFill>
                  <a:srgbClr val="FFFFFF">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mn-cs"/>
                  </a:endParaRPr>
                </a:p>
              </p:txBody>
            </p:sp>
            <p:grpSp>
              <p:nvGrpSpPr>
                <p:cNvPr id="16" name="Group 15">
                  <a:extLst>
                    <a:ext uri="{FF2B5EF4-FFF2-40B4-BE49-F238E27FC236}">
                      <a16:creationId xmlns:a16="http://schemas.microsoft.com/office/drawing/2014/main" id="{C74A4CB6-1DFB-2FDF-9BB1-2B3EB6E5EF15}"/>
                    </a:ext>
                  </a:extLst>
                </p:cNvPr>
                <p:cNvGrpSpPr/>
                <p:nvPr/>
              </p:nvGrpSpPr>
              <p:grpSpPr>
                <a:xfrm>
                  <a:off x="8389044" y="4532466"/>
                  <a:ext cx="2694605" cy="468878"/>
                  <a:chOff x="6551138" y="2812601"/>
                  <a:chExt cx="5154917" cy="896988"/>
                </a:xfrm>
              </p:grpSpPr>
              <p:pic>
                <p:nvPicPr>
                  <p:cNvPr id="17" name="Picture 16">
                    <a:extLst>
                      <a:ext uri="{FF2B5EF4-FFF2-40B4-BE49-F238E27FC236}">
                        <a16:creationId xmlns:a16="http://schemas.microsoft.com/office/drawing/2014/main" id="{F05D0FC6-51CD-5F22-A04D-51D4B938264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8097" t="1508" r="18088" b="1203"/>
                  <a:stretch/>
                </p:blipFill>
                <p:spPr>
                  <a:xfrm rot="5400000" flipH="1">
                    <a:off x="8978553" y="1329160"/>
                    <a:ext cx="305625" cy="4455234"/>
                  </a:xfrm>
                  <a:prstGeom prst="rect">
                    <a:avLst/>
                  </a:prstGeom>
                </p:spPr>
              </p:pic>
              <p:sp>
                <p:nvSpPr>
                  <p:cNvPr id="18" name="TextBox 17">
                    <a:extLst>
                      <a:ext uri="{FF2B5EF4-FFF2-40B4-BE49-F238E27FC236}">
                        <a16:creationId xmlns:a16="http://schemas.microsoft.com/office/drawing/2014/main" id="{1781C07F-0618-365D-5A36-2F65276C4929}"/>
                      </a:ext>
                    </a:extLst>
                  </p:cNvPr>
                  <p:cNvSpPr txBox="1"/>
                  <p:nvPr/>
                </p:nvSpPr>
                <p:spPr>
                  <a:xfrm>
                    <a:off x="9947261" y="2812601"/>
                    <a:ext cx="1758794" cy="721761"/>
                  </a:xfrm>
                  <a:prstGeom prst="rect">
                    <a:avLst/>
                  </a:prstGeom>
                  <a:noFill/>
                </p:spPr>
                <p:txBody>
                  <a:bodyPr wrap="square" lIns="91034" tIns="45710" rIns="91034" bIns="45710" rtlCol="0">
                    <a:spAutoFit/>
                  </a:bodyPr>
                  <a:lstStyle/>
                  <a:p>
                    <a:pPr marL="0" marR="0" lvl="0" indent="0" algn="ctr" defTabSz="121869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&gt;$83k</a:t>
                    </a:r>
                  </a:p>
                </p:txBody>
              </p:sp>
              <p:sp>
                <p:nvSpPr>
                  <p:cNvPr id="19" name="TextBox 18">
                    <a:extLst>
                      <a:ext uri="{FF2B5EF4-FFF2-40B4-BE49-F238E27FC236}">
                        <a16:creationId xmlns:a16="http://schemas.microsoft.com/office/drawing/2014/main" id="{80244E6B-5728-FDE2-A9D8-BBE94E62B7B5}"/>
                      </a:ext>
                    </a:extLst>
                  </p:cNvPr>
                  <p:cNvSpPr txBox="1"/>
                  <p:nvPr/>
                </p:nvSpPr>
                <p:spPr>
                  <a:xfrm>
                    <a:off x="8329091" y="2812601"/>
                    <a:ext cx="1496096" cy="721761"/>
                  </a:xfrm>
                  <a:prstGeom prst="rect">
                    <a:avLst/>
                  </a:prstGeom>
                  <a:noFill/>
                </p:spPr>
                <p:txBody>
                  <a:bodyPr wrap="square" lIns="91034" tIns="45710" rIns="91034" bIns="45710" rtlCol="0">
                    <a:spAutoFit/>
                  </a:bodyPr>
                  <a:lstStyle/>
                  <a:p>
                    <a:pPr marL="0" marR="0" lvl="0" indent="0" algn="ctr" defTabSz="121869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$50k</a:t>
                    </a:r>
                  </a:p>
                </p:txBody>
              </p:sp>
              <p:sp>
                <p:nvSpPr>
                  <p:cNvPr id="20" name="TextBox 19">
                    <a:extLst>
                      <a:ext uri="{FF2B5EF4-FFF2-40B4-BE49-F238E27FC236}">
                        <a16:creationId xmlns:a16="http://schemas.microsoft.com/office/drawing/2014/main" id="{3DF0660D-41BE-796B-8E74-10E15E9CADB3}"/>
                      </a:ext>
                    </a:extLst>
                  </p:cNvPr>
                  <p:cNvSpPr txBox="1"/>
                  <p:nvPr/>
                </p:nvSpPr>
                <p:spPr>
                  <a:xfrm>
                    <a:off x="6551138" y="2812603"/>
                    <a:ext cx="1582112" cy="721761"/>
                  </a:xfrm>
                  <a:prstGeom prst="rect">
                    <a:avLst/>
                  </a:prstGeom>
                  <a:noFill/>
                </p:spPr>
                <p:txBody>
                  <a:bodyPr wrap="square" lIns="91034" tIns="45710" rIns="91034" bIns="45710" rtlCol="0">
                    <a:spAutoFit/>
                  </a:bodyPr>
                  <a:lstStyle/>
                  <a:p>
                    <a:pPr marL="0" marR="0" lvl="0" indent="0" algn="ctr" defTabSz="121869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&lt;$30k</a:t>
                    </a:r>
                  </a:p>
                </p:txBody>
              </p:sp>
            </p:grpSp>
          </p:grpSp>
          <p:sp>
            <p:nvSpPr>
              <p:cNvPr id="9" name="TextBox 8">
                <a:extLst>
                  <a:ext uri="{FF2B5EF4-FFF2-40B4-BE49-F238E27FC236}">
                    <a16:creationId xmlns:a16="http://schemas.microsoft.com/office/drawing/2014/main" id="{57BC43C0-321B-15A3-9DA0-CE2B68A94AE4}"/>
                  </a:ext>
                </a:extLst>
              </p:cNvPr>
              <p:cNvSpPr txBox="1"/>
              <p:nvPr/>
            </p:nvSpPr>
            <p:spPr>
              <a:xfrm>
                <a:off x="8389043" y="3449654"/>
                <a:ext cx="3189121" cy="954107"/>
              </a:xfrm>
              <a:prstGeom prst="rect">
                <a:avLst/>
              </a:prstGeom>
              <a:noFill/>
            </p:spPr>
            <p:txBody>
              <a:bodyPr wrap="square"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See estimates for other cities at </a:t>
                </a: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The Opportunity Atlas</a:t>
                </a: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www.opportunityatlas.org</a:t>
                </a:r>
              </a:p>
            </p:txBody>
          </p:sp>
        </p:grpSp>
        <p:sp>
          <p:nvSpPr>
            <p:cNvPr id="10" name="TextBox 9">
              <a:extLst>
                <a:ext uri="{FF2B5EF4-FFF2-40B4-BE49-F238E27FC236}">
                  <a16:creationId xmlns:a16="http://schemas.microsoft.com/office/drawing/2014/main" id="{7B672F80-C1FB-7362-C94B-97CC9091570B}"/>
                </a:ext>
              </a:extLst>
            </p:cNvPr>
            <p:cNvSpPr txBox="1"/>
            <p:nvPr/>
          </p:nvSpPr>
          <p:spPr>
            <a:xfrm>
              <a:off x="8374741" y="5109174"/>
              <a:ext cx="3237377" cy="523220"/>
            </a:xfrm>
            <a:prstGeom prst="rect">
              <a:avLst/>
            </a:prstGeom>
            <a:noFill/>
          </p:spPr>
          <p:txBody>
            <a:bodyPr wrap="square">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Note: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Blue = More Upward Mobility</a:t>
              </a:r>
            </a:p>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Red = Less Upward Mobility</a:t>
              </a:r>
            </a:p>
          </p:txBody>
        </p:sp>
      </p:grpSp>
      <p:sp>
        <p:nvSpPr>
          <p:cNvPr id="11" name="TextBox 10">
            <a:extLst>
              <a:ext uri="{FF2B5EF4-FFF2-40B4-BE49-F238E27FC236}">
                <a16:creationId xmlns:a16="http://schemas.microsoft.com/office/drawing/2014/main" id="{BEA0FCC6-4857-2435-A5B4-F3AEB12EEDD2}"/>
              </a:ext>
            </a:extLst>
          </p:cNvPr>
          <p:cNvSpPr txBox="1"/>
          <p:nvPr/>
        </p:nvSpPr>
        <p:spPr>
          <a:xfrm>
            <a:off x="568592" y="648310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Friedman, Hendren, Jones, Porter (NBER wp 2018)</a:t>
            </a:r>
          </a:p>
        </p:txBody>
      </p:sp>
    </p:spTree>
    <p:extLst>
      <p:ext uri="{BB962C8B-B14F-4D97-AF65-F5344CB8AC3E}">
        <p14:creationId xmlns:p14="http://schemas.microsoft.com/office/powerpoint/2010/main" val="4021270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44CD1-9F07-35EE-52C3-AB49AD928362}"/>
            </a:ext>
          </a:extLst>
        </p:cNvPr>
        <p:cNvGrpSpPr/>
        <p:nvPr/>
      </p:nvGrpSpPr>
      <p:grpSpPr>
        <a:xfrm>
          <a:off x="0" y="0"/>
          <a:ext cx="0" cy="0"/>
          <a:chOff x="0" y="0"/>
          <a:chExt cx="0" cy="0"/>
        </a:xfrm>
      </p:grpSpPr>
      <p:sp>
        <p:nvSpPr>
          <p:cNvPr id="83" name="Rectangle 183">
            <a:extLst>
              <a:ext uri="{FF2B5EF4-FFF2-40B4-BE49-F238E27FC236}">
                <a16:creationId xmlns:a16="http://schemas.microsoft.com/office/drawing/2014/main" id="{114FBDC6-59DA-5F89-F5D4-78F24CA2B0E2}"/>
              </a:ext>
            </a:extLst>
          </p:cNvPr>
          <p:cNvSpPr>
            <a:spLocks noChangeArrowheads="1"/>
          </p:cNvSpPr>
          <p:nvPr/>
        </p:nvSpPr>
        <p:spPr bwMode="auto">
          <a:xfrm>
            <a:off x="6462351" y="598576"/>
            <a:ext cx="10099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E4F0DB9D-9E49-E52E-6E6F-E33276D8D569}"/>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15" name="Straight Connector 14">
            <a:extLst>
              <a:ext uri="{FF2B5EF4-FFF2-40B4-BE49-F238E27FC236}">
                <a16:creationId xmlns:a16="http://schemas.microsoft.com/office/drawing/2014/main" id="{42087FAD-8272-1053-5C6B-9F91EDEE100F}"/>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0A7272DA-A363-BD3D-C9BF-ABA9A37BA148}"/>
              </a:ext>
            </a:extLst>
          </p:cNvPr>
          <p:cNvSpPr>
            <a:spLocks noChangeArrowheads="1"/>
          </p:cNvSpPr>
          <p:nvPr/>
        </p:nvSpPr>
        <p:spPr bwMode="auto">
          <a:xfrm>
            <a:off x="613836" y="375319"/>
            <a:ext cx="1095718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The Geography of Upward Mobility in Orlando</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Average Income at Age 35 for Children Born in 1980 whose Parents Earned $41K (25th percentile)</a:t>
            </a:r>
          </a:p>
        </p:txBody>
      </p:sp>
      <p:cxnSp>
        <p:nvCxnSpPr>
          <p:cNvPr id="8" name="Straight Connector 7">
            <a:extLst>
              <a:ext uri="{FF2B5EF4-FFF2-40B4-BE49-F238E27FC236}">
                <a16:creationId xmlns:a16="http://schemas.microsoft.com/office/drawing/2014/main" id="{F9D7D019-3189-D6CB-F46F-702F5BD05570}"/>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1F1C5DD-ADBB-5E35-4DC3-8CC4D16D44B3}"/>
              </a:ext>
            </a:extLst>
          </p:cNvPr>
          <p:cNvSpPr txBox="1"/>
          <p:nvPr/>
        </p:nvSpPr>
        <p:spPr>
          <a:xfrm>
            <a:off x="568592" y="648310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Friedman, Hendren, Jones, Porter (AER 2026)</a:t>
            </a:r>
          </a:p>
        </p:txBody>
      </p:sp>
      <p:grpSp>
        <p:nvGrpSpPr>
          <p:cNvPr id="6" name="Group 5">
            <a:extLst>
              <a:ext uri="{FF2B5EF4-FFF2-40B4-BE49-F238E27FC236}">
                <a16:creationId xmlns:a16="http://schemas.microsoft.com/office/drawing/2014/main" id="{CAE3A6E9-193D-C2E4-9736-EE39A139C3ED}"/>
              </a:ext>
            </a:extLst>
          </p:cNvPr>
          <p:cNvGrpSpPr/>
          <p:nvPr/>
        </p:nvGrpSpPr>
        <p:grpSpPr>
          <a:xfrm>
            <a:off x="613836" y="1244744"/>
            <a:ext cx="10347534" cy="5123992"/>
            <a:chOff x="613836" y="1244744"/>
            <a:chExt cx="10347534" cy="5123992"/>
          </a:xfrm>
        </p:grpSpPr>
        <p:pic>
          <p:nvPicPr>
            <p:cNvPr id="22" name="Picture 21">
              <a:extLst>
                <a:ext uri="{FF2B5EF4-FFF2-40B4-BE49-F238E27FC236}">
                  <a16:creationId xmlns:a16="http://schemas.microsoft.com/office/drawing/2014/main" id="{9ACCB473-A468-2990-DDC5-AD4A22A51006}"/>
                </a:ext>
              </a:extLst>
            </p:cNvPr>
            <p:cNvPicPr>
              <a:picLocks noChangeAspect="1"/>
            </p:cNvPicPr>
            <p:nvPr/>
          </p:nvPicPr>
          <p:blipFill>
            <a:blip r:embed="rId4">
              <a:extLst>
                <a:ext uri="{28A0092B-C50C-407E-A947-70E740481C1C}">
                  <a14:useLocalDpi xmlns:a14="http://schemas.microsoft.com/office/drawing/2010/main" val="0"/>
                </a:ext>
              </a:extLst>
            </a:blip>
            <a:srcRect l="2982" r="2982"/>
            <a:stretch/>
          </p:blipFill>
          <p:spPr>
            <a:xfrm>
              <a:off x="613836" y="1244744"/>
              <a:ext cx="10347534" cy="5123992"/>
            </a:xfrm>
            <a:prstGeom prst="rect">
              <a:avLst/>
            </a:prstGeom>
          </p:spPr>
        </p:pic>
        <p:pic>
          <p:nvPicPr>
            <p:cNvPr id="5" name="Picture 4">
              <a:extLst>
                <a:ext uri="{FF2B5EF4-FFF2-40B4-BE49-F238E27FC236}">
                  <a16:creationId xmlns:a16="http://schemas.microsoft.com/office/drawing/2014/main" id="{A974ED45-B0B1-BA3D-9EF9-D8B4F0FFBBB0}"/>
                </a:ext>
              </a:extLst>
            </p:cNvPr>
            <p:cNvPicPr>
              <a:picLocks noChangeAspect="1"/>
            </p:cNvPicPr>
            <p:nvPr/>
          </p:nvPicPr>
          <p:blipFill>
            <a:blip r:embed="rId5">
              <a:extLst>
                <a:ext uri="{28A0092B-C50C-407E-A947-70E740481C1C}">
                  <a14:useLocalDpi xmlns:a14="http://schemas.microsoft.com/office/drawing/2010/main" val="0"/>
                </a:ext>
              </a:extLst>
            </a:blip>
            <a:srcRect l="52797" t="2228" r="37643" b="66047"/>
            <a:stretch>
              <a:fillRect/>
            </a:stretch>
          </p:blipFill>
          <p:spPr>
            <a:xfrm>
              <a:off x="6118225" y="1374775"/>
              <a:ext cx="1054100" cy="1625600"/>
            </a:xfrm>
            <a:prstGeom prst="rect">
              <a:avLst/>
            </a:prstGeom>
          </p:spPr>
        </p:pic>
      </p:grpSp>
      <p:sp>
        <p:nvSpPr>
          <p:cNvPr id="21" name="TextBox 20">
            <a:extLst>
              <a:ext uri="{FF2B5EF4-FFF2-40B4-BE49-F238E27FC236}">
                <a16:creationId xmlns:a16="http://schemas.microsoft.com/office/drawing/2014/main" id="{E9B73336-B38A-2609-3675-13E3EDA432EF}"/>
              </a:ext>
            </a:extLst>
          </p:cNvPr>
          <p:cNvSpPr txBox="1"/>
          <p:nvPr/>
        </p:nvSpPr>
        <p:spPr>
          <a:xfrm>
            <a:off x="3142327" y="3275355"/>
            <a:ext cx="726808" cy="307756"/>
          </a:xfrm>
          <a:prstGeom prst="rect">
            <a:avLst/>
          </a:prstGeom>
          <a:solidFill>
            <a:schemeClr val="bg1"/>
          </a:solidFill>
          <a:ln>
            <a:solidFill>
              <a:schemeClr val="tx1"/>
            </a:solidFill>
          </a:ln>
        </p:spPr>
        <p:txBody>
          <a:bodyPr wrap="square" lIns="91034" tIns="45710" rIns="91034" bIns="45710" rtlCol="0">
            <a:spAutoFit/>
          </a:bodyPr>
          <a:lstStyle/>
          <a:p>
            <a:pPr marL="0" marR="0" lvl="0" indent="0" algn="ctr" defTabSz="121869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a:ea typeface="+mn-ea"/>
                <a:cs typeface="Arial" pitchFamily="34" charset="0"/>
              </a:rPr>
              <a:t>Gotha</a:t>
            </a:r>
          </a:p>
        </p:txBody>
      </p:sp>
      <p:sp>
        <p:nvSpPr>
          <p:cNvPr id="12" name="TextBox 11">
            <a:extLst>
              <a:ext uri="{FF2B5EF4-FFF2-40B4-BE49-F238E27FC236}">
                <a16:creationId xmlns:a16="http://schemas.microsoft.com/office/drawing/2014/main" id="{8534401C-5CC0-C994-4BA7-EA96CAAE4FED}"/>
              </a:ext>
            </a:extLst>
          </p:cNvPr>
          <p:cNvSpPr txBox="1"/>
          <p:nvPr/>
        </p:nvSpPr>
        <p:spPr>
          <a:xfrm>
            <a:off x="7010401" y="1899156"/>
            <a:ext cx="1079500" cy="307756"/>
          </a:xfrm>
          <a:prstGeom prst="rect">
            <a:avLst/>
          </a:prstGeom>
          <a:solidFill>
            <a:schemeClr val="bg1"/>
          </a:solidFill>
          <a:ln>
            <a:solidFill>
              <a:schemeClr val="tx1"/>
            </a:solidFill>
          </a:ln>
        </p:spPr>
        <p:txBody>
          <a:bodyPr wrap="square" lIns="91034" tIns="45710" rIns="91034" bIns="45710" rtlCol="0">
            <a:spAutoFit/>
          </a:bodyPr>
          <a:lstStyle/>
          <a:p>
            <a:pPr marL="0" marR="0" lvl="0" indent="0" algn="ctr" defTabSz="121869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a:ea typeface="+mn-ea"/>
                <a:cs typeface="Arial" pitchFamily="34" charset="0"/>
              </a:rPr>
              <a:t>Pine Hills</a:t>
            </a:r>
            <a:endParaRPr kumimoji="0" lang="en-US" sz="1400" b="1" i="0" u="none" strike="noStrike" kern="1200" cap="none" spc="0" normalizeH="0" baseline="0" noProof="0" dirty="0">
              <a:ln>
                <a:noFill/>
              </a:ln>
              <a:solidFill>
                <a:prstClr val="black"/>
              </a:solidFill>
              <a:effectLst/>
              <a:uLnTx/>
              <a:uFillTx/>
              <a:latin typeface="Lucida Sans"/>
              <a:ea typeface="+mn-ea"/>
              <a:cs typeface="Arial" pitchFamily="34" charset="0"/>
            </a:endParaRPr>
          </a:p>
        </p:txBody>
      </p:sp>
    </p:spTree>
    <p:extLst>
      <p:ext uri="{BB962C8B-B14F-4D97-AF65-F5344CB8AC3E}">
        <p14:creationId xmlns:p14="http://schemas.microsoft.com/office/powerpoint/2010/main" val="3951098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7FA4E-5D18-A74A-DC24-D775152E0E57}"/>
            </a:ext>
          </a:extLst>
        </p:cNvPr>
        <p:cNvGrpSpPr/>
        <p:nvPr/>
      </p:nvGrpSpPr>
      <p:grpSpPr>
        <a:xfrm>
          <a:off x="0" y="0"/>
          <a:ext cx="0" cy="0"/>
          <a:chOff x="0" y="0"/>
          <a:chExt cx="0" cy="0"/>
        </a:xfrm>
      </p:grpSpPr>
      <p:sp>
        <p:nvSpPr>
          <p:cNvPr id="7" name="Line 8">
            <a:extLst>
              <a:ext uri="{FF2B5EF4-FFF2-40B4-BE49-F238E27FC236}">
                <a16:creationId xmlns:a16="http://schemas.microsoft.com/office/drawing/2014/main" id="{6452708E-976A-598C-A695-F07E00AA7F86}"/>
              </a:ext>
            </a:extLst>
          </p:cNvPr>
          <p:cNvSpPr>
            <a:spLocks noChangeShapeType="1"/>
          </p:cNvSpPr>
          <p:nvPr/>
        </p:nvSpPr>
        <p:spPr bwMode="auto">
          <a:xfrm>
            <a:off x="2330240"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 name="Line 9">
            <a:extLst>
              <a:ext uri="{FF2B5EF4-FFF2-40B4-BE49-F238E27FC236}">
                <a16:creationId xmlns:a16="http://schemas.microsoft.com/office/drawing/2014/main" id="{7E9E18F5-5159-393B-742A-82AE2487E567}"/>
              </a:ext>
            </a:extLst>
          </p:cNvPr>
          <p:cNvSpPr>
            <a:spLocks noChangeShapeType="1"/>
          </p:cNvSpPr>
          <p:nvPr/>
        </p:nvSpPr>
        <p:spPr bwMode="auto">
          <a:xfrm>
            <a:off x="252869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3" name="Line 10">
            <a:extLst>
              <a:ext uri="{FF2B5EF4-FFF2-40B4-BE49-F238E27FC236}">
                <a16:creationId xmlns:a16="http://schemas.microsoft.com/office/drawing/2014/main" id="{DB69957F-52C9-8270-6F80-29E3D27041C8}"/>
              </a:ext>
            </a:extLst>
          </p:cNvPr>
          <p:cNvSpPr>
            <a:spLocks noChangeShapeType="1"/>
          </p:cNvSpPr>
          <p:nvPr/>
        </p:nvSpPr>
        <p:spPr bwMode="auto">
          <a:xfrm>
            <a:off x="272715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5" name="Line 11">
            <a:extLst>
              <a:ext uri="{FF2B5EF4-FFF2-40B4-BE49-F238E27FC236}">
                <a16:creationId xmlns:a16="http://schemas.microsoft.com/office/drawing/2014/main" id="{61CFBA21-BE44-2205-9FF1-9C133AD97B94}"/>
              </a:ext>
            </a:extLst>
          </p:cNvPr>
          <p:cNvSpPr>
            <a:spLocks noChangeShapeType="1"/>
          </p:cNvSpPr>
          <p:nvPr/>
        </p:nvSpPr>
        <p:spPr bwMode="auto">
          <a:xfrm>
            <a:off x="2925605" y="5420869"/>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7" name="Line 12">
            <a:extLst>
              <a:ext uri="{FF2B5EF4-FFF2-40B4-BE49-F238E27FC236}">
                <a16:creationId xmlns:a16="http://schemas.microsoft.com/office/drawing/2014/main" id="{93FCAEF6-C083-EC01-B155-F8032C5FDB26}"/>
              </a:ext>
            </a:extLst>
          </p:cNvPr>
          <p:cNvSpPr>
            <a:spLocks noChangeShapeType="1"/>
          </p:cNvSpPr>
          <p:nvPr/>
        </p:nvSpPr>
        <p:spPr bwMode="auto">
          <a:xfrm>
            <a:off x="3119968" y="5420869"/>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8" name="Line 13">
            <a:extLst>
              <a:ext uri="{FF2B5EF4-FFF2-40B4-BE49-F238E27FC236}">
                <a16:creationId xmlns:a16="http://schemas.microsoft.com/office/drawing/2014/main" id="{EBFE62A1-9CDC-EEC7-4850-CDC2EF319E66}"/>
              </a:ext>
            </a:extLst>
          </p:cNvPr>
          <p:cNvSpPr>
            <a:spLocks noChangeShapeType="1"/>
          </p:cNvSpPr>
          <p:nvPr/>
        </p:nvSpPr>
        <p:spPr bwMode="auto">
          <a:xfrm>
            <a:off x="3318423" y="5420869"/>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9" name="Line 14">
            <a:extLst>
              <a:ext uri="{FF2B5EF4-FFF2-40B4-BE49-F238E27FC236}">
                <a16:creationId xmlns:a16="http://schemas.microsoft.com/office/drawing/2014/main" id="{82EDDDF2-0D97-0A14-5CB9-8F3905E733FF}"/>
              </a:ext>
            </a:extLst>
          </p:cNvPr>
          <p:cNvSpPr>
            <a:spLocks noChangeShapeType="1"/>
          </p:cNvSpPr>
          <p:nvPr/>
        </p:nvSpPr>
        <p:spPr bwMode="auto">
          <a:xfrm>
            <a:off x="352301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0" name="Line 15">
            <a:extLst>
              <a:ext uri="{FF2B5EF4-FFF2-40B4-BE49-F238E27FC236}">
                <a16:creationId xmlns:a16="http://schemas.microsoft.com/office/drawing/2014/main" id="{72DE4FC8-E540-6B09-F02B-70505D688A88}"/>
              </a:ext>
            </a:extLst>
          </p:cNvPr>
          <p:cNvSpPr>
            <a:spLocks noChangeShapeType="1"/>
          </p:cNvSpPr>
          <p:nvPr/>
        </p:nvSpPr>
        <p:spPr bwMode="auto">
          <a:xfrm>
            <a:off x="3721470" y="5420869"/>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1" name="Line 16">
            <a:extLst>
              <a:ext uri="{FF2B5EF4-FFF2-40B4-BE49-F238E27FC236}">
                <a16:creationId xmlns:a16="http://schemas.microsoft.com/office/drawing/2014/main" id="{9BF0AA28-D39D-85BA-4146-178E47A5F640}"/>
              </a:ext>
            </a:extLst>
          </p:cNvPr>
          <p:cNvSpPr>
            <a:spLocks noChangeShapeType="1"/>
          </p:cNvSpPr>
          <p:nvPr/>
        </p:nvSpPr>
        <p:spPr bwMode="auto">
          <a:xfrm>
            <a:off x="3915833"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2" name="Line 17">
            <a:extLst>
              <a:ext uri="{FF2B5EF4-FFF2-40B4-BE49-F238E27FC236}">
                <a16:creationId xmlns:a16="http://schemas.microsoft.com/office/drawing/2014/main" id="{F377F4B9-3CD9-1DA5-2D42-3A99EA866420}"/>
              </a:ext>
            </a:extLst>
          </p:cNvPr>
          <p:cNvSpPr>
            <a:spLocks noChangeShapeType="1"/>
          </p:cNvSpPr>
          <p:nvPr/>
        </p:nvSpPr>
        <p:spPr bwMode="auto">
          <a:xfrm>
            <a:off x="4114288"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4" name="Line 18">
            <a:extLst>
              <a:ext uri="{FF2B5EF4-FFF2-40B4-BE49-F238E27FC236}">
                <a16:creationId xmlns:a16="http://schemas.microsoft.com/office/drawing/2014/main" id="{E4CC8D7D-D159-166F-B922-4CB07B48BB61}"/>
              </a:ext>
            </a:extLst>
          </p:cNvPr>
          <p:cNvSpPr>
            <a:spLocks noChangeShapeType="1"/>
          </p:cNvSpPr>
          <p:nvPr/>
        </p:nvSpPr>
        <p:spPr bwMode="auto">
          <a:xfrm>
            <a:off x="431274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5" name="Line 19">
            <a:extLst>
              <a:ext uri="{FF2B5EF4-FFF2-40B4-BE49-F238E27FC236}">
                <a16:creationId xmlns:a16="http://schemas.microsoft.com/office/drawing/2014/main" id="{C3B5FA2F-82A9-76E9-692D-C5906C9FF04D}"/>
              </a:ext>
            </a:extLst>
          </p:cNvPr>
          <p:cNvSpPr>
            <a:spLocks noChangeShapeType="1"/>
          </p:cNvSpPr>
          <p:nvPr/>
        </p:nvSpPr>
        <p:spPr bwMode="auto">
          <a:xfrm>
            <a:off x="4513244"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6" name="Line 20">
            <a:extLst>
              <a:ext uri="{FF2B5EF4-FFF2-40B4-BE49-F238E27FC236}">
                <a16:creationId xmlns:a16="http://schemas.microsoft.com/office/drawing/2014/main" id="{8A63BEAF-C653-201D-B8E2-12090E7B36A7}"/>
              </a:ext>
            </a:extLst>
          </p:cNvPr>
          <p:cNvSpPr>
            <a:spLocks noChangeShapeType="1"/>
          </p:cNvSpPr>
          <p:nvPr/>
        </p:nvSpPr>
        <p:spPr bwMode="auto">
          <a:xfrm>
            <a:off x="471169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7" name="Line 21">
            <a:extLst>
              <a:ext uri="{FF2B5EF4-FFF2-40B4-BE49-F238E27FC236}">
                <a16:creationId xmlns:a16="http://schemas.microsoft.com/office/drawing/2014/main" id="{BB680373-5F24-6C07-A5B0-79C39208F081}"/>
              </a:ext>
            </a:extLst>
          </p:cNvPr>
          <p:cNvSpPr>
            <a:spLocks noChangeShapeType="1"/>
          </p:cNvSpPr>
          <p:nvPr/>
        </p:nvSpPr>
        <p:spPr bwMode="auto">
          <a:xfrm>
            <a:off x="491015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8" name="Line 22">
            <a:extLst>
              <a:ext uri="{FF2B5EF4-FFF2-40B4-BE49-F238E27FC236}">
                <a16:creationId xmlns:a16="http://schemas.microsoft.com/office/drawing/2014/main" id="{D21BC204-864C-686F-AC2F-6C085CA38AAE}"/>
              </a:ext>
            </a:extLst>
          </p:cNvPr>
          <p:cNvSpPr>
            <a:spLocks noChangeShapeType="1"/>
          </p:cNvSpPr>
          <p:nvPr/>
        </p:nvSpPr>
        <p:spPr bwMode="auto">
          <a:xfrm>
            <a:off x="510860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9" name="Line 23">
            <a:extLst>
              <a:ext uri="{FF2B5EF4-FFF2-40B4-BE49-F238E27FC236}">
                <a16:creationId xmlns:a16="http://schemas.microsoft.com/office/drawing/2014/main" id="{C6FEFC49-4A49-AC9C-5B5A-0AD88B588B2A}"/>
              </a:ext>
            </a:extLst>
          </p:cNvPr>
          <p:cNvSpPr>
            <a:spLocks noChangeShapeType="1"/>
          </p:cNvSpPr>
          <p:nvPr/>
        </p:nvSpPr>
        <p:spPr bwMode="auto">
          <a:xfrm>
            <a:off x="530706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0" name="Line 24">
            <a:extLst>
              <a:ext uri="{FF2B5EF4-FFF2-40B4-BE49-F238E27FC236}">
                <a16:creationId xmlns:a16="http://schemas.microsoft.com/office/drawing/2014/main" id="{CA6262EF-728F-61DF-A5DA-145C116B70E2}"/>
              </a:ext>
            </a:extLst>
          </p:cNvPr>
          <p:cNvSpPr>
            <a:spLocks noChangeShapeType="1"/>
          </p:cNvSpPr>
          <p:nvPr/>
        </p:nvSpPr>
        <p:spPr bwMode="auto">
          <a:xfrm>
            <a:off x="550756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1" name="Line 25">
            <a:extLst>
              <a:ext uri="{FF2B5EF4-FFF2-40B4-BE49-F238E27FC236}">
                <a16:creationId xmlns:a16="http://schemas.microsoft.com/office/drawing/2014/main" id="{8713956C-CEE0-1F14-B6F7-DA929A5A989C}"/>
              </a:ext>
            </a:extLst>
          </p:cNvPr>
          <p:cNvSpPr>
            <a:spLocks noChangeShapeType="1"/>
          </p:cNvSpPr>
          <p:nvPr/>
        </p:nvSpPr>
        <p:spPr bwMode="auto">
          <a:xfrm>
            <a:off x="570602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2" name="Line 26">
            <a:extLst>
              <a:ext uri="{FF2B5EF4-FFF2-40B4-BE49-F238E27FC236}">
                <a16:creationId xmlns:a16="http://schemas.microsoft.com/office/drawing/2014/main" id="{8E90519F-BABD-4C61-E52D-E56211806F65}"/>
              </a:ext>
            </a:extLst>
          </p:cNvPr>
          <p:cNvSpPr>
            <a:spLocks noChangeShapeType="1"/>
          </p:cNvSpPr>
          <p:nvPr/>
        </p:nvSpPr>
        <p:spPr bwMode="auto">
          <a:xfrm>
            <a:off x="590447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3" name="Line 27">
            <a:extLst>
              <a:ext uri="{FF2B5EF4-FFF2-40B4-BE49-F238E27FC236}">
                <a16:creationId xmlns:a16="http://schemas.microsoft.com/office/drawing/2014/main" id="{F8E2E3C1-348E-103F-B13D-C596B6FCFDB5}"/>
              </a:ext>
            </a:extLst>
          </p:cNvPr>
          <p:cNvSpPr>
            <a:spLocks noChangeShapeType="1"/>
          </p:cNvSpPr>
          <p:nvPr/>
        </p:nvSpPr>
        <p:spPr bwMode="auto">
          <a:xfrm>
            <a:off x="610292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4" name="Line 28">
            <a:extLst>
              <a:ext uri="{FF2B5EF4-FFF2-40B4-BE49-F238E27FC236}">
                <a16:creationId xmlns:a16="http://schemas.microsoft.com/office/drawing/2014/main" id="{E2B971AD-6A37-B35A-CE34-1166A90090DA}"/>
              </a:ext>
            </a:extLst>
          </p:cNvPr>
          <p:cNvSpPr>
            <a:spLocks noChangeShapeType="1"/>
          </p:cNvSpPr>
          <p:nvPr/>
        </p:nvSpPr>
        <p:spPr bwMode="auto">
          <a:xfrm>
            <a:off x="630138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5" name="Line 29">
            <a:extLst>
              <a:ext uri="{FF2B5EF4-FFF2-40B4-BE49-F238E27FC236}">
                <a16:creationId xmlns:a16="http://schemas.microsoft.com/office/drawing/2014/main" id="{09E346C6-15AE-EE3D-3003-58E26C93A39D}"/>
              </a:ext>
            </a:extLst>
          </p:cNvPr>
          <p:cNvSpPr>
            <a:spLocks noChangeShapeType="1"/>
          </p:cNvSpPr>
          <p:nvPr/>
        </p:nvSpPr>
        <p:spPr bwMode="auto">
          <a:xfrm>
            <a:off x="650188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6" name="Line 30">
            <a:extLst>
              <a:ext uri="{FF2B5EF4-FFF2-40B4-BE49-F238E27FC236}">
                <a16:creationId xmlns:a16="http://schemas.microsoft.com/office/drawing/2014/main" id="{C1D14E02-99DD-D6B5-3373-9E4F02A92D9E}"/>
              </a:ext>
            </a:extLst>
          </p:cNvPr>
          <p:cNvSpPr>
            <a:spLocks noChangeShapeType="1"/>
          </p:cNvSpPr>
          <p:nvPr/>
        </p:nvSpPr>
        <p:spPr bwMode="auto">
          <a:xfrm>
            <a:off x="670034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7" name="Line 31">
            <a:extLst>
              <a:ext uri="{FF2B5EF4-FFF2-40B4-BE49-F238E27FC236}">
                <a16:creationId xmlns:a16="http://schemas.microsoft.com/office/drawing/2014/main" id="{DA499FC1-0CE5-0188-737E-46878F5B8AD5}"/>
              </a:ext>
            </a:extLst>
          </p:cNvPr>
          <p:cNvSpPr>
            <a:spLocks noChangeShapeType="1"/>
          </p:cNvSpPr>
          <p:nvPr/>
        </p:nvSpPr>
        <p:spPr bwMode="auto">
          <a:xfrm>
            <a:off x="689879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8" name="Line 32">
            <a:extLst>
              <a:ext uri="{FF2B5EF4-FFF2-40B4-BE49-F238E27FC236}">
                <a16:creationId xmlns:a16="http://schemas.microsoft.com/office/drawing/2014/main" id="{73D33DC2-3FBD-8CA8-202C-5AB1163E3A64}"/>
              </a:ext>
            </a:extLst>
          </p:cNvPr>
          <p:cNvSpPr>
            <a:spLocks noChangeShapeType="1"/>
          </p:cNvSpPr>
          <p:nvPr/>
        </p:nvSpPr>
        <p:spPr bwMode="auto">
          <a:xfrm>
            <a:off x="709725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9" name="Line 33">
            <a:extLst>
              <a:ext uri="{FF2B5EF4-FFF2-40B4-BE49-F238E27FC236}">
                <a16:creationId xmlns:a16="http://schemas.microsoft.com/office/drawing/2014/main" id="{99F37B6C-822B-8C65-EE4E-CAB0E6D2C1BD}"/>
              </a:ext>
            </a:extLst>
          </p:cNvPr>
          <p:cNvSpPr>
            <a:spLocks noChangeShapeType="1"/>
          </p:cNvSpPr>
          <p:nvPr/>
        </p:nvSpPr>
        <p:spPr bwMode="auto">
          <a:xfrm>
            <a:off x="729570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0" name="Line 34">
            <a:extLst>
              <a:ext uri="{FF2B5EF4-FFF2-40B4-BE49-F238E27FC236}">
                <a16:creationId xmlns:a16="http://schemas.microsoft.com/office/drawing/2014/main" id="{B7521A4C-40D9-CB1A-B559-E25860D0CBDA}"/>
              </a:ext>
            </a:extLst>
          </p:cNvPr>
          <p:cNvSpPr>
            <a:spLocks noChangeShapeType="1"/>
          </p:cNvSpPr>
          <p:nvPr/>
        </p:nvSpPr>
        <p:spPr bwMode="auto">
          <a:xfrm>
            <a:off x="749620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1" name="Line 35">
            <a:extLst>
              <a:ext uri="{FF2B5EF4-FFF2-40B4-BE49-F238E27FC236}">
                <a16:creationId xmlns:a16="http://schemas.microsoft.com/office/drawing/2014/main" id="{AA83FE6A-E885-1B03-5612-87C43604380D}"/>
              </a:ext>
            </a:extLst>
          </p:cNvPr>
          <p:cNvSpPr>
            <a:spLocks noChangeShapeType="1"/>
          </p:cNvSpPr>
          <p:nvPr/>
        </p:nvSpPr>
        <p:spPr bwMode="auto">
          <a:xfrm>
            <a:off x="7694661"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2" name="Line 36">
            <a:extLst>
              <a:ext uri="{FF2B5EF4-FFF2-40B4-BE49-F238E27FC236}">
                <a16:creationId xmlns:a16="http://schemas.microsoft.com/office/drawing/2014/main" id="{D2E5AAED-8D7D-A731-AA51-D58B43FA2149}"/>
              </a:ext>
            </a:extLst>
          </p:cNvPr>
          <p:cNvSpPr>
            <a:spLocks noChangeShapeType="1"/>
          </p:cNvSpPr>
          <p:nvPr/>
        </p:nvSpPr>
        <p:spPr bwMode="auto">
          <a:xfrm>
            <a:off x="789311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3" name="Line 37">
            <a:extLst>
              <a:ext uri="{FF2B5EF4-FFF2-40B4-BE49-F238E27FC236}">
                <a16:creationId xmlns:a16="http://schemas.microsoft.com/office/drawing/2014/main" id="{E219BEFD-29B7-5245-6ADB-7B854A8371F5}"/>
              </a:ext>
            </a:extLst>
          </p:cNvPr>
          <p:cNvSpPr>
            <a:spLocks noChangeShapeType="1"/>
          </p:cNvSpPr>
          <p:nvPr/>
        </p:nvSpPr>
        <p:spPr bwMode="auto">
          <a:xfrm>
            <a:off x="809157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4" name="Line 38">
            <a:extLst>
              <a:ext uri="{FF2B5EF4-FFF2-40B4-BE49-F238E27FC236}">
                <a16:creationId xmlns:a16="http://schemas.microsoft.com/office/drawing/2014/main" id="{35799309-0793-8599-4A72-044B32D36D5F}"/>
              </a:ext>
            </a:extLst>
          </p:cNvPr>
          <p:cNvSpPr>
            <a:spLocks noChangeShapeType="1"/>
          </p:cNvSpPr>
          <p:nvPr/>
        </p:nvSpPr>
        <p:spPr bwMode="auto">
          <a:xfrm>
            <a:off x="829002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5" name="Line 39">
            <a:extLst>
              <a:ext uri="{FF2B5EF4-FFF2-40B4-BE49-F238E27FC236}">
                <a16:creationId xmlns:a16="http://schemas.microsoft.com/office/drawing/2014/main" id="{E17E1D50-C60B-B89A-25CE-5D4678DC3581}"/>
              </a:ext>
            </a:extLst>
          </p:cNvPr>
          <p:cNvSpPr>
            <a:spLocks noChangeShapeType="1"/>
          </p:cNvSpPr>
          <p:nvPr/>
        </p:nvSpPr>
        <p:spPr bwMode="auto">
          <a:xfrm>
            <a:off x="8490526" y="5420869"/>
            <a:ext cx="130940"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6" name="Line 40">
            <a:extLst>
              <a:ext uri="{FF2B5EF4-FFF2-40B4-BE49-F238E27FC236}">
                <a16:creationId xmlns:a16="http://schemas.microsoft.com/office/drawing/2014/main" id="{2269899C-3C12-3515-D6EB-DA19CDA33C77}"/>
              </a:ext>
            </a:extLst>
          </p:cNvPr>
          <p:cNvSpPr>
            <a:spLocks noChangeShapeType="1"/>
          </p:cNvSpPr>
          <p:nvPr/>
        </p:nvSpPr>
        <p:spPr bwMode="auto">
          <a:xfrm>
            <a:off x="8688981"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7" name="Line 41">
            <a:extLst>
              <a:ext uri="{FF2B5EF4-FFF2-40B4-BE49-F238E27FC236}">
                <a16:creationId xmlns:a16="http://schemas.microsoft.com/office/drawing/2014/main" id="{FE9B8CF2-B13C-022F-4C7E-D75C1FE21A5C}"/>
              </a:ext>
            </a:extLst>
          </p:cNvPr>
          <p:cNvSpPr>
            <a:spLocks noChangeShapeType="1"/>
          </p:cNvSpPr>
          <p:nvPr/>
        </p:nvSpPr>
        <p:spPr bwMode="auto">
          <a:xfrm>
            <a:off x="8887435"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8" name="Line 42">
            <a:extLst>
              <a:ext uri="{FF2B5EF4-FFF2-40B4-BE49-F238E27FC236}">
                <a16:creationId xmlns:a16="http://schemas.microsoft.com/office/drawing/2014/main" id="{631B5E25-68CE-4233-F8B6-5F697359D40C}"/>
              </a:ext>
            </a:extLst>
          </p:cNvPr>
          <p:cNvSpPr>
            <a:spLocks noChangeShapeType="1"/>
          </p:cNvSpPr>
          <p:nvPr/>
        </p:nvSpPr>
        <p:spPr bwMode="auto">
          <a:xfrm>
            <a:off x="9085891"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9" name="Line 43">
            <a:extLst>
              <a:ext uri="{FF2B5EF4-FFF2-40B4-BE49-F238E27FC236}">
                <a16:creationId xmlns:a16="http://schemas.microsoft.com/office/drawing/2014/main" id="{7DE2920D-0C47-F549-2810-4B7195E8B698}"/>
              </a:ext>
            </a:extLst>
          </p:cNvPr>
          <p:cNvSpPr>
            <a:spLocks noChangeShapeType="1"/>
          </p:cNvSpPr>
          <p:nvPr/>
        </p:nvSpPr>
        <p:spPr bwMode="auto">
          <a:xfrm>
            <a:off x="9284346"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0" name="Line 44">
            <a:extLst>
              <a:ext uri="{FF2B5EF4-FFF2-40B4-BE49-F238E27FC236}">
                <a16:creationId xmlns:a16="http://schemas.microsoft.com/office/drawing/2014/main" id="{8F283134-ACBE-41C8-A964-7DBE9E33EE59}"/>
              </a:ext>
            </a:extLst>
          </p:cNvPr>
          <p:cNvSpPr>
            <a:spLocks noChangeShapeType="1"/>
          </p:cNvSpPr>
          <p:nvPr/>
        </p:nvSpPr>
        <p:spPr bwMode="auto">
          <a:xfrm>
            <a:off x="9484846" y="5420869"/>
            <a:ext cx="130940"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1" name="Line 45">
            <a:extLst>
              <a:ext uri="{FF2B5EF4-FFF2-40B4-BE49-F238E27FC236}">
                <a16:creationId xmlns:a16="http://schemas.microsoft.com/office/drawing/2014/main" id="{CA438448-1764-E4BA-7DFB-0EED6A846521}"/>
              </a:ext>
            </a:extLst>
          </p:cNvPr>
          <p:cNvSpPr>
            <a:spLocks noChangeShapeType="1"/>
          </p:cNvSpPr>
          <p:nvPr/>
        </p:nvSpPr>
        <p:spPr bwMode="auto">
          <a:xfrm>
            <a:off x="9683302" y="5420869"/>
            <a:ext cx="8184"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2" name="Line 46">
            <a:extLst>
              <a:ext uri="{FF2B5EF4-FFF2-40B4-BE49-F238E27FC236}">
                <a16:creationId xmlns:a16="http://schemas.microsoft.com/office/drawing/2014/main" id="{1B2DA803-89BA-593C-D8F3-7775E7DB2DE3}"/>
              </a:ext>
            </a:extLst>
          </p:cNvPr>
          <p:cNvSpPr>
            <a:spLocks noChangeShapeType="1"/>
          </p:cNvSpPr>
          <p:nvPr/>
        </p:nvSpPr>
        <p:spPr bwMode="auto">
          <a:xfrm>
            <a:off x="2330240"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3" name="Line 47">
            <a:extLst>
              <a:ext uri="{FF2B5EF4-FFF2-40B4-BE49-F238E27FC236}">
                <a16:creationId xmlns:a16="http://schemas.microsoft.com/office/drawing/2014/main" id="{FCF81FBB-1F76-739D-C299-AC1ED5784D68}"/>
              </a:ext>
            </a:extLst>
          </p:cNvPr>
          <p:cNvSpPr>
            <a:spLocks noChangeShapeType="1"/>
          </p:cNvSpPr>
          <p:nvPr/>
        </p:nvSpPr>
        <p:spPr bwMode="auto">
          <a:xfrm>
            <a:off x="252869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4" name="Line 48">
            <a:extLst>
              <a:ext uri="{FF2B5EF4-FFF2-40B4-BE49-F238E27FC236}">
                <a16:creationId xmlns:a16="http://schemas.microsoft.com/office/drawing/2014/main" id="{38ADBE90-7736-5758-EBEA-4AB5DC0746DF}"/>
              </a:ext>
            </a:extLst>
          </p:cNvPr>
          <p:cNvSpPr>
            <a:spLocks noChangeShapeType="1"/>
          </p:cNvSpPr>
          <p:nvPr/>
        </p:nvSpPr>
        <p:spPr bwMode="auto">
          <a:xfrm>
            <a:off x="272715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5" name="Line 49">
            <a:extLst>
              <a:ext uri="{FF2B5EF4-FFF2-40B4-BE49-F238E27FC236}">
                <a16:creationId xmlns:a16="http://schemas.microsoft.com/office/drawing/2014/main" id="{BD4C2CEE-9A98-450B-031E-491FD78FD45B}"/>
              </a:ext>
            </a:extLst>
          </p:cNvPr>
          <p:cNvSpPr>
            <a:spLocks noChangeShapeType="1"/>
          </p:cNvSpPr>
          <p:nvPr/>
        </p:nvSpPr>
        <p:spPr bwMode="auto">
          <a:xfrm>
            <a:off x="2925605" y="1762751"/>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6" name="Line 50">
            <a:extLst>
              <a:ext uri="{FF2B5EF4-FFF2-40B4-BE49-F238E27FC236}">
                <a16:creationId xmlns:a16="http://schemas.microsoft.com/office/drawing/2014/main" id="{C892F5DC-C31D-5691-6358-FADF6B9CA362}"/>
              </a:ext>
            </a:extLst>
          </p:cNvPr>
          <p:cNvSpPr>
            <a:spLocks noChangeShapeType="1"/>
          </p:cNvSpPr>
          <p:nvPr/>
        </p:nvSpPr>
        <p:spPr bwMode="auto">
          <a:xfrm>
            <a:off x="3119968" y="1762751"/>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7" name="Line 51">
            <a:extLst>
              <a:ext uri="{FF2B5EF4-FFF2-40B4-BE49-F238E27FC236}">
                <a16:creationId xmlns:a16="http://schemas.microsoft.com/office/drawing/2014/main" id="{8D44ABF7-4E86-D98A-ADF3-4F0D0F9E896D}"/>
              </a:ext>
            </a:extLst>
          </p:cNvPr>
          <p:cNvSpPr>
            <a:spLocks noChangeShapeType="1"/>
          </p:cNvSpPr>
          <p:nvPr/>
        </p:nvSpPr>
        <p:spPr bwMode="auto">
          <a:xfrm>
            <a:off x="3318423" y="1762751"/>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8" name="Line 52">
            <a:extLst>
              <a:ext uri="{FF2B5EF4-FFF2-40B4-BE49-F238E27FC236}">
                <a16:creationId xmlns:a16="http://schemas.microsoft.com/office/drawing/2014/main" id="{FEBD9112-5084-E567-A96C-79BD1B45EE60}"/>
              </a:ext>
            </a:extLst>
          </p:cNvPr>
          <p:cNvSpPr>
            <a:spLocks noChangeShapeType="1"/>
          </p:cNvSpPr>
          <p:nvPr/>
        </p:nvSpPr>
        <p:spPr bwMode="auto">
          <a:xfrm>
            <a:off x="352301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9" name="Line 53">
            <a:extLst>
              <a:ext uri="{FF2B5EF4-FFF2-40B4-BE49-F238E27FC236}">
                <a16:creationId xmlns:a16="http://schemas.microsoft.com/office/drawing/2014/main" id="{971442EC-427F-5F73-07B6-D9A7E1A3D41B}"/>
              </a:ext>
            </a:extLst>
          </p:cNvPr>
          <p:cNvSpPr>
            <a:spLocks noChangeShapeType="1"/>
          </p:cNvSpPr>
          <p:nvPr/>
        </p:nvSpPr>
        <p:spPr bwMode="auto">
          <a:xfrm>
            <a:off x="3721470" y="1762751"/>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0" name="Line 54">
            <a:extLst>
              <a:ext uri="{FF2B5EF4-FFF2-40B4-BE49-F238E27FC236}">
                <a16:creationId xmlns:a16="http://schemas.microsoft.com/office/drawing/2014/main" id="{3ADBC9CE-9F44-3491-78A0-0897CCA4540E}"/>
              </a:ext>
            </a:extLst>
          </p:cNvPr>
          <p:cNvSpPr>
            <a:spLocks noChangeShapeType="1"/>
          </p:cNvSpPr>
          <p:nvPr/>
        </p:nvSpPr>
        <p:spPr bwMode="auto">
          <a:xfrm>
            <a:off x="3915833"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1" name="Line 55">
            <a:extLst>
              <a:ext uri="{FF2B5EF4-FFF2-40B4-BE49-F238E27FC236}">
                <a16:creationId xmlns:a16="http://schemas.microsoft.com/office/drawing/2014/main" id="{A53BC069-7B80-0E4F-87B2-7B1FAC197D77}"/>
              </a:ext>
            </a:extLst>
          </p:cNvPr>
          <p:cNvSpPr>
            <a:spLocks noChangeShapeType="1"/>
          </p:cNvSpPr>
          <p:nvPr/>
        </p:nvSpPr>
        <p:spPr bwMode="auto">
          <a:xfrm>
            <a:off x="4114288"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2" name="Line 56">
            <a:extLst>
              <a:ext uri="{FF2B5EF4-FFF2-40B4-BE49-F238E27FC236}">
                <a16:creationId xmlns:a16="http://schemas.microsoft.com/office/drawing/2014/main" id="{493F78A9-C9A3-DE10-4133-4A0BE9427326}"/>
              </a:ext>
            </a:extLst>
          </p:cNvPr>
          <p:cNvSpPr>
            <a:spLocks noChangeShapeType="1"/>
          </p:cNvSpPr>
          <p:nvPr/>
        </p:nvSpPr>
        <p:spPr bwMode="auto">
          <a:xfrm>
            <a:off x="431274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3" name="Line 57">
            <a:extLst>
              <a:ext uri="{FF2B5EF4-FFF2-40B4-BE49-F238E27FC236}">
                <a16:creationId xmlns:a16="http://schemas.microsoft.com/office/drawing/2014/main" id="{AB5903F5-A466-BC58-2FE4-6913AFFCBE2D}"/>
              </a:ext>
            </a:extLst>
          </p:cNvPr>
          <p:cNvSpPr>
            <a:spLocks noChangeShapeType="1"/>
          </p:cNvSpPr>
          <p:nvPr/>
        </p:nvSpPr>
        <p:spPr bwMode="auto">
          <a:xfrm>
            <a:off x="4513244"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4" name="Line 58">
            <a:extLst>
              <a:ext uri="{FF2B5EF4-FFF2-40B4-BE49-F238E27FC236}">
                <a16:creationId xmlns:a16="http://schemas.microsoft.com/office/drawing/2014/main" id="{EF592777-689E-490B-A1D0-43ECA364C70B}"/>
              </a:ext>
            </a:extLst>
          </p:cNvPr>
          <p:cNvSpPr>
            <a:spLocks noChangeShapeType="1"/>
          </p:cNvSpPr>
          <p:nvPr/>
        </p:nvSpPr>
        <p:spPr bwMode="auto">
          <a:xfrm>
            <a:off x="471169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5" name="Line 59">
            <a:extLst>
              <a:ext uri="{FF2B5EF4-FFF2-40B4-BE49-F238E27FC236}">
                <a16:creationId xmlns:a16="http://schemas.microsoft.com/office/drawing/2014/main" id="{1DDAA09C-C683-09AC-0613-2E1A4D061FAB}"/>
              </a:ext>
            </a:extLst>
          </p:cNvPr>
          <p:cNvSpPr>
            <a:spLocks noChangeShapeType="1"/>
          </p:cNvSpPr>
          <p:nvPr/>
        </p:nvSpPr>
        <p:spPr bwMode="auto">
          <a:xfrm>
            <a:off x="491015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6" name="Line 60">
            <a:extLst>
              <a:ext uri="{FF2B5EF4-FFF2-40B4-BE49-F238E27FC236}">
                <a16:creationId xmlns:a16="http://schemas.microsoft.com/office/drawing/2014/main" id="{308FC9B0-9E04-48D7-2E37-BDC29F81C559}"/>
              </a:ext>
            </a:extLst>
          </p:cNvPr>
          <p:cNvSpPr>
            <a:spLocks noChangeShapeType="1"/>
          </p:cNvSpPr>
          <p:nvPr/>
        </p:nvSpPr>
        <p:spPr bwMode="auto">
          <a:xfrm>
            <a:off x="510860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7" name="Line 61">
            <a:extLst>
              <a:ext uri="{FF2B5EF4-FFF2-40B4-BE49-F238E27FC236}">
                <a16:creationId xmlns:a16="http://schemas.microsoft.com/office/drawing/2014/main" id="{FACE22D3-0C29-05FD-643D-C32056AA7354}"/>
              </a:ext>
            </a:extLst>
          </p:cNvPr>
          <p:cNvSpPr>
            <a:spLocks noChangeShapeType="1"/>
          </p:cNvSpPr>
          <p:nvPr/>
        </p:nvSpPr>
        <p:spPr bwMode="auto">
          <a:xfrm>
            <a:off x="530706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8" name="Line 62">
            <a:extLst>
              <a:ext uri="{FF2B5EF4-FFF2-40B4-BE49-F238E27FC236}">
                <a16:creationId xmlns:a16="http://schemas.microsoft.com/office/drawing/2014/main" id="{E2D0A91F-2183-FEA1-2C81-1BA2CAC0830E}"/>
              </a:ext>
            </a:extLst>
          </p:cNvPr>
          <p:cNvSpPr>
            <a:spLocks noChangeShapeType="1"/>
          </p:cNvSpPr>
          <p:nvPr/>
        </p:nvSpPr>
        <p:spPr bwMode="auto">
          <a:xfrm>
            <a:off x="550756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9" name="Line 63">
            <a:extLst>
              <a:ext uri="{FF2B5EF4-FFF2-40B4-BE49-F238E27FC236}">
                <a16:creationId xmlns:a16="http://schemas.microsoft.com/office/drawing/2014/main" id="{3FDCD87E-B715-8179-120B-49874A991332}"/>
              </a:ext>
            </a:extLst>
          </p:cNvPr>
          <p:cNvSpPr>
            <a:spLocks noChangeShapeType="1"/>
          </p:cNvSpPr>
          <p:nvPr/>
        </p:nvSpPr>
        <p:spPr bwMode="auto">
          <a:xfrm>
            <a:off x="570602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0" name="Line 64">
            <a:extLst>
              <a:ext uri="{FF2B5EF4-FFF2-40B4-BE49-F238E27FC236}">
                <a16:creationId xmlns:a16="http://schemas.microsoft.com/office/drawing/2014/main" id="{3A568713-20A6-78CA-C339-00825A3A69D9}"/>
              </a:ext>
            </a:extLst>
          </p:cNvPr>
          <p:cNvSpPr>
            <a:spLocks noChangeShapeType="1"/>
          </p:cNvSpPr>
          <p:nvPr/>
        </p:nvSpPr>
        <p:spPr bwMode="auto">
          <a:xfrm>
            <a:off x="590447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1" name="Line 65">
            <a:extLst>
              <a:ext uri="{FF2B5EF4-FFF2-40B4-BE49-F238E27FC236}">
                <a16:creationId xmlns:a16="http://schemas.microsoft.com/office/drawing/2014/main" id="{FB20940A-4A53-EBCF-DB79-07E6582B41DE}"/>
              </a:ext>
            </a:extLst>
          </p:cNvPr>
          <p:cNvSpPr>
            <a:spLocks noChangeShapeType="1"/>
          </p:cNvSpPr>
          <p:nvPr/>
        </p:nvSpPr>
        <p:spPr bwMode="auto">
          <a:xfrm>
            <a:off x="610292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2" name="Line 66">
            <a:extLst>
              <a:ext uri="{FF2B5EF4-FFF2-40B4-BE49-F238E27FC236}">
                <a16:creationId xmlns:a16="http://schemas.microsoft.com/office/drawing/2014/main" id="{D2C6ED0E-CFFE-504B-F6F6-286A6DEE179A}"/>
              </a:ext>
            </a:extLst>
          </p:cNvPr>
          <p:cNvSpPr>
            <a:spLocks noChangeShapeType="1"/>
          </p:cNvSpPr>
          <p:nvPr/>
        </p:nvSpPr>
        <p:spPr bwMode="auto">
          <a:xfrm>
            <a:off x="630138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3" name="Line 67">
            <a:extLst>
              <a:ext uri="{FF2B5EF4-FFF2-40B4-BE49-F238E27FC236}">
                <a16:creationId xmlns:a16="http://schemas.microsoft.com/office/drawing/2014/main" id="{F7917FD4-8A66-E2FB-D866-D0E8EEDF6214}"/>
              </a:ext>
            </a:extLst>
          </p:cNvPr>
          <p:cNvSpPr>
            <a:spLocks noChangeShapeType="1"/>
          </p:cNvSpPr>
          <p:nvPr/>
        </p:nvSpPr>
        <p:spPr bwMode="auto">
          <a:xfrm>
            <a:off x="650188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4" name="Line 68">
            <a:extLst>
              <a:ext uri="{FF2B5EF4-FFF2-40B4-BE49-F238E27FC236}">
                <a16:creationId xmlns:a16="http://schemas.microsoft.com/office/drawing/2014/main" id="{701B1408-F2D3-5058-6DFA-3CA660E37532}"/>
              </a:ext>
            </a:extLst>
          </p:cNvPr>
          <p:cNvSpPr>
            <a:spLocks noChangeShapeType="1"/>
          </p:cNvSpPr>
          <p:nvPr/>
        </p:nvSpPr>
        <p:spPr bwMode="auto">
          <a:xfrm>
            <a:off x="670034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5" name="Line 69">
            <a:extLst>
              <a:ext uri="{FF2B5EF4-FFF2-40B4-BE49-F238E27FC236}">
                <a16:creationId xmlns:a16="http://schemas.microsoft.com/office/drawing/2014/main" id="{5842C524-8746-04D6-021F-2FC8773A74DD}"/>
              </a:ext>
            </a:extLst>
          </p:cNvPr>
          <p:cNvSpPr>
            <a:spLocks noChangeShapeType="1"/>
          </p:cNvSpPr>
          <p:nvPr/>
        </p:nvSpPr>
        <p:spPr bwMode="auto">
          <a:xfrm>
            <a:off x="689879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6" name="Line 70">
            <a:extLst>
              <a:ext uri="{FF2B5EF4-FFF2-40B4-BE49-F238E27FC236}">
                <a16:creationId xmlns:a16="http://schemas.microsoft.com/office/drawing/2014/main" id="{738001FD-9EC1-D211-A049-6998D91C7EC6}"/>
              </a:ext>
            </a:extLst>
          </p:cNvPr>
          <p:cNvSpPr>
            <a:spLocks noChangeShapeType="1"/>
          </p:cNvSpPr>
          <p:nvPr/>
        </p:nvSpPr>
        <p:spPr bwMode="auto">
          <a:xfrm>
            <a:off x="709725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7" name="Line 71">
            <a:extLst>
              <a:ext uri="{FF2B5EF4-FFF2-40B4-BE49-F238E27FC236}">
                <a16:creationId xmlns:a16="http://schemas.microsoft.com/office/drawing/2014/main" id="{A1AACCDD-B2F3-FF46-5E2E-ED540CAE8A5C}"/>
              </a:ext>
            </a:extLst>
          </p:cNvPr>
          <p:cNvSpPr>
            <a:spLocks noChangeShapeType="1"/>
          </p:cNvSpPr>
          <p:nvPr/>
        </p:nvSpPr>
        <p:spPr bwMode="auto">
          <a:xfrm>
            <a:off x="729570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8" name="Line 72">
            <a:extLst>
              <a:ext uri="{FF2B5EF4-FFF2-40B4-BE49-F238E27FC236}">
                <a16:creationId xmlns:a16="http://schemas.microsoft.com/office/drawing/2014/main" id="{C1E94203-477B-00FF-F3B3-0E3E1A59CE33}"/>
              </a:ext>
            </a:extLst>
          </p:cNvPr>
          <p:cNvSpPr>
            <a:spLocks noChangeShapeType="1"/>
          </p:cNvSpPr>
          <p:nvPr/>
        </p:nvSpPr>
        <p:spPr bwMode="auto">
          <a:xfrm>
            <a:off x="749620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9" name="Line 73">
            <a:extLst>
              <a:ext uri="{FF2B5EF4-FFF2-40B4-BE49-F238E27FC236}">
                <a16:creationId xmlns:a16="http://schemas.microsoft.com/office/drawing/2014/main" id="{0F25158E-F6E8-7835-C2E4-0967B9F28E97}"/>
              </a:ext>
            </a:extLst>
          </p:cNvPr>
          <p:cNvSpPr>
            <a:spLocks noChangeShapeType="1"/>
          </p:cNvSpPr>
          <p:nvPr/>
        </p:nvSpPr>
        <p:spPr bwMode="auto">
          <a:xfrm>
            <a:off x="769466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0" name="Line 74">
            <a:extLst>
              <a:ext uri="{FF2B5EF4-FFF2-40B4-BE49-F238E27FC236}">
                <a16:creationId xmlns:a16="http://schemas.microsoft.com/office/drawing/2014/main" id="{3F2DF293-1BDD-ACC0-B20D-B26144449274}"/>
              </a:ext>
            </a:extLst>
          </p:cNvPr>
          <p:cNvSpPr>
            <a:spLocks noChangeShapeType="1"/>
          </p:cNvSpPr>
          <p:nvPr/>
        </p:nvSpPr>
        <p:spPr bwMode="auto">
          <a:xfrm>
            <a:off x="789311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1" name="Line 75">
            <a:extLst>
              <a:ext uri="{FF2B5EF4-FFF2-40B4-BE49-F238E27FC236}">
                <a16:creationId xmlns:a16="http://schemas.microsoft.com/office/drawing/2014/main" id="{329602B0-CD85-8158-2571-6CF3762BD425}"/>
              </a:ext>
            </a:extLst>
          </p:cNvPr>
          <p:cNvSpPr>
            <a:spLocks noChangeShapeType="1"/>
          </p:cNvSpPr>
          <p:nvPr/>
        </p:nvSpPr>
        <p:spPr bwMode="auto">
          <a:xfrm>
            <a:off x="809157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2" name="Line 76">
            <a:extLst>
              <a:ext uri="{FF2B5EF4-FFF2-40B4-BE49-F238E27FC236}">
                <a16:creationId xmlns:a16="http://schemas.microsoft.com/office/drawing/2014/main" id="{E7FC27F0-F375-F183-6017-014E0DE8EABD}"/>
              </a:ext>
            </a:extLst>
          </p:cNvPr>
          <p:cNvSpPr>
            <a:spLocks noChangeShapeType="1"/>
          </p:cNvSpPr>
          <p:nvPr/>
        </p:nvSpPr>
        <p:spPr bwMode="auto">
          <a:xfrm>
            <a:off x="829002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3" name="Line 77">
            <a:extLst>
              <a:ext uri="{FF2B5EF4-FFF2-40B4-BE49-F238E27FC236}">
                <a16:creationId xmlns:a16="http://schemas.microsoft.com/office/drawing/2014/main" id="{D2932D99-8F8D-FFAD-BB1C-933D19A791F3}"/>
              </a:ext>
            </a:extLst>
          </p:cNvPr>
          <p:cNvSpPr>
            <a:spLocks noChangeShapeType="1"/>
          </p:cNvSpPr>
          <p:nvPr/>
        </p:nvSpPr>
        <p:spPr bwMode="auto">
          <a:xfrm>
            <a:off x="8490526"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4" name="Line 78">
            <a:extLst>
              <a:ext uri="{FF2B5EF4-FFF2-40B4-BE49-F238E27FC236}">
                <a16:creationId xmlns:a16="http://schemas.microsoft.com/office/drawing/2014/main" id="{34200EA3-934A-E367-BDB9-D470FF092C4F}"/>
              </a:ext>
            </a:extLst>
          </p:cNvPr>
          <p:cNvSpPr>
            <a:spLocks noChangeShapeType="1"/>
          </p:cNvSpPr>
          <p:nvPr/>
        </p:nvSpPr>
        <p:spPr bwMode="auto">
          <a:xfrm>
            <a:off x="868898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5" name="Line 79">
            <a:extLst>
              <a:ext uri="{FF2B5EF4-FFF2-40B4-BE49-F238E27FC236}">
                <a16:creationId xmlns:a16="http://schemas.microsoft.com/office/drawing/2014/main" id="{0C3BAC8C-E941-0B00-56C4-5D3D5B694BB2}"/>
              </a:ext>
            </a:extLst>
          </p:cNvPr>
          <p:cNvSpPr>
            <a:spLocks noChangeShapeType="1"/>
          </p:cNvSpPr>
          <p:nvPr/>
        </p:nvSpPr>
        <p:spPr bwMode="auto">
          <a:xfrm>
            <a:off x="888743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6" name="Line 80">
            <a:extLst>
              <a:ext uri="{FF2B5EF4-FFF2-40B4-BE49-F238E27FC236}">
                <a16:creationId xmlns:a16="http://schemas.microsoft.com/office/drawing/2014/main" id="{3F029BA4-0AD9-28A7-9593-870C85E7B4C9}"/>
              </a:ext>
            </a:extLst>
          </p:cNvPr>
          <p:cNvSpPr>
            <a:spLocks noChangeShapeType="1"/>
          </p:cNvSpPr>
          <p:nvPr/>
        </p:nvSpPr>
        <p:spPr bwMode="auto">
          <a:xfrm>
            <a:off x="908589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7" name="Line 81">
            <a:extLst>
              <a:ext uri="{FF2B5EF4-FFF2-40B4-BE49-F238E27FC236}">
                <a16:creationId xmlns:a16="http://schemas.microsoft.com/office/drawing/2014/main" id="{D552D75A-AF16-3491-38BC-465F3F5F9E6A}"/>
              </a:ext>
            </a:extLst>
          </p:cNvPr>
          <p:cNvSpPr>
            <a:spLocks noChangeShapeType="1"/>
          </p:cNvSpPr>
          <p:nvPr/>
        </p:nvSpPr>
        <p:spPr bwMode="auto">
          <a:xfrm>
            <a:off x="9284346"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8" name="Line 82">
            <a:extLst>
              <a:ext uri="{FF2B5EF4-FFF2-40B4-BE49-F238E27FC236}">
                <a16:creationId xmlns:a16="http://schemas.microsoft.com/office/drawing/2014/main" id="{238D00AB-432C-A5AF-6157-97FB1D65E0D9}"/>
              </a:ext>
            </a:extLst>
          </p:cNvPr>
          <p:cNvSpPr>
            <a:spLocks noChangeShapeType="1"/>
          </p:cNvSpPr>
          <p:nvPr/>
        </p:nvSpPr>
        <p:spPr bwMode="auto">
          <a:xfrm>
            <a:off x="9484846"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9" name="Line 83">
            <a:extLst>
              <a:ext uri="{FF2B5EF4-FFF2-40B4-BE49-F238E27FC236}">
                <a16:creationId xmlns:a16="http://schemas.microsoft.com/office/drawing/2014/main" id="{8677E031-8605-6113-FF48-7AFE929262D8}"/>
              </a:ext>
            </a:extLst>
          </p:cNvPr>
          <p:cNvSpPr>
            <a:spLocks noChangeShapeType="1"/>
          </p:cNvSpPr>
          <p:nvPr/>
        </p:nvSpPr>
        <p:spPr bwMode="auto">
          <a:xfrm>
            <a:off x="9683302" y="1762751"/>
            <a:ext cx="8184"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90" name="Line 113">
            <a:extLst>
              <a:ext uri="{FF2B5EF4-FFF2-40B4-BE49-F238E27FC236}">
                <a16:creationId xmlns:a16="http://schemas.microsoft.com/office/drawing/2014/main" id="{7DF1B546-70B0-7FDF-D68C-9565F5071BD9}"/>
              </a:ext>
            </a:extLst>
          </p:cNvPr>
          <p:cNvSpPr>
            <a:spLocks noChangeShapeType="1"/>
          </p:cNvSpPr>
          <p:nvPr/>
        </p:nvSpPr>
        <p:spPr bwMode="auto">
          <a:xfrm flipV="1">
            <a:off x="2330240" y="1161249"/>
            <a:ext cx="0" cy="453377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95" name="Line 123">
            <a:extLst>
              <a:ext uri="{FF2B5EF4-FFF2-40B4-BE49-F238E27FC236}">
                <a16:creationId xmlns:a16="http://schemas.microsoft.com/office/drawing/2014/main" id="{48E33C38-159F-2B1D-03D2-0E07A88FA241}"/>
              </a:ext>
            </a:extLst>
          </p:cNvPr>
          <p:cNvSpPr>
            <a:spLocks noChangeShapeType="1"/>
          </p:cNvSpPr>
          <p:nvPr/>
        </p:nvSpPr>
        <p:spPr bwMode="auto">
          <a:xfrm>
            <a:off x="2330240" y="5695022"/>
            <a:ext cx="7361245"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96" name="Line 124">
            <a:extLst>
              <a:ext uri="{FF2B5EF4-FFF2-40B4-BE49-F238E27FC236}">
                <a16:creationId xmlns:a16="http://schemas.microsoft.com/office/drawing/2014/main" id="{FD22DB4B-D710-71E9-2845-5AD0BD60FAE2}"/>
              </a:ext>
            </a:extLst>
          </p:cNvPr>
          <p:cNvSpPr>
            <a:spLocks noChangeShapeType="1"/>
          </p:cNvSpPr>
          <p:nvPr/>
        </p:nvSpPr>
        <p:spPr bwMode="auto">
          <a:xfrm>
            <a:off x="2475501"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97" name="Rectangle 125">
            <a:extLst>
              <a:ext uri="{FF2B5EF4-FFF2-40B4-BE49-F238E27FC236}">
                <a16:creationId xmlns:a16="http://schemas.microsoft.com/office/drawing/2014/main" id="{C49156F9-7A4E-D81A-BE48-A1564CABA67A}"/>
              </a:ext>
            </a:extLst>
          </p:cNvPr>
          <p:cNvSpPr>
            <a:spLocks noChangeArrowheads="1"/>
          </p:cNvSpPr>
          <p:nvPr/>
        </p:nvSpPr>
        <p:spPr bwMode="auto">
          <a:xfrm>
            <a:off x="2403894" y="5832100"/>
            <a:ext cx="110010"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a:t>
            </a:r>
          </a:p>
        </p:txBody>
      </p:sp>
      <p:sp>
        <p:nvSpPr>
          <p:cNvPr id="198" name="Line 126">
            <a:extLst>
              <a:ext uri="{FF2B5EF4-FFF2-40B4-BE49-F238E27FC236}">
                <a16:creationId xmlns:a16="http://schemas.microsoft.com/office/drawing/2014/main" id="{19B8D9D0-89A6-CA4A-C515-88350223D025}"/>
              </a:ext>
            </a:extLst>
          </p:cNvPr>
          <p:cNvSpPr>
            <a:spLocks noChangeShapeType="1"/>
          </p:cNvSpPr>
          <p:nvPr/>
        </p:nvSpPr>
        <p:spPr bwMode="auto">
          <a:xfrm>
            <a:off x="4650321"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99" name="Rectangle 127">
            <a:extLst>
              <a:ext uri="{FF2B5EF4-FFF2-40B4-BE49-F238E27FC236}">
                <a16:creationId xmlns:a16="http://schemas.microsoft.com/office/drawing/2014/main" id="{01FD0A41-93D1-2651-1CB7-8B86DFF9858C}"/>
              </a:ext>
            </a:extLst>
          </p:cNvPr>
          <p:cNvSpPr>
            <a:spLocks noChangeArrowheads="1"/>
          </p:cNvSpPr>
          <p:nvPr/>
        </p:nvSpPr>
        <p:spPr bwMode="auto">
          <a:xfrm>
            <a:off x="4513244"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10</a:t>
            </a:r>
          </a:p>
        </p:txBody>
      </p:sp>
      <p:sp>
        <p:nvSpPr>
          <p:cNvPr id="200" name="Line 128">
            <a:extLst>
              <a:ext uri="{FF2B5EF4-FFF2-40B4-BE49-F238E27FC236}">
                <a16:creationId xmlns:a16="http://schemas.microsoft.com/office/drawing/2014/main" id="{C185162A-3BB8-ECE6-1480-70D4BA288691}"/>
              </a:ext>
            </a:extLst>
          </p:cNvPr>
          <p:cNvSpPr>
            <a:spLocks noChangeShapeType="1"/>
          </p:cNvSpPr>
          <p:nvPr/>
        </p:nvSpPr>
        <p:spPr bwMode="auto">
          <a:xfrm>
            <a:off x="7367312"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01" name="Rectangle 129">
            <a:extLst>
              <a:ext uri="{FF2B5EF4-FFF2-40B4-BE49-F238E27FC236}">
                <a16:creationId xmlns:a16="http://schemas.microsoft.com/office/drawing/2014/main" id="{8F1CA74F-7760-1E28-6BBF-3EEC9AA00AC2}"/>
              </a:ext>
            </a:extLst>
          </p:cNvPr>
          <p:cNvSpPr>
            <a:spLocks noChangeArrowheads="1"/>
          </p:cNvSpPr>
          <p:nvPr/>
        </p:nvSpPr>
        <p:spPr bwMode="auto">
          <a:xfrm>
            <a:off x="7230235"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20</a:t>
            </a:r>
          </a:p>
        </p:txBody>
      </p:sp>
      <p:sp>
        <p:nvSpPr>
          <p:cNvPr id="202" name="Line 130">
            <a:extLst>
              <a:ext uri="{FF2B5EF4-FFF2-40B4-BE49-F238E27FC236}">
                <a16:creationId xmlns:a16="http://schemas.microsoft.com/office/drawing/2014/main" id="{9CE03615-D5F7-8051-0CC7-5E948FC154DB}"/>
              </a:ext>
            </a:extLst>
          </p:cNvPr>
          <p:cNvSpPr>
            <a:spLocks noChangeShapeType="1"/>
          </p:cNvSpPr>
          <p:nvPr/>
        </p:nvSpPr>
        <p:spPr bwMode="auto">
          <a:xfrm>
            <a:off x="9546224"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03" name="Rectangle 131">
            <a:extLst>
              <a:ext uri="{FF2B5EF4-FFF2-40B4-BE49-F238E27FC236}">
                <a16:creationId xmlns:a16="http://schemas.microsoft.com/office/drawing/2014/main" id="{27E648D4-F117-304A-022A-0053CC9E9B6E}"/>
              </a:ext>
            </a:extLst>
          </p:cNvPr>
          <p:cNvSpPr>
            <a:spLocks noChangeArrowheads="1"/>
          </p:cNvSpPr>
          <p:nvPr/>
        </p:nvSpPr>
        <p:spPr bwMode="auto">
          <a:xfrm>
            <a:off x="9409147"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28</a:t>
            </a:r>
          </a:p>
        </p:txBody>
      </p:sp>
      <p:sp>
        <p:nvSpPr>
          <p:cNvPr id="204" name="Rectangle 122">
            <a:extLst>
              <a:ext uri="{FF2B5EF4-FFF2-40B4-BE49-F238E27FC236}">
                <a16:creationId xmlns:a16="http://schemas.microsoft.com/office/drawing/2014/main" id="{1A0D3C7C-337A-41F5-B91D-5764317A3A8D}"/>
              </a:ext>
            </a:extLst>
          </p:cNvPr>
          <p:cNvSpPr>
            <a:spLocks noChangeArrowheads="1"/>
          </p:cNvSpPr>
          <p:nvPr/>
        </p:nvSpPr>
        <p:spPr bwMode="auto">
          <a:xfrm rot="16200000">
            <a:off x="-50052" y="3398692"/>
            <a:ext cx="2211037"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Average Income at Age 35</a:t>
            </a:r>
          </a:p>
        </p:txBody>
      </p:sp>
      <p:sp>
        <p:nvSpPr>
          <p:cNvPr id="205" name="Rectangle 132">
            <a:extLst>
              <a:ext uri="{FF2B5EF4-FFF2-40B4-BE49-F238E27FC236}">
                <a16:creationId xmlns:a16="http://schemas.microsoft.com/office/drawing/2014/main" id="{0CF06E4B-DDBC-3D87-8240-858216242D16}"/>
              </a:ext>
            </a:extLst>
          </p:cNvPr>
          <p:cNvSpPr>
            <a:spLocks noChangeArrowheads="1"/>
          </p:cNvSpPr>
          <p:nvPr/>
        </p:nvSpPr>
        <p:spPr bwMode="auto">
          <a:xfrm>
            <a:off x="4522090" y="6134034"/>
            <a:ext cx="2709954"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Age of Child when Parents Move</a:t>
            </a:r>
          </a:p>
        </p:txBody>
      </p:sp>
      <p:sp>
        <p:nvSpPr>
          <p:cNvPr id="2" name="AutoShape 94">
            <a:extLst>
              <a:ext uri="{FF2B5EF4-FFF2-40B4-BE49-F238E27FC236}">
                <a16:creationId xmlns:a16="http://schemas.microsoft.com/office/drawing/2014/main" id="{7F521BAD-3332-468F-B34B-685B2AEAB080}"/>
              </a:ext>
            </a:extLst>
          </p:cNvPr>
          <p:cNvSpPr>
            <a:spLocks noGrp="1" noRot="1" noChangeAspect="1" noMove="1" noResize="1" noEditPoints="1" noAdjustHandles="1" noChangeArrowheads="1" noChangeShapeType="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a:extLst>
              <a:ext uri="{FF2B5EF4-FFF2-40B4-BE49-F238E27FC236}">
                <a16:creationId xmlns:a16="http://schemas.microsoft.com/office/drawing/2014/main" id="{972D3517-363F-9FDA-AC21-2EC6FD6B8140}"/>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pic>
        <p:nvPicPr>
          <p:cNvPr id="8" name="Picture 7" descr="A black and grey text&#10;&#10;Description automatically generated">
            <a:extLst>
              <a:ext uri="{FF2B5EF4-FFF2-40B4-BE49-F238E27FC236}">
                <a16:creationId xmlns:a16="http://schemas.microsoft.com/office/drawing/2014/main" id="{9572A970-3F08-00FB-1445-A6584C7AF07F}"/>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9" name="Straight Connector 8">
            <a:extLst>
              <a:ext uri="{FF2B5EF4-FFF2-40B4-BE49-F238E27FC236}">
                <a16:creationId xmlns:a16="http://schemas.microsoft.com/office/drawing/2014/main" id="{15C7D5B0-ABC0-B2E8-9B03-9E40290DE0F8}"/>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AutoShape 112">
            <a:extLst>
              <a:ext uri="{FF2B5EF4-FFF2-40B4-BE49-F238E27FC236}">
                <a16:creationId xmlns:a16="http://schemas.microsoft.com/office/drawing/2014/main" id="{EE4FDE62-7614-5B27-F9C1-CF62AF320B2C}"/>
              </a:ext>
            </a:extLst>
          </p:cNvPr>
          <p:cNvSpPr>
            <a:spLocks noChangeAspect="1" noChangeArrowheads="1" noTextEdit="1"/>
          </p:cNvSpPr>
          <p:nvPr/>
        </p:nvSpPr>
        <p:spPr bwMode="auto">
          <a:xfrm>
            <a:off x="737568" y="827532"/>
            <a:ext cx="8627719" cy="5392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62626"/>
              </a:solidFill>
              <a:effectLst/>
              <a:uLnTx/>
              <a:uFillTx/>
              <a:latin typeface="Lucida Sans"/>
              <a:ea typeface="+mn-ea"/>
              <a:cs typeface="+mn-cs"/>
            </a:endParaRPr>
          </a:p>
        </p:txBody>
      </p:sp>
      <p:sp>
        <p:nvSpPr>
          <p:cNvPr id="3" name="TextBox 2">
            <a:extLst>
              <a:ext uri="{FF2B5EF4-FFF2-40B4-BE49-F238E27FC236}">
                <a16:creationId xmlns:a16="http://schemas.microsoft.com/office/drawing/2014/main" id="{CF1B8109-0661-46B8-EB5F-8DE104CB52A9}"/>
              </a:ext>
            </a:extLst>
          </p:cNvPr>
          <p:cNvSpPr txBox="1"/>
          <p:nvPr/>
        </p:nvSpPr>
        <p:spPr>
          <a:xfrm>
            <a:off x="568592" y="648310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and Hendren (QJE 2018)</a:t>
            </a:r>
          </a:p>
        </p:txBody>
      </p:sp>
      <p:sp>
        <p:nvSpPr>
          <p:cNvPr id="170" name="Rectangle 169">
            <a:extLst>
              <a:ext uri="{FF2B5EF4-FFF2-40B4-BE49-F238E27FC236}">
                <a16:creationId xmlns:a16="http://schemas.microsoft.com/office/drawing/2014/main" id="{0F0B1438-AF7E-C740-14A8-82CD076DF4A8}"/>
              </a:ext>
            </a:extLst>
          </p:cNvPr>
          <p:cNvSpPr>
            <a:spLocks noChangeArrowheads="1"/>
          </p:cNvSpPr>
          <p:nvPr/>
        </p:nvSpPr>
        <p:spPr bwMode="auto">
          <a:xfrm>
            <a:off x="613842" y="375323"/>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Income Gain from Moving to a Higher Opportunity Neighborhood</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By Child’s Age at Move</a:t>
            </a:r>
          </a:p>
        </p:txBody>
      </p:sp>
      <p:sp>
        <p:nvSpPr>
          <p:cNvPr id="13" name="Line 114">
            <a:extLst>
              <a:ext uri="{FF2B5EF4-FFF2-40B4-BE49-F238E27FC236}">
                <a16:creationId xmlns:a16="http://schemas.microsoft.com/office/drawing/2014/main" id="{83A240AB-56B9-9D80-5E5F-3B04595B7D76}"/>
              </a:ext>
            </a:extLst>
          </p:cNvPr>
          <p:cNvSpPr>
            <a:spLocks noChangeShapeType="1"/>
          </p:cNvSpPr>
          <p:nvPr/>
        </p:nvSpPr>
        <p:spPr bwMode="auto">
          <a:xfrm flipH="1">
            <a:off x="2236127" y="5413249"/>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 name="Line 116">
            <a:extLst>
              <a:ext uri="{FF2B5EF4-FFF2-40B4-BE49-F238E27FC236}">
                <a16:creationId xmlns:a16="http://schemas.microsoft.com/office/drawing/2014/main" id="{7EF42ABB-AABE-D1DC-ADEB-80289080E96B}"/>
              </a:ext>
            </a:extLst>
          </p:cNvPr>
          <p:cNvSpPr>
            <a:spLocks noChangeShapeType="1"/>
          </p:cNvSpPr>
          <p:nvPr/>
        </p:nvSpPr>
        <p:spPr bwMode="auto">
          <a:xfrm flipH="1">
            <a:off x="2236127" y="4161134"/>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 name="Line 118">
            <a:extLst>
              <a:ext uri="{FF2B5EF4-FFF2-40B4-BE49-F238E27FC236}">
                <a16:creationId xmlns:a16="http://schemas.microsoft.com/office/drawing/2014/main" id="{144AB101-F396-3FF6-AEF6-2798477886AE}"/>
              </a:ext>
            </a:extLst>
          </p:cNvPr>
          <p:cNvSpPr>
            <a:spLocks noChangeShapeType="1"/>
          </p:cNvSpPr>
          <p:nvPr/>
        </p:nvSpPr>
        <p:spPr bwMode="auto">
          <a:xfrm flipH="1">
            <a:off x="2236127" y="2909019"/>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 name="Line 120">
            <a:extLst>
              <a:ext uri="{FF2B5EF4-FFF2-40B4-BE49-F238E27FC236}">
                <a16:creationId xmlns:a16="http://schemas.microsoft.com/office/drawing/2014/main" id="{3F26857F-DE8C-9044-F7D2-1B231934A338}"/>
              </a:ext>
            </a:extLst>
          </p:cNvPr>
          <p:cNvSpPr>
            <a:spLocks noChangeShapeType="1"/>
          </p:cNvSpPr>
          <p:nvPr/>
        </p:nvSpPr>
        <p:spPr bwMode="auto">
          <a:xfrm flipH="1">
            <a:off x="2236127" y="1756487"/>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9" name="Rectangle 171">
            <a:extLst>
              <a:ext uri="{FF2B5EF4-FFF2-40B4-BE49-F238E27FC236}">
                <a16:creationId xmlns:a16="http://schemas.microsoft.com/office/drawing/2014/main" id="{75A17073-2800-F5AD-66E9-F6DAB9E05764}"/>
              </a:ext>
            </a:extLst>
          </p:cNvPr>
          <p:cNvSpPr>
            <a:spLocks noChangeArrowheads="1"/>
          </p:cNvSpPr>
          <p:nvPr/>
        </p:nvSpPr>
        <p:spPr bwMode="auto">
          <a:xfrm>
            <a:off x="9797765" y="1642763"/>
            <a:ext cx="1760643" cy="246221"/>
          </a:xfrm>
          <a:prstGeom prst="rect">
            <a:avLst/>
          </a:prstGeom>
          <a:noFill/>
          <a:ln>
            <a:noFill/>
          </a:ln>
          <a:effec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0547"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Gotha</a:t>
            </a:r>
          </a:p>
        </p:txBody>
      </p:sp>
      <p:sp>
        <p:nvSpPr>
          <p:cNvPr id="30" name="Rectangle 171">
            <a:extLst>
              <a:ext uri="{FF2B5EF4-FFF2-40B4-BE49-F238E27FC236}">
                <a16:creationId xmlns:a16="http://schemas.microsoft.com/office/drawing/2014/main" id="{B789A5D6-9D02-8010-8BC6-97755994626A}"/>
              </a:ext>
            </a:extLst>
          </p:cNvPr>
          <p:cNvSpPr>
            <a:spLocks noChangeArrowheads="1"/>
          </p:cNvSpPr>
          <p:nvPr/>
        </p:nvSpPr>
        <p:spPr bwMode="auto">
          <a:xfrm>
            <a:off x="9797765" y="5284243"/>
            <a:ext cx="1870085" cy="246221"/>
          </a:xfrm>
          <a:prstGeom prst="rect">
            <a:avLst/>
          </a:prstGeom>
          <a:noFill/>
          <a:ln>
            <a:noFill/>
          </a:ln>
          <a:effec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0547"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Pine Hills</a:t>
            </a:r>
          </a:p>
        </p:txBody>
      </p:sp>
      <p:cxnSp>
        <p:nvCxnSpPr>
          <p:cNvPr id="19" name="Straight Connector 18">
            <a:extLst>
              <a:ext uri="{FF2B5EF4-FFF2-40B4-BE49-F238E27FC236}">
                <a16:creationId xmlns:a16="http://schemas.microsoft.com/office/drawing/2014/main" id="{0C6FDB3C-1C91-C249-3598-4572B1DE662D}"/>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6" name="Rectangle 115">
            <a:extLst>
              <a:ext uri="{FF2B5EF4-FFF2-40B4-BE49-F238E27FC236}">
                <a16:creationId xmlns:a16="http://schemas.microsoft.com/office/drawing/2014/main" id="{1A1B954B-C8F0-FF76-C549-13E9F0AEA12C}"/>
              </a:ext>
            </a:extLst>
          </p:cNvPr>
          <p:cNvSpPr>
            <a:spLocks noChangeArrowheads="1"/>
          </p:cNvSpPr>
          <p:nvPr/>
        </p:nvSpPr>
        <p:spPr bwMode="auto">
          <a:xfrm>
            <a:off x="1604360" y="5305527"/>
            <a:ext cx="6917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$34.5K</a:t>
            </a:r>
          </a:p>
        </p:txBody>
      </p:sp>
      <p:sp>
        <p:nvSpPr>
          <p:cNvPr id="17" name="Rectangle 117">
            <a:extLst>
              <a:ext uri="{FF2B5EF4-FFF2-40B4-BE49-F238E27FC236}">
                <a16:creationId xmlns:a16="http://schemas.microsoft.com/office/drawing/2014/main" id="{E2FB5233-3B14-F035-EDB1-33A385A629CC}"/>
              </a:ext>
            </a:extLst>
          </p:cNvPr>
          <p:cNvSpPr>
            <a:spLocks noChangeArrowheads="1"/>
          </p:cNvSpPr>
          <p:nvPr/>
        </p:nvSpPr>
        <p:spPr bwMode="auto">
          <a:xfrm>
            <a:off x="1604360" y="4057722"/>
            <a:ext cx="6844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$40.1K </a:t>
            </a:r>
          </a:p>
        </p:txBody>
      </p:sp>
      <p:sp>
        <p:nvSpPr>
          <p:cNvPr id="18" name="Rectangle 119">
            <a:extLst>
              <a:ext uri="{FF2B5EF4-FFF2-40B4-BE49-F238E27FC236}">
                <a16:creationId xmlns:a16="http://schemas.microsoft.com/office/drawing/2014/main" id="{BC9D1F37-CE4E-DF3F-A0FA-68A855617D47}"/>
              </a:ext>
            </a:extLst>
          </p:cNvPr>
          <p:cNvSpPr>
            <a:spLocks noChangeArrowheads="1"/>
          </p:cNvSpPr>
          <p:nvPr/>
        </p:nvSpPr>
        <p:spPr bwMode="auto">
          <a:xfrm>
            <a:off x="1604360" y="2810774"/>
            <a:ext cx="62837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$45.6K</a:t>
            </a:r>
          </a:p>
        </p:txBody>
      </p:sp>
      <p:sp>
        <p:nvSpPr>
          <p:cNvPr id="20" name="Rectangle 121">
            <a:extLst>
              <a:ext uri="{FF2B5EF4-FFF2-40B4-BE49-F238E27FC236}">
                <a16:creationId xmlns:a16="http://schemas.microsoft.com/office/drawing/2014/main" id="{E2A28E52-C565-5AAB-95A0-639AE1A56DCD}"/>
              </a:ext>
            </a:extLst>
          </p:cNvPr>
          <p:cNvSpPr>
            <a:spLocks noChangeArrowheads="1"/>
          </p:cNvSpPr>
          <p:nvPr/>
        </p:nvSpPr>
        <p:spPr bwMode="auto">
          <a:xfrm>
            <a:off x="1604360" y="1647409"/>
            <a:ext cx="6844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$51.3K </a:t>
            </a:r>
          </a:p>
        </p:txBody>
      </p:sp>
    </p:spTree>
    <p:extLst>
      <p:ext uri="{BB962C8B-B14F-4D97-AF65-F5344CB8AC3E}">
        <p14:creationId xmlns:p14="http://schemas.microsoft.com/office/powerpoint/2010/main" val="52164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077E8-8895-8282-5039-7A8084F0960C}"/>
            </a:ext>
          </a:extLst>
        </p:cNvPr>
        <p:cNvGrpSpPr/>
        <p:nvPr/>
      </p:nvGrpSpPr>
      <p:grpSpPr>
        <a:xfrm>
          <a:off x="0" y="0"/>
          <a:ext cx="0" cy="0"/>
          <a:chOff x="0" y="0"/>
          <a:chExt cx="0" cy="0"/>
        </a:xfrm>
      </p:grpSpPr>
      <p:sp>
        <p:nvSpPr>
          <p:cNvPr id="7" name="Line 8">
            <a:extLst>
              <a:ext uri="{FF2B5EF4-FFF2-40B4-BE49-F238E27FC236}">
                <a16:creationId xmlns:a16="http://schemas.microsoft.com/office/drawing/2014/main" id="{5067D201-796A-59FB-7604-FA4DFB0E90BD}"/>
              </a:ext>
            </a:extLst>
          </p:cNvPr>
          <p:cNvSpPr>
            <a:spLocks noChangeShapeType="1"/>
          </p:cNvSpPr>
          <p:nvPr/>
        </p:nvSpPr>
        <p:spPr bwMode="auto">
          <a:xfrm>
            <a:off x="2330240"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 name="Line 9">
            <a:extLst>
              <a:ext uri="{FF2B5EF4-FFF2-40B4-BE49-F238E27FC236}">
                <a16:creationId xmlns:a16="http://schemas.microsoft.com/office/drawing/2014/main" id="{5BDE95F8-BEA4-6B66-7916-FCB0E6A79369}"/>
              </a:ext>
            </a:extLst>
          </p:cNvPr>
          <p:cNvSpPr>
            <a:spLocks noChangeShapeType="1"/>
          </p:cNvSpPr>
          <p:nvPr/>
        </p:nvSpPr>
        <p:spPr bwMode="auto">
          <a:xfrm>
            <a:off x="252869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3" name="Line 10">
            <a:extLst>
              <a:ext uri="{FF2B5EF4-FFF2-40B4-BE49-F238E27FC236}">
                <a16:creationId xmlns:a16="http://schemas.microsoft.com/office/drawing/2014/main" id="{54B1878A-25ED-D012-3826-451473AAC981}"/>
              </a:ext>
            </a:extLst>
          </p:cNvPr>
          <p:cNvSpPr>
            <a:spLocks noChangeShapeType="1"/>
          </p:cNvSpPr>
          <p:nvPr/>
        </p:nvSpPr>
        <p:spPr bwMode="auto">
          <a:xfrm>
            <a:off x="272715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5" name="Line 11">
            <a:extLst>
              <a:ext uri="{FF2B5EF4-FFF2-40B4-BE49-F238E27FC236}">
                <a16:creationId xmlns:a16="http://schemas.microsoft.com/office/drawing/2014/main" id="{23308168-D4BB-68A6-E412-07695235E93F}"/>
              </a:ext>
            </a:extLst>
          </p:cNvPr>
          <p:cNvSpPr>
            <a:spLocks noChangeShapeType="1"/>
          </p:cNvSpPr>
          <p:nvPr/>
        </p:nvSpPr>
        <p:spPr bwMode="auto">
          <a:xfrm>
            <a:off x="2925605" y="5420869"/>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7" name="Line 12">
            <a:extLst>
              <a:ext uri="{FF2B5EF4-FFF2-40B4-BE49-F238E27FC236}">
                <a16:creationId xmlns:a16="http://schemas.microsoft.com/office/drawing/2014/main" id="{96605CA5-0D28-320E-BD04-0022F91453BC}"/>
              </a:ext>
            </a:extLst>
          </p:cNvPr>
          <p:cNvSpPr>
            <a:spLocks noChangeShapeType="1"/>
          </p:cNvSpPr>
          <p:nvPr/>
        </p:nvSpPr>
        <p:spPr bwMode="auto">
          <a:xfrm>
            <a:off x="3119968" y="5420869"/>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8" name="Line 13">
            <a:extLst>
              <a:ext uri="{FF2B5EF4-FFF2-40B4-BE49-F238E27FC236}">
                <a16:creationId xmlns:a16="http://schemas.microsoft.com/office/drawing/2014/main" id="{62BD567D-0DE2-93F3-D20D-B53C747BBFA9}"/>
              </a:ext>
            </a:extLst>
          </p:cNvPr>
          <p:cNvSpPr>
            <a:spLocks noChangeShapeType="1"/>
          </p:cNvSpPr>
          <p:nvPr/>
        </p:nvSpPr>
        <p:spPr bwMode="auto">
          <a:xfrm>
            <a:off x="3318423" y="5420869"/>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9" name="Line 14">
            <a:extLst>
              <a:ext uri="{FF2B5EF4-FFF2-40B4-BE49-F238E27FC236}">
                <a16:creationId xmlns:a16="http://schemas.microsoft.com/office/drawing/2014/main" id="{2A6BCAF9-93BF-1FF0-8CFE-22BF58174F8C}"/>
              </a:ext>
            </a:extLst>
          </p:cNvPr>
          <p:cNvSpPr>
            <a:spLocks noChangeShapeType="1"/>
          </p:cNvSpPr>
          <p:nvPr/>
        </p:nvSpPr>
        <p:spPr bwMode="auto">
          <a:xfrm>
            <a:off x="352301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0" name="Line 15">
            <a:extLst>
              <a:ext uri="{FF2B5EF4-FFF2-40B4-BE49-F238E27FC236}">
                <a16:creationId xmlns:a16="http://schemas.microsoft.com/office/drawing/2014/main" id="{4E65D3BC-E64E-8390-1709-9F31DE9BEB31}"/>
              </a:ext>
            </a:extLst>
          </p:cNvPr>
          <p:cNvSpPr>
            <a:spLocks noChangeShapeType="1"/>
          </p:cNvSpPr>
          <p:nvPr/>
        </p:nvSpPr>
        <p:spPr bwMode="auto">
          <a:xfrm>
            <a:off x="3721470" y="5420869"/>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1" name="Line 16">
            <a:extLst>
              <a:ext uri="{FF2B5EF4-FFF2-40B4-BE49-F238E27FC236}">
                <a16:creationId xmlns:a16="http://schemas.microsoft.com/office/drawing/2014/main" id="{2558CFD6-F3B3-9A4C-A3A0-34408E802BAF}"/>
              </a:ext>
            </a:extLst>
          </p:cNvPr>
          <p:cNvSpPr>
            <a:spLocks noChangeShapeType="1"/>
          </p:cNvSpPr>
          <p:nvPr/>
        </p:nvSpPr>
        <p:spPr bwMode="auto">
          <a:xfrm>
            <a:off x="3915833"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2" name="Line 17">
            <a:extLst>
              <a:ext uri="{FF2B5EF4-FFF2-40B4-BE49-F238E27FC236}">
                <a16:creationId xmlns:a16="http://schemas.microsoft.com/office/drawing/2014/main" id="{6806192C-D1AE-A796-5E21-309C23B96642}"/>
              </a:ext>
            </a:extLst>
          </p:cNvPr>
          <p:cNvSpPr>
            <a:spLocks noChangeShapeType="1"/>
          </p:cNvSpPr>
          <p:nvPr/>
        </p:nvSpPr>
        <p:spPr bwMode="auto">
          <a:xfrm>
            <a:off x="4114288"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4" name="Line 18">
            <a:extLst>
              <a:ext uri="{FF2B5EF4-FFF2-40B4-BE49-F238E27FC236}">
                <a16:creationId xmlns:a16="http://schemas.microsoft.com/office/drawing/2014/main" id="{8E1A2BC9-9C3A-78D2-66FB-2ABAC4693E06}"/>
              </a:ext>
            </a:extLst>
          </p:cNvPr>
          <p:cNvSpPr>
            <a:spLocks noChangeShapeType="1"/>
          </p:cNvSpPr>
          <p:nvPr/>
        </p:nvSpPr>
        <p:spPr bwMode="auto">
          <a:xfrm>
            <a:off x="431274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5" name="Line 19">
            <a:extLst>
              <a:ext uri="{FF2B5EF4-FFF2-40B4-BE49-F238E27FC236}">
                <a16:creationId xmlns:a16="http://schemas.microsoft.com/office/drawing/2014/main" id="{7D922F85-78B7-F040-9F68-F5874BC93561}"/>
              </a:ext>
            </a:extLst>
          </p:cNvPr>
          <p:cNvSpPr>
            <a:spLocks noChangeShapeType="1"/>
          </p:cNvSpPr>
          <p:nvPr/>
        </p:nvSpPr>
        <p:spPr bwMode="auto">
          <a:xfrm>
            <a:off x="4513244"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6" name="Line 20">
            <a:extLst>
              <a:ext uri="{FF2B5EF4-FFF2-40B4-BE49-F238E27FC236}">
                <a16:creationId xmlns:a16="http://schemas.microsoft.com/office/drawing/2014/main" id="{99426B7F-785E-C555-9FD9-8E2E72B75F67}"/>
              </a:ext>
            </a:extLst>
          </p:cNvPr>
          <p:cNvSpPr>
            <a:spLocks noChangeShapeType="1"/>
          </p:cNvSpPr>
          <p:nvPr/>
        </p:nvSpPr>
        <p:spPr bwMode="auto">
          <a:xfrm>
            <a:off x="471169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7" name="Line 21">
            <a:extLst>
              <a:ext uri="{FF2B5EF4-FFF2-40B4-BE49-F238E27FC236}">
                <a16:creationId xmlns:a16="http://schemas.microsoft.com/office/drawing/2014/main" id="{B33C9D74-A71A-3695-B4C4-E2399BF44D7D}"/>
              </a:ext>
            </a:extLst>
          </p:cNvPr>
          <p:cNvSpPr>
            <a:spLocks noChangeShapeType="1"/>
          </p:cNvSpPr>
          <p:nvPr/>
        </p:nvSpPr>
        <p:spPr bwMode="auto">
          <a:xfrm>
            <a:off x="491015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8" name="Line 22">
            <a:extLst>
              <a:ext uri="{FF2B5EF4-FFF2-40B4-BE49-F238E27FC236}">
                <a16:creationId xmlns:a16="http://schemas.microsoft.com/office/drawing/2014/main" id="{352672A2-1C85-5908-EE6E-C2D514611943}"/>
              </a:ext>
            </a:extLst>
          </p:cNvPr>
          <p:cNvSpPr>
            <a:spLocks noChangeShapeType="1"/>
          </p:cNvSpPr>
          <p:nvPr/>
        </p:nvSpPr>
        <p:spPr bwMode="auto">
          <a:xfrm>
            <a:off x="510860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9" name="Line 23">
            <a:extLst>
              <a:ext uri="{FF2B5EF4-FFF2-40B4-BE49-F238E27FC236}">
                <a16:creationId xmlns:a16="http://schemas.microsoft.com/office/drawing/2014/main" id="{C410DF46-36D9-D1FF-DFD3-B3B4669F940E}"/>
              </a:ext>
            </a:extLst>
          </p:cNvPr>
          <p:cNvSpPr>
            <a:spLocks noChangeShapeType="1"/>
          </p:cNvSpPr>
          <p:nvPr/>
        </p:nvSpPr>
        <p:spPr bwMode="auto">
          <a:xfrm>
            <a:off x="530706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0" name="Line 24">
            <a:extLst>
              <a:ext uri="{FF2B5EF4-FFF2-40B4-BE49-F238E27FC236}">
                <a16:creationId xmlns:a16="http://schemas.microsoft.com/office/drawing/2014/main" id="{DDE4A101-145F-037D-C5BF-3EB834169AA8}"/>
              </a:ext>
            </a:extLst>
          </p:cNvPr>
          <p:cNvSpPr>
            <a:spLocks noChangeShapeType="1"/>
          </p:cNvSpPr>
          <p:nvPr/>
        </p:nvSpPr>
        <p:spPr bwMode="auto">
          <a:xfrm>
            <a:off x="550756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1" name="Line 25">
            <a:extLst>
              <a:ext uri="{FF2B5EF4-FFF2-40B4-BE49-F238E27FC236}">
                <a16:creationId xmlns:a16="http://schemas.microsoft.com/office/drawing/2014/main" id="{AB5D2FEE-1023-94F3-BBE9-F06AD8D2AF8C}"/>
              </a:ext>
            </a:extLst>
          </p:cNvPr>
          <p:cNvSpPr>
            <a:spLocks noChangeShapeType="1"/>
          </p:cNvSpPr>
          <p:nvPr/>
        </p:nvSpPr>
        <p:spPr bwMode="auto">
          <a:xfrm>
            <a:off x="570602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2" name="Line 26">
            <a:extLst>
              <a:ext uri="{FF2B5EF4-FFF2-40B4-BE49-F238E27FC236}">
                <a16:creationId xmlns:a16="http://schemas.microsoft.com/office/drawing/2014/main" id="{DBE87C4C-32D8-E3C4-9C1B-DE8EC1BC9FF7}"/>
              </a:ext>
            </a:extLst>
          </p:cNvPr>
          <p:cNvSpPr>
            <a:spLocks noChangeShapeType="1"/>
          </p:cNvSpPr>
          <p:nvPr/>
        </p:nvSpPr>
        <p:spPr bwMode="auto">
          <a:xfrm>
            <a:off x="590447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3" name="Line 27">
            <a:extLst>
              <a:ext uri="{FF2B5EF4-FFF2-40B4-BE49-F238E27FC236}">
                <a16:creationId xmlns:a16="http://schemas.microsoft.com/office/drawing/2014/main" id="{E6D39F96-0850-4D92-1E0D-073A743A4D53}"/>
              </a:ext>
            </a:extLst>
          </p:cNvPr>
          <p:cNvSpPr>
            <a:spLocks noChangeShapeType="1"/>
          </p:cNvSpPr>
          <p:nvPr/>
        </p:nvSpPr>
        <p:spPr bwMode="auto">
          <a:xfrm>
            <a:off x="610292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4" name="Line 28">
            <a:extLst>
              <a:ext uri="{FF2B5EF4-FFF2-40B4-BE49-F238E27FC236}">
                <a16:creationId xmlns:a16="http://schemas.microsoft.com/office/drawing/2014/main" id="{94436757-3A61-A53B-062C-AC42DCFE716B}"/>
              </a:ext>
            </a:extLst>
          </p:cNvPr>
          <p:cNvSpPr>
            <a:spLocks noChangeShapeType="1"/>
          </p:cNvSpPr>
          <p:nvPr/>
        </p:nvSpPr>
        <p:spPr bwMode="auto">
          <a:xfrm>
            <a:off x="630138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5" name="Line 29">
            <a:extLst>
              <a:ext uri="{FF2B5EF4-FFF2-40B4-BE49-F238E27FC236}">
                <a16:creationId xmlns:a16="http://schemas.microsoft.com/office/drawing/2014/main" id="{03ED5674-47AA-1344-36CB-246B379B939B}"/>
              </a:ext>
            </a:extLst>
          </p:cNvPr>
          <p:cNvSpPr>
            <a:spLocks noChangeShapeType="1"/>
          </p:cNvSpPr>
          <p:nvPr/>
        </p:nvSpPr>
        <p:spPr bwMode="auto">
          <a:xfrm>
            <a:off x="650188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6" name="Line 30">
            <a:extLst>
              <a:ext uri="{FF2B5EF4-FFF2-40B4-BE49-F238E27FC236}">
                <a16:creationId xmlns:a16="http://schemas.microsoft.com/office/drawing/2014/main" id="{EBF11E67-296B-553E-6418-EE9D985ED2F1}"/>
              </a:ext>
            </a:extLst>
          </p:cNvPr>
          <p:cNvSpPr>
            <a:spLocks noChangeShapeType="1"/>
          </p:cNvSpPr>
          <p:nvPr/>
        </p:nvSpPr>
        <p:spPr bwMode="auto">
          <a:xfrm>
            <a:off x="670034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7" name="Line 31">
            <a:extLst>
              <a:ext uri="{FF2B5EF4-FFF2-40B4-BE49-F238E27FC236}">
                <a16:creationId xmlns:a16="http://schemas.microsoft.com/office/drawing/2014/main" id="{D36C0A87-86A9-C8A0-661B-941082181390}"/>
              </a:ext>
            </a:extLst>
          </p:cNvPr>
          <p:cNvSpPr>
            <a:spLocks noChangeShapeType="1"/>
          </p:cNvSpPr>
          <p:nvPr/>
        </p:nvSpPr>
        <p:spPr bwMode="auto">
          <a:xfrm>
            <a:off x="689879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8" name="Line 32">
            <a:extLst>
              <a:ext uri="{FF2B5EF4-FFF2-40B4-BE49-F238E27FC236}">
                <a16:creationId xmlns:a16="http://schemas.microsoft.com/office/drawing/2014/main" id="{208B2D17-F9A7-209B-FFB9-6C5C05F4C762}"/>
              </a:ext>
            </a:extLst>
          </p:cNvPr>
          <p:cNvSpPr>
            <a:spLocks noChangeShapeType="1"/>
          </p:cNvSpPr>
          <p:nvPr/>
        </p:nvSpPr>
        <p:spPr bwMode="auto">
          <a:xfrm>
            <a:off x="709725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9" name="Line 33">
            <a:extLst>
              <a:ext uri="{FF2B5EF4-FFF2-40B4-BE49-F238E27FC236}">
                <a16:creationId xmlns:a16="http://schemas.microsoft.com/office/drawing/2014/main" id="{2BF91898-8BFB-9F19-4AB6-A1E6DD1A3E6D}"/>
              </a:ext>
            </a:extLst>
          </p:cNvPr>
          <p:cNvSpPr>
            <a:spLocks noChangeShapeType="1"/>
          </p:cNvSpPr>
          <p:nvPr/>
        </p:nvSpPr>
        <p:spPr bwMode="auto">
          <a:xfrm>
            <a:off x="729570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0" name="Line 34">
            <a:extLst>
              <a:ext uri="{FF2B5EF4-FFF2-40B4-BE49-F238E27FC236}">
                <a16:creationId xmlns:a16="http://schemas.microsoft.com/office/drawing/2014/main" id="{35473BA3-0DE5-4E80-B2CF-F0C81B927C5C}"/>
              </a:ext>
            </a:extLst>
          </p:cNvPr>
          <p:cNvSpPr>
            <a:spLocks noChangeShapeType="1"/>
          </p:cNvSpPr>
          <p:nvPr/>
        </p:nvSpPr>
        <p:spPr bwMode="auto">
          <a:xfrm>
            <a:off x="749620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1" name="Line 35">
            <a:extLst>
              <a:ext uri="{FF2B5EF4-FFF2-40B4-BE49-F238E27FC236}">
                <a16:creationId xmlns:a16="http://schemas.microsoft.com/office/drawing/2014/main" id="{71EEE555-BB55-61CF-8759-D38A0C53B817}"/>
              </a:ext>
            </a:extLst>
          </p:cNvPr>
          <p:cNvSpPr>
            <a:spLocks noChangeShapeType="1"/>
          </p:cNvSpPr>
          <p:nvPr/>
        </p:nvSpPr>
        <p:spPr bwMode="auto">
          <a:xfrm>
            <a:off x="7694661"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2" name="Line 36">
            <a:extLst>
              <a:ext uri="{FF2B5EF4-FFF2-40B4-BE49-F238E27FC236}">
                <a16:creationId xmlns:a16="http://schemas.microsoft.com/office/drawing/2014/main" id="{5864235F-CB86-0851-93D2-74F5D8FA96B4}"/>
              </a:ext>
            </a:extLst>
          </p:cNvPr>
          <p:cNvSpPr>
            <a:spLocks noChangeShapeType="1"/>
          </p:cNvSpPr>
          <p:nvPr/>
        </p:nvSpPr>
        <p:spPr bwMode="auto">
          <a:xfrm>
            <a:off x="789311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3" name="Line 37">
            <a:extLst>
              <a:ext uri="{FF2B5EF4-FFF2-40B4-BE49-F238E27FC236}">
                <a16:creationId xmlns:a16="http://schemas.microsoft.com/office/drawing/2014/main" id="{1D38E0A7-79B7-4764-8DE3-615C0E2C1A8D}"/>
              </a:ext>
            </a:extLst>
          </p:cNvPr>
          <p:cNvSpPr>
            <a:spLocks noChangeShapeType="1"/>
          </p:cNvSpPr>
          <p:nvPr/>
        </p:nvSpPr>
        <p:spPr bwMode="auto">
          <a:xfrm>
            <a:off x="809157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4" name="Line 38">
            <a:extLst>
              <a:ext uri="{FF2B5EF4-FFF2-40B4-BE49-F238E27FC236}">
                <a16:creationId xmlns:a16="http://schemas.microsoft.com/office/drawing/2014/main" id="{913E4AD0-ECD7-26A5-520F-9945207145C2}"/>
              </a:ext>
            </a:extLst>
          </p:cNvPr>
          <p:cNvSpPr>
            <a:spLocks noChangeShapeType="1"/>
          </p:cNvSpPr>
          <p:nvPr/>
        </p:nvSpPr>
        <p:spPr bwMode="auto">
          <a:xfrm>
            <a:off x="829002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5" name="Line 39">
            <a:extLst>
              <a:ext uri="{FF2B5EF4-FFF2-40B4-BE49-F238E27FC236}">
                <a16:creationId xmlns:a16="http://schemas.microsoft.com/office/drawing/2014/main" id="{31570CBE-4B99-A3DF-ABAC-8D0C5CB7DCA6}"/>
              </a:ext>
            </a:extLst>
          </p:cNvPr>
          <p:cNvSpPr>
            <a:spLocks noChangeShapeType="1"/>
          </p:cNvSpPr>
          <p:nvPr/>
        </p:nvSpPr>
        <p:spPr bwMode="auto">
          <a:xfrm>
            <a:off x="8490526" y="5420869"/>
            <a:ext cx="130940"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6" name="Line 40">
            <a:extLst>
              <a:ext uri="{FF2B5EF4-FFF2-40B4-BE49-F238E27FC236}">
                <a16:creationId xmlns:a16="http://schemas.microsoft.com/office/drawing/2014/main" id="{9B2F8835-1EC1-CDCF-8814-DB0217AC6359}"/>
              </a:ext>
            </a:extLst>
          </p:cNvPr>
          <p:cNvSpPr>
            <a:spLocks noChangeShapeType="1"/>
          </p:cNvSpPr>
          <p:nvPr/>
        </p:nvSpPr>
        <p:spPr bwMode="auto">
          <a:xfrm>
            <a:off x="8688981"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7" name="Line 41">
            <a:extLst>
              <a:ext uri="{FF2B5EF4-FFF2-40B4-BE49-F238E27FC236}">
                <a16:creationId xmlns:a16="http://schemas.microsoft.com/office/drawing/2014/main" id="{FF5B4300-1AD5-0767-E6C3-E5F4A1ED5865}"/>
              </a:ext>
            </a:extLst>
          </p:cNvPr>
          <p:cNvSpPr>
            <a:spLocks noChangeShapeType="1"/>
          </p:cNvSpPr>
          <p:nvPr/>
        </p:nvSpPr>
        <p:spPr bwMode="auto">
          <a:xfrm>
            <a:off x="8887435"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8" name="Line 42">
            <a:extLst>
              <a:ext uri="{FF2B5EF4-FFF2-40B4-BE49-F238E27FC236}">
                <a16:creationId xmlns:a16="http://schemas.microsoft.com/office/drawing/2014/main" id="{61189BE7-CB99-5B1B-5A1E-52C1ED6E66FC}"/>
              </a:ext>
            </a:extLst>
          </p:cNvPr>
          <p:cNvSpPr>
            <a:spLocks noChangeShapeType="1"/>
          </p:cNvSpPr>
          <p:nvPr/>
        </p:nvSpPr>
        <p:spPr bwMode="auto">
          <a:xfrm>
            <a:off x="9085891"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9" name="Line 43">
            <a:extLst>
              <a:ext uri="{FF2B5EF4-FFF2-40B4-BE49-F238E27FC236}">
                <a16:creationId xmlns:a16="http://schemas.microsoft.com/office/drawing/2014/main" id="{C556C14C-F13E-52B3-AE8B-85150606388B}"/>
              </a:ext>
            </a:extLst>
          </p:cNvPr>
          <p:cNvSpPr>
            <a:spLocks noChangeShapeType="1"/>
          </p:cNvSpPr>
          <p:nvPr/>
        </p:nvSpPr>
        <p:spPr bwMode="auto">
          <a:xfrm>
            <a:off x="9284346"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0" name="Line 44">
            <a:extLst>
              <a:ext uri="{FF2B5EF4-FFF2-40B4-BE49-F238E27FC236}">
                <a16:creationId xmlns:a16="http://schemas.microsoft.com/office/drawing/2014/main" id="{E24B739B-62D7-2AF7-E3CF-C679AD8322CC}"/>
              </a:ext>
            </a:extLst>
          </p:cNvPr>
          <p:cNvSpPr>
            <a:spLocks noChangeShapeType="1"/>
          </p:cNvSpPr>
          <p:nvPr/>
        </p:nvSpPr>
        <p:spPr bwMode="auto">
          <a:xfrm>
            <a:off x="9484846" y="5420869"/>
            <a:ext cx="130940"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1" name="Line 45">
            <a:extLst>
              <a:ext uri="{FF2B5EF4-FFF2-40B4-BE49-F238E27FC236}">
                <a16:creationId xmlns:a16="http://schemas.microsoft.com/office/drawing/2014/main" id="{7AD35654-6D6E-54B7-831E-45AB2E0640F7}"/>
              </a:ext>
            </a:extLst>
          </p:cNvPr>
          <p:cNvSpPr>
            <a:spLocks noChangeShapeType="1"/>
          </p:cNvSpPr>
          <p:nvPr/>
        </p:nvSpPr>
        <p:spPr bwMode="auto">
          <a:xfrm>
            <a:off x="9683302" y="5420869"/>
            <a:ext cx="8184"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2" name="Line 46">
            <a:extLst>
              <a:ext uri="{FF2B5EF4-FFF2-40B4-BE49-F238E27FC236}">
                <a16:creationId xmlns:a16="http://schemas.microsoft.com/office/drawing/2014/main" id="{0A2A304F-6978-DF7F-50A2-F2526793DA3D}"/>
              </a:ext>
            </a:extLst>
          </p:cNvPr>
          <p:cNvSpPr>
            <a:spLocks noChangeShapeType="1"/>
          </p:cNvSpPr>
          <p:nvPr/>
        </p:nvSpPr>
        <p:spPr bwMode="auto">
          <a:xfrm>
            <a:off x="2330240"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3" name="Line 47">
            <a:extLst>
              <a:ext uri="{FF2B5EF4-FFF2-40B4-BE49-F238E27FC236}">
                <a16:creationId xmlns:a16="http://schemas.microsoft.com/office/drawing/2014/main" id="{A3E83268-41B8-0EBF-7AD8-8CA8170C1117}"/>
              </a:ext>
            </a:extLst>
          </p:cNvPr>
          <p:cNvSpPr>
            <a:spLocks noChangeShapeType="1"/>
          </p:cNvSpPr>
          <p:nvPr/>
        </p:nvSpPr>
        <p:spPr bwMode="auto">
          <a:xfrm>
            <a:off x="252869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4" name="Line 48">
            <a:extLst>
              <a:ext uri="{FF2B5EF4-FFF2-40B4-BE49-F238E27FC236}">
                <a16:creationId xmlns:a16="http://schemas.microsoft.com/office/drawing/2014/main" id="{E15F5338-2A05-1C9A-326B-D9D3C1C4F114}"/>
              </a:ext>
            </a:extLst>
          </p:cNvPr>
          <p:cNvSpPr>
            <a:spLocks noChangeShapeType="1"/>
          </p:cNvSpPr>
          <p:nvPr/>
        </p:nvSpPr>
        <p:spPr bwMode="auto">
          <a:xfrm>
            <a:off x="272715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5" name="Line 49">
            <a:extLst>
              <a:ext uri="{FF2B5EF4-FFF2-40B4-BE49-F238E27FC236}">
                <a16:creationId xmlns:a16="http://schemas.microsoft.com/office/drawing/2014/main" id="{B92AA8C9-65B0-93E6-6B05-82C8D25BD636}"/>
              </a:ext>
            </a:extLst>
          </p:cNvPr>
          <p:cNvSpPr>
            <a:spLocks noChangeShapeType="1"/>
          </p:cNvSpPr>
          <p:nvPr/>
        </p:nvSpPr>
        <p:spPr bwMode="auto">
          <a:xfrm>
            <a:off x="2925605" y="1762751"/>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6" name="Line 50">
            <a:extLst>
              <a:ext uri="{FF2B5EF4-FFF2-40B4-BE49-F238E27FC236}">
                <a16:creationId xmlns:a16="http://schemas.microsoft.com/office/drawing/2014/main" id="{E63C0CB2-717D-D201-3589-57DACA2EC81D}"/>
              </a:ext>
            </a:extLst>
          </p:cNvPr>
          <p:cNvSpPr>
            <a:spLocks noChangeShapeType="1"/>
          </p:cNvSpPr>
          <p:nvPr/>
        </p:nvSpPr>
        <p:spPr bwMode="auto">
          <a:xfrm>
            <a:off x="3119968" y="1762751"/>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7" name="Line 51">
            <a:extLst>
              <a:ext uri="{FF2B5EF4-FFF2-40B4-BE49-F238E27FC236}">
                <a16:creationId xmlns:a16="http://schemas.microsoft.com/office/drawing/2014/main" id="{52EFF714-70C4-CC14-4800-482A4092BC83}"/>
              </a:ext>
            </a:extLst>
          </p:cNvPr>
          <p:cNvSpPr>
            <a:spLocks noChangeShapeType="1"/>
          </p:cNvSpPr>
          <p:nvPr/>
        </p:nvSpPr>
        <p:spPr bwMode="auto">
          <a:xfrm>
            <a:off x="3318423" y="1762751"/>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8" name="Line 52">
            <a:extLst>
              <a:ext uri="{FF2B5EF4-FFF2-40B4-BE49-F238E27FC236}">
                <a16:creationId xmlns:a16="http://schemas.microsoft.com/office/drawing/2014/main" id="{D1E4F4CF-C709-D96D-EF69-892EF2BFA349}"/>
              </a:ext>
            </a:extLst>
          </p:cNvPr>
          <p:cNvSpPr>
            <a:spLocks noChangeShapeType="1"/>
          </p:cNvSpPr>
          <p:nvPr/>
        </p:nvSpPr>
        <p:spPr bwMode="auto">
          <a:xfrm>
            <a:off x="352301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9" name="Line 53">
            <a:extLst>
              <a:ext uri="{FF2B5EF4-FFF2-40B4-BE49-F238E27FC236}">
                <a16:creationId xmlns:a16="http://schemas.microsoft.com/office/drawing/2014/main" id="{7DB681E0-1646-0E86-FED8-B745D85BD80E}"/>
              </a:ext>
            </a:extLst>
          </p:cNvPr>
          <p:cNvSpPr>
            <a:spLocks noChangeShapeType="1"/>
          </p:cNvSpPr>
          <p:nvPr/>
        </p:nvSpPr>
        <p:spPr bwMode="auto">
          <a:xfrm>
            <a:off x="3721470" y="1762751"/>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0" name="Line 54">
            <a:extLst>
              <a:ext uri="{FF2B5EF4-FFF2-40B4-BE49-F238E27FC236}">
                <a16:creationId xmlns:a16="http://schemas.microsoft.com/office/drawing/2014/main" id="{945FC2D7-3033-9027-53F2-009087750F9E}"/>
              </a:ext>
            </a:extLst>
          </p:cNvPr>
          <p:cNvSpPr>
            <a:spLocks noChangeShapeType="1"/>
          </p:cNvSpPr>
          <p:nvPr/>
        </p:nvSpPr>
        <p:spPr bwMode="auto">
          <a:xfrm>
            <a:off x="3915833"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1" name="Line 55">
            <a:extLst>
              <a:ext uri="{FF2B5EF4-FFF2-40B4-BE49-F238E27FC236}">
                <a16:creationId xmlns:a16="http://schemas.microsoft.com/office/drawing/2014/main" id="{80D10DD8-0680-557A-69F3-08F77955BF49}"/>
              </a:ext>
            </a:extLst>
          </p:cNvPr>
          <p:cNvSpPr>
            <a:spLocks noChangeShapeType="1"/>
          </p:cNvSpPr>
          <p:nvPr/>
        </p:nvSpPr>
        <p:spPr bwMode="auto">
          <a:xfrm>
            <a:off x="4114288"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2" name="Line 56">
            <a:extLst>
              <a:ext uri="{FF2B5EF4-FFF2-40B4-BE49-F238E27FC236}">
                <a16:creationId xmlns:a16="http://schemas.microsoft.com/office/drawing/2014/main" id="{6A06D1C2-0BC7-00D4-EAD6-4F6B60AC7E12}"/>
              </a:ext>
            </a:extLst>
          </p:cNvPr>
          <p:cNvSpPr>
            <a:spLocks noChangeShapeType="1"/>
          </p:cNvSpPr>
          <p:nvPr/>
        </p:nvSpPr>
        <p:spPr bwMode="auto">
          <a:xfrm>
            <a:off x="431274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3" name="Line 57">
            <a:extLst>
              <a:ext uri="{FF2B5EF4-FFF2-40B4-BE49-F238E27FC236}">
                <a16:creationId xmlns:a16="http://schemas.microsoft.com/office/drawing/2014/main" id="{7F5410C5-9F66-0500-89DB-FD436D485CF4}"/>
              </a:ext>
            </a:extLst>
          </p:cNvPr>
          <p:cNvSpPr>
            <a:spLocks noChangeShapeType="1"/>
          </p:cNvSpPr>
          <p:nvPr/>
        </p:nvSpPr>
        <p:spPr bwMode="auto">
          <a:xfrm>
            <a:off x="4513244"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4" name="Line 58">
            <a:extLst>
              <a:ext uri="{FF2B5EF4-FFF2-40B4-BE49-F238E27FC236}">
                <a16:creationId xmlns:a16="http://schemas.microsoft.com/office/drawing/2014/main" id="{7514FFE6-1981-0053-4750-20E0FA722344}"/>
              </a:ext>
            </a:extLst>
          </p:cNvPr>
          <p:cNvSpPr>
            <a:spLocks noChangeShapeType="1"/>
          </p:cNvSpPr>
          <p:nvPr/>
        </p:nvSpPr>
        <p:spPr bwMode="auto">
          <a:xfrm>
            <a:off x="471169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5" name="Line 59">
            <a:extLst>
              <a:ext uri="{FF2B5EF4-FFF2-40B4-BE49-F238E27FC236}">
                <a16:creationId xmlns:a16="http://schemas.microsoft.com/office/drawing/2014/main" id="{968EC65C-2AE9-FE73-EFC5-FA87E238E881}"/>
              </a:ext>
            </a:extLst>
          </p:cNvPr>
          <p:cNvSpPr>
            <a:spLocks noChangeShapeType="1"/>
          </p:cNvSpPr>
          <p:nvPr/>
        </p:nvSpPr>
        <p:spPr bwMode="auto">
          <a:xfrm>
            <a:off x="491015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6" name="Line 60">
            <a:extLst>
              <a:ext uri="{FF2B5EF4-FFF2-40B4-BE49-F238E27FC236}">
                <a16:creationId xmlns:a16="http://schemas.microsoft.com/office/drawing/2014/main" id="{716B6869-9A2A-C619-C6B7-C7098CC2F77C}"/>
              </a:ext>
            </a:extLst>
          </p:cNvPr>
          <p:cNvSpPr>
            <a:spLocks noChangeShapeType="1"/>
          </p:cNvSpPr>
          <p:nvPr/>
        </p:nvSpPr>
        <p:spPr bwMode="auto">
          <a:xfrm>
            <a:off x="510860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7" name="Line 61">
            <a:extLst>
              <a:ext uri="{FF2B5EF4-FFF2-40B4-BE49-F238E27FC236}">
                <a16:creationId xmlns:a16="http://schemas.microsoft.com/office/drawing/2014/main" id="{3D4E031C-E963-FD45-DA17-E3405489F690}"/>
              </a:ext>
            </a:extLst>
          </p:cNvPr>
          <p:cNvSpPr>
            <a:spLocks noChangeShapeType="1"/>
          </p:cNvSpPr>
          <p:nvPr/>
        </p:nvSpPr>
        <p:spPr bwMode="auto">
          <a:xfrm>
            <a:off x="530706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8" name="Line 62">
            <a:extLst>
              <a:ext uri="{FF2B5EF4-FFF2-40B4-BE49-F238E27FC236}">
                <a16:creationId xmlns:a16="http://schemas.microsoft.com/office/drawing/2014/main" id="{16A56E66-48C7-7B45-EFF7-8E186703E6FA}"/>
              </a:ext>
            </a:extLst>
          </p:cNvPr>
          <p:cNvSpPr>
            <a:spLocks noChangeShapeType="1"/>
          </p:cNvSpPr>
          <p:nvPr/>
        </p:nvSpPr>
        <p:spPr bwMode="auto">
          <a:xfrm>
            <a:off x="550756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9" name="Line 63">
            <a:extLst>
              <a:ext uri="{FF2B5EF4-FFF2-40B4-BE49-F238E27FC236}">
                <a16:creationId xmlns:a16="http://schemas.microsoft.com/office/drawing/2014/main" id="{292EE797-278B-CE98-056D-96B6560C5799}"/>
              </a:ext>
            </a:extLst>
          </p:cNvPr>
          <p:cNvSpPr>
            <a:spLocks noChangeShapeType="1"/>
          </p:cNvSpPr>
          <p:nvPr/>
        </p:nvSpPr>
        <p:spPr bwMode="auto">
          <a:xfrm>
            <a:off x="570602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0" name="Line 64">
            <a:extLst>
              <a:ext uri="{FF2B5EF4-FFF2-40B4-BE49-F238E27FC236}">
                <a16:creationId xmlns:a16="http://schemas.microsoft.com/office/drawing/2014/main" id="{769F56CF-1B2D-FA81-80EF-F68DD094746D}"/>
              </a:ext>
            </a:extLst>
          </p:cNvPr>
          <p:cNvSpPr>
            <a:spLocks noChangeShapeType="1"/>
          </p:cNvSpPr>
          <p:nvPr/>
        </p:nvSpPr>
        <p:spPr bwMode="auto">
          <a:xfrm>
            <a:off x="590447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1" name="Line 65">
            <a:extLst>
              <a:ext uri="{FF2B5EF4-FFF2-40B4-BE49-F238E27FC236}">
                <a16:creationId xmlns:a16="http://schemas.microsoft.com/office/drawing/2014/main" id="{0CD31143-CED1-38AF-CFE4-70B5587B55CD}"/>
              </a:ext>
            </a:extLst>
          </p:cNvPr>
          <p:cNvSpPr>
            <a:spLocks noChangeShapeType="1"/>
          </p:cNvSpPr>
          <p:nvPr/>
        </p:nvSpPr>
        <p:spPr bwMode="auto">
          <a:xfrm>
            <a:off x="610292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2" name="Line 66">
            <a:extLst>
              <a:ext uri="{FF2B5EF4-FFF2-40B4-BE49-F238E27FC236}">
                <a16:creationId xmlns:a16="http://schemas.microsoft.com/office/drawing/2014/main" id="{3F9F6B92-7C37-2965-EE9E-C387AE6E9ED2}"/>
              </a:ext>
            </a:extLst>
          </p:cNvPr>
          <p:cNvSpPr>
            <a:spLocks noChangeShapeType="1"/>
          </p:cNvSpPr>
          <p:nvPr/>
        </p:nvSpPr>
        <p:spPr bwMode="auto">
          <a:xfrm>
            <a:off x="630138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3" name="Line 67">
            <a:extLst>
              <a:ext uri="{FF2B5EF4-FFF2-40B4-BE49-F238E27FC236}">
                <a16:creationId xmlns:a16="http://schemas.microsoft.com/office/drawing/2014/main" id="{54B86B13-B0B0-CA35-B166-D856751D28D1}"/>
              </a:ext>
            </a:extLst>
          </p:cNvPr>
          <p:cNvSpPr>
            <a:spLocks noChangeShapeType="1"/>
          </p:cNvSpPr>
          <p:nvPr/>
        </p:nvSpPr>
        <p:spPr bwMode="auto">
          <a:xfrm>
            <a:off x="650188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4" name="Line 68">
            <a:extLst>
              <a:ext uri="{FF2B5EF4-FFF2-40B4-BE49-F238E27FC236}">
                <a16:creationId xmlns:a16="http://schemas.microsoft.com/office/drawing/2014/main" id="{F9F55856-CF0D-45CB-6C83-4C4068C05217}"/>
              </a:ext>
            </a:extLst>
          </p:cNvPr>
          <p:cNvSpPr>
            <a:spLocks noChangeShapeType="1"/>
          </p:cNvSpPr>
          <p:nvPr/>
        </p:nvSpPr>
        <p:spPr bwMode="auto">
          <a:xfrm>
            <a:off x="670034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5" name="Line 69">
            <a:extLst>
              <a:ext uri="{FF2B5EF4-FFF2-40B4-BE49-F238E27FC236}">
                <a16:creationId xmlns:a16="http://schemas.microsoft.com/office/drawing/2014/main" id="{EBDF92F1-E164-959B-8231-F30956DCAA50}"/>
              </a:ext>
            </a:extLst>
          </p:cNvPr>
          <p:cNvSpPr>
            <a:spLocks noChangeShapeType="1"/>
          </p:cNvSpPr>
          <p:nvPr/>
        </p:nvSpPr>
        <p:spPr bwMode="auto">
          <a:xfrm>
            <a:off x="689879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6" name="Line 70">
            <a:extLst>
              <a:ext uri="{FF2B5EF4-FFF2-40B4-BE49-F238E27FC236}">
                <a16:creationId xmlns:a16="http://schemas.microsoft.com/office/drawing/2014/main" id="{D9B9A63E-D94E-E8A7-CDDE-DEB1C0356807}"/>
              </a:ext>
            </a:extLst>
          </p:cNvPr>
          <p:cNvSpPr>
            <a:spLocks noChangeShapeType="1"/>
          </p:cNvSpPr>
          <p:nvPr/>
        </p:nvSpPr>
        <p:spPr bwMode="auto">
          <a:xfrm>
            <a:off x="709725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7" name="Line 71">
            <a:extLst>
              <a:ext uri="{FF2B5EF4-FFF2-40B4-BE49-F238E27FC236}">
                <a16:creationId xmlns:a16="http://schemas.microsoft.com/office/drawing/2014/main" id="{C1A9EF34-043C-6F16-3F54-1F9501492118}"/>
              </a:ext>
            </a:extLst>
          </p:cNvPr>
          <p:cNvSpPr>
            <a:spLocks noChangeShapeType="1"/>
          </p:cNvSpPr>
          <p:nvPr/>
        </p:nvSpPr>
        <p:spPr bwMode="auto">
          <a:xfrm>
            <a:off x="729570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8" name="Line 72">
            <a:extLst>
              <a:ext uri="{FF2B5EF4-FFF2-40B4-BE49-F238E27FC236}">
                <a16:creationId xmlns:a16="http://schemas.microsoft.com/office/drawing/2014/main" id="{148C774D-C532-A5CE-35F8-0BEB98EAF364}"/>
              </a:ext>
            </a:extLst>
          </p:cNvPr>
          <p:cNvSpPr>
            <a:spLocks noChangeShapeType="1"/>
          </p:cNvSpPr>
          <p:nvPr/>
        </p:nvSpPr>
        <p:spPr bwMode="auto">
          <a:xfrm>
            <a:off x="749620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9" name="Line 73">
            <a:extLst>
              <a:ext uri="{FF2B5EF4-FFF2-40B4-BE49-F238E27FC236}">
                <a16:creationId xmlns:a16="http://schemas.microsoft.com/office/drawing/2014/main" id="{C94087FB-91A7-6684-45DD-71D9BA70A0B3}"/>
              </a:ext>
            </a:extLst>
          </p:cNvPr>
          <p:cNvSpPr>
            <a:spLocks noChangeShapeType="1"/>
          </p:cNvSpPr>
          <p:nvPr/>
        </p:nvSpPr>
        <p:spPr bwMode="auto">
          <a:xfrm>
            <a:off x="769466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0" name="Line 74">
            <a:extLst>
              <a:ext uri="{FF2B5EF4-FFF2-40B4-BE49-F238E27FC236}">
                <a16:creationId xmlns:a16="http://schemas.microsoft.com/office/drawing/2014/main" id="{471F65F8-B85C-BBF0-3984-61323F39DAC3}"/>
              </a:ext>
            </a:extLst>
          </p:cNvPr>
          <p:cNvSpPr>
            <a:spLocks noChangeShapeType="1"/>
          </p:cNvSpPr>
          <p:nvPr/>
        </p:nvSpPr>
        <p:spPr bwMode="auto">
          <a:xfrm>
            <a:off x="789311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1" name="Line 75">
            <a:extLst>
              <a:ext uri="{FF2B5EF4-FFF2-40B4-BE49-F238E27FC236}">
                <a16:creationId xmlns:a16="http://schemas.microsoft.com/office/drawing/2014/main" id="{833D4796-BC97-FF60-F7FF-29399C300437}"/>
              </a:ext>
            </a:extLst>
          </p:cNvPr>
          <p:cNvSpPr>
            <a:spLocks noChangeShapeType="1"/>
          </p:cNvSpPr>
          <p:nvPr/>
        </p:nvSpPr>
        <p:spPr bwMode="auto">
          <a:xfrm>
            <a:off x="809157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2" name="Line 76">
            <a:extLst>
              <a:ext uri="{FF2B5EF4-FFF2-40B4-BE49-F238E27FC236}">
                <a16:creationId xmlns:a16="http://schemas.microsoft.com/office/drawing/2014/main" id="{A3D64D10-9976-91DB-1A4F-1FA559CDFF03}"/>
              </a:ext>
            </a:extLst>
          </p:cNvPr>
          <p:cNvSpPr>
            <a:spLocks noChangeShapeType="1"/>
          </p:cNvSpPr>
          <p:nvPr/>
        </p:nvSpPr>
        <p:spPr bwMode="auto">
          <a:xfrm>
            <a:off x="829002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3" name="Line 77">
            <a:extLst>
              <a:ext uri="{FF2B5EF4-FFF2-40B4-BE49-F238E27FC236}">
                <a16:creationId xmlns:a16="http://schemas.microsoft.com/office/drawing/2014/main" id="{4BF8C862-E5C5-7FEE-2DDF-BFA488C56F19}"/>
              </a:ext>
            </a:extLst>
          </p:cNvPr>
          <p:cNvSpPr>
            <a:spLocks noChangeShapeType="1"/>
          </p:cNvSpPr>
          <p:nvPr/>
        </p:nvSpPr>
        <p:spPr bwMode="auto">
          <a:xfrm>
            <a:off x="8490526"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4" name="Line 78">
            <a:extLst>
              <a:ext uri="{FF2B5EF4-FFF2-40B4-BE49-F238E27FC236}">
                <a16:creationId xmlns:a16="http://schemas.microsoft.com/office/drawing/2014/main" id="{07D99446-11E4-E6CD-0CE6-BA735BE74D61}"/>
              </a:ext>
            </a:extLst>
          </p:cNvPr>
          <p:cNvSpPr>
            <a:spLocks noChangeShapeType="1"/>
          </p:cNvSpPr>
          <p:nvPr/>
        </p:nvSpPr>
        <p:spPr bwMode="auto">
          <a:xfrm>
            <a:off x="868898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5" name="Line 79">
            <a:extLst>
              <a:ext uri="{FF2B5EF4-FFF2-40B4-BE49-F238E27FC236}">
                <a16:creationId xmlns:a16="http://schemas.microsoft.com/office/drawing/2014/main" id="{2860B545-FAF9-EC52-C421-192C309D41EB}"/>
              </a:ext>
            </a:extLst>
          </p:cNvPr>
          <p:cNvSpPr>
            <a:spLocks noChangeShapeType="1"/>
          </p:cNvSpPr>
          <p:nvPr/>
        </p:nvSpPr>
        <p:spPr bwMode="auto">
          <a:xfrm>
            <a:off x="888743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6" name="Line 80">
            <a:extLst>
              <a:ext uri="{FF2B5EF4-FFF2-40B4-BE49-F238E27FC236}">
                <a16:creationId xmlns:a16="http://schemas.microsoft.com/office/drawing/2014/main" id="{4730F214-DCE2-749F-C53F-DD665341E76B}"/>
              </a:ext>
            </a:extLst>
          </p:cNvPr>
          <p:cNvSpPr>
            <a:spLocks noChangeShapeType="1"/>
          </p:cNvSpPr>
          <p:nvPr/>
        </p:nvSpPr>
        <p:spPr bwMode="auto">
          <a:xfrm>
            <a:off x="908589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7" name="Line 81">
            <a:extLst>
              <a:ext uri="{FF2B5EF4-FFF2-40B4-BE49-F238E27FC236}">
                <a16:creationId xmlns:a16="http://schemas.microsoft.com/office/drawing/2014/main" id="{CBEEF62D-C50A-4435-C21F-FE8DE4252E9B}"/>
              </a:ext>
            </a:extLst>
          </p:cNvPr>
          <p:cNvSpPr>
            <a:spLocks noChangeShapeType="1"/>
          </p:cNvSpPr>
          <p:nvPr/>
        </p:nvSpPr>
        <p:spPr bwMode="auto">
          <a:xfrm>
            <a:off x="9284346"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8" name="Line 82">
            <a:extLst>
              <a:ext uri="{FF2B5EF4-FFF2-40B4-BE49-F238E27FC236}">
                <a16:creationId xmlns:a16="http://schemas.microsoft.com/office/drawing/2014/main" id="{7B5006D4-B466-5473-0080-D6B18BCE5CCC}"/>
              </a:ext>
            </a:extLst>
          </p:cNvPr>
          <p:cNvSpPr>
            <a:spLocks noChangeShapeType="1"/>
          </p:cNvSpPr>
          <p:nvPr/>
        </p:nvSpPr>
        <p:spPr bwMode="auto">
          <a:xfrm>
            <a:off x="9484846"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9" name="Line 83">
            <a:extLst>
              <a:ext uri="{FF2B5EF4-FFF2-40B4-BE49-F238E27FC236}">
                <a16:creationId xmlns:a16="http://schemas.microsoft.com/office/drawing/2014/main" id="{10A8B589-F985-6110-7277-4138D8C55999}"/>
              </a:ext>
            </a:extLst>
          </p:cNvPr>
          <p:cNvSpPr>
            <a:spLocks noChangeShapeType="1"/>
          </p:cNvSpPr>
          <p:nvPr/>
        </p:nvSpPr>
        <p:spPr bwMode="auto">
          <a:xfrm>
            <a:off x="9683302" y="1762751"/>
            <a:ext cx="8184"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0" name="Oval 84">
            <a:extLst>
              <a:ext uri="{FF2B5EF4-FFF2-40B4-BE49-F238E27FC236}">
                <a16:creationId xmlns:a16="http://schemas.microsoft.com/office/drawing/2014/main" id="{4029EC3D-B82B-3107-4196-9FB36B6FCC98}"/>
              </a:ext>
            </a:extLst>
          </p:cNvPr>
          <p:cNvSpPr>
            <a:spLocks noChangeArrowheads="1"/>
          </p:cNvSpPr>
          <p:nvPr/>
        </p:nvSpPr>
        <p:spPr bwMode="auto">
          <a:xfrm>
            <a:off x="2430489" y="2040997"/>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04" name="Rectangle 122">
            <a:extLst>
              <a:ext uri="{FF2B5EF4-FFF2-40B4-BE49-F238E27FC236}">
                <a16:creationId xmlns:a16="http://schemas.microsoft.com/office/drawing/2014/main" id="{19010371-FE8A-B381-7391-C69D5E4E6888}"/>
              </a:ext>
            </a:extLst>
          </p:cNvPr>
          <p:cNvSpPr>
            <a:spLocks noChangeArrowheads="1"/>
          </p:cNvSpPr>
          <p:nvPr/>
        </p:nvSpPr>
        <p:spPr bwMode="auto">
          <a:xfrm rot="16200000">
            <a:off x="-50052" y="3398692"/>
            <a:ext cx="2211037"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Average Income at Age 35</a:t>
            </a:r>
          </a:p>
        </p:txBody>
      </p:sp>
      <p:sp>
        <p:nvSpPr>
          <p:cNvPr id="205" name="Rectangle 132">
            <a:extLst>
              <a:ext uri="{FF2B5EF4-FFF2-40B4-BE49-F238E27FC236}">
                <a16:creationId xmlns:a16="http://schemas.microsoft.com/office/drawing/2014/main" id="{799E6EC3-5D82-198E-D789-2984A813570D}"/>
              </a:ext>
            </a:extLst>
          </p:cNvPr>
          <p:cNvSpPr>
            <a:spLocks noChangeArrowheads="1"/>
          </p:cNvSpPr>
          <p:nvPr/>
        </p:nvSpPr>
        <p:spPr bwMode="auto">
          <a:xfrm>
            <a:off x="4522090" y="6134034"/>
            <a:ext cx="2709954"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Age of Child when Parents Move</a:t>
            </a:r>
          </a:p>
        </p:txBody>
      </p:sp>
      <p:sp>
        <p:nvSpPr>
          <p:cNvPr id="2" name="AutoShape 94">
            <a:extLst>
              <a:ext uri="{FF2B5EF4-FFF2-40B4-BE49-F238E27FC236}">
                <a16:creationId xmlns:a16="http://schemas.microsoft.com/office/drawing/2014/main" id="{7CBDEE3B-444A-54E8-5836-F75319FAD5B7}"/>
              </a:ext>
            </a:extLst>
          </p:cNvPr>
          <p:cNvSpPr>
            <a:spLocks noGrp="1" noRot="1" noChangeAspect="1" noMove="1" noResize="1" noEditPoints="1" noAdjustHandles="1" noChangeArrowheads="1" noChangeShapeType="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a:extLst>
              <a:ext uri="{FF2B5EF4-FFF2-40B4-BE49-F238E27FC236}">
                <a16:creationId xmlns:a16="http://schemas.microsoft.com/office/drawing/2014/main" id="{7E324312-6834-E656-DDE7-70946678BF9C}"/>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pic>
        <p:nvPicPr>
          <p:cNvPr id="8" name="Picture 7" descr="A black and grey text&#10;&#10;Description automatically generated">
            <a:extLst>
              <a:ext uri="{FF2B5EF4-FFF2-40B4-BE49-F238E27FC236}">
                <a16:creationId xmlns:a16="http://schemas.microsoft.com/office/drawing/2014/main" id="{0E600BC8-7656-B3A7-B068-08EFD6FCCB72}"/>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9" name="Straight Connector 8">
            <a:extLst>
              <a:ext uri="{FF2B5EF4-FFF2-40B4-BE49-F238E27FC236}">
                <a16:creationId xmlns:a16="http://schemas.microsoft.com/office/drawing/2014/main" id="{00F9833D-70D3-99EB-F009-B768F538B511}"/>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AutoShape 112">
            <a:extLst>
              <a:ext uri="{FF2B5EF4-FFF2-40B4-BE49-F238E27FC236}">
                <a16:creationId xmlns:a16="http://schemas.microsoft.com/office/drawing/2014/main" id="{4BB2B9DE-03BC-D713-9199-F74B9EFBC406}"/>
              </a:ext>
            </a:extLst>
          </p:cNvPr>
          <p:cNvSpPr>
            <a:spLocks noChangeAspect="1" noChangeArrowheads="1" noTextEdit="1"/>
          </p:cNvSpPr>
          <p:nvPr/>
        </p:nvSpPr>
        <p:spPr bwMode="auto">
          <a:xfrm>
            <a:off x="737568" y="827532"/>
            <a:ext cx="8627719" cy="5392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62626"/>
              </a:solidFill>
              <a:effectLst/>
              <a:uLnTx/>
              <a:uFillTx/>
              <a:latin typeface="Lucida Sans"/>
              <a:ea typeface="+mn-ea"/>
              <a:cs typeface="+mn-cs"/>
            </a:endParaRPr>
          </a:p>
        </p:txBody>
      </p:sp>
      <p:sp>
        <p:nvSpPr>
          <p:cNvPr id="3" name="TextBox 2">
            <a:extLst>
              <a:ext uri="{FF2B5EF4-FFF2-40B4-BE49-F238E27FC236}">
                <a16:creationId xmlns:a16="http://schemas.microsoft.com/office/drawing/2014/main" id="{C819D134-5C3F-966B-4B56-300F4F5E0A93}"/>
              </a:ext>
            </a:extLst>
          </p:cNvPr>
          <p:cNvSpPr txBox="1"/>
          <p:nvPr/>
        </p:nvSpPr>
        <p:spPr>
          <a:xfrm>
            <a:off x="568592" y="648310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and Hendren (QJE 2018)</a:t>
            </a:r>
          </a:p>
        </p:txBody>
      </p:sp>
      <p:sp>
        <p:nvSpPr>
          <p:cNvPr id="170" name="Rectangle 169">
            <a:extLst>
              <a:ext uri="{FF2B5EF4-FFF2-40B4-BE49-F238E27FC236}">
                <a16:creationId xmlns:a16="http://schemas.microsoft.com/office/drawing/2014/main" id="{9E6E242E-A21A-5232-CFB4-D806DE6F921D}"/>
              </a:ext>
            </a:extLst>
          </p:cNvPr>
          <p:cNvSpPr>
            <a:spLocks noChangeArrowheads="1"/>
          </p:cNvSpPr>
          <p:nvPr/>
        </p:nvSpPr>
        <p:spPr bwMode="auto">
          <a:xfrm>
            <a:off x="613842" y="375323"/>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Income Gain from Moving to a Higher Opportunity Neighborhood</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By Child’s Age at Move</a:t>
            </a:r>
          </a:p>
        </p:txBody>
      </p:sp>
      <p:cxnSp>
        <p:nvCxnSpPr>
          <p:cNvPr id="19" name="Straight Connector 18">
            <a:extLst>
              <a:ext uri="{FF2B5EF4-FFF2-40B4-BE49-F238E27FC236}">
                <a16:creationId xmlns:a16="http://schemas.microsoft.com/office/drawing/2014/main" id="{F0E18FE0-2D4C-33DA-1C8E-37E3954484C1}"/>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25AC8B6-68BC-6745-95F1-F6D890FEF767}"/>
              </a:ext>
            </a:extLst>
          </p:cNvPr>
          <p:cNvSpPr txBox="1"/>
          <p:nvPr/>
        </p:nvSpPr>
        <p:spPr>
          <a:xfrm>
            <a:off x="2532361" y="1744450"/>
            <a:ext cx="5695801" cy="615238"/>
          </a:xfrm>
          <a:prstGeom prst="rect">
            <a:avLst/>
          </a:prstGeom>
          <a:noFill/>
        </p:spPr>
        <p:txBody>
          <a:bodyPr wrap="square" lIns="121608" tIns="60804" rIns="121608" bIns="60804" rtlCol="0">
            <a:spAutoFit/>
          </a:bodyPr>
          <a:lstStyle/>
          <a:p>
            <a:pPr marL="0" marR="0" lvl="0" indent="0" algn="l" defTabSz="91274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Move at age 2 from Pine Hills to Gotha</a:t>
            </a:r>
          </a:p>
          <a:p>
            <a:pPr marL="0" marR="0" lvl="0" indent="0" algn="l" defTabSz="91274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sym typeface="Wingdings" panose="05000000000000000000" pitchFamily="2" charset="2"/>
              </a:rPr>
              <a:t> average earnings of $49,350</a:t>
            </a:r>
            <a:endPar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0" name="Line 113">
            <a:extLst>
              <a:ext uri="{FF2B5EF4-FFF2-40B4-BE49-F238E27FC236}">
                <a16:creationId xmlns:a16="http://schemas.microsoft.com/office/drawing/2014/main" id="{3A3BE4D8-10F2-6A0E-BDF3-655050C4C7E8}"/>
              </a:ext>
            </a:extLst>
          </p:cNvPr>
          <p:cNvSpPr>
            <a:spLocks noChangeShapeType="1"/>
          </p:cNvSpPr>
          <p:nvPr/>
        </p:nvSpPr>
        <p:spPr bwMode="auto">
          <a:xfrm flipV="1">
            <a:off x="2330240" y="1161249"/>
            <a:ext cx="0" cy="453377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1" name="Line 123">
            <a:extLst>
              <a:ext uri="{FF2B5EF4-FFF2-40B4-BE49-F238E27FC236}">
                <a16:creationId xmlns:a16="http://schemas.microsoft.com/office/drawing/2014/main" id="{B8381C86-9956-7209-359B-1B40143A44F2}"/>
              </a:ext>
            </a:extLst>
          </p:cNvPr>
          <p:cNvSpPr>
            <a:spLocks noChangeShapeType="1"/>
          </p:cNvSpPr>
          <p:nvPr/>
        </p:nvSpPr>
        <p:spPr bwMode="auto">
          <a:xfrm>
            <a:off x="2330240" y="5695022"/>
            <a:ext cx="7361245"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2" name="Line 124">
            <a:extLst>
              <a:ext uri="{FF2B5EF4-FFF2-40B4-BE49-F238E27FC236}">
                <a16:creationId xmlns:a16="http://schemas.microsoft.com/office/drawing/2014/main" id="{98C3E960-EA2B-EB78-3E90-10A33F1757EC}"/>
              </a:ext>
            </a:extLst>
          </p:cNvPr>
          <p:cNvSpPr>
            <a:spLocks noChangeShapeType="1"/>
          </p:cNvSpPr>
          <p:nvPr/>
        </p:nvSpPr>
        <p:spPr bwMode="auto">
          <a:xfrm>
            <a:off x="2475501"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4" name="Rectangle 125">
            <a:extLst>
              <a:ext uri="{FF2B5EF4-FFF2-40B4-BE49-F238E27FC236}">
                <a16:creationId xmlns:a16="http://schemas.microsoft.com/office/drawing/2014/main" id="{E3F8A645-E86D-823F-89AD-D1E7DBC5D38A}"/>
              </a:ext>
            </a:extLst>
          </p:cNvPr>
          <p:cNvSpPr>
            <a:spLocks noChangeArrowheads="1"/>
          </p:cNvSpPr>
          <p:nvPr/>
        </p:nvSpPr>
        <p:spPr bwMode="auto">
          <a:xfrm>
            <a:off x="2403894" y="5832100"/>
            <a:ext cx="110010"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a:t>
            </a:r>
          </a:p>
        </p:txBody>
      </p:sp>
      <p:sp>
        <p:nvSpPr>
          <p:cNvPr id="26" name="Line 126">
            <a:extLst>
              <a:ext uri="{FF2B5EF4-FFF2-40B4-BE49-F238E27FC236}">
                <a16:creationId xmlns:a16="http://schemas.microsoft.com/office/drawing/2014/main" id="{DB9E4E4D-3A6E-6B1B-F075-A111671A974A}"/>
              </a:ext>
            </a:extLst>
          </p:cNvPr>
          <p:cNvSpPr>
            <a:spLocks noChangeShapeType="1"/>
          </p:cNvSpPr>
          <p:nvPr/>
        </p:nvSpPr>
        <p:spPr bwMode="auto">
          <a:xfrm>
            <a:off x="4650321"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7" name="Rectangle 127">
            <a:extLst>
              <a:ext uri="{FF2B5EF4-FFF2-40B4-BE49-F238E27FC236}">
                <a16:creationId xmlns:a16="http://schemas.microsoft.com/office/drawing/2014/main" id="{2D00B111-9410-A59C-4DA3-F2B24A6F1B8E}"/>
              </a:ext>
            </a:extLst>
          </p:cNvPr>
          <p:cNvSpPr>
            <a:spLocks noChangeArrowheads="1"/>
          </p:cNvSpPr>
          <p:nvPr/>
        </p:nvSpPr>
        <p:spPr bwMode="auto">
          <a:xfrm>
            <a:off x="4513244"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10</a:t>
            </a:r>
          </a:p>
        </p:txBody>
      </p:sp>
      <p:sp>
        <p:nvSpPr>
          <p:cNvPr id="28" name="Line 128">
            <a:extLst>
              <a:ext uri="{FF2B5EF4-FFF2-40B4-BE49-F238E27FC236}">
                <a16:creationId xmlns:a16="http://schemas.microsoft.com/office/drawing/2014/main" id="{0D625217-F66F-1DD6-E5E5-76E26DD74D1A}"/>
              </a:ext>
            </a:extLst>
          </p:cNvPr>
          <p:cNvSpPr>
            <a:spLocks noChangeShapeType="1"/>
          </p:cNvSpPr>
          <p:nvPr/>
        </p:nvSpPr>
        <p:spPr bwMode="auto">
          <a:xfrm>
            <a:off x="7367312"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1" name="Rectangle 129">
            <a:extLst>
              <a:ext uri="{FF2B5EF4-FFF2-40B4-BE49-F238E27FC236}">
                <a16:creationId xmlns:a16="http://schemas.microsoft.com/office/drawing/2014/main" id="{2117F8B8-1CCB-99A8-7E0D-27402236BE52}"/>
              </a:ext>
            </a:extLst>
          </p:cNvPr>
          <p:cNvSpPr>
            <a:spLocks noChangeArrowheads="1"/>
          </p:cNvSpPr>
          <p:nvPr/>
        </p:nvSpPr>
        <p:spPr bwMode="auto">
          <a:xfrm>
            <a:off x="7230235"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20</a:t>
            </a:r>
          </a:p>
        </p:txBody>
      </p:sp>
      <p:sp>
        <p:nvSpPr>
          <p:cNvPr id="32" name="Line 130">
            <a:extLst>
              <a:ext uri="{FF2B5EF4-FFF2-40B4-BE49-F238E27FC236}">
                <a16:creationId xmlns:a16="http://schemas.microsoft.com/office/drawing/2014/main" id="{185E7ACB-6CBE-CBC1-BB95-1B0AE99D060C}"/>
              </a:ext>
            </a:extLst>
          </p:cNvPr>
          <p:cNvSpPr>
            <a:spLocks noChangeShapeType="1"/>
          </p:cNvSpPr>
          <p:nvPr/>
        </p:nvSpPr>
        <p:spPr bwMode="auto">
          <a:xfrm>
            <a:off x="9546224"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3" name="Rectangle 131">
            <a:extLst>
              <a:ext uri="{FF2B5EF4-FFF2-40B4-BE49-F238E27FC236}">
                <a16:creationId xmlns:a16="http://schemas.microsoft.com/office/drawing/2014/main" id="{45D82F6D-A56F-5629-C7CF-2F9C19F44091}"/>
              </a:ext>
            </a:extLst>
          </p:cNvPr>
          <p:cNvSpPr>
            <a:spLocks noChangeArrowheads="1"/>
          </p:cNvSpPr>
          <p:nvPr/>
        </p:nvSpPr>
        <p:spPr bwMode="auto">
          <a:xfrm>
            <a:off x="9409147"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28</a:t>
            </a:r>
          </a:p>
        </p:txBody>
      </p:sp>
      <p:sp>
        <p:nvSpPr>
          <p:cNvPr id="34" name="Line 114">
            <a:extLst>
              <a:ext uri="{FF2B5EF4-FFF2-40B4-BE49-F238E27FC236}">
                <a16:creationId xmlns:a16="http://schemas.microsoft.com/office/drawing/2014/main" id="{7A353819-7CDB-66E2-BE5F-9E7EE41FD8B4}"/>
              </a:ext>
            </a:extLst>
          </p:cNvPr>
          <p:cNvSpPr>
            <a:spLocks noChangeShapeType="1"/>
          </p:cNvSpPr>
          <p:nvPr/>
        </p:nvSpPr>
        <p:spPr bwMode="auto">
          <a:xfrm flipH="1">
            <a:off x="2236127" y="5413249"/>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5" name="Line 116">
            <a:extLst>
              <a:ext uri="{FF2B5EF4-FFF2-40B4-BE49-F238E27FC236}">
                <a16:creationId xmlns:a16="http://schemas.microsoft.com/office/drawing/2014/main" id="{C3C9DFD0-4A1E-263E-75E6-28EF03C3742C}"/>
              </a:ext>
            </a:extLst>
          </p:cNvPr>
          <p:cNvSpPr>
            <a:spLocks noChangeShapeType="1"/>
          </p:cNvSpPr>
          <p:nvPr/>
        </p:nvSpPr>
        <p:spPr bwMode="auto">
          <a:xfrm flipH="1">
            <a:off x="2236127" y="4161134"/>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6" name="Line 118">
            <a:extLst>
              <a:ext uri="{FF2B5EF4-FFF2-40B4-BE49-F238E27FC236}">
                <a16:creationId xmlns:a16="http://schemas.microsoft.com/office/drawing/2014/main" id="{E6D1AAC3-EA8A-EBF1-7CA4-E0E011306839}"/>
              </a:ext>
            </a:extLst>
          </p:cNvPr>
          <p:cNvSpPr>
            <a:spLocks noChangeShapeType="1"/>
          </p:cNvSpPr>
          <p:nvPr/>
        </p:nvSpPr>
        <p:spPr bwMode="auto">
          <a:xfrm flipH="1">
            <a:off x="2236127" y="2909019"/>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7" name="Line 120">
            <a:extLst>
              <a:ext uri="{FF2B5EF4-FFF2-40B4-BE49-F238E27FC236}">
                <a16:creationId xmlns:a16="http://schemas.microsoft.com/office/drawing/2014/main" id="{7EF0DBE5-5871-AE55-B241-701558FF0566}"/>
              </a:ext>
            </a:extLst>
          </p:cNvPr>
          <p:cNvSpPr>
            <a:spLocks noChangeShapeType="1"/>
          </p:cNvSpPr>
          <p:nvPr/>
        </p:nvSpPr>
        <p:spPr bwMode="auto">
          <a:xfrm flipH="1">
            <a:off x="2236127" y="1756487"/>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4" name="Rectangle 171">
            <a:extLst>
              <a:ext uri="{FF2B5EF4-FFF2-40B4-BE49-F238E27FC236}">
                <a16:creationId xmlns:a16="http://schemas.microsoft.com/office/drawing/2014/main" id="{F1F51293-788D-85C0-4C16-31A1EDFF3A72}"/>
              </a:ext>
            </a:extLst>
          </p:cNvPr>
          <p:cNvSpPr>
            <a:spLocks noChangeArrowheads="1"/>
          </p:cNvSpPr>
          <p:nvPr/>
        </p:nvSpPr>
        <p:spPr bwMode="auto">
          <a:xfrm>
            <a:off x="9797765" y="1642763"/>
            <a:ext cx="1760643" cy="246221"/>
          </a:xfrm>
          <a:prstGeom prst="rect">
            <a:avLst/>
          </a:prstGeom>
          <a:noFill/>
          <a:ln>
            <a:noFill/>
          </a:ln>
          <a:effec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0547"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Gotha</a:t>
            </a:r>
          </a:p>
        </p:txBody>
      </p:sp>
      <p:sp>
        <p:nvSpPr>
          <p:cNvPr id="5" name="Rectangle 171">
            <a:extLst>
              <a:ext uri="{FF2B5EF4-FFF2-40B4-BE49-F238E27FC236}">
                <a16:creationId xmlns:a16="http://schemas.microsoft.com/office/drawing/2014/main" id="{B81EFA37-5774-DF40-A512-907F1B048579}"/>
              </a:ext>
            </a:extLst>
          </p:cNvPr>
          <p:cNvSpPr>
            <a:spLocks noChangeArrowheads="1"/>
          </p:cNvSpPr>
          <p:nvPr/>
        </p:nvSpPr>
        <p:spPr bwMode="auto">
          <a:xfrm>
            <a:off x="9797765" y="5284243"/>
            <a:ext cx="1870085" cy="246221"/>
          </a:xfrm>
          <a:prstGeom prst="rect">
            <a:avLst/>
          </a:prstGeom>
          <a:noFill/>
          <a:ln>
            <a:noFill/>
          </a:ln>
          <a:effec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0547"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Pine Hills</a:t>
            </a:r>
          </a:p>
        </p:txBody>
      </p:sp>
      <p:sp>
        <p:nvSpPr>
          <p:cNvPr id="11" name="Rectangle 115">
            <a:extLst>
              <a:ext uri="{FF2B5EF4-FFF2-40B4-BE49-F238E27FC236}">
                <a16:creationId xmlns:a16="http://schemas.microsoft.com/office/drawing/2014/main" id="{7FD0D5D6-4D5A-C4F0-649F-765B6670CD19}"/>
              </a:ext>
            </a:extLst>
          </p:cNvPr>
          <p:cNvSpPr>
            <a:spLocks noChangeArrowheads="1"/>
          </p:cNvSpPr>
          <p:nvPr/>
        </p:nvSpPr>
        <p:spPr bwMode="auto">
          <a:xfrm>
            <a:off x="1604360" y="5305527"/>
            <a:ext cx="6917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$34.5K</a:t>
            </a:r>
          </a:p>
        </p:txBody>
      </p:sp>
      <p:sp>
        <p:nvSpPr>
          <p:cNvPr id="12" name="Rectangle 117">
            <a:extLst>
              <a:ext uri="{FF2B5EF4-FFF2-40B4-BE49-F238E27FC236}">
                <a16:creationId xmlns:a16="http://schemas.microsoft.com/office/drawing/2014/main" id="{F38E2F30-3CFF-EF47-B302-924F3B772F4D}"/>
              </a:ext>
            </a:extLst>
          </p:cNvPr>
          <p:cNvSpPr>
            <a:spLocks noChangeArrowheads="1"/>
          </p:cNvSpPr>
          <p:nvPr/>
        </p:nvSpPr>
        <p:spPr bwMode="auto">
          <a:xfrm>
            <a:off x="1604360" y="4057722"/>
            <a:ext cx="6844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$40.1K </a:t>
            </a:r>
          </a:p>
        </p:txBody>
      </p:sp>
      <p:sp>
        <p:nvSpPr>
          <p:cNvPr id="13" name="Rectangle 119">
            <a:extLst>
              <a:ext uri="{FF2B5EF4-FFF2-40B4-BE49-F238E27FC236}">
                <a16:creationId xmlns:a16="http://schemas.microsoft.com/office/drawing/2014/main" id="{CA39E66A-C26A-3849-4B69-BED2A856C327}"/>
              </a:ext>
            </a:extLst>
          </p:cNvPr>
          <p:cNvSpPr>
            <a:spLocks noChangeArrowheads="1"/>
          </p:cNvSpPr>
          <p:nvPr/>
        </p:nvSpPr>
        <p:spPr bwMode="auto">
          <a:xfrm>
            <a:off x="1604360" y="2810774"/>
            <a:ext cx="62837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$45.6K</a:t>
            </a:r>
          </a:p>
        </p:txBody>
      </p:sp>
      <p:sp>
        <p:nvSpPr>
          <p:cNvPr id="14" name="Rectangle 121">
            <a:extLst>
              <a:ext uri="{FF2B5EF4-FFF2-40B4-BE49-F238E27FC236}">
                <a16:creationId xmlns:a16="http://schemas.microsoft.com/office/drawing/2014/main" id="{A3C1812E-4F9A-9E53-AB89-BBF2072AD79D}"/>
              </a:ext>
            </a:extLst>
          </p:cNvPr>
          <p:cNvSpPr>
            <a:spLocks noChangeArrowheads="1"/>
          </p:cNvSpPr>
          <p:nvPr/>
        </p:nvSpPr>
        <p:spPr bwMode="auto">
          <a:xfrm>
            <a:off x="1604360" y="1647409"/>
            <a:ext cx="6844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$51.3K </a:t>
            </a:r>
          </a:p>
        </p:txBody>
      </p:sp>
    </p:spTree>
    <p:extLst>
      <p:ext uri="{BB962C8B-B14F-4D97-AF65-F5344CB8AC3E}">
        <p14:creationId xmlns:p14="http://schemas.microsoft.com/office/powerpoint/2010/main" val="3735314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ED416-4F60-D9FA-0B2D-5EC4FCBB4C10}"/>
            </a:ext>
          </a:extLst>
        </p:cNvPr>
        <p:cNvGrpSpPr/>
        <p:nvPr/>
      </p:nvGrpSpPr>
      <p:grpSpPr>
        <a:xfrm>
          <a:off x="0" y="0"/>
          <a:ext cx="0" cy="0"/>
          <a:chOff x="0" y="0"/>
          <a:chExt cx="0" cy="0"/>
        </a:xfrm>
      </p:grpSpPr>
      <p:sp>
        <p:nvSpPr>
          <p:cNvPr id="7" name="Line 8">
            <a:extLst>
              <a:ext uri="{FF2B5EF4-FFF2-40B4-BE49-F238E27FC236}">
                <a16:creationId xmlns:a16="http://schemas.microsoft.com/office/drawing/2014/main" id="{324845B2-B60B-0821-2569-D79D66E32BD8}"/>
              </a:ext>
            </a:extLst>
          </p:cNvPr>
          <p:cNvSpPr>
            <a:spLocks noChangeShapeType="1"/>
          </p:cNvSpPr>
          <p:nvPr/>
        </p:nvSpPr>
        <p:spPr bwMode="auto">
          <a:xfrm>
            <a:off x="2330240"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 name="Line 9">
            <a:extLst>
              <a:ext uri="{FF2B5EF4-FFF2-40B4-BE49-F238E27FC236}">
                <a16:creationId xmlns:a16="http://schemas.microsoft.com/office/drawing/2014/main" id="{7AADA899-B1D3-E3E7-DDB5-FB3B26B989C2}"/>
              </a:ext>
            </a:extLst>
          </p:cNvPr>
          <p:cNvSpPr>
            <a:spLocks noChangeShapeType="1"/>
          </p:cNvSpPr>
          <p:nvPr/>
        </p:nvSpPr>
        <p:spPr bwMode="auto">
          <a:xfrm>
            <a:off x="252869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3" name="Line 10">
            <a:extLst>
              <a:ext uri="{FF2B5EF4-FFF2-40B4-BE49-F238E27FC236}">
                <a16:creationId xmlns:a16="http://schemas.microsoft.com/office/drawing/2014/main" id="{2AFFFFAF-2C72-D3A8-5B69-0679236B1F65}"/>
              </a:ext>
            </a:extLst>
          </p:cNvPr>
          <p:cNvSpPr>
            <a:spLocks noChangeShapeType="1"/>
          </p:cNvSpPr>
          <p:nvPr/>
        </p:nvSpPr>
        <p:spPr bwMode="auto">
          <a:xfrm>
            <a:off x="272715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5" name="Line 11">
            <a:extLst>
              <a:ext uri="{FF2B5EF4-FFF2-40B4-BE49-F238E27FC236}">
                <a16:creationId xmlns:a16="http://schemas.microsoft.com/office/drawing/2014/main" id="{6F8A359E-72A6-7D6D-7283-098098ABD070}"/>
              </a:ext>
            </a:extLst>
          </p:cNvPr>
          <p:cNvSpPr>
            <a:spLocks noChangeShapeType="1"/>
          </p:cNvSpPr>
          <p:nvPr/>
        </p:nvSpPr>
        <p:spPr bwMode="auto">
          <a:xfrm>
            <a:off x="2925605" y="5420869"/>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7" name="Line 12">
            <a:extLst>
              <a:ext uri="{FF2B5EF4-FFF2-40B4-BE49-F238E27FC236}">
                <a16:creationId xmlns:a16="http://schemas.microsoft.com/office/drawing/2014/main" id="{36789643-DF63-9B71-9D8D-5D76BCF57F44}"/>
              </a:ext>
            </a:extLst>
          </p:cNvPr>
          <p:cNvSpPr>
            <a:spLocks noChangeShapeType="1"/>
          </p:cNvSpPr>
          <p:nvPr/>
        </p:nvSpPr>
        <p:spPr bwMode="auto">
          <a:xfrm>
            <a:off x="3119968" y="5420869"/>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8" name="Line 13">
            <a:extLst>
              <a:ext uri="{FF2B5EF4-FFF2-40B4-BE49-F238E27FC236}">
                <a16:creationId xmlns:a16="http://schemas.microsoft.com/office/drawing/2014/main" id="{D79D887F-2F4A-11C3-762D-986F156A926E}"/>
              </a:ext>
            </a:extLst>
          </p:cNvPr>
          <p:cNvSpPr>
            <a:spLocks noChangeShapeType="1"/>
          </p:cNvSpPr>
          <p:nvPr/>
        </p:nvSpPr>
        <p:spPr bwMode="auto">
          <a:xfrm>
            <a:off x="3318423" y="5420869"/>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9" name="Line 14">
            <a:extLst>
              <a:ext uri="{FF2B5EF4-FFF2-40B4-BE49-F238E27FC236}">
                <a16:creationId xmlns:a16="http://schemas.microsoft.com/office/drawing/2014/main" id="{E100D87F-04AE-C165-1272-17220B9B48F3}"/>
              </a:ext>
            </a:extLst>
          </p:cNvPr>
          <p:cNvSpPr>
            <a:spLocks noChangeShapeType="1"/>
          </p:cNvSpPr>
          <p:nvPr/>
        </p:nvSpPr>
        <p:spPr bwMode="auto">
          <a:xfrm>
            <a:off x="352301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0" name="Line 15">
            <a:extLst>
              <a:ext uri="{FF2B5EF4-FFF2-40B4-BE49-F238E27FC236}">
                <a16:creationId xmlns:a16="http://schemas.microsoft.com/office/drawing/2014/main" id="{ED6B2B71-9D12-5B2E-CEFF-63AF4763FB1D}"/>
              </a:ext>
            </a:extLst>
          </p:cNvPr>
          <p:cNvSpPr>
            <a:spLocks noChangeShapeType="1"/>
          </p:cNvSpPr>
          <p:nvPr/>
        </p:nvSpPr>
        <p:spPr bwMode="auto">
          <a:xfrm>
            <a:off x="3721470" y="5420869"/>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1" name="Line 16">
            <a:extLst>
              <a:ext uri="{FF2B5EF4-FFF2-40B4-BE49-F238E27FC236}">
                <a16:creationId xmlns:a16="http://schemas.microsoft.com/office/drawing/2014/main" id="{4BB9AE05-034A-5A79-DA59-67EE1BFD075F}"/>
              </a:ext>
            </a:extLst>
          </p:cNvPr>
          <p:cNvSpPr>
            <a:spLocks noChangeShapeType="1"/>
          </p:cNvSpPr>
          <p:nvPr/>
        </p:nvSpPr>
        <p:spPr bwMode="auto">
          <a:xfrm>
            <a:off x="3915833"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2" name="Line 17">
            <a:extLst>
              <a:ext uri="{FF2B5EF4-FFF2-40B4-BE49-F238E27FC236}">
                <a16:creationId xmlns:a16="http://schemas.microsoft.com/office/drawing/2014/main" id="{21B79AA0-48E6-CE1C-DD20-328E70441A5A}"/>
              </a:ext>
            </a:extLst>
          </p:cNvPr>
          <p:cNvSpPr>
            <a:spLocks noChangeShapeType="1"/>
          </p:cNvSpPr>
          <p:nvPr/>
        </p:nvSpPr>
        <p:spPr bwMode="auto">
          <a:xfrm>
            <a:off x="4114288"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4" name="Line 18">
            <a:extLst>
              <a:ext uri="{FF2B5EF4-FFF2-40B4-BE49-F238E27FC236}">
                <a16:creationId xmlns:a16="http://schemas.microsoft.com/office/drawing/2014/main" id="{956B2801-F3F2-A785-E3EE-8633B43BB2D4}"/>
              </a:ext>
            </a:extLst>
          </p:cNvPr>
          <p:cNvSpPr>
            <a:spLocks noChangeShapeType="1"/>
          </p:cNvSpPr>
          <p:nvPr/>
        </p:nvSpPr>
        <p:spPr bwMode="auto">
          <a:xfrm>
            <a:off x="431274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5" name="Line 19">
            <a:extLst>
              <a:ext uri="{FF2B5EF4-FFF2-40B4-BE49-F238E27FC236}">
                <a16:creationId xmlns:a16="http://schemas.microsoft.com/office/drawing/2014/main" id="{37A07DF1-B2D4-9C12-06AD-F8D3FEECC33F}"/>
              </a:ext>
            </a:extLst>
          </p:cNvPr>
          <p:cNvSpPr>
            <a:spLocks noChangeShapeType="1"/>
          </p:cNvSpPr>
          <p:nvPr/>
        </p:nvSpPr>
        <p:spPr bwMode="auto">
          <a:xfrm>
            <a:off x="4513244"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6" name="Line 20">
            <a:extLst>
              <a:ext uri="{FF2B5EF4-FFF2-40B4-BE49-F238E27FC236}">
                <a16:creationId xmlns:a16="http://schemas.microsoft.com/office/drawing/2014/main" id="{3034738C-C81D-51A7-3AE4-D6C4D0635ADD}"/>
              </a:ext>
            </a:extLst>
          </p:cNvPr>
          <p:cNvSpPr>
            <a:spLocks noChangeShapeType="1"/>
          </p:cNvSpPr>
          <p:nvPr/>
        </p:nvSpPr>
        <p:spPr bwMode="auto">
          <a:xfrm>
            <a:off x="471169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7" name="Line 21">
            <a:extLst>
              <a:ext uri="{FF2B5EF4-FFF2-40B4-BE49-F238E27FC236}">
                <a16:creationId xmlns:a16="http://schemas.microsoft.com/office/drawing/2014/main" id="{6C4C2AC5-E2BA-5E1E-2757-3DEC44097B4F}"/>
              </a:ext>
            </a:extLst>
          </p:cNvPr>
          <p:cNvSpPr>
            <a:spLocks noChangeShapeType="1"/>
          </p:cNvSpPr>
          <p:nvPr/>
        </p:nvSpPr>
        <p:spPr bwMode="auto">
          <a:xfrm>
            <a:off x="491015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8" name="Line 22">
            <a:extLst>
              <a:ext uri="{FF2B5EF4-FFF2-40B4-BE49-F238E27FC236}">
                <a16:creationId xmlns:a16="http://schemas.microsoft.com/office/drawing/2014/main" id="{FE0EF643-912E-084D-8706-88F691FD1649}"/>
              </a:ext>
            </a:extLst>
          </p:cNvPr>
          <p:cNvSpPr>
            <a:spLocks noChangeShapeType="1"/>
          </p:cNvSpPr>
          <p:nvPr/>
        </p:nvSpPr>
        <p:spPr bwMode="auto">
          <a:xfrm>
            <a:off x="510860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9" name="Line 23">
            <a:extLst>
              <a:ext uri="{FF2B5EF4-FFF2-40B4-BE49-F238E27FC236}">
                <a16:creationId xmlns:a16="http://schemas.microsoft.com/office/drawing/2014/main" id="{D1AB7610-B903-8F31-2FA3-C5ABA1C1A34D}"/>
              </a:ext>
            </a:extLst>
          </p:cNvPr>
          <p:cNvSpPr>
            <a:spLocks noChangeShapeType="1"/>
          </p:cNvSpPr>
          <p:nvPr/>
        </p:nvSpPr>
        <p:spPr bwMode="auto">
          <a:xfrm>
            <a:off x="530706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0" name="Line 24">
            <a:extLst>
              <a:ext uri="{FF2B5EF4-FFF2-40B4-BE49-F238E27FC236}">
                <a16:creationId xmlns:a16="http://schemas.microsoft.com/office/drawing/2014/main" id="{CD7692B4-990F-6CC6-08CE-44423E9B665F}"/>
              </a:ext>
            </a:extLst>
          </p:cNvPr>
          <p:cNvSpPr>
            <a:spLocks noChangeShapeType="1"/>
          </p:cNvSpPr>
          <p:nvPr/>
        </p:nvSpPr>
        <p:spPr bwMode="auto">
          <a:xfrm>
            <a:off x="550756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1" name="Line 25">
            <a:extLst>
              <a:ext uri="{FF2B5EF4-FFF2-40B4-BE49-F238E27FC236}">
                <a16:creationId xmlns:a16="http://schemas.microsoft.com/office/drawing/2014/main" id="{4928C81C-3E59-D04E-D163-9686ACFC7EEA}"/>
              </a:ext>
            </a:extLst>
          </p:cNvPr>
          <p:cNvSpPr>
            <a:spLocks noChangeShapeType="1"/>
          </p:cNvSpPr>
          <p:nvPr/>
        </p:nvSpPr>
        <p:spPr bwMode="auto">
          <a:xfrm>
            <a:off x="570602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2" name="Line 26">
            <a:extLst>
              <a:ext uri="{FF2B5EF4-FFF2-40B4-BE49-F238E27FC236}">
                <a16:creationId xmlns:a16="http://schemas.microsoft.com/office/drawing/2014/main" id="{CAA0ACB9-FB46-51A9-5398-2D08AFE61B14}"/>
              </a:ext>
            </a:extLst>
          </p:cNvPr>
          <p:cNvSpPr>
            <a:spLocks noChangeShapeType="1"/>
          </p:cNvSpPr>
          <p:nvPr/>
        </p:nvSpPr>
        <p:spPr bwMode="auto">
          <a:xfrm>
            <a:off x="590447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3" name="Line 27">
            <a:extLst>
              <a:ext uri="{FF2B5EF4-FFF2-40B4-BE49-F238E27FC236}">
                <a16:creationId xmlns:a16="http://schemas.microsoft.com/office/drawing/2014/main" id="{F44DBB9A-C12C-991A-2E86-72EB50B0B561}"/>
              </a:ext>
            </a:extLst>
          </p:cNvPr>
          <p:cNvSpPr>
            <a:spLocks noChangeShapeType="1"/>
          </p:cNvSpPr>
          <p:nvPr/>
        </p:nvSpPr>
        <p:spPr bwMode="auto">
          <a:xfrm>
            <a:off x="610292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4" name="Line 28">
            <a:extLst>
              <a:ext uri="{FF2B5EF4-FFF2-40B4-BE49-F238E27FC236}">
                <a16:creationId xmlns:a16="http://schemas.microsoft.com/office/drawing/2014/main" id="{51FCF02B-CC40-3786-79C9-A08726CCBD86}"/>
              </a:ext>
            </a:extLst>
          </p:cNvPr>
          <p:cNvSpPr>
            <a:spLocks noChangeShapeType="1"/>
          </p:cNvSpPr>
          <p:nvPr/>
        </p:nvSpPr>
        <p:spPr bwMode="auto">
          <a:xfrm>
            <a:off x="630138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5" name="Line 29">
            <a:extLst>
              <a:ext uri="{FF2B5EF4-FFF2-40B4-BE49-F238E27FC236}">
                <a16:creationId xmlns:a16="http://schemas.microsoft.com/office/drawing/2014/main" id="{63C8B7B5-8814-5164-7FF5-E3BF1309E520}"/>
              </a:ext>
            </a:extLst>
          </p:cNvPr>
          <p:cNvSpPr>
            <a:spLocks noChangeShapeType="1"/>
          </p:cNvSpPr>
          <p:nvPr/>
        </p:nvSpPr>
        <p:spPr bwMode="auto">
          <a:xfrm>
            <a:off x="650188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6" name="Line 30">
            <a:extLst>
              <a:ext uri="{FF2B5EF4-FFF2-40B4-BE49-F238E27FC236}">
                <a16:creationId xmlns:a16="http://schemas.microsoft.com/office/drawing/2014/main" id="{D076D54A-4AAA-6105-BF67-0F5CAAC7EAF4}"/>
              </a:ext>
            </a:extLst>
          </p:cNvPr>
          <p:cNvSpPr>
            <a:spLocks noChangeShapeType="1"/>
          </p:cNvSpPr>
          <p:nvPr/>
        </p:nvSpPr>
        <p:spPr bwMode="auto">
          <a:xfrm>
            <a:off x="670034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7" name="Line 31">
            <a:extLst>
              <a:ext uri="{FF2B5EF4-FFF2-40B4-BE49-F238E27FC236}">
                <a16:creationId xmlns:a16="http://schemas.microsoft.com/office/drawing/2014/main" id="{BA3D63BA-5D4B-78FC-09DA-537DB619DDD1}"/>
              </a:ext>
            </a:extLst>
          </p:cNvPr>
          <p:cNvSpPr>
            <a:spLocks noChangeShapeType="1"/>
          </p:cNvSpPr>
          <p:nvPr/>
        </p:nvSpPr>
        <p:spPr bwMode="auto">
          <a:xfrm>
            <a:off x="689879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8" name="Line 32">
            <a:extLst>
              <a:ext uri="{FF2B5EF4-FFF2-40B4-BE49-F238E27FC236}">
                <a16:creationId xmlns:a16="http://schemas.microsoft.com/office/drawing/2014/main" id="{C1F2B3B4-15B2-C7F4-A6C6-7DAF58ECCF37}"/>
              </a:ext>
            </a:extLst>
          </p:cNvPr>
          <p:cNvSpPr>
            <a:spLocks noChangeShapeType="1"/>
          </p:cNvSpPr>
          <p:nvPr/>
        </p:nvSpPr>
        <p:spPr bwMode="auto">
          <a:xfrm>
            <a:off x="709725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9" name="Line 33">
            <a:extLst>
              <a:ext uri="{FF2B5EF4-FFF2-40B4-BE49-F238E27FC236}">
                <a16:creationId xmlns:a16="http://schemas.microsoft.com/office/drawing/2014/main" id="{3C96D703-9134-CED5-BA01-86AD3E3E6B09}"/>
              </a:ext>
            </a:extLst>
          </p:cNvPr>
          <p:cNvSpPr>
            <a:spLocks noChangeShapeType="1"/>
          </p:cNvSpPr>
          <p:nvPr/>
        </p:nvSpPr>
        <p:spPr bwMode="auto">
          <a:xfrm>
            <a:off x="729570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0" name="Line 34">
            <a:extLst>
              <a:ext uri="{FF2B5EF4-FFF2-40B4-BE49-F238E27FC236}">
                <a16:creationId xmlns:a16="http://schemas.microsoft.com/office/drawing/2014/main" id="{55BFC843-E13C-0A66-FB34-10490CEBB6AF}"/>
              </a:ext>
            </a:extLst>
          </p:cNvPr>
          <p:cNvSpPr>
            <a:spLocks noChangeShapeType="1"/>
          </p:cNvSpPr>
          <p:nvPr/>
        </p:nvSpPr>
        <p:spPr bwMode="auto">
          <a:xfrm>
            <a:off x="749620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1" name="Line 35">
            <a:extLst>
              <a:ext uri="{FF2B5EF4-FFF2-40B4-BE49-F238E27FC236}">
                <a16:creationId xmlns:a16="http://schemas.microsoft.com/office/drawing/2014/main" id="{8A057326-80F2-9D6C-5A59-0D1F0D786395}"/>
              </a:ext>
            </a:extLst>
          </p:cNvPr>
          <p:cNvSpPr>
            <a:spLocks noChangeShapeType="1"/>
          </p:cNvSpPr>
          <p:nvPr/>
        </p:nvSpPr>
        <p:spPr bwMode="auto">
          <a:xfrm>
            <a:off x="7694661"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2" name="Line 36">
            <a:extLst>
              <a:ext uri="{FF2B5EF4-FFF2-40B4-BE49-F238E27FC236}">
                <a16:creationId xmlns:a16="http://schemas.microsoft.com/office/drawing/2014/main" id="{922024AF-9D62-5444-F21C-9C398D1F43D4}"/>
              </a:ext>
            </a:extLst>
          </p:cNvPr>
          <p:cNvSpPr>
            <a:spLocks noChangeShapeType="1"/>
          </p:cNvSpPr>
          <p:nvPr/>
        </p:nvSpPr>
        <p:spPr bwMode="auto">
          <a:xfrm>
            <a:off x="789311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3" name="Line 37">
            <a:extLst>
              <a:ext uri="{FF2B5EF4-FFF2-40B4-BE49-F238E27FC236}">
                <a16:creationId xmlns:a16="http://schemas.microsoft.com/office/drawing/2014/main" id="{8C96D6F2-9AA1-9DF0-DAE9-CECF88609B33}"/>
              </a:ext>
            </a:extLst>
          </p:cNvPr>
          <p:cNvSpPr>
            <a:spLocks noChangeShapeType="1"/>
          </p:cNvSpPr>
          <p:nvPr/>
        </p:nvSpPr>
        <p:spPr bwMode="auto">
          <a:xfrm>
            <a:off x="809157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4" name="Line 38">
            <a:extLst>
              <a:ext uri="{FF2B5EF4-FFF2-40B4-BE49-F238E27FC236}">
                <a16:creationId xmlns:a16="http://schemas.microsoft.com/office/drawing/2014/main" id="{8842B10C-876B-9576-EE5B-FA78E114F661}"/>
              </a:ext>
            </a:extLst>
          </p:cNvPr>
          <p:cNvSpPr>
            <a:spLocks noChangeShapeType="1"/>
          </p:cNvSpPr>
          <p:nvPr/>
        </p:nvSpPr>
        <p:spPr bwMode="auto">
          <a:xfrm>
            <a:off x="829002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5" name="Line 39">
            <a:extLst>
              <a:ext uri="{FF2B5EF4-FFF2-40B4-BE49-F238E27FC236}">
                <a16:creationId xmlns:a16="http://schemas.microsoft.com/office/drawing/2014/main" id="{A4FB0082-8196-669A-D999-9AA10EC0DFC3}"/>
              </a:ext>
            </a:extLst>
          </p:cNvPr>
          <p:cNvSpPr>
            <a:spLocks noChangeShapeType="1"/>
          </p:cNvSpPr>
          <p:nvPr/>
        </p:nvSpPr>
        <p:spPr bwMode="auto">
          <a:xfrm>
            <a:off x="8490526" y="5420869"/>
            <a:ext cx="130940"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6" name="Line 40">
            <a:extLst>
              <a:ext uri="{FF2B5EF4-FFF2-40B4-BE49-F238E27FC236}">
                <a16:creationId xmlns:a16="http://schemas.microsoft.com/office/drawing/2014/main" id="{74FC63F5-5F00-2845-87C7-5B8659F03514}"/>
              </a:ext>
            </a:extLst>
          </p:cNvPr>
          <p:cNvSpPr>
            <a:spLocks noChangeShapeType="1"/>
          </p:cNvSpPr>
          <p:nvPr/>
        </p:nvSpPr>
        <p:spPr bwMode="auto">
          <a:xfrm>
            <a:off x="8688981"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7" name="Line 41">
            <a:extLst>
              <a:ext uri="{FF2B5EF4-FFF2-40B4-BE49-F238E27FC236}">
                <a16:creationId xmlns:a16="http://schemas.microsoft.com/office/drawing/2014/main" id="{0669A590-5AA9-FC01-F60B-C2DEEDAE978E}"/>
              </a:ext>
            </a:extLst>
          </p:cNvPr>
          <p:cNvSpPr>
            <a:spLocks noChangeShapeType="1"/>
          </p:cNvSpPr>
          <p:nvPr/>
        </p:nvSpPr>
        <p:spPr bwMode="auto">
          <a:xfrm>
            <a:off x="8887435"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8" name="Line 42">
            <a:extLst>
              <a:ext uri="{FF2B5EF4-FFF2-40B4-BE49-F238E27FC236}">
                <a16:creationId xmlns:a16="http://schemas.microsoft.com/office/drawing/2014/main" id="{FF5BCDA3-1C22-D37B-5927-005F1DE2C067}"/>
              </a:ext>
            </a:extLst>
          </p:cNvPr>
          <p:cNvSpPr>
            <a:spLocks noChangeShapeType="1"/>
          </p:cNvSpPr>
          <p:nvPr/>
        </p:nvSpPr>
        <p:spPr bwMode="auto">
          <a:xfrm>
            <a:off x="9085891"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9" name="Line 43">
            <a:extLst>
              <a:ext uri="{FF2B5EF4-FFF2-40B4-BE49-F238E27FC236}">
                <a16:creationId xmlns:a16="http://schemas.microsoft.com/office/drawing/2014/main" id="{E07B8FF5-F2CE-BC08-319A-7C176C9072B5}"/>
              </a:ext>
            </a:extLst>
          </p:cNvPr>
          <p:cNvSpPr>
            <a:spLocks noChangeShapeType="1"/>
          </p:cNvSpPr>
          <p:nvPr/>
        </p:nvSpPr>
        <p:spPr bwMode="auto">
          <a:xfrm>
            <a:off x="9284346"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0" name="Line 44">
            <a:extLst>
              <a:ext uri="{FF2B5EF4-FFF2-40B4-BE49-F238E27FC236}">
                <a16:creationId xmlns:a16="http://schemas.microsoft.com/office/drawing/2014/main" id="{0A38854E-93C3-97C2-FEAB-E890E72BDC01}"/>
              </a:ext>
            </a:extLst>
          </p:cNvPr>
          <p:cNvSpPr>
            <a:spLocks noChangeShapeType="1"/>
          </p:cNvSpPr>
          <p:nvPr/>
        </p:nvSpPr>
        <p:spPr bwMode="auto">
          <a:xfrm>
            <a:off x="9484846" y="5420869"/>
            <a:ext cx="130940"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1" name="Line 45">
            <a:extLst>
              <a:ext uri="{FF2B5EF4-FFF2-40B4-BE49-F238E27FC236}">
                <a16:creationId xmlns:a16="http://schemas.microsoft.com/office/drawing/2014/main" id="{B5F23B96-5E84-C2CE-0B61-83C4DF7C28E8}"/>
              </a:ext>
            </a:extLst>
          </p:cNvPr>
          <p:cNvSpPr>
            <a:spLocks noChangeShapeType="1"/>
          </p:cNvSpPr>
          <p:nvPr/>
        </p:nvSpPr>
        <p:spPr bwMode="auto">
          <a:xfrm>
            <a:off x="9683302" y="5420869"/>
            <a:ext cx="8184"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2" name="Line 46">
            <a:extLst>
              <a:ext uri="{FF2B5EF4-FFF2-40B4-BE49-F238E27FC236}">
                <a16:creationId xmlns:a16="http://schemas.microsoft.com/office/drawing/2014/main" id="{424ABDF0-B813-19D1-DEB4-0CC4E9A809CF}"/>
              </a:ext>
            </a:extLst>
          </p:cNvPr>
          <p:cNvSpPr>
            <a:spLocks noChangeShapeType="1"/>
          </p:cNvSpPr>
          <p:nvPr/>
        </p:nvSpPr>
        <p:spPr bwMode="auto">
          <a:xfrm>
            <a:off x="2330240"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3" name="Line 47">
            <a:extLst>
              <a:ext uri="{FF2B5EF4-FFF2-40B4-BE49-F238E27FC236}">
                <a16:creationId xmlns:a16="http://schemas.microsoft.com/office/drawing/2014/main" id="{FF359FBD-0639-0458-542E-0B8FBC203FC1}"/>
              </a:ext>
            </a:extLst>
          </p:cNvPr>
          <p:cNvSpPr>
            <a:spLocks noChangeShapeType="1"/>
          </p:cNvSpPr>
          <p:nvPr/>
        </p:nvSpPr>
        <p:spPr bwMode="auto">
          <a:xfrm>
            <a:off x="252869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4" name="Line 48">
            <a:extLst>
              <a:ext uri="{FF2B5EF4-FFF2-40B4-BE49-F238E27FC236}">
                <a16:creationId xmlns:a16="http://schemas.microsoft.com/office/drawing/2014/main" id="{77DEBEC3-C61F-1176-C54D-299445908431}"/>
              </a:ext>
            </a:extLst>
          </p:cNvPr>
          <p:cNvSpPr>
            <a:spLocks noChangeShapeType="1"/>
          </p:cNvSpPr>
          <p:nvPr/>
        </p:nvSpPr>
        <p:spPr bwMode="auto">
          <a:xfrm>
            <a:off x="272715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5" name="Line 49">
            <a:extLst>
              <a:ext uri="{FF2B5EF4-FFF2-40B4-BE49-F238E27FC236}">
                <a16:creationId xmlns:a16="http://schemas.microsoft.com/office/drawing/2014/main" id="{8A9E4124-C66D-B998-640B-F72346A88A7C}"/>
              </a:ext>
            </a:extLst>
          </p:cNvPr>
          <p:cNvSpPr>
            <a:spLocks noChangeShapeType="1"/>
          </p:cNvSpPr>
          <p:nvPr/>
        </p:nvSpPr>
        <p:spPr bwMode="auto">
          <a:xfrm>
            <a:off x="2925605" y="1762751"/>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6" name="Line 50">
            <a:extLst>
              <a:ext uri="{FF2B5EF4-FFF2-40B4-BE49-F238E27FC236}">
                <a16:creationId xmlns:a16="http://schemas.microsoft.com/office/drawing/2014/main" id="{D2057F78-5C22-2E73-B73F-B97036D29CC3}"/>
              </a:ext>
            </a:extLst>
          </p:cNvPr>
          <p:cNvSpPr>
            <a:spLocks noChangeShapeType="1"/>
          </p:cNvSpPr>
          <p:nvPr/>
        </p:nvSpPr>
        <p:spPr bwMode="auto">
          <a:xfrm>
            <a:off x="3119968" y="1762751"/>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7" name="Line 51">
            <a:extLst>
              <a:ext uri="{FF2B5EF4-FFF2-40B4-BE49-F238E27FC236}">
                <a16:creationId xmlns:a16="http://schemas.microsoft.com/office/drawing/2014/main" id="{47E67527-72EF-3E4F-6009-205FD6647934}"/>
              </a:ext>
            </a:extLst>
          </p:cNvPr>
          <p:cNvSpPr>
            <a:spLocks noChangeShapeType="1"/>
          </p:cNvSpPr>
          <p:nvPr/>
        </p:nvSpPr>
        <p:spPr bwMode="auto">
          <a:xfrm>
            <a:off x="3318423" y="1762751"/>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8" name="Line 52">
            <a:extLst>
              <a:ext uri="{FF2B5EF4-FFF2-40B4-BE49-F238E27FC236}">
                <a16:creationId xmlns:a16="http://schemas.microsoft.com/office/drawing/2014/main" id="{AAD34493-F9CF-C695-A648-9B3BB1E5E194}"/>
              </a:ext>
            </a:extLst>
          </p:cNvPr>
          <p:cNvSpPr>
            <a:spLocks noChangeShapeType="1"/>
          </p:cNvSpPr>
          <p:nvPr/>
        </p:nvSpPr>
        <p:spPr bwMode="auto">
          <a:xfrm>
            <a:off x="352301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9" name="Line 53">
            <a:extLst>
              <a:ext uri="{FF2B5EF4-FFF2-40B4-BE49-F238E27FC236}">
                <a16:creationId xmlns:a16="http://schemas.microsoft.com/office/drawing/2014/main" id="{A5284509-38A0-812D-0759-8B9E9145562E}"/>
              </a:ext>
            </a:extLst>
          </p:cNvPr>
          <p:cNvSpPr>
            <a:spLocks noChangeShapeType="1"/>
          </p:cNvSpPr>
          <p:nvPr/>
        </p:nvSpPr>
        <p:spPr bwMode="auto">
          <a:xfrm>
            <a:off x="3721470" y="1762751"/>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0" name="Line 54">
            <a:extLst>
              <a:ext uri="{FF2B5EF4-FFF2-40B4-BE49-F238E27FC236}">
                <a16:creationId xmlns:a16="http://schemas.microsoft.com/office/drawing/2014/main" id="{0D89113A-58EC-445F-F725-F69AD928C166}"/>
              </a:ext>
            </a:extLst>
          </p:cNvPr>
          <p:cNvSpPr>
            <a:spLocks noChangeShapeType="1"/>
          </p:cNvSpPr>
          <p:nvPr/>
        </p:nvSpPr>
        <p:spPr bwMode="auto">
          <a:xfrm>
            <a:off x="3915833"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1" name="Line 55">
            <a:extLst>
              <a:ext uri="{FF2B5EF4-FFF2-40B4-BE49-F238E27FC236}">
                <a16:creationId xmlns:a16="http://schemas.microsoft.com/office/drawing/2014/main" id="{D3A7AABD-9A45-FA50-578C-518C0F3BB778}"/>
              </a:ext>
            </a:extLst>
          </p:cNvPr>
          <p:cNvSpPr>
            <a:spLocks noChangeShapeType="1"/>
          </p:cNvSpPr>
          <p:nvPr/>
        </p:nvSpPr>
        <p:spPr bwMode="auto">
          <a:xfrm>
            <a:off x="4114288"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2" name="Line 56">
            <a:extLst>
              <a:ext uri="{FF2B5EF4-FFF2-40B4-BE49-F238E27FC236}">
                <a16:creationId xmlns:a16="http://schemas.microsoft.com/office/drawing/2014/main" id="{4A96FCEE-9627-3B23-7729-A04F576081A6}"/>
              </a:ext>
            </a:extLst>
          </p:cNvPr>
          <p:cNvSpPr>
            <a:spLocks noChangeShapeType="1"/>
          </p:cNvSpPr>
          <p:nvPr/>
        </p:nvSpPr>
        <p:spPr bwMode="auto">
          <a:xfrm>
            <a:off x="431274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3" name="Line 57">
            <a:extLst>
              <a:ext uri="{FF2B5EF4-FFF2-40B4-BE49-F238E27FC236}">
                <a16:creationId xmlns:a16="http://schemas.microsoft.com/office/drawing/2014/main" id="{B9B9FC67-55B5-7535-2F40-CFCD8F195FA0}"/>
              </a:ext>
            </a:extLst>
          </p:cNvPr>
          <p:cNvSpPr>
            <a:spLocks noChangeShapeType="1"/>
          </p:cNvSpPr>
          <p:nvPr/>
        </p:nvSpPr>
        <p:spPr bwMode="auto">
          <a:xfrm>
            <a:off x="4513244"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4" name="Line 58">
            <a:extLst>
              <a:ext uri="{FF2B5EF4-FFF2-40B4-BE49-F238E27FC236}">
                <a16:creationId xmlns:a16="http://schemas.microsoft.com/office/drawing/2014/main" id="{FF7ED491-71E2-2B12-4530-A3B84D5D2B7D}"/>
              </a:ext>
            </a:extLst>
          </p:cNvPr>
          <p:cNvSpPr>
            <a:spLocks noChangeShapeType="1"/>
          </p:cNvSpPr>
          <p:nvPr/>
        </p:nvSpPr>
        <p:spPr bwMode="auto">
          <a:xfrm>
            <a:off x="471169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5" name="Line 59">
            <a:extLst>
              <a:ext uri="{FF2B5EF4-FFF2-40B4-BE49-F238E27FC236}">
                <a16:creationId xmlns:a16="http://schemas.microsoft.com/office/drawing/2014/main" id="{354FFB54-1EE2-9BC6-23DE-A8C0A0099ABF}"/>
              </a:ext>
            </a:extLst>
          </p:cNvPr>
          <p:cNvSpPr>
            <a:spLocks noChangeShapeType="1"/>
          </p:cNvSpPr>
          <p:nvPr/>
        </p:nvSpPr>
        <p:spPr bwMode="auto">
          <a:xfrm>
            <a:off x="491015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6" name="Line 60">
            <a:extLst>
              <a:ext uri="{FF2B5EF4-FFF2-40B4-BE49-F238E27FC236}">
                <a16:creationId xmlns:a16="http://schemas.microsoft.com/office/drawing/2014/main" id="{41B9D266-D354-BBC8-CFBF-850DB2DE505B}"/>
              </a:ext>
            </a:extLst>
          </p:cNvPr>
          <p:cNvSpPr>
            <a:spLocks noChangeShapeType="1"/>
          </p:cNvSpPr>
          <p:nvPr/>
        </p:nvSpPr>
        <p:spPr bwMode="auto">
          <a:xfrm>
            <a:off x="510860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7" name="Line 61">
            <a:extLst>
              <a:ext uri="{FF2B5EF4-FFF2-40B4-BE49-F238E27FC236}">
                <a16:creationId xmlns:a16="http://schemas.microsoft.com/office/drawing/2014/main" id="{BF50A7CD-DB74-7481-7745-2C4BE5B3F273}"/>
              </a:ext>
            </a:extLst>
          </p:cNvPr>
          <p:cNvSpPr>
            <a:spLocks noChangeShapeType="1"/>
          </p:cNvSpPr>
          <p:nvPr/>
        </p:nvSpPr>
        <p:spPr bwMode="auto">
          <a:xfrm>
            <a:off x="530706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8" name="Line 62">
            <a:extLst>
              <a:ext uri="{FF2B5EF4-FFF2-40B4-BE49-F238E27FC236}">
                <a16:creationId xmlns:a16="http://schemas.microsoft.com/office/drawing/2014/main" id="{950550FE-F833-74E1-BD7A-649F8CDED3E3}"/>
              </a:ext>
            </a:extLst>
          </p:cNvPr>
          <p:cNvSpPr>
            <a:spLocks noChangeShapeType="1"/>
          </p:cNvSpPr>
          <p:nvPr/>
        </p:nvSpPr>
        <p:spPr bwMode="auto">
          <a:xfrm>
            <a:off x="550756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9" name="Line 63">
            <a:extLst>
              <a:ext uri="{FF2B5EF4-FFF2-40B4-BE49-F238E27FC236}">
                <a16:creationId xmlns:a16="http://schemas.microsoft.com/office/drawing/2014/main" id="{1BE81C95-6960-598B-40D4-7E2B8AF0D53B}"/>
              </a:ext>
            </a:extLst>
          </p:cNvPr>
          <p:cNvSpPr>
            <a:spLocks noChangeShapeType="1"/>
          </p:cNvSpPr>
          <p:nvPr/>
        </p:nvSpPr>
        <p:spPr bwMode="auto">
          <a:xfrm>
            <a:off x="570602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0" name="Line 64">
            <a:extLst>
              <a:ext uri="{FF2B5EF4-FFF2-40B4-BE49-F238E27FC236}">
                <a16:creationId xmlns:a16="http://schemas.microsoft.com/office/drawing/2014/main" id="{26733745-0D8F-0EA7-4E15-1CE027FFB570}"/>
              </a:ext>
            </a:extLst>
          </p:cNvPr>
          <p:cNvSpPr>
            <a:spLocks noChangeShapeType="1"/>
          </p:cNvSpPr>
          <p:nvPr/>
        </p:nvSpPr>
        <p:spPr bwMode="auto">
          <a:xfrm>
            <a:off x="590447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1" name="Line 65">
            <a:extLst>
              <a:ext uri="{FF2B5EF4-FFF2-40B4-BE49-F238E27FC236}">
                <a16:creationId xmlns:a16="http://schemas.microsoft.com/office/drawing/2014/main" id="{255FE123-DA02-A180-A436-F132B0C097D8}"/>
              </a:ext>
            </a:extLst>
          </p:cNvPr>
          <p:cNvSpPr>
            <a:spLocks noChangeShapeType="1"/>
          </p:cNvSpPr>
          <p:nvPr/>
        </p:nvSpPr>
        <p:spPr bwMode="auto">
          <a:xfrm>
            <a:off x="610292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2" name="Line 66">
            <a:extLst>
              <a:ext uri="{FF2B5EF4-FFF2-40B4-BE49-F238E27FC236}">
                <a16:creationId xmlns:a16="http://schemas.microsoft.com/office/drawing/2014/main" id="{0A7C157C-F820-CE20-0941-D6BDE8383AF3}"/>
              </a:ext>
            </a:extLst>
          </p:cNvPr>
          <p:cNvSpPr>
            <a:spLocks noChangeShapeType="1"/>
          </p:cNvSpPr>
          <p:nvPr/>
        </p:nvSpPr>
        <p:spPr bwMode="auto">
          <a:xfrm>
            <a:off x="630138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3" name="Line 67">
            <a:extLst>
              <a:ext uri="{FF2B5EF4-FFF2-40B4-BE49-F238E27FC236}">
                <a16:creationId xmlns:a16="http://schemas.microsoft.com/office/drawing/2014/main" id="{CCA25FAE-6C80-7276-155B-366C9EC76E39}"/>
              </a:ext>
            </a:extLst>
          </p:cNvPr>
          <p:cNvSpPr>
            <a:spLocks noChangeShapeType="1"/>
          </p:cNvSpPr>
          <p:nvPr/>
        </p:nvSpPr>
        <p:spPr bwMode="auto">
          <a:xfrm>
            <a:off x="650188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4" name="Line 68">
            <a:extLst>
              <a:ext uri="{FF2B5EF4-FFF2-40B4-BE49-F238E27FC236}">
                <a16:creationId xmlns:a16="http://schemas.microsoft.com/office/drawing/2014/main" id="{E7F00256-90FA-D471-FE48-6A0B8EDF2088}"/>
              </a:ext>
            </a:extLst>
          </p:cNvPr>
          <p:cNvSpPr>
            <a:spLocks noChangeShapeType="1"/>
          </p:cNvSpPr>
          <p:nvPr/>
        </p:nvSpPr>
        <p:spPr bwMode="auto">
          <a:xfrm>
            <a:off x="670034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5" name="Line 69">
            <a:extLst>
              <a:ext uri="{FF2B5EF4-FFF2-40B4-BE49-F238E27FC236}">
                <a16:creationId xmlns:a16="http://schemas.microsoft.com/office/drawing/2014/main" id="{3A94CA62-FE7F-CCE6-EB97-46FF62E14586}"/>
              </a:ext>
            </a:extLst>
          </p:cNvPr>
          <p:cNvSpPr>
            <a:spLocks noChangeShapeType="1"/>
          </p:cNvSpPr>
          <p:nvPr/>
        </p:nvSpPr>
        <p:spPr bwMode="auto">
          <a:xfrm>
            <a:off x="689879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6" name="Line 70">
            <a:extLst>
              <a:ext uri="{FF2B5EF4-FFF2-40B4-BE49-F238E27FC236}">
                <a16:creationId xmlns:a16="http://schemas.microsoft.com/office/drawing/2014/main" id="{1A491799-4304-CDFE-8C45-AF32B1991B90}"/>
              </a:ext>
            </a:extLst>
          </p:cNvPr>
          <p:cNvSpPr>
            <a:spLocks noChangeShapeType="1"/>
          </p:cNvSpPr>
          <p:nvPr/>
        </p:nvSpPr>
        <p:spPr bwMode="auto">
          <a:xfrm>
            <a:off x="709725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7" name="Line 71">
            <a:extLst>
              <a:ext uri="{FF2B5EF4-FFF2-40B4-BE49-F238E27FC236}">
                <a16:creationId xmlns:a16="http://schemas.microsoft.com/office/drawing/2014/main" id="{42F5045C-B59C-94E1-A06F-58C505DCEF09}"/>
              </a:ext>
            </a:extLst>
          </p:cNvPr>
          <p:cNvSpPr>
            <a:spLocks noChangeShapeType="1"/>
          </p:cNvSpPr>
          <p:nvPr/>
        </p:nvSpPr>
        <p:spPr bwMode="auto">
          <a:xfrm>
            <a:off x="729570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8" name="Line 72">
            <a:extLst>
              <a:ext uri="{FF2B5EF4-FFF2-40B4-BE49-F238E27FC236}">
                <a16:creationId xmlns:a16="http://schemas.microsoft.com/office/drawing/2014/main" id="{54A400BE-9715-4EAC-E0F7-E6675827BC98}"/>
              </a:ext>
            </a:extLst>
          </p:cNvPr>
          <p:cNvSpPr>
            <a:spLocks noChangeShapeType="1"/>
          </p:cNvSpPr>
          <p:nvPr/>
        </p:nvSpPr>
        <p:spPr bwMode="auto">
          <a:xfrm>
            <a:off x="749620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9" name="Line 73">
            <a:extLst>
              <a:ext uri="{FF2B5EF4-FFF2-40B4-BE49-F238E27FC236}">
                <a16:creationId xmlns:a16="http://schemas.microsoft.com/office/drawing/2014/main" id="{1CDCD283-9ABA-D156-8D16-47F730BF6CA5}"/>
              </a:ext>
            </a:extLst>
          </p:cNvPr>
          <p:cNvSpPr>
            <a:spLocks noChangeShapeType="1"/>
          </p:cNvSpPr>
          <p:nvPr/>
        </p:nvSpPr>
        <p:spPr bwMode="auto">
          <a:xfrm>
            <a:off x="769466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0" name="Line 74">
            <a:extLst>
              <a:ext uri="{FF2B5EF4-FFF2-40B4-BE49-F238E27FC236}">
                <a16:creationId xmlns:a16="http://schemas.microsoft.com/office/drawing/2014/main" id="{870FFC20-7A31-82E9-B4C4-E1D9107E0FDC}"/>
              </a:ext>
            </a:extLst>
          </p:cNvPr>
          <p:cNvSpPr>
            <a:spLocks noChangeShapeType="1"/>
          </p:cNvSpPr>
          <p:nvPr/>
        </p:nvSpPr>
        <p:spPr bwMode="auto">
          <a:xfrm>
            <a:off x="789311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1" name="Line 75">
            <a:extLst>
              <a:ext uri="{FF2B5EF4-FFF2-40B4-BE49-F238E27FC236}">
                <a16:creationId xmlns:a16="http://schemas.microsoft.com/office/drawing/2014/main" id="{425EB39F-A83B-2B36-5134-6065E285E305}"/>
              </a:ext>
            </a:extLst>
          </p:cNvPr>
          <p:cNvSpPr>
            <a:spLocks noChangeShapeType="1"/>
          </p:cNvSpPr>
          <p:nvPr/>
        </p:nvSpPr>
        <p:spPr bwMode="auto">
          <a:xfrm>
            <a:off x="809157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2" name="Line 76">
            <a:extLst>
              <a:ext uri="{FF2B5EF4-FFF2-40B4-BE49-F238E27FC236}">
                <a16:creationId xmlns:a16="http://schemas.microsoft.com/office/drawing/2014/main" id="{F2A15CE1-2E88-9F15-33AF-F4F9A0EE60B2}"/>
              </a:ext>
            </a:extLst>
          </p:cNvPr>
          <p:cNvSpPr>
            <a:spLocks noChangeShapeType="1"/>
          </p:cNvSpPr>
          <p:nvPr/>
        </p:nvSpPr>
        <p:spPr bwMode="auto">
          <a:xfrm>
            <a:off x="829002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3" name="Line 77">
            <a:extLst>
              <a:ext uri="{FF2B5EF4-FFF2-40B4-BE49-F238E27FC236}">
                <a16:creationId xmlns:a16="http://schemas.microsoft.com/office/drawing/2014/main" id="{F562D18A-F032-E9C7-6A39-A550C30A669C}"/>
              </a:ext>
            </a:extLst>
          </p:cNvPr>
          <p:cNvSpPr>
            <a:spLocks noChangeShapeType="1"/>
          </p:cNvSpPr>
          <p:nvPr/>
        </p:nvSpPr>
        <p:spPr bwMode="auto">
          <a:xfrm>
            <a:off x="8490526"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4" name="Line 78">
            <a:extLst>
              <a:ext uri="{FF2B5EF4-FFF2-40B4-BE49-F238E27FC236}">
                <a16:creationId xmlns:a16="http://schemas.microsoft.com/office/drawing/2014/main" id="{6278C017-754F-385E-73EE-6885FA63330C}"/>
              </a:ext>
            </a:extLst>
          </p:cNvPr>
          <p:cNvSpPr>
            <a:spLocks noChangeShapeType="1"/>
          </p:cNvSpPr>
          <p:nvPr/>
        </p:nvSpPr>
        <p:spPr bwMode="auto">
          <a:xfrm>
            <a:off x="868898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5" name="Line 79">
            <a:extLst>
              <a:ext uri="{FF2B5EF4-FFF2-40B4-BE49-F238E27FC236}">
                <a16:creationId xmlns:a16="http://schemas.microsoft.com/office/drawing/2014/main" id="{1AED592F-54FC-7D44-965F-8C2AF0B5AD49}"/>
              </a:ext>
            </a:extLst>
          </p:cNvPr>
          <p:cNvSpPr>
            <a:spLocks noChangeShapeType="1"/>
          </p:cNvSpPr>
          <p:nvPr/>
        </p:nvSpPr>
        <p:spPr bwMode="auto">
          <a:xfrm>
            <a:off x="888743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6" name="Line 80">
            <a:extLst>
              <a:ext uri="{FF2B5EF4-FFF2-40B4-BE49-F238E27FC236}">
                <a16:creationId xmlns:a16="http://schemas.microsoft.com/office/drawing/2014/main" id="{16A250BA-CBC6-34F5-FEAF-0F09CE10D889}"/>
              </a:ext>
            </a:extLst>
          </p:cNvPr>
          <p:cNvSpPr>
            <a:spLocks noChangeShapeType="1"/>
          </p:cNvSpPr>
          <p:nvPr/>
        </p:nvSpPr>
        <p:spPr bwMode="auto">
          <a:xfrm>
            <a:off x="908589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7" name="Line 81">
            <a:extLst>
              <a:ext uri="{FF2B5EF4-FFF2-40B4-BE49-F238E27FC236}">
                <a16:creationId xmlns:a16="http://schemas.microsoft.com/office/drawing/2014/main" id="{8DF7E90D-11DB-ABC3-7CA1-15024F1B3E1D}"/>
              </a:ext>
            </a:extLst>
          </p:cNvPr>
          <p:cNvSpPr>
            <a:spLocks noChangeShapeType="1"/>
          </p:cNvSpPr>
          <p:nvPr/>
        </p:nvSpPr>
        <p:spPr bwMode="auto">
          <a:xfrm>
            <a:off x="9284346"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8" name="Line 82">
            <a:extLst>
              <a:ext uri="{FF2B5EF4-FFF2-40B4-BE49-F238E27FC236}">
                <a16:creationId xmlns:a16="http://schemas.microsoft.com/office/drawing/2014/main" id="{3909A69B-F02C-6643-39F9-E0F86697EFB6}"/>
              </a:ext>
            </a:extLst>
          </p:cNvPr>
          <p:cNvSpPr>
            <a:spLocks noChangeShapeType="1"/>
          </p:cNvSpPr>
          <p:nvPr/>
        </p:nvSpPr>
        <p:spPr bwMode="auto">
          <a:xfrm>
            <a:off x="9484846"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9" name="Line 83">
            <a:extLst>
              <a:ext uri="{FF2B5EF4-FFF2-40B4-BE49-F238E27FC236}">
                <a16:creationId xmlns:a16="http://schemas.microsoft.com/office/drawing/2014/main" id="{003FF42B-CE64-CFD2-29E8-5676C83FCA3F}"/>
              </a:ext>
            </a:extLst>
          </p:cNvPr>
          <p:cNvSpPr>
            <a:spLocks noChangeShapeType="1"/>
          </p:cNvSpPr>
          <p:nvPr/>
        </p:nvSpPr>
        <p:spPr bwMode="auto">
          <a:xfrm>
            <a:off x="9683302" y="1762751"/>
            <a:ext cx="8184"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0" name="Oval 84">
            <a:extLst>
              <a:ext uri="{FF2B5EF4-FFF2-40B4-BE49-F238E27FC236}">
                <a16:creationId xmlns:a16="http://schemas.microsoft.com/office/drawing/2014/main" id="{B5E40887-D504-3A6D-C0BF-3D27A21FCC6E}"/>
              </a:ext>
            </a:extLst>
          </p:cNvPr>
          <p:cNvSpPr>
            <a:spLocks noChangeArrowheads="1"/>
          </p:cNvSpPr>
          <p:nvPr/>
        </p:nvSpPr>
        <p:spPr bwMode="auto">
          <a:xfrm>
            <a:off x="2430489" y="2040997"/>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1" name="Oval 85">
            <a:extLst>
              <a:ext uri="{FF2B5EF4-FFF2-40B4-BE49-F238E27FC236}">
                <a16:creationId xmlns:a16="http://schemas.microsoft.com/office/drawing/2014/main" id="{6499A599-5AB5-262E-7029-D30A6151E44C}"/>
              </a:ext>
            </a:extLst>
          </p:cNvPr>
          <p:cNvSpPr>
            <a:spLocks noChangeArrowheads="1"/>
          </p:cNvSpPr>
          <p:nvPr/>
        </p:nvSpPr>
        <p:spPr bwMode="auto">
          <a:xfrm>
            <a:off x="2700552" y="2094191"/>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2" name="Oval 86">
            <a:extLst>
              <a:ext uri="{FF2B5EF4-FFF2-40B4-BE49-F238E27FC236}">
                <a16:creationId xmlns:a16="http://schemas.microsoft.com/office/drawing/2014/main" id="{8CFF7FEE-428B-BF75-AAD1-AB7A5CE22F10}"/>
              </a:ext>
            </a:extLst>
          </p:cNvPr>
          <p:cNvSpPr>
            <a:spLocks noChangeArrowheads="1"/>
          </p:cNvSpPr>
          <p:nvPr/>
        </p:nvSpPr>
        <p:spPr bwMode="auto">
          <a:xfrm>
            <a:off x="2974706" y="2311059"/>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3" name="Oval 87">
            <a:extLst>
              <a:ext uri="{FF2B5EF4-FFF2-40B4-BE49-F238E27FC236}">
                <a16:creationId xmlns:a16="http://schemas.microsoft.com/office/drawing/2014/main" id="{CC0E69FB-4B1C-401A-57C4-0379C59DE25E}"/>
              </a:ext>
            </a:extLst>
          </p:cNvPr>
          <p:cNvSpPr>
            <a:spLocks noChangeArrowheads="1"/>
          </p:cNvSpPr>
          <p:nvPr/>
        </p:nvSpPr>
        <p:spPr bwMode="auto">
          <a:xfrm>
            <a:off x="3244769" y="2460411"/>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4" name="Oval 88">
            <a:extLst>
              <a:ext uri="{FF2B5EF4-FFF2-40B4-BE49-F238E27FC236}">
                <a16:creationId xmlns:a16="http://schemas.microsoft.com/office/drawing/2014/main" id="{D11969F0-F491-6206-9CE8-856BC60A538A}"/>
              </a:ext>
            </a:extLst>
          </p:cNvPr>
          <p:cNvSpPr>
            <a:spLocks noChangeArrowheads="1"/>
          </p:cNvSpPr>
          <p:nvPr/>
        </p:nvSpPr>
        <p:spPr bwMode="auto">
          <a:xfrm>
            <a:off x="3518923" y="2235360"/>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5" name="Oval 89">
            <a:extLst>
              <a:ext uri="{FF2B5EF4-FFF2-40B4-BE49-F238E27FC236}">
                <a16:creationId xmlns:a16="http://schemas.microsoft.com/office/drawing/2014/main" id="{E1A50C58-8CC4-3E81-8C78-7AF7E0065502}"/>
              </a:ext>
            </a:extLst>
          </p:cNvPr>
          <p:cNvSpPr>
            <a:spLocks noChangeArrowheads="1"/>
          </p:cNvSpPr>
          <p:nvPr/>
        </p:nvSpPr>
        <p:spPr bwMode="auto">
          <a:xfrm>
            <a:off x="3786940" y="2521789"/>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6" name="Oval 90">
            <a:extLst>
              <a:ext uri="{FF2B5EF4-FFF2-40B4-BE49-F238E27FC236}">
                <a16:creationId xmlns:a16="http://schemas.microsoft.com/office/drawing/2014/main" id="{0DCDB471-F45B-F7F7-2BCE-617AD6F8E0D7}"/>
              </a:ext>
            </a:extLst>
          </p:cNvPr>
          <p:cNvSpPr>
            <a:spLocks noChangeArrowheads="1"/>
          </p:cNvSpPr>
          <p:nvPr/>
        </p:nvSpPr>
        <p:spPr bwMode="auto">
          <a:xfrm>
            <a:off x="4061095" y="2642499"/>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7" name="Oval 91">
            <a:extLst>
              <a:ext uri="{FF2B5EF4-FFF2-40B4-BE49-F238E27FC236}">
                <a16:creationId xmlns:a16="http://schemas.microsoft.com/office/drawing/2014/main" id="{FB71741F-68B3-F46C-705D-491992C082E8}"/>
              </a:ext>
            </a:extLst>
          </p:cNvPr>
          <p:cNvSpPr>
            <a:spLocks noChangeArrowheads="1"/>
          </p:cNvSpPr>
          <p:nvPr/>
        </p:nvSpPr>
        <p:spPr bwMode="auto">
          <a:xfrm>
            <a:off x="4331156" y="2875735"/>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8" name="Oval 92">
            <a:extLst>
              <a:ext uri="{FF2B5EF4-FFF2-40B4-BE49-F238E27FC236}">
                <a16:creationId xmlns:a16="http://schemas.microsoft.com/office/drawing/2014/main" id="{EB36D6BF-F44A-C516-28AE-F44E46B9664C}"/>
              </a:ext>
            </a:extLst>
          </p:cNvPr>
          <p:cNvSpPr>
            <a:spLocks noChangeArrowheads="1"/>
          </p:cNvSpPr>
          <p:nvPr/>
        </p:nvSpPr>
        <p:spPr bwMode="auto">
          <a:xfrm>
            <a:off x="4605310" y="2738658"/>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9" name="Oval 93">
            <a:extLst>
              <a:ext uri="{FF2B5EF4-FFF2-40B4-BE49-F238E27FC236}">
                <a16:creationId xmlns:a16="http://schemas.microsoft.com/office/drawing/2014/main" id="{6C740AFD-99B7-627E-F833-376249824E6D}"/>
              </a:ext>
            </a:extLst>
          </p:cNvPr>
          <p:cNvSpPr>
            <a:spLocks noChangeArrowheads="1"/>
          </p:cNvSpPr>
          <p:nvPr/>
        </p:nvSpPr>
        <p:spPr bwMode="auto">
          <a:xfrm>
            <a:off x="4879464" y="3020996"/>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1" name="Oval 94">
            <a:extLst>
              <a:ext uri="{FF2B5EF4-FFF2-40B4-BE49-F238E27FC236}">
                <a16:creationId xmlns:a16="http://schemas.microsoft.com/office/drawing/2014/main" id="{491A4F56-9A0D-952F-E802-8A263956CA65}"/>
              </a:ext>
            </a:extLst>
          </p:cNvPr>
          <p:cNvSpPr>
            <a:spLocks noChangeArrowheads="1"/>
          </p:cNvSpPr>
          <p:nvPr/>
        </p:nvSpPr>
        <p:spPr bwMode="auto">
          <a:xfrm>
            <a:off x="5149526" y="2986215"/>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2" name="Oval 95">
            <a:extLst>
              <a:ext uri="{FF2B5EF4-FFF2-40B4-BE49-F238E27FC236}">
                <a16:creationId xmlns:a16="http://schemas.microsoft.com/office/drawing/2014/main" id="{0F8B6ABE-7989-4C7B-443B-3F4B3F9DA322}"/>
              </a:ext>
            </a:extLst>
          </p:cNvPr>
          <p:cNvSpPr>
            <a:spLocks noChangeArrowheads="1"/>
          </p:cNvSpPr>
          <p:nvPr/>
        </p:nvSpPr>
        <p:spPr bwMode="auto">
          <a:xfrm>
            <a:off x="5423681" y="3317655"/>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3" name="Oval 96">
            <a:extLst>
              <a:ext uri="{FF2B5EF4-FFF2-40B4-BE49-F238E27FC236}">
                <a16:creationId xmlns:a16="http://schemas.microsoft.com/office/drawing/2014/main" id="{617545AC-0099-8D4D-D7D0-37A30F4B838B}"/>
              </a:ext>
            </a:extLst>
          </p:cNvPr>
          <p:cNvSpPr>
            <a:spLocks noChangeArrowheads="1"/>
          </p:cNvSpPr>
          <p:nvPr/>
        </p:nvSpPr>
        <p:spPr bwMode="auto">
          <a:xfrm>
            <a:off x="5691698" y="3489514"/>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4" name="Oval 97">
            <a:extLst>
              <a:ext uri="{FF2B5EF4-FFF2-40B4-BE49-F238E27FC236}">
                <a16:creationId xmlns:a16="http://schemas.microsoft.com/office/drawing/2014/main" id="{16E738B8-1E86-925E-BC4E-BA3354FB6628}"/>
              </a:ext>
            </a:extLst>
          </p:cNvPr>
          <p:cNvSpPr>
            <a:spLocks noChangeArrowheads="1"/>
          </p:cNvSpPr>
          <p:nvPr/>
        </p:nvSpPr>
        <p:spPr bwMode="auto">
          <a:xfrm>
            <a:off x="5965851" y="3499742"/>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5" name="Oval 98">
            <a:extLst>
              <a:ext uri="{FF2B5EF4-FFF2-40B4-BE49-F238E27FC236}">
                <a16:creationId xmlns:a16="http://schemas.microsoft.com/office/drawing/2014/main" id="{9CE7BC60-AAAC-AF2A-2F5A-840FC8E455B1}"/>
              </a:ext>
            </a:extLst>
          </p:cNvPr>
          <p:cNvSpPr>
            <a:spLocks noChangeArrowheads="1"/>
          </p:cNvSpPr>
          <p:nvPr/>
        </p:nvSpPr>
        <p:spPr bwMode="auto">
          <a:xfrm>
            <a:off x="6235913" y="3671600"/>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6" name="Oval 99">
            <a:extLst>
              <a:ext uri="{FF2B5EF4-FFF2-40B4-BE49-F238E27FC236}">
                <a16:creationId xmlns:a16="http://schemas.microsoft.com/office/drawing/2014/main" id="{43C85E91-EC19-D3D1-42A5-61B988DD4A26}"/>
              </a:ext>
            </a:extLst>
          </p:cNvPr>
          <p:cNvSpPr>
            <a:spLocks noChangeArrowheads="1"/>
          </p:cNvSpPr>
          <p:nvPr/>
        </p:nvSpPr>
        <p:spPr bwMode="auto">
          <a:xfrm>
            <a:off x="6510068" y="3888469"/>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7" name="Oval 100">
            <a:extLst>
              <a:ext uri="{FF2B5EF4-FFF2-40B4-BE49-F238E27FC236}">
                <a16:creationId xmlns:a16="http://schemas.microsoft.com/office/drawing/2014/main" id="{951ED85D-8DBE-7F78-1642-30A5688332A4}"/>
              </a:ext>
            </a:extLst>
          </p:cNvPr>
          <p:cNvSpPr>
            <a:spLocks noChangeArrowheads="1"/>
          </p:cNvSpPr>
          <p:nvPr/>
        </p:nvSpPr>
        <p:spPr bwMode="auto">
          <a:xfrm>
            <a:off x="6780130" y="4377445"/>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8" name="Oval 101">
            <a:extLst>
              <a:ext uri="{FF2B5EF4-FFF2-40B4-BE49-F238E27FC236}">
                <a16:creationId xmlns:a16="http://schemas.microsoft.com/office/drawing/2014/main" id="{43B3A659-0077-8E07-BF51-D450840389E8}"/>
              </a:ext>
            </a:extLst>
          </p:cNvPr>
          <p:cNvSpPr>
            <a:spLocks noChangeArrowheads="1"/>
          </p:cNvSpPr>
          <p:nvPr/>
        </p:nvSpPr>
        <p:spPr bwMode="auto">
          <a:xfrm>
            <a:off x="7054284" y="4520660"/>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9" name="Oval 102">
            <a:extLst>
              <a:ext uri="{FF2B5EF4-FFF2-40B4-BE49-F238E27FC236}">
                <a16:creationId xmlns:a16="http://schemas.microsoft.com/office/drawing/2014/main" id="{6C409079-A4F3-FE7A-D6D8-8B5789D2F8E6}"/>
              </a:ext>
            </a:extLst>
          </p:cNvPr>
          <p:cNvSpPr>
            <a:spLocks noChangeArrowheads="1"/>
          </p:cNvSpPr>
          <p:nvPr/>
        </p:nvSpPr>
        <p:spPr bwMode="auto">
          <a:xfrm>
            <a:off x="7322301" y="4608634"/>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0" name="Oval 103">
            <a:extLst>
              <a:ext uri="{FF2B5EF4-FFF2-40B4-BE49-F238E27FC236}">
                <a16:creationId xmlns:a16="http://schemas.microsoft.com/office/drawing/2014/main" id="{B406BB41-B1C7-B6A7-11D7-2FE1C061D24B}"/>
              </a:ext>
            </a:extLst>
          </p:cNvPr>
          <p:cNvSpPr>
            <a:spLocks noChangeArrowheads="1"/>
          </p:cNvSpPr>
          <p:nvPr/>
        </p:nvSpPr>
        <p:spPr bwMode="auto">
          <a:xfrm>
            <a:off x="7596456" y="5019866"/>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1" name="Oval 104">
            <a:extLst>
              <a:ext uri="{FF2B5EF4-FFF2-40B4-BE49-F238E27FC236}">
                <a16:creationId xmlns:a16="http://schemas.microsoft.com/office/drawing/2014/main" id="{7E5BE3E9-DB1B-2EE8-E312-51C80A1654CD}"/>
              </a:ext>
            </a:extLst>
          </p:cNvPr>
          <p:cNvSpPr>
            <a:spLocks noChangeArrowheads="1"/>
          </p:cNvSpPr>
          <p:nvPr/>
        </p:nvSpPr>
        <p:spPr bwMode="auto">
          <a:xfrm>
            <a:off x="7870609" y="4962580"/>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2" name="Oval 105">
            <a:extLst>
              <a:ext uri="{FF2B5EF4-FFF2-40B4-BE49-F238E27FC236}">
                <a16:creationId xmlns:a16="http://schemas.microsoft.com/office/drawing/2014/main" id="{A8F4C534-A1BA-CBC0-E1D8-FA5E41C72F98}"/>
              </a:ext>
            </a:extLst>
          </p:cNvPr>
          <p:cNvSpPr>
            <a:spLocks noChangeArrowheads="1"/>
          </p:cNvSpPr>
          <p:nvPr/>
        </p:nvSpPr>
        <p:spPr bwMode="auto">
          <a:xfrm>
            <a:off x="8140671" y="5187632"/>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3" name="Oval 106">
            <a:extLst>
              <a:ext uri="{FF2B5EF4-FFF2-40B4-BE49-F238E27FC236}">
                <a16:creationId xmlns:a16="http://schemas.microsoft.com/office/drawing/2014/main" id="{846F4F1A-53FF-A8C2-3589-9BDA08AC4797}"/>
              </a:ext>
            </a:extLst>
          </p:cNvPr>
          <p:cNvSpPr>
            <a:spLocks noChangeArrowheads="1"/>
          </p:cNvSpPr>
          <p:nvPr/>
        </p:nvSpPr>
        <p:spPr bwMode="auto">
          <a:xfrm>
            <a:off x="8414825" y="5377903"/>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8" name="Freeform 111">
            <a:extLst>
              <a:ext uri="{FF2B5EF4-FFF2-40B4-BE49-F238E27FC236}">
                <a16:creationId xmlns:a16="http://schemas.microsoft.com/office/drawing/2014/main" id="{66B9B47A-6A18-3336-1777-BAACFD4979D6}"/>
              </a:ext>
            </a:extLst>
          </p:cNvPr>
          <p:cNvSpPr>
            <a:spLocks/>
          </p:cNvSpPr>
          <p:nvPr/>
        </p:nvSpPr>
        <p:spPr bwMode="auto">
          <a:xfrm>
            <a:off x="2471409" y="2098283"/>
            <a:ext cx="5982290" cy="3318493"/>
          </a:xfrm>
          <a:custGeom>
            <a:avLst/>
            <a:gdLst>
              <a:gd name="T0" fmla="*/ 0 w 1354"/>
              <a:gd name="T1" fmla="*/ 0 h 751"/>
              <a:gd name="T2" fmla="*/ 62 w 1354"/>
              <a:gd name="T3" fmla="*/ 20 h 751"/>
              <a:gd name="T4" fmla="*/ 124 w 1354"/>
              <a:gd name="T5" fmla="*/ 42 h 751"/>
              <a:gd name="T6" fmla="*/ 185 w 1354"/>
              <a:gd name="T7" fmla="*/ 64 h 751"/>
              <a:gd name="T8" fmla="*/ 247 w 1354"/>
              <a:gd name="T9" fmla="*/ 87 h 751"/>
              <a:gd name="T10" fmla="*/ 308 w 1354"/>
              <a:gd name="T11" fmla="*/ 111 h 751"/>
              <a:gd name="T12" fmla="*/ 370 w 1354"/>
              <a:gd name="T13" fmla="*/ 136 h 751"/>
              <a:gd name="T14" fmla="*/ 431 w 1354"/>
              <a:gd name="T15" fmla="*/ 161 h 751"/>
              <a:gd name="T16" fmla="*/ 493 w 1354"/>
              <a:gd name="T17" fmla="*/ 188 h 751"/>
              <a:gd name="T18" fmla="*/ 554 w 1354"/>
              <a:gd name="T19" fmla="*/ 217 h 751"/>
              <a:gd name="T20" fmla="*/ 616 w 1354"/>
              <a:gd name="T21" fmla="*/ 248 h 751"/>
              <a:gd name="T22" fmla="*/ 678 w 1354"/>
              <a:gd name="T23" fmla="*/ 283 h 751"/>
              <a:gd name="T24" fmla="*/ 739 w 1354"/>
              <a:gd name="T25" fmla="*/ 320 h 751"/>
              <a:gd name="T26" fmla="*/ 801 w 1354"/>
              <a:gd name="T27" fmla="*/ 361 h 751"/>
              <a:gd name="T28" fmla="*/ 862 w 1354"/>
              <a:gd name="T29" fmla="*/ 403 h 751"/>
              <a:gd name="T30" fmla="*/ 924 w 1354"/>
              <a:gd name="T31" fmla="*/ 447 h 751"/>
              <a:gd name="T32" fmla="*/ 985 w 1354"/>
              <a:gd name="T33" fmla="*/ 492 h 751"/>
              <a:gd name="T34" fmla="*/ 1047 w 1354"/>
              <a:gd name="T35" fmla="*/ 537 h 751"/>
              <a:gd name="T36" fmla="*/ 1108 w 1354"/>
              <a:gd name="T37" fmla="*/ 583 h 751"/>
              <a:gd name="T38" fmla="*/ 1170 w 1354"/>
              <a:gd name="T39" fmla="*/ 629 h 751"/>
              <a:gd name="T40" fmla="*/ 1231 w 1354"/>
              <a:gd name="T41" fmla="*/ 674 h 751"/>
              <a:gd name="T42" fmla="*/ 1293 w 1354"/>
              <a:gd name="T43" fmla="*/ 714 h 751"/>
              <a:gd name="T44" fmla="*/ 1354 w 1354"/>
              <a:gd name="T45" fmla="*/ 751 h 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4" h="751">
                <a:moveTo>
                  <a:pt x="0" y="0"/>
                </a:moveTo>
                <a:lnTo>
                  <a:pt x="62" y="20"/>
                </a:lnTo>
                <a:lnTo>
                  <a:pt x="124" y="42"/>
                </a:lnTo>
                <a:lnTo>
                  <a:pt x="185" y="64"/>
                </a:lnTo>
                <a:lnTo>
                  <a:pt x="247" y="87"/>
                </a:lnTo>
                <a:lnTo>
                  <a:pt x="308" y="111"/>
                </a:lnTo>
                <a:lnTo>
                  <a:pt x="370" y="136"/>
                </a:lnTo>
                <a:lnTo>
                  <a:pt x="431" y="161"/>
                </a:lnTo>
                <a:lnTo>
                  <a:pt x="493" y="188"/>
                </a:lnTo>
                <a:lnTo>
                  <a:pt x="554" y="217"/>
                </a:lnTo>
                <a:lnTo>
                  <a:pt x="616" y="248"/>
                </a:lnTo>
                <a:lnTo>
                  <a:pt x="678" y="283"/>
                </a:lnTo>
                <a:lnTo>
                  <a:pt x="739" y="320"/>
                </a:lnTo>
                <a:lnTo>
                  <a:pt x="801" y="361"/>
                </a:lnTo>
                <a:lnTo>
                  <a:pt x="862" y="403"/>
                </a:lnTo>
                <a:lnTo>
                  <a:pt x="924" y="447"/>
                </a:lnTo>
                <a:lnTo>
                  <a:pt x="985" y="492"/>
                </a:lnTo>
                <a:lnTo>
                  <a:pt x="1047" y="537"/>
                </a:lnTo>
                <a:lnTo>
                  <a:pt x="1108" y="583"/>
                </a:lnTo>
                <a:lnTo>
                  <a:pt x="1170" y="629"/>
                </a:lnTo>
                <a:lnTo>
                  <a:pt x="1231" y="674"/>
                </a:lnTo>
                <a:lnTo>
                  <a:pt x="1293" y="714"/>
                </a:lnTo>
                <a:lnTo>
                  <a:pt x="1354" y="751"/>
                </a:lnTo>
              </a:path>
            </a:pathLst>
          </a:custGeom>
          <a:noFill/>
          <a:ln w="28575">
            <a:solidFill>
              <a:srgbClr val="62636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04" name="Rectangle 122">
            <a:extLst>
              <a:ext uri="{FF2B5EF4-FFF2-40B4-BE49-F238E27FC236}">
                <a16:creationId xmlns:a16="http://schemas.microsoft.com/office/drawing/2014/main" id="{EC0A66F5-0BFB-FE1D-6807-E56BEC10CE21}"/>
              </a:ext>
            </a:extLst>
          </p:cNvPr>
          <p:cNvSpPr>
            <a:spLocks noChangeArrowheads="1"/>
          </p:cNvSpPr>
          <p:nvPr/>
        </p:nvSpPr>
        <p:spPr bwMode="auto">
          <a:xfrm rot="16200000">
            <a:off x="-50052" y="3398692"/>
            <a:ext cx="2211037"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Average Income at Age 35</a:t>
            </a:r>
          </a:p>
        </p:txBody>
      </p:sp>
      <p:sp>
        <p:nvSpPr>
          <p:cNvPr id="205" name="Rectangle 132">
            <a:extLst>
              <a:ext uri="{FF2B5EF4-FFF2-40B4-BE49-F238E27FC236}">
                <a16:creationId xmlns:a16="http://schemas.microsoft.com/office/drawing/2014/main" id="{B200F9EB-DFEB-1AEA-9983-D440AE754549}"/>
              </a:ext>
            </a:extLst>
          </p:cNvPr>
          <p:cNvSpPr>
            <a:spLocks noChangeArrowheads="1"/>
          </p:cNvSpPr>
          <p:nvPr/>
        </p:nvSpPr>
        <p:spPr bwMode="auto">
          <a:xfrm>
            <a:off x="4522090" y="6134034"/>
            <a:ext cx="2709954"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Age of Child when Parents Move</a:t>
            </a:r>
          </a:p>
        </p:txBody>
      </p:sp>
      <p:sp>
        <p:nvSpPr>
          <p:cNvPr id="2" name="AutoShape 94">
            <a:extLst>
              <a:ext uri="{FF2B5EF4-FFF2-40B4-BE49-F238E27FC236}">
                <a16:creationId xmlns:a16="http://schemas.microsoft.com/office/drawing/2014/main" id="{0BD1C985-34FB-2816-2C43-C219C242D543}"/>
              </a:ext>
            </a:extLst>
          </p:cNvPr>
          <p:cNvSpPr>
            <a:spLocks noGrp="1" noRot="1" noChangeAspect="1" noMove="1" noResize="1" noEditPoints="1" noAdjustHandles="1" noChangeArrowheads="1" noChangeShapeType="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a:extLst>
              <a:ext uri="{FF2B5EF4-FFF2-40B4-BE49-F238E27FC236}">
                <a16:creationId xmlns:a16="http://schemas.microsoft.com/office/drawing/2014/main" id="{953EB337-2C07-A539-74DC-5EA4683EB475}"/>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pic>
        <p:nvPicPr>
          <p:cNvPr id="8" name="Picture 7" descr="A black and grey text&#10;&#10;Description automatically generated">
            <a:extLst>
              <a:ext uri="{FF2B5EF4-FFF2-40B4-BE49-F238E27FC236}">
                <a16:creationId xmlns:a16="http://schemas.microsoft.com/office/drawing/2014/main" id="{04BCA10F-CF02-7191-418A-703EA565EC8A}"/>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9" name="Straight Connector 8">
            <a:extLst>
              <a:ext uri="{FF2B5EF4-FFF2-40B4-BE49-F238E27FC236}">
                <a16:creationId xmlns:a16="http://schemas.microsoft.com/office/drawing/2014/main" id="{8A19963E-76D8-040D-0A8D-FEB74BE88319}"/>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AutoShape 112">
            <a:extLst>
              <a:ext uri="{FF2B5EF4-FFF2-40B4-BE49-F238E27FC236}">
                <a16:creationId xmlns:a16="http://schemas.microsoft.com/office/drawing/2014/main" id="{FFA5D3CB-E2F3-19F1-9455-CA21402E0416}"/>
              </a:ext>
            </a:extLst>
          </p:cNvPr>
          <p:cNvSpPr>
            <a:spLocks noChangeAspect="1" noChangeArrowheads="1" noTextEdit="1"/>
          </p:cNvSpPr>
          <p:nvPr/>
        </p:nvSpPr>
        <p:spPr bwMode="auto">
          <a:xfrm>
            <a:off x="737568" y="827532"/>
            <a:ext cx="8627719" cy="5392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62626"/>
              </a:solidFill>
              <a:effectLst/>
              <a:uLnTx/>
              <a:uFillTx/>
              <a:latin typeface="Lucida Sans"/>
              <a:ea typeface="+mn-ea"/>
              <a:cs typeface="+mn-cs"/>
            </a:endParaRPr>
          </a:p>
        </p:txBody>
      </p:sp>
      <p:sp>
        <p:nvSpPr>
          <p:cNvPr id="3" name="TextBox 2">
            <a:extLst>
              <a:ext uri="{FF2B5EF4-FFF2-40B4-BE49-F238E27FC236}">
                <a16:creationId xmlns:a16="http://schemas.microsoft.com/office/drawing/2014/main" id="{79AAC922-590B-F915-53B7-B7D8426932B4}"/>
              </a:ext>
            </a:extLst>
          </p:cNvPr>
          <p:cNvSpPr txBox="1"/>
          <p:nvPr/>
        </p:nvSpPr>
        <p:spPr>
          <a:xfrm>
            <a:off x="568592" y="648310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and Hendren (QJE 2018)</a:t>
            </a:r>
          </a:p>
        </p:txBody>
      </p:sp>
      <p:sp>
        <p:nvSpPr>
          <p:cNvPr id="170" name="Rectangle 169">
            <a:extLst>
              <a:ext uri="{FF2B5EF4-FFF2-40B4-BE49-F238E27FC236}">
                <a16:creationId xmlns:a16="http://schemas.microsoft.com/office/drawing/2014/main" id="{2259DD60-CF12-110A-5C61-0C0912F7752B}"/>
              </a:ext>
            </a:extLst>
          </p:cNvPr>
          <p:cNvSpPr>
            <a:spLocks noChangeArrowheads="1"/>
          </p:cNvSpPr>
          <p:nvPr/>
        </p:nvSpPr>
        <p:spPr bwMode="auto">
          <a:xfrm>
            <a:off x="613842" y="375323"/>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Income Gain from Moving to a Higher Opportunity Neighborhood</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By Child’s Age at Move</a:t>
            </a:r>
          </a:p>
        </p:txBody>
      </p:sp>
      <p:cxnSp>
        <p:nvCxnSpPr>
          <p:cNvPr id="19" name="Straight Connector 18">
            <a:extLst>
              <a:ext uri="{FF2B5EF4-FFF2-40B4-BE49-F238E27FC236}">
                <a16:creationId xmlns:a16="http://schemas.microsoft.com/office/drawing/2014/main" id="{EB8EBE56-11CC-ADB7-8F49-8AC1E3ADC0C9}"/>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18" name="Line 113">
            <a:extLst>
              <a:ext uri="{FF2B5EF4-FFF2-40B4-BE49-F238E27FC236}">
                <a16:creationId xmlns:a16="http://schemas.microsoft.com/office/drawing/2014/main" id="{BF3CE25A-8C3A-7F50-C0EB-102F9E3F2902}"/>
              </a:ext>
            </a:extLst>
          </p:cNvPr>
          <p:cNvSpPr>
            <a:spLocks noChangeShapeType="1"/>
          </p:cNvSpPr>
          <p:nvPr/>
        </p:nvSpPr>
        <p:spPr bwMode="auto">
          <a:xfrm flipV="1">
            <a:off x="2330240" y="1161249"/>
            <a:ext cx="0" cy="453377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0" name="Line 123">
            <a:extLst>
              <a:ext uri="{FF2B5EF4-FFF2-40B4-BE49-F238E27FC236}">
                <a16:creationId xmlns:a16="http://schemas.microsoft.com/office/drawing/2014/main" id="{108716D9-A0FB-22BB-E0FA-C31E67DCA2A5}"/>
              </a:ext>
            </a:extLst>
          </p:cNvPr>
          <p:cNvSpPr>
            <a:spLocks noChangeShapeType="1"/>
          </p:cNvSpPr>
          <p:nvPr/>
        </p:nvSpPr>
        <p:spPr bwMode="auto">
          <a:xfrm>
            <a:off x="2330240" y="5695022"/>
            <a:ext cx="7361245"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1" name="Line 124">
            <a:extLst>
              <a:ext uri="{FF2B5EF4-FFF2-40B4-BE49-F238E27FC236}">
                <a16:creationId xmlns:a16="http://schemas.microsoft.com/office/drawing/2014/main" id="{8760F49D-B806-CFE8-128A-ECD351A0A55F}"/>
              </a:ext>
            </a:extLst>
          </p:cNvPr>
          <p:cNvSpPr>
            <a:spLocks noChangeShapeType="1"/>
          </p:cNvSpPr>
          <p:nvPr/>
        </p:nvSpPr>
        <p:spPr bwMode="auto">
          <a:xfrm>
            <a:off x="2475501"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2" name="Rectangle 125">
            <a:extLst>
              <a:ext uri="{FF2B5EF4-FFF2-40B4-BE49-F238E27FC236}">
                <a16:creationId xmlns:a16="http://schemas.microsoft.com/office/drawing/2014/main" id="{5AFFDDEA-E3A2-B754-142C-403FB821CBC1}"/>
              </a:ext>
            </a:extLst>
          </p:cNvPr>
          <p:cNvSpPr>
            <a:spLocks noChangeArrowheads="1"/>
          </p:cNvSpPr>
          <p:nvPr/>
        </p:nvSpPr>
        <p:spPr bwMode="auto">
          <a:xfrm>
            <a:off x="2403894" y="5832100"/>
            <a:ext cx="110010"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a:t>
            </a:r>
          </a:p>
        </p:txBody>
      </p:sp>
      <p:sp>
        <p:nvSpPr>
          <p:cNvPr id="24" name="Line 126">
            <a:extLst>
              <a:ext uri="{FF2B5EF4-FFF2-40B4-BE49-F238E27FC236}">
                <a16:creationId xmlns:a16="http://schemas.microsoft.com/office/drawing/2014/main" id="{71EA9F34-325A-8DCC-8AC4-931FA6ECE975}"/>
              </a:ext>
            </a:extLst>
          </p:cNvPr>
          <p:cNvSpPr>
            <a:spLocks noChangeShapeType="1"/>
          </p:cNvSpPr>
          <p:nvPr/>
        </p:nvSpPr>
        <p:spPr bwMode="auto">
          <a:xfrm>
            <a:off x="4650321"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6" name="Rectangle 127">
            <a:extLst>
              <a:ext uri="{FF2B5EF4-FFF2-40B4-BE49-F238E27FC236}">
                <a16:creationId xmlns:a16="http://schemas.microsoft.com/office/drawing/2014/main" id="{D5549BAD-4D5E-7C12-C9C2-65A04E95E78B}"/>
              </a:ext>
            </a:extLst>
          </p:cNvPr>
          <p:cNvSpPr>
            <a:spLocks noChangeArrowheads="1"/>
          </p:cNvSpPr>
          <p:nvPr/>
        </p:nvSpPr>
        <p:spPr bwMode="auto">
          <a:xfrm>
            <a:off x="4513244"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10</a:t>
            </a:r>
          </a:p>
        </p:txBody>
      </p:sp>
      <p:sp>
        <p:nvSpPr>
          <p:cNvPr id="27" name="Line 128">
            <a:extLst>
              <a:ext uri="{FF2B5EF4-FFF2-40B4-BE49-F238E27FC236}">
                <a16:creationId xmlns:a16="http://schemas.microsoft.com/office/drawing/2014/main" id="{463C90F0-ADEB-A5C7-8972-687254ED426F}"/>
              </a:ext>
            </a:extLst>
          </p:cNvPr>
          <p:cNvSpPr>
            <a:spLocks noChangeShapeType="1"/>
          </p:cNvSpPr>
          <p:nvPr/>
        </p:nvSpPr>
        <p:spPr bwMode="auto">
          <a:xfrm>
            <a:off x="7367312"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8" name="Rectangle 129">
            <a:extLst>
              <a:ext uri="{FF2B5EF4-FFF2-40B4-BE49-F238E27FC236}">
                <a16:creationId xmlns:a16="http://schemas.microsoft.com/office/drawing/2014/main" id="{22B19528-EB41-9045-4D87-01CEC9AB11DC}"/>
              </a:ext>
            </a:extLst>
          </p:cNvPr>
          <p:cNvSpPr>
            <a:spLocks noChangeArrowheads="1"/>
          </p:cNvSpPr>
          <p:nvPr/>
        </p:nvSpPr>
        <p:spPr bwMode="auto">
          <a:xfrm>
            <a:off x="7230235"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20</a:t>
            </a:r>
          </a:p>
        </p:txBody>
      </p:sp>
      <p:sp>
        <p:nvSpPr>
          <p:cNvPr id="31" name="Line 130">
            <a:extLst>
              <a:ext uri="{FF2B5EF4-FFF2-40B4-BE49-F238E27FC236}">
                <a16:creationId xmlns:a16="http://schemas.microsoft.com/office/drawing/2014/main" id="{9870A035-5FB3-B98E-4113-DAA5D608AEA0}"/>
              </a:ext>
            </a:extLst>
          </p:cNvPr>
          <p:cNvSpPr>
            <a:spLocks noChangeShapeType="1"/>
          </p:cNvSpPr>
          <p:nvPr/>
        </p:nvSpPr>
        <p:spPr bwMode="auto">
          <a:xfrm>
            <a:off x="9546224"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2" name="Rectangle 131">
            <a:extLst>
              <a:ext uri="{FF2B5EF4-FFF2-40B4-BE49-F238E27FC236}">
                <a16:creationId xmlns:a16="http://schemas.microsoft.com/office/drawing/2014/main" id="{14E3D725-E442-24A9-8E82-204DEACF7997}"/>
              </a:ext>
            </a:extLst>
          </p:cNvPr>
          <p:cNvSpPr>
            <a:spLocks noChangeArrowheads="1"/>
          </p:cNvSpPr>
          <p:nvPr/>
        </p:nvSpPr>
        <p:spPr bwMode="auto">
          <a:xfrm>
            <a:off x="9409147"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28</a:t>
            </a:r>
          </a:p>
        </p:txBody>
      </p:sp>
      <p:sp>
        <p:nvSpPr>
          <p:cNvPr id="33" name="Line 114">
            <a:extLst>
              <a:ext uri="{FF2B5EF4-FFF2-40B4-BE49-F238E27FC236}">
                <a16:creationId xmlns:a16="http://schemas.microsoft.com/office/drawing/2014/main" id="{E86E4B3B-3A2E-7B3C-9B95-000122C60B00}"/>
              </a:ext>
            </a:extLst>
          </p:cNvPr>
          <p:cNvSpPr>
            <a:spLocks noChangeShapeType="1"/>
          </p:cNvSpPr>
          <p:nvPr/>
        </p:nvSpPr>
        <p:spPr bwMode="auto">
          <a:xfrm flipH="1">
            <a:off x="2236127" y="5413249"/>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4" name="Line 116">
            <a:extLst>
              <a:ext uri="{FF2B5EF4-FFF2-40B4-BE49-F238E27FC236}">
                <a16:creationId xmlns:a16="http://schemas.microsoft.com/office/drawing/2014/main" id="{4F6882F1-1015-EAAA-34FA-1C25FCE98961}"/>
              </a:ext>
            </a:extLst>
          </p:cNvPr>
          <p:cNvSpPr>
            <a:spLocks noChangeShapeType="1"/>
          </p:cNvSpPr>
          <p:nvPr/>
        </p:nvSpPr>
        <p:spPr bwMode="auto">
          <a:xfrm flipH="1">
            <a:off x="2236127" y="4161134"/>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5" name="Line 118">
            <a:extLst>
              <a:ext uri="{FF2B5EF4-FFF2-40B4-BE49-F238E27FC236}">
                <a16:creationId xmlns:a16="http://schemas.microsoft.com/office/drawing/2014/main" id="{EC4F7EE7-50E8-9082-B028-2C538295912E}"/>
              </a:ext>
            </a:extLst>
          </p:cNvPr>
          <p:cNvSpPr>
            <a:spLocks noChangeShapeType="1"/>
          </p:cNvSpPr>
          <p:nvPr/>
        </p:nvSpPr>
        <p:spPr bwMode="auto">
          <a:xfrm flipH="1">
            <a:off x="2236127" y="2909019"/>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6" name="Line 120">
            <a:extLst>
              <a:ext uri="{FF2B5EF4-FFF2-40B4-BE49-F238E27FC236}">
                <a16:creationId xmlns:a16="http://schemas.microsoft.com/office/drawing/2014/main" id="{7E8D0764-B8CA-D535-F002-822727D68307}"/>
              </a:ext>
            </a:extLst>
          </p:cNvPr>
          <p:cNvSpPr>
            <a:spLocks noChangeShapeType="1"/>
          </p:cNvSpPr>
          <p:nvPr/>
        </p:nvSpPr>
        <p:spPr bwMode="auto">
          <a:xfrm flipH="1">
            <a:off x="2236127" y="1756487"/>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4" name="Rectangle 171">
            <a:extLst>
              <a:ext uri="{FF2B5EF4-FFF2-40B4-BE49-F238E27FC236}">
                <a16:creationId xmlns:a16="http://schemas.microsoft.com/office/drawing/2014/main" id="{24864EE8-BBFE-BBE8-D93A-E4D5B7FBB367}"/>
              </a:ext>
            </a:extLst>
          </p:cNvPr>
          <p:cNvSpPr>
            <a:spLocks noChangeArrowheads="1"/>
          </p:cNvSpPr>
          <p:nvPr/>
        </p:nvSpPr>
        <p:spPr bwMode="auto">
          <a:xfrm>
            <a:off x="9797765" y="1642763"/>
            <a:ext cx="1760643" cy="246221"/>
          </a:xfrm>
          <a:prstGeom prst="rect">
            <a:avLst/>
          </a:prstGeom>
          <a:noFill/>
          <a:ln>
            <a:noFill/>
          </a:ln>
          <a:effec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0547"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Gotha</a:t>
            </a:r>
          </a:p>
        </p:txBody>
      </p:sp>
      <p:sp>
        <p:nvSpPr>
          <p:cNvPr id="5" name="Rectangle 171">
            <a:extLst>
              <a:ext uri="{FF2B5EF4-FFF2-40B4-BE49-F238E27FC236}">
                <a16:creationId xmlns:a16="http://schemas.microsoft.com/office/drawing/2014/main" id="{1133F102-1C75-361F-188B-896DC070AEF3}"/>
              </a:ext>
            </a:extLst>
          </p:cNvPr>
          <p:cNvSpPr>
            <a:spLocks noChangeArrowheads="1"/>
          </p:cNvSpPr>
          <p:nvPr/>
        </p:nvSpPr>
        <p:spPr bwMode="auto">
          <a:xfrm>
            <a:off x="9797765" y="5284243"/>
            <a:ext cx="1870085" cy="246221"/>
          </a:xfrm>
          <a:prstGeom prst="rect">
            <a:avLst/>
          </a:prstGeom>
          <a:noFill/>
          <a:ln>
            <a:noFill/>
          </a:ln>
          <a:effec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0547"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Pine Hills</a:t>
            </a:r>
          </a:p>
        </p:txBody>
      </p:sp>
      <p:sp>
        <p:nvSpPr>
          <p:cNvPr id="6" name="Rectangle 115">
            <a:extLst>
              <a:ext uri="{FF2B5EF4-FFF2-40B4-BE49-F238E27FC236}">
                <a16:creationId xmlns:a16="http://schemas.microsoft.com/office/drawing/2014/main" id="{88DB03C9-4836-2720-6038-0C6FE25DF1A6}"/>
              </a:ext>
            </a:extLst>
          </p:cNvPr>
          <p:cNvSpPr>
            <a:spLocks noChangeArrowheads="1"/>
          </p:cNvSpPr>
          <p:nvPr/>
        </p:nvSpPr>
        <p:spPr bwMode="auto">
          <a:xfrm>
            <a:off x="1604360" y="5305527"/>
            <a:ext cx="6917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$34.5K</a:t>
            </a:r>
          </a:p>
        </p:txBody>
      </p:sp>
      <p:sp>
        <p:nvSpPr>
          <p:cNvPr id="15" name="Rectangle 117">
            <a:extLst>
              <a:ext uri="{FF2B5EF4-FFF2-40B4-BE49-F238E27FC236}">
                <a16:creationId xmlns:a16="http://schemas.microsoft.com/office/drawing/2014/main" id="{4CD21555-2D03-5A57-DA1A-82003F8BD707}"/>
              </a:ext>
            </a:extLst>
          </p:cNvPr>
          <p:cNvSpPr>
            <a:spLocks noChangeArrowheads="1"/>
          </p:cNvSpPr>
          <p:nvPr/>
        </p:nvSpPr>
        <p:spPr bwMode="auto">
          <a:xfrm>
            <a:off x="1604360" y="4057722"/>
            <a:ext cx="6844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$40.1K </a:t>
            </a:r>
          </a:p>
        </p:txBody>
      </p:sp>
      <p:sp>
        <p:nvSpPr>
          <p:cNvPr id="16" name="Rectangle 119">
            <a:extLst>
              <a:ext uri="{FF2B5EF4-FFF2-40B4-BE49-F238E27FC236}">
                <a16:creationId xmlns:a16="http://schemas.microsoft.com/office/drawing/2014/main" id="{B01CA591-B5B4-0819-5B09-5EE9BE0F9BEE}"/>
              </a:ext>
            </a:extLst>
          </p:cNvPr>
          <p:cNvSpPr>
            <a:spLocks noChangeArrowheads="1"/>
          </p:cNvSpPr>
          <p:nvPr/>
        </p:nvSpPr>
        <p:spPr bwMode="auto">
          <a:xfrm>
            <a:off x="1604360" y="2810774"/>
            <a:ext cx="62837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$45.6K</a:t>
            </a:r>
          </a:p>
        </p:txBody>
      </p:sp>
      <p:sp>
        <p:nvSpPr>
          <p:cNvPr id="17" name="Rectangle 121">
            <a:extLst>
              <a:ext uri="{FF2B5EF4-FFF2-40B4-BE49-F238E27FC236}">
                <a16:creationId xmlns:a16="http://schemas.microsoft.com/office/drawing/2014/main" id="{05D2749B-9862-5CE4-1FB2-E2892B1C5833}"/>
              </a:ext>
            </a:extLst>
          </p:cNvPr>
          <p:cNvSpPr>
            <a:spLocks noChangeArrowheads="1"/>
          </p:cNvSpPr>
          <p:nvPr/>
        </p:nvSpPr>
        <p:spPr bwMode="auto">
          <a:xfrm>
            <a:off x="1604360" y="1647409"/>
            <a:ext cx="6844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$51.3K </a:t>
            </a:r>
          </a:p>
        </p:txBody>
      </p:sp>
    </p:spTree>
    <p:extLst>
      <p:ext uri="{BB962C8B-B14F-4D97-AF65-F5344CB8AC3E}">
        <p14:creationId xmlns:p14="http://schemas.microsoft.com/office/powerpoint/2010/main" val="2439720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06A25-E74A-64C9-2B04-D42F948E33D8}"/>
            </a:ext>
          </a:extLst>
        </p:cNvPr>
        <p:cNvGrpSpPr/>
        <p:nvPr/>
      </p:nvGrpSpPr>
      <p:grpSpPr>
        <a:xfrm>
          <a:off x="0" y="0"/>
          <a:ext cx="0" cy="0"/>
          <a:chOff x="0" y="0"/>
          <a:chExt cx="0" cy="0"/>
        </a:xfrm>
      </p:grpSpPr>
      <p:sp>
        <p:nvSpPr>
          <p:cNvPr id="7" name="Line 8">
            <a:extLst>
              <a:ext uri="{FF2B5EF4-FFF2-40B4-BE49-F238E27FC236}">
                <a16:creationId xmlns:a16="http://schemas.microsoft.com/office/drawing/2014/main" id="{3C9374D4-49CB-142E-416D-CF584D57927F}"/>
              </a:ext>
            </a:extLst>
          </p:cNvPr>
          <p:cNvSpPr>
            <a:spLocks noChangeShapeType="1"/>
          </p:cNvSpPr>
          <p:nvPr/>
        </p:nvSpPr>
        <p:spPr bwMode="auto">
          <a:xfrm>
            <a:off x="2330240"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 name="Line 9">
            <a:extLst>
              <a:ext uri="{FF2B5EF4-FFF2-40B4-BE49-F238E27FC236}">
                <a16:creationId xmlns:a16="http://schemas.microsoft.com/office/drawing/2014/main" id="{11BDB676-4767-1D22-CC06-EAB07B8BB3A9}"/>
              </a:ext>
            </a:extLst>
          </p:cNvPr>
          <p:cNvSpPr>
            <a:spLocks noChangeShapeType="1"/>
          </p:cNvSpPr>
          <p:nvPr/>
        </p:nvSpPr>
        <p:spPr bwMode="auto">
          <a:xfrm>
            <a:off x="252869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3" name="Line 10">
            <a:extLst>
              <a:ext uri="{FF2B5EF4-FFF2-40B4-BE49-F238E27FC236}">
                <a16:creationId xmlns:a16="http://schemas.microsoft.com/office/drawing/2014/main" id="{054BEF6C-2B36-24A1-FC78-E2DCE4C24D91}"/>
              </a:ext>
            </a:extLst>
          </p:cNvPr>
          <p:cNvSpPr>
            <a:spLocks noChangeShapeType="1"/>
          </p:cNvSpPr>
          <p:nvPr/>
        </p:nvSpPr>
        <p:spPr bwMode="auto">
          <a:xfrm>
            <a:off x="272715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5" name="Line 11">
            <a:extLst>
              <a:ext uri="{FF2B5EF4-FFF2-40B4-BE49-F238E27FC236}">
                <a16:creationId xmlns:a16="http://schemas.microsoft.com/office/drawing/2014/main" id="{D5FE0E55-0535-D907-7403-779C589BBD2D}"/>
              </a:ext>
            </a:extLst>
          </p:cNvPr>
          <p:cNvSpPr>
            <a:spLocks noChangeShapeType="1"/>
          </p:cNvSpPr>
          <p:nvPr/>
        </p:nvSpPr>
        <p:spPr bwMode="auto">
          <a:xfrm>
            <a:off x="2925605" y="5420869"/>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7" name="Line 12">
            <a:extLst>
              <a:ext uri="{FF2B5EF4-FFF2-40B4-BE49-F238E27FC236}">
                <a16:creationId xmlns:a16="http://schemas.microsoft.com/office/drawing/2014/main" id="{3B37118C-DAB7-B016-4D0C-78E7017A80F5}"/>
              </a:ext>
            </a:extLst>
          </p:cNvPr>
          <p:cNvSpPr>
            <a:spLocks noChangeShapeType="1"/>
          </p:cNvSpPr>
          <p:nvPr/>
        </p:nvSpPr>
        <p:spPr bwMode="auto">
          <a:xfrm>
            <a:off x="3119968" y="5420869"/>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8" name="Line 13">
            <a:extLst>
              <a:ext uri="{FF2B5EF4-FFF2-40B4-BE49-F238E27FC236}">
                <a16:creationId xmlns:a16="http://schemas.microsoft.com/office/drawing/2014/main" id="{0898BBD3-1A29-019D-F41A-2F716DD8B2D8}"/>
              </a:ext>
            </a:extLst>
          </p:cNvPr>
          <p:cNvSpPr>
            <a:spLocks noChangeShapeType="1"/>
          </p:cNvSpPr>
          <p:nvPr/>
        </p:nvSpPr>
        <p:spPr bwMode="auto">
          <a:xfrm>
            <a:off x="3318423" y="5420869"/>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89" name="Line 14">
            <a:extLst>
              <a:ext uri="{FF2B5EF4-FFF2-40B4-BE49-F238E27FC236}">
                <a16:creationId xmlns:a16="http://schemas.microsoft.com/office/drawing/2014/main" id="{A58B645D-0CA5-BC06-3418-03A03A1D7EEF}"/>
              </a:ext>
            </a:extLst>
          </p:cNvPr>
          <p:cNvSpPr>
            <a:spLocks noChangeShapeType="1"/>
          </p:cNvSpPr>
          <p:nvPr/>
        </p:nvSpPr>
        <p:spPr bwMode="auto">
          <a:xfrm>
            <a:off x="352301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0" name="Line 15">
            <a:extLst>
              <a:ext uri="{FF2B5EF4-FFF2-40B4-BE49-F238E27FC236}">
                <a16:creationId xmlns:a16="http://schemas.microsoft.com/office/drawing/2014/main" id="{AF4A4593-D1CF-01FC-1AC5-A2616547245E}"/>
              </a:ext>
            </a:extLst>
          </p:cNvPr>
          <p:cNvSpPr>
            <a:spLocks noChangeShapeType="1"/>
          </p:cNvSpPr>
          <p:nvPr/>
        </p:nvSpPr>
        <p:spPr bwMode="auto">
          <a:xfrm>
            <a:off x="3721470" y="5420869"/>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1" name="Line 16">
            <a:extLst>
              <a:ext uri="{FF2B5EF4-FFF2-40B4-BE49-F238E27FC236}">
                <a16:creationId xmlns:a16="http://schemas.microsoft.com/office/drawing/2014/main" id="{68ED3BEC-FE94-B098-E5AA-64E29501B0B4}"/>
              </a:ext>
            </a:extLst>
          </p:cNvPr>
          <p:cNvSpPr>
            <a:spLocks noChangeShapeType="1"/>
          </p:cNvSpPr>
          <p:nvPr/>
        </p:nvSpPr>
        <p:spPr bwMode="auto">
          <a:xfrm>
            <a:off x="3915833"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2" name="Line 17">
            <a:extLst>
              <a:ext uri="{FF2B5EF4-FFF2-40B4-BE49-F238E27FC236}">
                <a16:creationId xmlns:a16="http://schemas.microsoft.com/office/drawing/2014/main" id="{C4D86AE9-FB37-22D5-1A54-C796CF1A02B9}"/>
              </a:ext>
            </a:extLst>
          </p:cNvPr>
          <p:cNvSpPr>
            <a:spLocks noChangeShapeType="1"/>
          </p:cNvSpPr>
          <p:nvPr/>
        </p:nvSpPr>
        <p:spPr bwMode="auto">
          <a:xfrm>
            <a:off x="4114288"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4" name="Line 18">
            <a:extLst>
              <a:ext uri="{FF2B5EF4-FFF2-40B4-BE49-F238E27FC236}">
                <a16:creationId xmlns:a16="http://schemas.microsoft.com/office/drawing/2014/main" id="{49E1D9C6-C584-D6E7-F28E-3C50D57D17A9}"/>
              </a:ext>
            </a:extLst>
          </p:cNvPr>
          <p:cNvSpPr>
            <a:spLocks noChangeShapeType="1"/>
          </p:cNvSpPr>
          <p:nvPr/>
        </p:nvSpPr>
        <p:spPr bwMode="auto">
          <a:xfrm>
            <a:off x="431274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5" name="Line 19">
            <a:extLst>
              <a:ext uri="{FF2B5EF4-FFF2-40B4-BE49-F238E27FC236}">
                <a16:creationId xmlns:a16="http://schemas.microsoft.com/office/drawing/2014/main" id="{01D1A775-C4B9-8EBE-CA8B-B31D3BD21FB4}"/>
              </a:ext>
            </a:extLst>
          </p:cNvPr>
          <p:cNvSpPr>
            <a:spLocks noChangeShapeType="1"/>
          </p:cNvSpPr>
          <p:nvPr/>
        </p:nvSpPr>
        <p:spPr bwMode="auto">
          <a:xfrm>
            <a:off x="4513244"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6" name="Line 20">
            <a:extLst>
              <a:ext uri="{FF2B5EF4-FFF2-40B4-BE49-F238E27FC236}">
                <a16:creationId xmlns:a16="http://schemas.microsoft.com/office/drawing/2014/main" id="{E07E366C-E0DA-13AB-9E62-F0A1F60B221C}"/>
              </a:ext>
            </a:extLst>
          </p:cNvPr>
          <p:cNvSpPr>
            <a:spLocks noChangeShapeType="1"/>
          </p:cNvSpPr>
          <p:nvPr/>
        </p:nvSpPr>
        <p:spPr bwMode="auto">
          <a:xfrm>
            <a:off x="471169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7" name="Line 21">
            <a:extLst>
              <a:ext uri="{FF2B5EF4-FFF2-40B4-BE49-F238E27FC236}">
                <a16:creationId xmlns:a16="http://schemas.microsoft.com/office/drawing/2014/main" id="{1490EF73-60E5-228F-44F0-04ECB520FE63}"/>
              </a:ext>
            </a:extLst>
          </p:cNvPr>
          <p:cNvSpPr>
            <a:spLocks noChangeShapeType="1"/>
          </p:cNvSpPr>
          <p:nvPr/>
        </p:nvSpPr>
        <p:spPr bwMode="auto">
          <a:xfrm>
            <a:off x="491015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8" name="Line 22">
            <a:extLst>
              <a:ext uri="{FF2B5EF4-FFF2-40B4-BE49-F238E27FC236}">
                <a16:creationId xmlns:a16="http://schemas.microsoft.com/office/drawing/2014/main" id="{CA6598B5-1634-7C70-7CE3-61056C393500}"/>
              </a:ext>
            </a:extLst>
          </p:cNvPr>
          <p:cNvSpPr>
            <a:spLocks noChangeShapeType="1"/>
          </p:cNvSpPr>
          <p:nvPr/>
        </p:nvSpPr>
        <p:spPr bwMode="auto">
          <a:xfrm>
            <a:off x="510860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99" name="Line 23">
            <a:extLst>
              <a:ext uri="{FF2B5EF4-FFF2-40B4-BE49-F238E27FC236}">
                <a16:creationId xmlns:a16="http://schemas.microsoft.com/office/drawing/2014/main" id="{C246034C-4B86-FB51-BD09-28E87FA65A4F}"/>
              </a:ext>
            </a:extLst>
          </p:cNvPr>
          <p:cNvSpPr>
            <a:spLocks noChangeShapeType="1"/>
          </p:cNvSpPr>
          <p:nvPr/>
        </p:nvSpPr>
        <p:spPr bwMode="auto">
          <a:xfrm>
            <a:off x="530706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0" name="Line 24">
            <a:extLst>
              <a:ext uri="{FF2B5EF4-FFF2-40B4-BE49-F238E27FC236}">
                <a16:creationId xmlns:a16="http://schemas.microsoft.com/office/drawing/2014/main" id="{5832781F-2040-E6CB-4A96-85B90B1B5CA4}"/>
              </a:ext>
            </a:extLst>
          </p:cNvPr>
          <p:cNvSpPr>
            <a:spLocks noChangeShapeType="1"/>
          </p:cNvSpPr>
          <p:nvPr/>
        </p:nvSpPr>
        <p:spPr bwMode="auto">
          <a:xfrm>
            <a:off x="550756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1" name="Line 25">
            <a:extLst>
              <a:ext uri="{FF2B5EF4-FFF2-40B4-BE49-F238E27FC236}">
                <a16:creationId xmlns:a16="http://schemas.microsoft.com/office/drawing/2014/main" id="{9EEE9464-9B23-C743-C604-441E562D5047}"/>
              </a:ext>
            </a:extLst>
          </p:cNvPr>
          <p:cNvSpPr>
            <a:spLocks noChangeShapeType="1"/>
          </p:cNvSpPr>
          <p:nvPr/>
        </p:nvSpPr>
        <p:spPr bwMode="auto">
          <a:xfrm>
            <a:off x="570602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2" name="Line 26">
            <a:extLst>
              <a:ext uri="{FF2B5EF4-FFF2-40B4-BE49-F238E27FC236}">
                <a16:creationId xmlns:a16="http://schemas.microsoft.com/office/drawing/2014/main" id="{C44B3A60-52F0-F9EE-6F0B-44A5A2D21B06}"/>
              </a:ext>
            </a:extLst>
          </p:cNvPr>
          <p:cNvSpPr>
            <a:spLocks noChangeShapeType="1"/>
          </p:cNvSpPr>
          <p:nvPr/>
        </p:nvSpPr>
        <p:spPr bwMode="auto">
          <a:xfrm>
            <a:off x="590447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3" name="Line 27">
            <a:extLst>
              <a:ext uri="{FF2B5EF4-FFF2-40B4-BE49-F238E27FC236}">
                <a16:creationId xmlns:a16="http://schemas.microsoft.com/office/drawing/2014/main" id="{67F1F6CE-AA9F-59DB-EBE5-1AEBB686CBA7}"/>
              </a:ext>
            </a:extLst>
          </p:cNvPr>
          <p:cNvSpPr>
            <a:spLocks noChangeShapeType="1"/>
          </p:cNvSpPr>
          <p:nvPr/>
        </p:nvSpPr>
        <p:spPr bwMode="auto">
          <a:xfrm>
            <a:off x="6102929"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4" name="Line 28">
            <a:extLst>
              <a:ext uri="{FF2B5EF4-FFF2-40B4-BE49-F238E27FC236}">
                <a16:creationId xmlns:a16="http://schemas.microsoft.com/office/drawing/2014/main" id="{2DC08EEE-4733-F6FA-0A37-E5F6CDCAB6DB}"/>
              </a:ext>
            </a:extLst>
          </p:cNvPr>
          <p:cNvSpPr>
            <a:spLocks noChangeShapeType="1"/>
          </p:cNvSpPr>
          <p:nvPr/>
        </p:nvSpPr>
        <p:spPr bwMode="auto">
          <a:xfrm>
            <a:off x="630138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5" name="Line 29">
            <a:extLst>
              <a:ext uri="{FF2B5EF4-FFF2-40B4-BE49-F238E27FC236}">
                <a16:creationId xmlns:a16="http://schemas.microsoft.com/office/drawing/2014/main" id="{140DACE7-588D-5DC3-EBA3-10559611C732}"/>
              </a:ext>
            </a:extLst>
          </p:cNvPr>
          <p:cNvSpPr>
            <a:spLocks noChangeShapeType="1"/>
          </p:cNvSpPr>
          <p:nvPr/>
        </p:nvSpPr>
        <p:spPr bwMode="auto">
          <a:xfrm>
            <a:off x="650188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6" name="Line 30">
            <a:extLst>
              <a:ext uri="{FF2B5EF4-FFF2-40B4-BE49-F238E27FC236}">
                <a16:creationId xmlns:a16="http://schemas.microsoft.com/office/drawing/2014/main" id="{91DFBB81-A7AB-6CD0-97D9-28285CC257FC}"/>
              </a:ext>
            </a:extLst>
          </p:cNvPr>
          <p:cNvSpPr>
            <a:spLocks noChangeShapeType="1"/>
          </p:cNvSpPr>
          <p:nvPr/>
        </p:nvSpPr>
        <p:spPr bwMode="auto">
          <a:xfrm>
            <a:off x="670034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7" name="Line 31">
            <a:extLst>
              <a:ext uri="{FF2B5EF4-FFF2-40B4-BE49-F238E27FC236}">
                <a16:creationId xmlns:a16="http://schemas.microsoft.com/office/drawing/2014/main" id="{02F0A166-2C29-9860-AE9D-A2C1B0135CB2}"/>
              </a:ext>
            </a:extLst>
          </p:cNvPr>
          <p:cNvSpPr>
            <a:spLocks noChangeShapeType="1"/>
          </p:cNvSpPr>
          <p:nvPr/>
        </p:nvSpPr>
        <p:spPr bwMode="auto">
          <a:xfrm>
            <a:off x="6898794"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8" name="Line 32">
            <a:extLst>
              <a:ext uri="{FF2B5EF4-FFF2-40B4-BE49-F238E27FC236}">
                <a16:creationId xmlns:a16="http://schemas.microsoft.com/office/drawing/2014/main" id="{C24B2BC1-55F9-C8BC-23A4-D321F97F0CE7}"/>
              </a:ext>
            </a:extLst>
          </p:cNvPr>
          <p:cNvSpPr>
            <a:spLocks noChangeShapeType="1"/>
          </p:cNvSpPr>
          <p:nvPr/>
        </p:nvSpPr>
        <p:spPr bwMode="auto">
          <a:xfrm>
            <a:off x="709725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09" name="Line 33">
            <a:extLst>
              <a:ext uri="{FF2B5EF4-FFF2-40B4-BE49-F238E27FC236}">
                <a16:creationId xmlns:a16="http://schemas.microsoft.com/office/drawing/2014/main" id="{4E76FBD8-79C9-7814-DD8E-E6D4D8104516}"/>
              </a:ext>
            </a:extLst>
          </p:cNvPr>
          <p:cNvSpPr>
            <a:spLocks noChangeShapeType="1"/>
          </p:cNvSpPr>
          <p:nvPr/>
        </p:nvSpPr>
        <p:spPr bwMode="auto">
          <a:xfrm>
            <a:off x="729570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0" name="Line 34">
            <a:extLst>
              <a:ext uri="{FF2B5EF4-FFF2-40B4-BE49-F238E27FC236}">
                <a16:creationId xmlns:a16="http://schemas.microsoft.com/office/drawing/2014/main" id="{EADC5A06-5799-EBEF-ABE9-950923BE676B}"/>
              </a:ext>
            </a:extLst>
          </p:cNvPr>
          <p:cNvSpPr>
            <a:spLocks noChangeShapeType="1"/>
          </p:cNvSpPr>
          <p:nvPr/>
        </p:nvSpPr>
        <p:spPr bwMode="auto">
          <a:xfrm>
            <a:off x="7496205" y="5420869"/>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1" name="Line 35">
            <a:extLst>
              <a:ext uri="{FF2B5EF4-FFF2-40B4-BE49-F238E27FC236}">
                <a16:creationId xmlns:a16="http://schemas.microsoft.com/office/drawing/2014/main" id="{D36EC096-1E52-8B73-0E9F-29C93D9BD9D0}"/>
              </a:ext>
            </a:extLst>
          </p:cNvPr>
          <p:cNvSpPr>
            <a:spLocks noChangeShapeType="1"/>
          </p:cNvSpPr>
          <p:nvPr/>
        </p:nvSpPr>
        <p:spPr bwMode="auto">
          <a:xfrm>
            <a:off x="7694661"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2" name="Line 36">
            <a:extLst>
              <a:ext uri="{FF2B5EF4-FFF2-40B4-BE49-F238E27FC236}">
                <a16:creationId xmlns:a16="http://schemas.microsoft.com/office/drawing/2014/main" id="{CBA31C26-D36A-2731-FD45-4F7B94589F02}"/>
              </a:ext>
            </a:extLst>
          </p:cNvPr>
          <p:cNvSpPr>
            <a:spLocks noChangeShapeType="1"/>
          </p:cNvSpPr>
          <p:nvPr/>
        </p:nvSpPr>
        <p:spPr bwMode="auto">
          <a:xfrm>
            <a:off x="789311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3" name="Line 37">
            <a:extLst>
              <a:ext uri="{FF2B5EF4-FFF2-40B4-BE49-F238E27FC236}">
                <a16:creationId xmlns:a16="http://schemas.microsoft.com/office/drawing/2014/main" id="{AC80CDF0-2C58-5EFB-7DDB-C0EBF30BBA7E}"/>
              </a:ext>
            </a:extLst>
          </p:cNvPr>
          <p:cNvSpPr>
            <a:spLocks noChangeShapeType="1"/>
          </p:cNvSpPr>
          <p:nvPr/>
        </p:nvSpPr>
        <p:spPr bwMode="auto">
          <a:xfrm>
            <a:off x="8091570"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4" name="Line 38">
            <a:extLst>
              <a:ext uri="{FF2B5EF4-FFF2-40B4-BE49-F238E27FC236}">
                <a16:creationId xmlns:a16="http://schemas.microsoft.com/office/drawing/2014/main" id="{9D1E46BD-2D41-BD51-7403-A49B0E680D7C}"/>
              </a:ext>
            </a:extLst>
          </p:cNvPr>
          <p:cNvSpPr>
            <a:spLocks noChangeShapeType="1"/>
          </p:cNvSpPr>
          <p:nvPr/>
        </p:nvSpPr>
        <p:spPr bwMode="auto">
          <a:xfrm>
            <a:off x="8290025" y="5420869"/>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5" name="Line 39">
            <a:extLst>
              <a:ext uri="{FF2B5EF4-FFF2-40B4-BE49-F238E27FC236}">
                <a16:creationId xmlns:a16="http://schemas.microsoft.com/office/drawing/2014/main" id="{BBD241BB-ADE2-DF2D-424B-49C3B3962701}"/>
              </a:ext>
            </a:extLst>
          </p:cNvPr>
          <p:cNvSpPr>
            <a:spLocks noChangeShapeType="1"/>
          </p:cNvSpPr>
          <p:nvPr/>
        </p:nvSpPr>
        <p:spPr bwMode="auto">
          <a:xfrm>
            <a:off x="8490526" y="5420869"/>
            <a:ext cx="130940"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6" name="Line 40">
            <a:extLst>
              <a:ext uri="{FF2B5EF4-FFF2-40B4-BE49-F238E27FC236}">
                <a16:creationId xmlns:a16="http://schemas.microsoft.com/office/drawing/2014/main" id="{E414331D-6511-1B09-3137-6D20B7AFBC76}"/>
              </a:ext>
            </a:extLst>
          </p:cNvPr>
          <p:cNvSpPr>
            <a:spLocks noChangeShapeType="1"/>
          </p:cNvSpPr>
          <p:nvPr/>
        </p:nvSpPr>
        <p:spPr bwMode="auto">
          <a:xfrm>
            <a:off x="8688981"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7" name="Line 41">
            <a:extLst>
              <a:ext uri="{FF2B5EF4-FFF2-40B4-BE49-F238E27FC236}">
                <a16:creationId xmlns:a16="http://schemas.microsoft.com/office/drawing/2014/main" id="{A45E551F-677D-4613-E601-2DF85BF1D6EB}"/>
              </a:ext>
            </a:extLst>
          </p:cNvPr>
          <p:cNvSpPr>
            <a:spLocks noChangeShapeType="1"/>
          </p:cNvSpPr>
          <p:nvPr/>
        </p:nvSpPr>
        <p:spPr bwMode="auto">
          <a:xfrm>
            <a:off x="8887435"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8" name="Line 42">
            <a:extLst>
              <a:ext uri="{FF2B5EF4-FFF2-40B4-BE49-F238E27FC236}">
                <a16:creationId xmlns:a16="http://schemas.microsoft.com/office/drawing/2014/main" id="{D54DE1E9-92EE-A3FD-62D0-D21F801EBD77}"/>
              </a:ext>
            </a:extLst>
          </p:cNvPr>
          <p:cNvSpPr>
            <a:spLocks noChangeShapeType="1"/>
          </p:cNvSpPr>
          <p:nvPr/>
        </p:nvSpPr>
        <p:spPr bwMode="auto">
          <a:xfrm>
            <a:off x="9085891"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19" name="Line 43">
            <a:extLst>
              <a:ext uri="{FF2B5EF4-FFF2-40B4-BE49-F238E27FC236}">
                <a16:creationId xmlns:a16="http://schemas.microsoft.com/office/drawing/2014/main" id="{F8637F12-6976-37EA-17F7-3AF6F153D174}"/>
              </a:ext>
            </a:extLst>
          </p:cNvPr>
          <p:cNvSpPr>
            <a:spLocks noChangeShapeType="1"/>
          </p:cNvSpPr>
          <p:nvPr/>
        </p:nvSpPr>
        <p:spPr bwMode="auto">
          <a:xfrm>
            <a:off x="9284346" y="5420869"/>
            <a:ext cx="132985"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0" name="Line 44">
            <a:extLst>
              <a:ext uri="{FF2B5EF4-FFF2-40B4-BE49-F238E27FC236}">
                <a16:creationId xmlns:a16="http://schemas.microsoft.com/office/drawing/2014/main" id="{939DA3DB-1D61-7360-6ECE-2D1757DF7AD7}"/>
              </a:ext>
            </a:extLst>
          </p:cNvPr>
          <p:cNvSpPr>
            <a:spLocks noChangeShapeType="1"/>
          </p:cNvSpPr>
          <p:nvPr/>
        </p:nvSpPr>
        <p:spPr bwMode="auto">
          <a:xfrm>
            <a:off x="9484846" y="5420869"/>
            <a:ext cx="130940"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1" name="Line 45">
            <a:extLst>
              <a:ext uri="{FF2B5EF4-FFF2-40B4-BE49-F238E27FC236}">
                <a16:creationId xmlns:a16="http://schemas.microsoft.com/office/drawing/2014/main" id="{B6825187-7D35-8C93-FFF7-A4D6925CF45E}"/>
              </a:ext>
            </a:extLst>
          </p:cNvPr>
          <p:cNvSpPr>
            <a:spLocks noChangeShapeType="1"/>
          </p:cNvSpPr>
          <p:nvPr/>
        </p:nvSpPr>
        <p:spPr bwMode="auto">
          <a:xfrm>
            <a:off x="9683302" y="5420869"/>
            <a:ext cx="8184" cy="0"/>
          </a:xfrm>
          <a:prstGeom prst="line">
            <a:avLst/>
          </a:prstGeom>
          <a:noFill/>
          <a:ln w="14288">
            <a:solidFill>
              <a:srgbClr val="808080"/>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2" name="Line 46">
            <a:extLst>
              <a:ext uri="{FF2B5EF4-FFF2-40B4-BE49-F238E27FC236}">
                <a16:creationId xmlns:a16="http://schemas.microsoft.com/office/drawing/2014/main" id="{B40E59B0-026C-2E12-D299-4332416BA033}"/>
              </a:ext>
            </a:extLst>
          </p:cNvPr>
          <p:cNvSpPr>
            <a:spLocks noChangeShapeType="1"/>
          </p:cNvSpPr>
          <p:nvPr/>
        </p:nvSpPr>
        <p:spPr bwMode="auto">
          <a:xfrm>
            <a:off x="2330240"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3" name="Line 47">
            <a:extLst>
              <a:ext uri="{FF2B5EF4-FFF2-40B4-BE49-F238E27FC236}">
                <a16:creationId xmlns:a16="http://schemas.microsoft.com/office/drawing/2014/main" id="{E51A2BFD-6721-5CCD-A315-8FCACA522F67}"/>
              </a:ext>
            </a:extLst>
          </p:cNvPr>
          <p:cNvSpPr>
            <a:spLocks noChangeShapeType="1"/>
          </p:cNvSpPr>
          <p:nvPr/>
        </p:nvSpPr>
        <p:spPr bwMode="auto">
          <a:xfrm>
            <a:off x="252869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4" name="Line 48">
            <a:extLst>
              <a:ext uri="{FF2B5EF4-FFF2-40B4-BE49-F238E27FC236}">
                <a16:creationId xmlns:a16="http://schemas.microsoft.com/office/drawing/2014/main" id="{109C33A9-BFAD-1788-F5CC-1991DE56F4A0}"/>
              </a:ext>
            </a:extLst>
          </p:cNvPr>
          <p:cNvSpPr>
            <a:spLocks noChangeShapeType="1"/>
          </p:cNvSpPr>
          <p:nvPr/>
        </p:nvSpPr>
        <p:spPr bwMode="auto">
          <a:xfrm>
            <a:off x="272715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5" name="Line 49">
            <a:extLst>
              <a:ext uri="{FF2B5EF4-FFF2-40B4-BE49-F238E27FC236}">
                <a16:creationId xmlns:a16="http://schemas.microsoft.com/office/drawing/2014/main" id="{A8698B2D-9844-B387-A44A-5CB6FB9FA3B9}"/>
              </a:ext>
            </a:extLst>
          </p:cNvPr>
          <p:cNvSpPr>
            <a:spLocks noChangeShapeType="1"/>
          </p:cNvSpPr>
          <p:nvPr/>
        </p:nvSpPr>
        <p:spPr bwMode="auto">
          <a:xfrm>
            <a:off x="2925605" y="1762751"/>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6" name="Line 50">
            <a:extLst>
              <a:ext uri="{FF2B5EF4-FFF2-40B4-BE49-F238E27FC236}">
                <a16:creationId xmlns:a16="http://schemas.microsoft.com/office/drawing/2014/main" id="{675CFF9B-0622-703B-6500-D659BEFC358F}"/>
              </a:ext>
            </a:extLst>
          </p:cNvPr>
          <p:cNvSpPr>
            <a:spLocks noChangeShapeType="1"/>
          </p:cNvSpPr>
          <p:nvPr/>
        </p:nvSpPr>
        <p:spPr bwMode="auto">
          <a:xfrm>
            <a:off x="3119968" y="1762751"/>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7" name="Line 51">
            <a:extLst>
              <a:ext uri="{FF2B5EF4-FFF2-40B4-BE49-F238E27FC236}">
                <a16:creationId xmlns:a16="http://schemas.microsoft.com/office/drawing/2014/main" id="{F8AAFB28-EA02-D316-3CA4-448CE02C6AF5}"/>
              </a:ext>
            </a:extLst>
          </p:cNvPr>
          <p:cNvSpPr>
            <a:spLocks noChangeShapeType="1"/>
          </p:cNvSpPr>
          <p:nvPr/>
        </p:nvSpPr>
        <p:spPr bwMode="auto">
          <a:xfrm>
            <a:off x="3318423" y="1762751"/>
            <a:ext cx="137077"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8" name="Line 52">
            <a:extLst>
              <a:ext uri="{FF2B5EF4-FFF2-40B4-BE49-F238E27FC236}">
                <a16:creationId xmlns:a16="http://schemas.microsoft.com/office/drawing/2014/main" id="{74E821A2-7A55-4D42-779D-1372DE4CBB5C}"/>
              </a:ext>
            </a:extLst>
          </p:cNvPr>
          <p:cNvSpPr>
            <a:spLocks noChangeShapeType="1"/>
          </p:cNvSpPr>
          <p:nvPr/>
        </p:nvSpPr>
        <p:spPr bwMode="auto">
          <a:xfrm>
            <a:off x="352301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29" name="Line 53">
            <a:extLst>
              <a:ext uri="{FF2B5EF4-FFF2-40B4-BE49-F238E27FC236}">
                <a16:creationId xmlns:a16="http://schemas.microsoft.com/office/drawing/2014/main" id="{9F349D81-E40B-1E36-541A-0D7474CA9BC9}"/>
              </a:ext>
            </a:extLst>
          </p:cNvPr>
          <p:cNvSpPr>
            <a:spLocks noChangeShapeType="1"/>
          </p:cNvSpPr>
          <p:nvPr/>
        </p:nvSpPr>
        <p:spPr bwMode="auto">
          <a:xfrm>
            <a:off x="3721470" y="1762751"/>
            <a:ext cx="128893"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0" name="Line 54">
            <a:extLst>
              <a:ext uri="{FF2B5EF4-FFF2-40B4-BE49-F238E27FC236}">
                <a16:creationId xmlns:a16="http://schemas.microsoft.com/office/drawing/2014/main" id="{417D1439-4A73-B918-4E15-6774EAD3FA16}"/>
              </a:ext>
            </a:extLst>
          </p:cNvPr>
          <p:cNvSpPr>
            <a:spLocks noChangeShapeType="1"/>
          </p:cNvSpPr>
          <p:nvPr/>
        </p:nvSpPr>
        <p:spPr bwMode="auto">
          <a:xfrm>
            <a:off x="3915833"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1" name="Line 55">
            <a:extLst>
              <a:ext uri="{FF2B5EF4-FFF2-40B4-BE49-F238E27FC236}">
                <a16:creationId xmlns:a16="http://schemas.microsoft.com/office/drawing/2014/main" id="{12FDE508-BC98-AA3B-4D03-BD7546C5C7A9}"/>
              </a:ext>
            </a:extLst>
          </p:cNvPr>
          <p:cNvSpPr>
            <a:spLocks noChangeShapeType="1"/>
          </p:cNvSpPr>
          <p:nvPr/>
        </p:nvSpPr>
        <p:spPr bwMode="auto">
          <a:xfrm>
            <a:off x="4114288"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2" name="Line 56">
            <a:extLst>
              <a:ext uri="{FF2B5EF4-FFF2-40B4-BE49-F238E27FC236}">
                <a16:creationId xmlns:a16="http://schemas.microsoft.com/office/drawing/2014/main" id="{E8CB6A6B-812F-1C83-A2FD-0F8FC3A30BFF}"/>
              </a:ext>
            </a:extLst>
          </p:cNvPr>
          <p:cNvSpPr>
            <a:spLocks noChangeShapeType="1"/>
          </p:cNvSpPr>
          <p:nvPr/>
        </p:nvSpPr>
        <p:spPr bwMode="auto">
          <a:xfrm>
            <a:off x="431274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3" name="Line 57">
            <a:extLst>
              <a:ext uri="{FF2B5EF4-FFF2-40B4-BE49-F238E27FC236}">
                <a16:creationId xmlns:a16="http://schemas.microsoft.com/office/drawing/2014/main" id="{FD956306-7C2C-F8A1-1EAB-D62B98189CFF}"/>
              </a:ext>
            </a:extLst>
          </p:cNvPr>
          <p:cNvSpPr>
            <a:spLocks noChangeShapeType="1"/>
          </p:cNvSpPr>
          <p:nvPr/>
        </p:nvSpPr>
        <p:spPr bwMode="auto">
          <a:xfrm>
            <a:off x="4513244"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4" name="Line 58">
            <a:extLst>
              <a:ext uri="{FF2B5EF4-FFF2-40B4-BE49-F238E27FC236}">
                <a16:creationId xmlns:a16="http://schemas.microsoft.com/office/drawing/2014/main" id="{8BDF0220-8274-1788-D09C-A87F14D7CA17}"/>
              </a:ext>
            </a:extLst>
          </p:cNvPr>
          <p:cNvSpPr>
            <a:spLocks noChangeShapeType="1"/>
          </p:cNvSpPr>
          <p:nvPr/>
        </p:nvSpPr>
        <p:spPr bwMode="auto">
          <a:xfrm>
            <a:off x="471169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5" name="Line 59">
            <a:extLst>
              <a:ext uri="{FF2B5EF4-FFF2-40B4-BE49-F238E27FC236}">
                <a16:creationId xmlns:a16="http://schemas.microsoft.com/office/drawing/2014/main" id="{6AC9F34B-219B-3D52-0DE2-97B2B7815186}"/>
              </a:ext>
            </a:extLst>
          </p:cNvPr>
          <p:cNvSpPr>
            <a:spLocks noChangeShapeType="1"/>
          </p:cNvSpPr>
          <p:nvPr/>
        </p:nvSpPr>
        <p:spPr bwMode="auto">
          <a:xfrm>
            <a:off x="491015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6" name="Line 60">
            <a:extLst>
              <a:ext uri="{FF2B5EF4-FFF2-40B4-BE49-F238E27FC236}">
                <a16:creationId xmlns:a16="http://schemas.microsoft.com/office/drawing/2014/main" id="{0AB3125D-DD6A-D411-E082-8826314B0E0C}"/>
              </a:ext>
            </a:extLst>
          </p:cNvPr>
          <p:cNvSpPr>
            <a:spLocks noChangeShapeType="1"/>
          </p:cNvSpPr>
          <p:nvPr/>
        </p:nvSpPr>
        <p:spPr bwMode="auto">
          <a:xfrm>
            <a:off x="510860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7" name="Line 61">
            <a:extLst>
              <a:ext uri="{FF2B5EF4-FFF2-40B4-BE49-F238E27FC236}">
                <a16:creationId xmlns:a16="http://schemas.microsoft.com/office/drawing/2014/main" id="{F50EEC78-B773-A85A-C97B-098E52FDFBC6}"/>
              </a:ext>
            </a:extLst>
          </p:cNvPr>
          <p:cNvSpPr>
            <a:spLocks noChangeShapeType="1"/>
          </p:cNvSpPr>
          <p:nvPr/>
        </p:nvSpPr>
        <p:spPr bwMode="auto">
          <a:xfrm>
            <a:off x="530706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8" name="Line 62">
            <a:extLst>
              <a:ext uri="{FF2B5EF4-FFF2-40B4-BE49-F238E27FC236}">
                <a16:creationId xmlns:a16="http://schemas.microsoft.com/office/drawing/2014/main" id="{DEEBA197-2F25-4456-A459-A130D9FECB4B}"/>
              </a:ext>
            </a:extLst>
          </p:cNvPr>
          <p:cNvSpPr>
            <a:spLocks noChangeShapeType="1"/>
          </p:cNvSpPr>
          <p:nvPr/>
        </p:nvSpPr>
        <p:spPr bwMode="auto">
          <a:xfrm>
            <a:off x="550756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9" name="Line 63">
            <a:extLst>
              <a:ext uri="{FF2B5EF4-FFF2-40B4-BE49-F238E27FC236}">
                <a16:creationId xmlns:a16="http://schemas.microsoft.com/office/drawing/2014/main" id="{1A1BF1CE-2B68-73E5-4807-76F380432F33}"/>
              </a:ext>
            </a:extLst>
          </p:cNvPr>
          <p:cNvSpPr>
            <a:spLocks noChangeShapeType="1"/>
          </p:cNvSpPr>
          <p:nvPr/>
        </p:nvSpPr>
        <p:spPr bwMode="auto">
          <a:xfrm>
            <a:off x="570602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0" name="Line 64">
            <a:extLst>
              <a:ext uri="{FF2B5EF4-FFF2-40B4-BE49-F238E27FC236}">
                <a16:creationId xmlns:a16="http://schemas.microsoft.com/office/drawing/2014/main" id="{75B14C0D-1A5D-FD22-C697-D5077B251264}"/>
              </a:ext>
            </a:extLst>
          </p:cNvPr>
          <p:cNvSpPr>
            <a:spLocks noChangeShapeType="1"/>
          </p:cNvSpPr>
          <p:nvPr/>
        </p:nvSpPr>
        <p:spPr bwMode="auto">
          <a:xfrm>
            <a:off x="590447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1" name="Line 65">
            <a:extLst>
              <a:ext uri="{FF2B5EF4-FFF2-40B4-BE49-F238E27FC236}">
                <a16:creationId xmlns:a16="http://schemas.microsoft.com/office/drawing/2014/main" id="{76DAE61D-DA07-5913-21C0-C5B934F9C9BE}"/>
              </a:ext>
            </a:extLst>
          </p:cNvPr>
          <p:cNvSpPr>
            <a:spLocks noChangeShapeType="1"/>
          </p:cNvSpPr>
          <p:nvPr/>
        </p:nvSpPr>
        <p:spPr bwMode="auto">
          <a:xfrm>
            <a:off x="6102929"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2" name="Line 66">
            <a:extLst>
              <a:ext uri="{FF2B5EF4-FFF2-40B4-BE49-F238E27FC236}">
                <a16:creationId xmlns:a16="http://schemas.microsoft.com/office/drawing/2014/main" id="{42FE5135-832F-735D-8C38-E2D7CA8D0D15}"/>
              </a:ext>
            </a:extLst>
          </p:cNvPr>
          <p:cNvSpPr>
            <a:spLocks noChangeShapeType="1"/>
          </p:cNvSpPr>
          <p:nvPr/>
        </p:nvSpPr>
        <p:spPr bwMode="auto">
          <a:xfrm>
            <a:off x="630138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3" name="Line 67">
            <a:extLst>
              <a:ext uri="{FF2B5EF4-FFF2-40B4-BE49-F238E27FC236}">
                <a16:creationId xmlns:a16="http://schemas.microsoft.com/office/drawing/2014/main" id="{B8A85309-E043-B84E-98FF-7EA2482F8A43}"/>
              </a:ext>
            </a:extLst>
          </p:cNvPr>
          <p:cNvSpPr>
            <a:spLocks noChangeShapeType="1"/>
          </p:cNvSpPr>
          <p:nvPr/>
        </p:nvSpPr>
        <p:spPr bwMode="auto">
          <a:xfrm>
            <a:off x="650188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4" name="Line 68">
            <a:extLst>
              <a:ext uri="{FF2B5EF4-FFF2-40B4-BE49-F238E27FC236}">
                <a16:creationId xmlns:a16="http://schemas.microsoft.com/office/drawing/2014/main" id="{CAC9ECF2-7268-71CF-6D63-30F8A9CA5A64}"/>
              </a:ext>
            </a:extLst>
          </p:cNvPr>
          <p:cNvSpPr>
            <a:spLocks noChangeShapeType="1"/>
          </p:cNvSpPr>
          <p:nvPr/>
        </p:nvSpPr>
        <p:spPr bwMode="auto">
          <a:xfrm>
            <a:off x="670034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5" name="Line 69">
            <a:extLst>
              <a:ext uri="{FF2B5EF4-FFF2-40B4-BE49-F238E27FC236}">
                <a16:creationId xmlns:a16="http://schemas.microsoft.com/office/drawing/2014/main" id="{16F0B993-3531-50D1-2690-63406CC0DD75}"/>
              </a:ext>
            </a:extLst>
          </p:cNvPr>
          <p:cNvSpPr>
            <a:spLocks noChangeShapeType="1"/>
          </p:cNvSpPr>
          <p:nvPr/>
        </p:nvSpPr>
        <p:spPr bwMode="auto">
          <a:xfrm>
            <a:off x="6898794"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6" name="Line 70">
            <a:extLst>
              <a:ext uri="{FF2B5EF4-FFF2-40B4-BE49-F238E27FC236}">
                <a16:creationId xmlns:a16="http://schemas.microsoft.com/office/drawing/2014/main" id="{64D9AB3C-E53D-5999-3A2B-6814E238157F}"/>
              </a:ext>
            </a:extLst>
          </p:cNvPr>
          <p:cNvSpPr>
            <a:spLocks noChangeShapeType="1"/>
          </p:cNvSpPr>
          <p:nvPr/>
        </p:nvSpPr>
        <p:spPr bwMode="auto">
          <a:xfrm>
            <a:off x="709725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7" name="Line 71">
            <a:extLst>
              <a:ext uri="{FF2B5EF4-FFF2-40B4-BE49-F238E27FC236}">
                <a16:creationId xmlns:a16="http://schemas.microsoft.com/office/drawing/2014/main" id="{6A0FE310-4F8A-67C3-F6AF-838A356C4030}"/>
              </a:ext>
            </a:extLst>
          </p:cNvPr>
          <p:cNvSpPr>
            <a:spLocks noChangeShapeType="1"/>
          </p:cNvSpPr>
          <p:nvPr/>
        </p:nvSpPr>
        <p:spPr bwMode="auto">
          <a:xfrm>
            <a:off x="729570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8" name="Line 72">
            <a:extLst>
              <a:ext uri="{FF2B5EF4-FFF2-40B4-BE49-F238E27FC236}">
                <a16:creationId xmlns:a16="http://schemas.microsoft.com/office/drawing/2014/main" id="{FC058732-2233-A199-47F5-D7A5AD5D3D6D}"/>
              </a:ext>
            </a:extLst>
          </p:cNvPr>
          <p:cNvSpPr>
            <a:spLocks noChangeShapeType="1"/>
          </p:cNvSpPr>
          <p:nvPr/>
        </p:nvSpPr>
        <p:spPr bwMode="auto">
          <a:xfrm>
            <a:off x="7496205"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49" name="Line 73">
            <a:extLst>
              <a:ext uri="{FF2B5EF4-FFF2-40B4-BE49-F238E27FC236}">
                <a16:creationId xmlns:a16="http://schemas.microsoft.com/office/drawing/2014/main" id="{0B453C71-3103-180E-F7CA-61D0BCF2F741}"/>
              </a:ext>
            </a:extLst>
          </p:cNvPr>
          <p:cNvSpPr>
            <a:spLocks noChangeShapeType="1"/>
          </p:cNvSpPr>
          <p:nvPr/>
        </p:nvSpPr>
        <p:spPr bwMode="auto">
          <a:xfrm>
            <a:off x="769466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0" name="Line 74">
            <a:extLst>
              <a:ext uri="{FF2B5EF4-FFF2-40B4-BE49-F238E27FC236}">
                <a16:creationId xmlns:a16="http://schemas.microsoft.com/office/drawing/2014/main" id="{49C85C36-3B8D-7689-D02F-0A91FC4C0B41}"/>
              </a:ext>
            </a:extLst>
          </p:cNvPr>
          <p:cNvSpPr>
            <a:spLocks noChangeShapeType="1"/>
          </p:cNvSpPr>
          <p:nvPr/>
        </p:nvSpPr>
        <p:spPr bwMode="auto">
          <a:xfrm>
            <a:off x="789311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1" name="Line 75">
            <a:extLst>
              <a:ext uri="{FF2B5EF4-FFF2-40B4-BE49-F238E27FC236}">
                <a16:creationId xmlns:a16="http://schemas.microsoft.com/office/drawing/2014/main" id="{6B2BABDB-CB8B-5404-E836-A319EEE5721D}"/>
              </a:ext>
            </a:extLst>
          </p:cNvPr>
          <p:cNvSpPr>
            <a:spLocks noChangeShapeType="1"/>
          </p:cNvSpPr>
          <p:nvPr/>
        </p:nvSpPr>
        <p:spPr bwMode="auto">
          <a:xfrm>
            <a:off x="8091570"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2" name="Line 76">
            <a:extLst>
              <a:ext uri="{FF2B5EF4-FFF2-40B4-BE49-F238E27FC236}">
                <a16:creationId xmlns:a16="http://schemas.microsoft.com/office/drawing/2014/main" id="{05EA60F6-01FC-E4D4-5482-E4A9891B82D7}"/>
              </a:ext>
            </a:extLst>
          </p:cNvPr>
          <p:cNvSpPr>
            <a:spLocks noChangeShapeType="1"/>
          </p:cNvSpPr>
          <p:nvPr/>
        </p:nvSpPr>
        <p:spPr bwMode="auto">
          <a:xfrm>
            <a:off x="829002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3" name="Line 77">
            <a:extLst>
              <a:ext uri="{FF2B5EF4-FFF2-40B4-BE49-F238E27FC236}">
                <a16:creationId xmlns:a16="http://schemas.microsoft.com/office/drawing/2014/main" id="{631E6502-20A0-002C-1D68-A588CF37BE94}"/>
              </a:ext>
            </a:extLst>
          </p:cNvPr>
          <p:cNvSpPr>
            <a:spLocks noChangeShapeType="1"/>
          </p:cNvSpPr>
          <p:nvPr/>
        </p:nvSpPr>
        <p:spPr bwMode="auto">
          <a:xfrm>
            <a:off x="8490526"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4" name="Line 78">
            <a:extLst>
              <a:ext uri="{FF2B5EF4-FFF2-40B4-BE49-F238E27FC236}">
                <a16:creationId xmlns:a16="http://schemas.microsoft.com/office/drawing/2014/main" id="{AB69244B-9ADB-DAEB-27A1-E716759CA268}"/>
              </a:ext>
            </a:extLst>
          </p:cNvPr>
          <p:cNvSpPr>
            <a:spLocks noChangeShapeType="1"/>
          </p:cNvSpPr>
          <p:nvPr/>
        </p:nvSpPr>
        <p:spPr bwMode="auto">
          <a:xfrm>
            <a:off x="868898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5" name="Line 79">
            <a:extLst>
              <a:ext uri="{FF2B5EF4-FFF2-40B4-BE49-F238E27FC236}">
                <a16:creationId xmlns:a16="http://schemas.microsoft.com/office/drawing/2014/main" id="{1768A0E7-FA70-4422-BE4F-8E623E34AB54}"/>
              </a:ext>
            </a:extLst>
          </p:cNvPr>
          <p:cNvSpPr>
            <a:spLocks noChangeShapeType="1"/>
          </p:cNvSpPr>
          <p:nvPr/>
        </p:nvSpPr>
        <p:spPr bwMode="auto">
          <a:xfrm>
            <a:off x="8887435"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6" name="Line 80">
            <a:extLst>
              <a:ext uri="{FF2B5EF4-FFF2-40B4-BE49-F238E27FC236}">
                <a16:creationId xmlns:a16="http://schemas.microsoft.com/office/drawing/2014/main" id="{EF9587B1-EE58-011F-A49A-25B790B5F922}"/>
              </a:ext>
            </a:extLst>
          </p:cNvPr>
          <p:cNvSpPr>
            <a:spLocks noChangeShapeType="1"/>
          </p:cNvSpPr>
          <p:nvPr/>
        </p:nvSpPr>
        <p:spPr bwMode="auto">
          <a:xfrm>
            <a:off x="9085891"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7" name="Line 81">
            <a:extLst>
              <a:ext uri="{FF2B5EF4-FFF2-40B4-BE49-F238E27FC236}">
                <a16:creationId xmlns:a16="http://schemas.microsoft.com/office/drawing/2014/main" id="{84A8FC1D-9A42-A5F8-5177-40A81A91FCD2}"/>
              </a:ext>
            </a:extLst>
          </p:cNvPr>
          <p:cNvSpPr>
            <a:spLocks noChangeShapeType="1"/>
          </p:cNvSpPr>
          <p:nvPr/>
        </p:nvSpPr>
        <p:spPr bwMode="auto">
          <a:xfrm>
            <a:off x="9284346" y="1762751"/>
            <a:ext cx="132985"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8" name="Line 82">
            <a:extLst>
              <a:ext uri="{FF2B5EF4-FFF2-40B4-BE49-F238E27FC236}">
                <a16:creationId xmlns:a16="http://schemas.microsoft.com/office/drawing/2014/main" id="{723397C3-EE26-87CD-6B79-07B9533EA001}"/>
              </a:ext>
            </a:extLst>
          </p:cNvPr>
          <p:cNvSpPr>
            <a:spLocks noChangeShapeType="1"/>
          </p:cNvSpPr>
          <p:nvPr/>
        </p:nvSpPr>
        <p:spPr bwMode="auto">
          <a:xfrm>
            <a:off x="9484846" y="1762751"/>
            <a:ext cx="130940"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59" name="Line 83">
            <a:extLst>
              <a:ext uri="{FF2B5EF4-FFF2-40B4-BE49-F238E27FC236}">
                <a16:creationId xmlns:a16="http://schemas.microsoft.com/office/drawing/2014/main" id="{59D38CC9-C329-2482-DDF1-8198BE51E1BC}"/>
              </a:ext>
            </a:extLst>
          </p:cNvPr>
          <p:cNvSpPr>
            <a:spLocks noChangeShapeType="1"/>
          </p:cNvSpPr>
          <p:nvPr/>
        </p:nvSpPr>
        <p:spPr bwMode="auto">
          <a:xfrm>
            <a:off x="9683302" y="1762751"/>
            <a:ext cx="8184" cy="0"/>
          </a:xfrm>
          <a:prstGeom prst="line">
            <a:avLst/>
          </a:prstGeom>
          <a:noFill/>
          <a:ln w="14288">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0" name="Oval 84">
            <a:extLst>
              <a:ext uri="{FF2B5EF4-FFF2-40B4-BE49-F238E27FC236}">
                <a16:creationId xmlns:a16="http://schemas.microsoft.com/office/drawing/2014/main" id="{2DB07EDA-FC96-EC1B-AF4D-C42D69D76213}"/>
              </a:ext>
            </a:extLst>
          </p:cNvPr>
          <p:cNvSpPr>
            <a:spLocks noChangeArrowheads="1"/>
          </p:cNvSpPr>
          <p:nvPr/>
        </p:nvSpPr>
        <p:spPr bwMode="auto">
          <a:xfrm>
            <a:off x="2430489" y="2040997"/>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1" name="Oval 85">
            <a:extLst>
              <a:ext uri="{FF2B5EF4-FFF2-40B4-BE49-F238E27FC236}">
                <a16:creationId xmlns:a16="http://schemas.microsoft.com/office/drawing/2014/main" id="{AB05404E-733B-28BB-C515-CCA28CAF8E84}"/>
              </a:ext>
            </a:extLst>
          </p:cNvPr>
          <p:cNvSpPr>
            <a:spLocks noChangeArrowheads="1"/>
          </p:cNvSpPr>
          <p:nvPr/>
        </p:nvSpPr>
        <p:spPr bwMode="auto">
          <a:xfrm>
            <a:off x="2700552" y="2094191"/>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2" name="Oval 86">
            <a:extLst>
              <a:ext uri="{FF2B5EF4-FFF2-40B4-BE49-F238E27FC236}">
                <a16:creationId xmlns:a16="http://schemas.microsoft.com/office/drawing/2014/main" id="{AFB4F265-EA85-E81E-AD06-CB9109D70063}"/>
              </a:ext>
            </a:extLst>
          </p:cNvPr>
          <p:cNvSpPr>
            <a:spLocks noChangeArrowheads="1"/>
          </p:cNvSpPr>
          <p:nvPr/>
        </p:nvSpPr>
        <p:spPr bwMode="auto">
          <a:xfrm>
            <a:off x="2974706" y="2311059"/>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3" name="Oval 87">
            <a:extLst>
              <a:ext uri="{FF2B5EF4-FFF2-40B4-BE49-F238E27FC236}">
                <a16:creationId xmlns:a16="http://schemas.microsoft.com/office/drawing/2014/main" id="{EC71DECC-B8E5-DF77-7B4C-ECDD7FA05548}"/>
              </a:ext>
            </a:extLst>
          </p:cNvPr>
          <p:cNvSpPr>
            <a:spLocks noChangeArrowheads="1"/>
          </p:cNvSpPr>
          <p:nvPr/>
        </p:nvSpPr>
        <p:spPr bwMode="auto">
          <a:xfrm>
            <a:off x="3244769" y="2460411"/>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4" name="Oval 88">
            <a:extLst>
              <a:ext uri="{FF2B5EF4-FFF2-40B4-BE49-F238E27FC236}">
                <a16:creationId xmlns:a16="http://schemas.microsoft.com/office/drawing/2014/main" id="{DBF72F1B-DA58-885C-C1C2-246DE20BE1A2}"/>
              </a:ext>
            </a:extLst>
          </p:cNvPr>
          <p:cNvSpPr>
            <a:spLocks noChangeArrowheads="1"/>
          </p:cNvSpPr>
          <p:nvPr/>
        </p:nvSpPr>
        <p:spPr bwMode="auto">
          <a:xfrm>
            <a:off x="3518923" y="2235360"/>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5" name="Oval 89">
            <a:extLst>
              <a:ext uri="{FF2B5EF4-FFF2-40B4-BE49-F238E27FC236}">
                <a16:creationId xmlns:a16="http://schemas.microsoft.com/office/drawing/2014/main" id="{23291E8F-2048-FD1F-86B7-AFBF499B3DDD}"/>
              </a:ext>
            </a:extLst>
          </p:cNvPr>
          <p:cNvSpPr>
            <a:spLocks noChangeArrowheads="1"/>
          </p:cNvSpPr>
          <p:nvPr/>
        </p:nvSpPr>
        <p:spPr bwMode="auto">
          <a:xfrm>
            <a:off x="3786940" y="2521789"/>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6" name="Oval 90">
            <a:extLst>
              <a:ext uri="{FF2B5EF4-FFF2-40B4-BE49-F238E27FC236}">
                <a16:creationId xmlns:a16="http://schemas.microsoft.com/office/drawing/2014/main" id="{C5DA6142-851E-2239-39CE-B3E8C2DADDE2}"/>
              </a:ext>
            </a:extLst>
          </p:cNvPr>
          <p:cNvSpPr>
            <a:spLocks noChangeArrowheads="1"/>
          </p:cNvSpPr>
          <p:nvPr/>
        </p:nvSpPr>
        <p:spPr bwMode="auto">
          <a:xfrm>
            <a:off x="4061095" y="2642499"/>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7" name="Oval 91">
            <a:extLst>
              <a:ext uri="{FF2B5EF4-FFF2-40B4-BE49-F238E27FC236}">
                <a16:creationId xmlns:a16="http://schemas.microsoft.com/office/drawing/2014/main" id="{7FD3117D-CFF8-678E-8341-721465965318}"/>
              </a:ext>
            </a:extLst>
          </p:cNvPr>
          <p:cNvSpPr>
            <a:spLocks noChangeArrowheads="1"/>
          </p:cNvSpPr>
          <p:nvPr/>
        </p:nvSpPr>
        <p:spPr bwMode="auto">
          <a:xfrm>
            <a:off x="4331156" y="2875735"/>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8" name="Oval 92">
            <a:extLst>
              <a:ext uri="{FF2B5EF4-FFF2-40B4-BE49-F238E27FC236}">
                <a16:creationId xmlns:a16="http://schemas.microsoft.com/office/drawing/2014/main" id="{1AA905C3-2A5E-50BC-8512-D0529AF1D57E}"/>
              </a:ext>
            </a:extLst>
          </p:cNvPr>
          <p:cNvSpPr>
            <a:spLocks noChangeArrowheads="1"/>
          </p:cNvSpPr>
          <p:nvPr/>
        </p:nvSpPr>
        <p:spPr bwMode="auto">
          <a:xfrm>
            <a:off x="4605310" y="2738658"/>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69" name="Oval 93">
            <a:extLst>
              <a:ext uri="{FF2B5EF4-FFF2-40B4-BE49-F238E27FC236}">
                <a16:creationId xmlns:a16="http://schemas.microsoft.com/office/drawing/2014/main" id="{3A9D9BD6-BD76-1DDE-B550-6EE288340D29}"/>
              </a:ext>
            </a:extLst>
          </p:cNvPr>
          <p:cNvSpPr>
            <a:spLocks noChangeArrowheads="1"/>
          </p:cNvSpPr>
          <p:nvPr/>
        </p:nvSpPr>
        <p:spPr bwMode="auto">
          <a:xfrm>
            <a:off x="4879464" y="3020996"/>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1" name="Oval 94">
            <a:extLst>
              <a:ext uri="{FF2B5EF4-FFF2-40B4-BE49-F238E27FC236}">
                <a16:creationId xmlns:a16="http://schemas.microsoft.com/office/drawing/2014/main" id="{6D0D64D1-CF0F-9B99-9838-ED1A97816ED2}"/>
              </a:ext>
            </a:extLst>
          </p:cNvPr>
          <p:cNvSpPr>
            <a:spLocks noChangeArrowheads="1"/>
          </p:cNvSpPr>
          <p:nvPr/>
        </p:nvSpPr>
        <p:spPr bwMode="auto">
          <a:xfrm>
            <a:off x="5149526" y="2986215"/>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2" name="Oval 95">
            <a:extLst>
              <a:ext uri="{FF2B5EF4-FFF2-40B4-BE49-F238E27FC236}">
                <a16:creationId xmlns:a16="http://schemas.microsoft.com/office/drawing/2014/main" id="{96A7991D-C252-E4E6-5CF3-6D1C56141786}"/>
              </a:ext>
            </a:extLst>
          </p:cNvPr>
          <p:cNvSpPr>
            <a:spLocks noChangeArrowheads="1"/>
          </p:cNvSpPr>
          <p:nvPr/>
        </p:nvSpPr>
        <p:spPr bwMode="auto">
          <a:xfrm>
            <a:off x="5423681" y="3317655"/>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3" name="Oval 96">
            <a:extLst>
              <a:ext uri="{FF2B5EF4-FFF2-40B4-BE49-F238E27FC236}">
                <a16:creationId xmlns:a16="http://schemas.microsoft.com/office/drawing/2014/main" id="{0358EF8F-31B8-FE0D-C714-50CC86104D25}"/>
              </a:ext>
            </a:extLst>
          </p:cNvPr>
          <p:cNvSpPr>
            <a:spLocks noChangeArrowheads="1"/>
          </p:cNvSpPr>
          <p:nvPr/>
        </p:nvSpPr>
        <p:spPr bwMode="auto">
          <a:xfrm>
            <a:off x="5691698" y="3489514"/>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4" name="Oval 97">
            <a:extLst>
              <a:ext uri="{FF2B5EF4-FFF2-40B4-BE49-F238E27FC236}">
                <a16:creationId xmlns:a16="http://schemas.microsoft.com/office/drawing/2014/main" id="{2100D1FA-8AFE-4CBF-5E4D-143E1250EF72}"/>
              </a:ext>
            </a:extLst>
          </p:cNvPr>
          <p:cNvSpPr>
            <a:spLocks noChangeArrowheads="1"/>
          </p:cNvSpPr>
          <p:nvPr/>
        </p:nvSpPr>
        <p:spPr bwMode="auto">
          <a:xfrm>
            <a:off x="5965851" y="3499742"/>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5" name="Oval 98">
            <a:extLst>
              <a:ext uri="{FF2B5EF4-FFF2-40B4-BE49-F238E27FC236}">
                <a16:creationId xmlns:a16="http://schemas.microsoft.com/office/drawing/2014/main" id="{8FF0CDD0-E815-E14F-AE17-096836149D3C}"/>
              </a:ext>
            </a:extLst>
          </p:cNvPr>
          <p:cNvSpPr>
            <a:spLocks noChangeArrowheads="1"/>
          </p:cNvSpPr>
          <p:nvPr/>
        </p:nvSpPr>
        <p:spPr bwMode="auto">
          <a:xfrm>
            <a:off x="6235913" y="3671600"/>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6" name="Oval 99">
            <a:extLst>
              <a:ext uri="{FF2B5EF4-FFF2-40B4-BE49-F238E27FC236}">
                <a16:creationId xmlns:a16="http://schemas.microsoft.com/office/drawing/2014/main" id="{9F8221C3-3982-E1F4-506F-02C0A5263D4A}"/>
              </a:ext>
            </a:extLst>
          </p:cNvPr>
          <p:cNvSpPr>
            <a:spLocks noChangeArrowheads="1"/>
          </p:cNvSpPr>
          <p:nvPr/>
        </p:nvSpPr>
        <p:spPr bwMode="auto">
          <a:xfrm>
            <a:off x="6510068" y="3888469"/>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7" name="Oval 100">
            <a:extLst>
              <a:ext uri="{FF2B5EF4-FFF2-40B4-BE49-F238E27FC236}">
                <a16:creationId xmlns:a16="http://schemas.microsoft.com/office/drawing/2014/main" id="{E9B9C850-919C-55BD-E163-CF08BE5AF9D6}"/>
              </a:ext>
            </a:extLst>
          </p:cNvPr>
          <p:cNvSpPr>
            <a:spLocks noChangeArrowheads="1"/>
          </p:cNvSpPr>
          <p:nvPr/>
        </p:nvSpPr>
        <p:spPr bwMode="auto">
          <a:xfrm>
            <a:off x="6780130" y="4377445"/>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8" name="Oval 101">
            <a:extLst>
              <a:ext uri="{FF2B5EF4-FFF2-40B4-BE49-F238E27FC236}">
                <a16:creationId xmlns:a16="http://schemas.microsoft.com/office/drawing/2014/main" id="{19831C8B-1CF2-F6B5-9569-99B7E133A32F}"/>
              </a:ext>
            </a:extLst>
          </p:cNvPr>
          <p:cNvSpPr>
            <a:spLocks noChangeArrowheads="1"/>
          </p:cNvSpPr>
          <p:nvPr/>
        </p:nvSpPr>
        <p:spPr bwMode="auto">
          <a:xfrm>
            <a:off x="7054284" y="4520660"/>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79" name="Oval 102">
            <a:extLst>
              <a:ext uri="{FF2B5EF4-FFF2-40B4-BE49-F238E27FC236}">
                <a16:creationId xmlns:a16="http://schemas.microsoft.com/office/drawing/2014/main" id="{79A3E5AF-DC7F-EC04-D289-295D5C7AFF0B}"/>
              </a:ext>
            </a:extLst>
          </p:cNvPr>
          <p:cNvSpPr>
            <a:spLocks noChangeArrowheads="1"/>
          </p:cNvSpPr>
          <p:nvPr/>
        </p:nvSpPr>
        <p:spPr bwMode="auto">
          <a:xfrm>
            <a:off x="7322301" y="4608634"/>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0" name="Oval 103">
            <a:extLst>
              <a:ext uri="{FF2B5EF4-FFF2-40B4-BE49-F238E27FC236}">
                <a16:creationId xmlns:a16="http://schemas.microsoft.com/office/drawing/2014/main" id="{61A24C36-C891-9E09-C84B-62075E6855FE}"/>
              </a:ext>
            </a:extLst>
          </p:cNvPr>
          <p:cNvSpPr>
            <a:spLocks noChangeArrowheads="1"/>
          </p:cNvSpPr>
          <p:nvPr/>
        </p:nvSpPr>
        <p:spPr bwMode="auto">
          <a:xfrm>
            <a:off x="7596456" y="5019866"/>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1" name="Oval 104">
            <a:extLst>
              <a:ext uri="{FF2B5EF4-FFF2-40B4-BE49-F238E27FC236}">
                <a16:creationId xmlns:a16="http://schemas.microsoft.com/office/drawing/2014/main" id="{720D33A4-B52C-2896-ACD0-A4EE895452CE}"/>
              </a:ext>
            </a:extLst>
          </p:cNvPr>
          <p:cNvSpPr>
            <a:spLocks noChangeArrowheads="1"/>
          </p:cNvSpPr>
          <p:nvPr/>
        </p:nvSpPr>
        <p:spPr bwMode="auto">
          <a:xfrm>
            <a:off x="7870609" y="4962580"/>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2" name="Oval 105">
            <a:extLst>
              <a:ext uri="{FF2B5EF4-FFF2-40B4-BE49-F238E27FC236}">
                <a16:creationId xmlns:a16="http://schemas.microsoft.com/office/drawing/2014/main" id="{720B2CE1-9658-8120-98FA-043A4F75CA00}"/>
              </a:ext>
            </a:extLst>
          </p:cNvPr>
          <p:cNvSpPr>
            <a:spLocks noChangeArrowheads="1"/>
          </p:cNvSpPr>
          <p:nvPr/>
        </p:nvSpPr>
        <p:spPr bwMode="auto">
          <a:xfrm>
            <a:off x="8140671" y="5187632"/>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3" name="Oval 106">
            <a:extLst>
              <a:ext uri="{FF2B5EF4-FFF2-40B4-BE49-F238E27FC236}">
                <a16:creationId xmlns:a16="http://schemas.microsoft.com/office/drawing/2014/main" id="{16DACBBB-5B12-5DCC-877F-17C747C119CB}"/>
              </a:ext>
            </a:extLst>
          </p:cNvPr>
          <p:cNvSpPr>
            <a:spLocks noChangeArrowheads="1"/>
          </p:cNvSpPr>
          <p:nvPr/>
        </p:nvSpPr>
        <p:spPr bwMode="auto">
          <a:xfrm>
            <a:off x="8414825" y="5377903"/>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4" name="Oval 107">
            <a:extLst>
              <a:ext uri="{FF2B5EF4-FFF2-40B4-BE49-F238E27FC236}">
                <a16:creationId xmlns:a16="http://schemas.microsoft.com/office/drawing/2014/main" id="{DFF920C9-7995-A896-2119-E3517C692189}"/>
              </a:ext>
            </a:extLst>
          </p:cNvPr>
          <p:cNvSpPr>
            <a:spLocks noChangeArrowheads="1"/>
          </p:cNvSpPr>
          <p:nvPr/>
        </p:nvSpPr>
        <p:spPr bwMode="auto">
          <a:xfrm>
            <a:off x="8684888" y="5287884"/>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5" name="Oval 108">
            <a:extLst>
              <a:ext uri="{FF2B5EF4-FFF2-40B4-BE49-F238E27FC236}">
                <a16:creationId xmlns:a16="http://schemas.microsoft.com/office/drawing/2014/main" id="{746719D7-940F-A338-0CAB-52E7C2E17802}"/>
              </a:ext>
            </a:extLst>
          </p:cNvPr>
          <p:cNvSpPr>
            <a:spLocks noChangeArrowheads="1"/>
          </p:cNvSpPr>
          <p:nvPr/>
        </p:nvSpPr>
        <p:spPr bwMode="auto">
          <a:xfrm>
            <a:off x="8959042" y="5298112"/>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6" name="Oval 109">
            <a:extLst>
              <a:ext uri="{FF2B5EF4-FFF2-40B4-BE49-F238E27FC236}">
                <a16:creationId xmlns:a16="http://schemas.microsoft.com/office/drawing/2014/main" id="{A51189F7-06E8-874D-65E8-F80ECAECFD61}"/>
              </a:ext>
            </a:extLst>
          </p:cNvPr>
          <p:cNvSpPr>
            <a:spLocks noChangeArrowheads="1"/>
          </p:cNvSpPr>
          <p:nvPr/>
        </p:nvSpPr>
        <p:spPr bwMode="auto">
          <a:xfrm>
            <a:off x="9227060" y="5420868"/>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7" name="Oval 110">
            <a:extLst>
              <a:ext uri="{FF2B5EF4-FFF2-40B4-BE49-F238E27FC236}">
                <a16:creationId xmlns:a16="http://schemas.microsoft.com/office/drawing/2014/main" id="{714A0BC6-CA88-744A-5DF4-5471F95FDCCC}"/>
              </a:ext>
            </a:extLst>
          </p:cNvPr>
          <p:cNvSpPr>
            <a:spLocks noChangeArrowheads="1"/>
          </p:cNvSpPr>
          <p:nvPr/>
        </p:nvSpPr>
        <p:spPr bwMode="auto">
          <a:xfrm>
            <a:off x="9501212" y="5504750"/>
            <a:ext cx="91440" cy="91440"/>
          </a:xfrm>
          <a:prstGeom prst="ellipse">
            <a:avLst/>
          </a:prstGeom>
          <a:solidFill>
            <a:srgbClr val="29B6A4"/>
          </a:solidFill>
          <a:ln w="23813">
            <a:solidFill>
              <a:srgbClr val="29B6A4"/>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8" name="Freeform 111">
            <a:extLst>
              <a:ext uri="{FF2B5EF4-FFF2-40B4-BE49-F238E27FC236}">
                <a16:creationId xmlns:a16="http://schemas.microsoft.com/office/drawing/2014/main" id="{900B4EF9-42C4-C649-A773-CC2A40AB9EEC}"/>
              </a:ext>
            </a:extLst>
          </p:cNvPr>
          <p:cNvSpPr>
            <a:spLocks/>
          </p:cNvSpPr>
          <p:nvPr/>
        </p:nvSpPr>
        <p:spPr bwMode="auto">
          <a:xfrm>
            <a:off x="2471409" y="2098283"/>
            <a:ext cx="5982290" cy="3318493"/>
          </a:xfrm>
          <a:custGeom>
            <a:avLst/>
            <a:gdLst>
              <a:gd name="T0" fmla="*/ 0 w 1354"/>
              <a:gd name="T1" fmla="*/ 0 h 751"/>
              <a:gd name="T2" fmla="*/ 62 w 1354"/>
              <a:gd name="T3" fmla="*/ 20 h 751"/>
              <a:gd name="T4" fmla="*/ 124 w 1354"/>
              <a:gd name="T5" fmla="*/ 42 h 751"/>
              <a:gd name="T6" fmla="*/ 185 w 1354"/>
              <a:gd name="T7" fmla="*/ 64 h 751"/>
              <a:gd name="T8" fmla="*/ 247 w 1354"/>
              <a:gd name="T9" fmla="*/ 87 h 751"/>
              <a:gd name="T10" fmla="*/ 308 w 1354"/>
              <a:gd name="T11" fmla="*/ 111 h 751"/>
              <a:gd name="T12" fmla="*/ 370 w 1354"/>
              <a:gd name="T13" fmla="*/ 136 h 751"/>
              <a:gd name="T14" fmla="*/ 431 w 1354"/>
              <a:gd name="T15" fmla="*/ 161 h 751"/>
              <a:gd name="T16" fmla="*/ 493 w 1354"/>
              <a:gd name="T17" fmla="*/ 188 h 751"/>
              <a:gd name="T18" fmla="*/ 554 w 1354"/>
              <a:gd name="T19" fmla="*/ 217 h 751"/>
              <a:gd name="T20" fmla="*/ 616 w 1354"/>
              <a:gd name="T21" fmla="*/ 248 h 751"/>
              <a:gd name="T22" fmla="*/ 678 w 1354"/>
              <a:gd name="T23" fmla="*/ 283 h 751"/>
              <a:gd name="T24" fmla="*/ 739 w 1354"/>
              <a:gd name="T25" fmla="*/ 320 h 751"/>
              <a:gd name="T26" fmla="*/ 801 w 1354"/>
              <a:gd name="T27" fmla="*/ 361 h 751"/>
              <a:gd name="T28" fmla="*/ 862 w 1354"/>
              <a:gd name="T29" fmla="*/ 403 h 751"/>
              <a:gd name="T30" fmla="*/ 924 w 1354"/>
              <a:gd name="T31" fmla="*/ 447 h 751"/>
              <a:gd name="T32" fmla="*/ 985 w 1354"/>
              <a:gd name="T33" fmla="*/ 492 h 751"/>
              <a:gd name="T34" fmla="*/ 1047 w 1354"/>
              <a:gd name="T35" fmla="*/ 537 h 751"/>
              <a:gd name="T36" fmla="*/ 1108 w 1354"/>
              <a:gd name="T37" fmla="*/ 583 h 751"/>
              <a:gd name="T38" fmla="*/ 1170 w 1354"/>
              <a:gd name="T39" fmla="*/ 629 h 751"/>
              <a:gd name="T40" fmla="*/ 1231 w 1354"/>
              <a:gd name="T41" fmla="*/ 674 h 751"/>
              <a:gd name="T42" fmla="*/ 1293 w 1354"/>
              <a:gd name="T43" fmla="*/ 714 h 751"/>
              <a:gd name="T44" fmla="*/ 1354 w 1354"/>
              <a:gd name="T45" fmla="*/ 751 h 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354" h="751">
                <a:moveTo>
                  <a:pt x="0" y="0"/>
                </a:moveTo>
                <a:lnTo>
                  <a:pt x="62" y="20"/>
                </a:lnTo>
                <a:lnTo>
                  <a:pt x="124" y="42"/>
                </a:lnTo>
                <a:lnTo>
                  <a:pt x="185" y="64"/>
                </a:lnTo>
                <a:lnTo>
                  <a:pt x="247" y="87"/>
                </a:lnTo>
                <a:lnTo>
                  <a:pt x="308" y="111"/>
                </a:lnTo>
                <a:lnTo>
                  <a:pt x="370" y="136"/>
                </a:lnTo>
                <a:lnTo>
                  <a:pt x="431" y="161"/>
                </a:lnTo>
                <a:lnTo>
                  <a:pt x="493" y="188"/>
                </a:lnTo>
                <a:lnTo>
                  <a:pt x="554" y="217"/>
                </a:lnTo>
                <a:lnTo>
                  <a:pt x="616" y="248"/>
                </a:lnTo>
                <a:lnTo>
                  <a:pt x="678" y="283"/>
                </a:lnTo>
                <a:lnTo>
                  <a:pt x="739" y="320"/>
                </a:lnTo>
                <a:lnTo>
                  <a:pt x="801" y="361"/>
                </a:lnTo>
                <a:lnTo>
                  <a:pt x="862" y="403"/>
                </a:lnTo>
                <a:lnTo>
                  <a:pt x="924" y="447"/>
                </a:lnTo>
                <a:lnTo>
                  <a:pt x="985" y="492"/>
                </a:lnTo>
                <a:lnTo>
                  <a:pt x="1047" y="537"/>
                </a:lnTo>
                <a:lnTo>
                  <a:pt x="1108" y="583"/>
                </a:lnTo>
                <a:lnTo>
                  <a:pt x="1170" y="629"/>
                </a:lnTo>
                <a:lnTo>
                  <a:pt x="1231" y="674"/>
                </a:lnTo>
                <a:lnTo>
                  <a:pt x="1293" y="714"/>
                </a:lnTo>
                <a:lnTo>
                  <a:pt x="1354" y="751"/>
                </a:lnTo>
              </a:path>
            </a:pathLst>
          </a:custGeom>
          <a:noFill/>
          <a:ln w="28575">
            <a:solidFill>
              <a:srgbClr val="62636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89" name="Freeform 112">
            <a:extLst>
              <a:ext uri="{FF2B5EF4-FFF2-40B4-BE49-F238E27FC236}">
                <a16:creationId xmlns:a16="http://schemas.microsoft.com/office/drawing/2014/main" id="{D3CD8EA8-3B7D-DC1F-33EB-1608F2F10711}"/>
              </a:ext>
            </a:extLst>
          </p:cNvPr>
          <p:cNvSpPr>
            <a:spLocks/>
          </p:cNvSpPr>
          <p:nvPr/>
        </p:nvSpPr>
        <p:spPr bwMode="auto">
          <a:xfrm>
            <a:off x="8453699" y="5420869"/>
            <a:ext cx="1092525" cy="0"/>
          </a:xfrm>
          <a:custGeom>
            <a:avLst/>
            <a:gdLst>
              <a:gd name="T0" fmla="*/ 4 w 247"/>
              <a:gd name="T1" fmla="*/ 8 w 247"/>
              <a:gd name="T2" fmla="*/ 12 w 247"/>
              <a:gd name="T3" fmla="*/ 16 w 247"/>
              <a:gd name="T4" fmla="*/ 20 w 247"/>
              <a:gd name="T5" fmla="*/ 24 w 247"/>
              <a:gd name="T6" fmla="*/ 28 w 247"/>
              <a:gd name="T7" fmla="*/ 33 w 247"/>
              <a:gd name="T8" fmla="*/ 37 w 247"/>
              <a:gd name="T9" fmla="*/ 41 w 247"/>
              <a:gd name="T10" fmla="*/ 45 w 247"/>
              <a:gd name="T11" fmla="*/ 49 w 247"/>
              <a:gd name="T12" fmla="*/ 53 w 247"/>
              <a:gd name="T13" fmla="*/ 57 w 247"/>
              <a:gd name="T14" fmla="*/ 61 w 247"/>
              <a:gd name="T15" fmla="*/ 66 w 247"/>
              <a:gd name="T16" fmla="*/ 70 w 247"/>
              <a:gd name="T17" fmla="*/ 74 w 247"/>
              <a:gd name="T18" fmla="*/ 78 w 247"/>
              <a:gd name="T19" fmla="*/ 82 w 247"/>
              <a:gd name="T20" fmla="*/ 86 w 247"/>
              <a:gd name="T21" fmla="*/ 90 w 247"/>
              <a:gd name="T22" fmla="*/ 94 w 247"/>
              <a:gd name="T23" fmla="*/ 98 w 247"/>
              <a:gd name="T24" fmla="*/ 103 w 247"/>
              <a:gd name="T25" fmla="*/ 107 w 247"/>
              <a:gd name="T26" fmla="*/ 111 w 247"/>
              <a:gd name="T27" fmla="*/ 115 w 247"/>
              <a:gd name="T28" fmla="*/ 119 w 247"/>
              <a:gd name="T29" fmla="*/ 123 w 247"/>
              <a:gd name="T30" fmla="*/ 127 w 247"/>
              <a:gd name="T31" fmla="*/ 131 w 247"/>
              <a:gd name="T32" fmla="*/ 136 w 247"/>
              <a:gd name="T33" fmla="*/ 140 w 247"/>
              <a:gd name="T34" fmla="*/ 144 w 247"/>
              <a:gd name="T35" fmla="*/ 148 w 247"/>
              <a:gd name="T36" fmla="*/ 152 w 247"/>
              <a:gd name="T37" fmla="*/ 156 w 247"/>
              <a:gd name="T38" fmla="*/ 160 w 247"/>
              <a:gd name="T39" fmla="*/ 164 w 247"/>
              <a:gd name="T40" fmla="*/ 168 w 247"/>
              <a:gd name="T41" fmla="*/ 173 w 247"/>
              <a:gd name="T42" fmla="*/ 177 w 247"/>
              <a:gd name="T43" fmla="*/ 181 w 247"/>
              <a:gd name="T44" fmla="*/ 185 w 247"/>
              <a:gd name="T45" fmla="*/ 189 w 247"/>
              <a:gd name="T46" fmla="*/ 193 w 247"/>
              <a:gd name="T47" fmla="*/ 197 w 247"/>
              <a:gd name="T48" fmla="*/ 201 w 247"/>
              <a:gd name="T49" fmla="*/ 206 w 247"/>
              <a:gd name="T50" fmla="*/ 210 w 247"/>
              <a:gd name="T51" fmla="*/ 214 w 247"/>
              <a:gd name="T52" fmla="*/ 218 w 247"/>
              <a:gd name="T53" fmla="*/ 222 w 247"/>
              <a:gd name="T54" fmla="*/ 226 w 247"/>
              <a:gd name="T55" fmla="*/ 230 w 247"/>
              <a:gd name="T56" fmla="*/ 234 w 247"/>
              <a:gd name="T57" fmla="*/ 238 w 247"/>
              <a:gd name="T58" fmla="*/ 243 w 247"/>
              <a:gd name="T59" fmla="*/ 247 w 247"/>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 ang="0">
                <a:pos x="T16" y="0"/>
              </a:cxn>
              <a:cxn ang="0">
                <a:pos x="T17" y="0"/>
              </a:cxn>
              <a:cxn ang="0">
                <a:pos x="T18" y="0"/>
              </a:cxn>
              <a:cxn ang="0">
                <a:pos x="T19" y="0"/>
              </a:cxn>
              <a:cxn ang="0">
                <a:pos x="T20" y="0"/>
              </a:cxn>
              <a:cxn ang="0">
                <a:pos x="T21" y="0"/>
              </a:cxn>
              <a:cxn ang="0">
                <a:pos x="T22" y="0"/>
              </a:cxn>
              <a:cxn ang="0">
                <a:pos x="T23" y="0"/>
              </a:cxn>
              <a:cxn ang="0">
                <a:pos x="T24" y="0"/>
              </a:cxn>
              <a:cxn ang="0">
                <a:pos x="T25" y="0"/>
              </a:cxn>
              <a:cxn ang="0">
                <a:pos x="T26" y="0"/>
              </a:cxn>
              <a:cxn ang="0">
                <a:pos x="T27" y="0"/>
              </a:cxn>
              <a:cxn ang="0">
                <a:pos x="T28" y="0"/>
              </a:cxn>
              <a:cxn ang="0">
                <a:pos x="T29" y="0"/>
              </a:cxn>
              <a:cxn ang="0">
                <a:pos x="T30" y="0"/>
              </a:cxn>
              <a:cxn ang="0">
                <a:pos x="T31" y="0"/>
              </a:cxn>
              <a:cxn ang="0">
                <a:pos x="T32" y="0"/>
              </a:cxn>
              <a:cxn ang="0">
                <a:pos x="T33" y="0"/>
              </a:cxn>
              <a:cxn ang="0">
                <a:pos x="T34" y="0"/>
              </a:cxn>
              <a:cxn ang="0">
                <a:pos x="T35" y="0"/>
              </a:cxn>
              <a:cxn ang="0">
                <a:pos x="T36" y="0"/>
              </a:cxn>
              <a:cxn ang="0">
                <a:pos x="T37" y="0"/>
              </a:cxn>
              <a:cxn ang="0">
                <a:pos x="T38" y="0"/>
              </a:cxn>
              <a:cxn ang="0">
                <a:pos x="T39" y="0"/>
              </a:cxn>
              <a:cxn ang="0">
                <a:pos x="T40" y="0"/>
              </a:cxn>
              <a:cxn ang="0">
                <a:pos x="T41" y="0"/>
              </a:cxn>
              <a:cxn ang="0">
                <a:pos x="T42" y="0"/>
              </a:cxn>
              <a:cxn ang="0">
                <a:pos x="T43" y="0"/>
              </a:cxn>
              <a:cxn ang="0">
                <a:pos x="T44" y="0"/>
              </a:cxn>
              <a:cxn ang="0">
                <a:pos x="T45" y="0"/>
              </a:cxn>
              <a:cxn ang="0">
                <a:pos x="T46" y="0"/>
              </a:cxn>
              <a:cxn ang="0">
                <a:pos x="T47" y="0"/>
              </a:cxn>
              <a:cxn ang="0">
                <a:pos x="T48" y="0"/>
              </a:cxn>
              <a:cxn ang="0">
                <a:pos x="T49" y="0"/>
              </a:cxn>
              <a:cxn ang="0">
                <a:pos x="T50" y="0"/>
              </a:cxn>
              <a:cxn ang="0">
                <a:pos x="T51" y="0"/>
              </a:cxn>
              <a:cxn ang="0">
                <a:pos x="T52" y="0"/>
              </a:cxn>
              <a:cxn ang="0">
                <a:pos x="T53" y="0"/>
              </a:cxn>
              <a:cxn ang="0">
                <a:pos x="T54" y="0"/>
              </a:cxn>
              <a:cxn ang="0">
                <a:pos x="T55" y="0"/>
              </a:cxn>
              <a:cxn ang="0">
                <a:pos x="T56" y="0"/>
              </a:cxn>
              <a:cxn ang="0">
                <a:pos x="T57" y="0"/>
              </a:cxn>
              <a:cxn ang="0">
                <a:pos x="T58" y="0"/>
              </a:cxn>
              <a:cxn ang="0">
                <a:pos x="T59" y="0"/>
              </a:cxn>
            </a:cxnLst>
            <a:rect l="0" t="0" r="r" b="b"/>
            <a:pathLst>
              <a:path w="247">
                <a:moveTo>
                  <a:pt x="0" y="0"/>
                </a:moveTo>
                <a:lnTo>
                  <a:pt x="1" y="0"/>
                </a:lnTo>
                <a:lnTo>
                  <a:pt x="2" y="0"/>
                </a:lnTo>
                <a:lnTo>
                  <a:pt x="3" y="0"/>
                </a:lnTo>
                <a:lnTo>
                  <a:pt x="4" y="0"/>
                </a:lnTo>
                <a:lnTo>
                  <a:pt x="5" y="0"/>
                </a:lnTo>
                <a:lnTo>
                  <a:pt x="5" y="0"/>
                </a:lnTo>
                <a:lnTo>
                  <a:pt x="6" y="0"/>
                </a:lnTo>
                <a:lnTo>
                  <a:pt x="7" y="0"/>
                </a:lnTo>
                <a:lnTo>
                  <a:pt x="8" y="0"/>
                </a:lnTo>
                <a:lnTo>
                  <a:pt x="9" y="0"/>
                </a:lnTo>
                <a:lnTo>
                  <a:pt x="10" y="0"/>
                </a:lnTo>
                <a:lnTo>
                  <a:pt x="10" y="0"/>
                </a:lnTo>
                <a:lnTo>
                  <a:pt x="11" y="0"/>
                </a:lnTo>
                <a:lnTo>
                  <a:pt x="12" y="0"/>
                </a:lnTo>
                <a:lnTo>
                  <a:pt x="13" y="0"/>
                </a:lnTo>
                <a:lnTo>
                  <a:pt x="14" y="0"/>
                </a:lnTo>
                <a:lnTo>
                  <a:pt x="15" y="0"/>
                </a:lnTo>
                <a:lnTo>
                  <a:pt x="15" y="0"/>
                </a:lnTo>
                <a:lnTo>
                  <a:pt x="16" y="0"/>
                </a:lnTo>
                <a:lnTo>
                  <a:pt x="17" y="0"/>
                </a:lnTo>
                <a:lnTo>
                  <a:pt x="18" y="0"/>
                </a:lnTo>
                <a:lnTo>
                  <a:pt x="19" y="0"/>
                </a:lnTo>
                <a:lnTo>
                  <a:pt x="19" y="0"/>
                </a:lnTo>
                <a:lnTo>
                  <a:pt x="20" y="0"/>
                </a:lnTo>
                <a:lnTo>
                  <a:pt x="21" y="0"/>
                </a:lnTo>
                <a:lnTo>
                  <a:pt x="22" y="0"/>
                </a:lnTo>
                <a:lnTo>
                  <a:pt x="23" y="0"/>
                </a:lnTo>
                <a:lnTo>
                  <a:pt x="23" y="0"/>
                </a:lnTo>
                <a:lnTo>
                  <a:pt x="24" y="0"/>
                </a:lnTo>
                <a:lnTo>
                  <a:pt x="25" y="0"/>
                </a:lnTo>
                <a:lnTo>
                  <a:pt x="26" y="0"/>
                </a:lnTo>
                <a:lnTo>
                  <a:pt x="27" y="0"/>
                </a:lnTo>
                <a:lnTo>
                  <a:pt x="28" y="0"/>
                </a:lnTo>
                <a:lnTo>
                  <a:pt x="28" y="0"/>
                </a:lnTo>
                <a:lnTo>
                  <a:pt x="29" y="0"/>
                </a:lnTo>
                <a:lnTo>
                  <a:pt x="30" y="0"/>
                </a:lnTo>
                <a:lnTo>
                  <a:pt x="31" y="0"/>
                </a:lnTo>
                <a:lnTo>
                  <a:pt x="32" y="0"/>
                </a:lnTo>
                <a:lnTo>
                  <a:pt x="33" y="0"/>
                </a:lnTo>
                <a:lnTo>
                  <a:pt x="33" y="0"/>
                </a:lnTo>
                <a:lnTo>
                  <a:pt x="34" y="0"/>
                </a:lnTo>
                <a:lnTo>
                  <a:pt x="35" y="0"/>
                </a:lnTo>
                <a:lnTo>
                  <a:pt x="36" y="0"/>
                </a:lnTo>
                <a:lnTo>
                  <a:pt x="37" y="0"/>
                </a:lnTo>
                <a:lnTo>
                  <a:pt x="38" y="0"/>
                </a:lnTo>
                <a:lnTo>
                  <a:pt x="38" y="0"/>
                </a:lnTo>
                <a:lnTo>
                  <a:pt x="39" y="0"/>
                </a:lnTo>
                <a:lnTo>
                  <a:pt x="40" y="0"/>
                </a:lnTo>
                <a:lnTo>
                  <a:pt x="41" y="0"/>
                </a:lnTo>
                <a:lnTo>
                  <a:pt x="42" y="0"/>
                </a:lnTo>
                <a:lnTo>
                  <a:pt x="42" y="0"/>
                </a:lnTo>
                <a:lnTo>
                  <a:pt x="43" y="0"/>
                </a:lnTo>
                <a:lnTo>
                  <a:pt x="44" y="0"/>
                </a:lnTo>
                <a:lnTo>
                  <a:pt x="45" y="0"/>
                </a:lnTo>
                <a:lnTo>
                  <a:pt x="46" y="0"/>
                </a:lnTo>
                <a:lnTo>
                  <a:pt x="47" y="0"/>
                </a:lnTo>
                <a:lnTo>
                  <a:pt x="47" y="0"/>
                </a:lnTo>
                <a:lnTo>
                  <a:pt x="48" y="0"/>
                </a:lnTo>
                <a:lnTo>
                  <a:pt x="49" y="0"/>
                </a:lnTo>
                <a:lnTo>
                  <a:pt x="50" y="0"/>
                </a:lnTo>
                <a:lnTo>
                  <a:pt x="51" y="0"/>
                </a:lnTo>
                <a:lnTo>
                  <a:pt x="52" y="0"/>
                </a:lnTo>
                <a:lnTo>
                  <a:pt x="52" y="0"/>
                </a:lnTo>
                <a:lnTo>
                  <a:pt x="53" y="0"/>
                </a:lnTo>
                <a:lnTo>
                  <a:pt x="54" y="0"/>
                </a:lnTo>
                <a:lnTo>
                  <a:pt x="55" y="0"/>
                </a:lnTo>
                <a:lnTo>
                  <a:pt x="56" y="0"/>
                </a:lnTo>
                <a:lnTo>
                  <a:pt x="56" y="0"/>
                </a:lnTo>
                <a:lnTo>
                  <a:pt x="57" y="0"/>
                </a:lnTo>
                <a:lnTo>
                  <a:pt x="58" y="0"/>
                </a:lnTo>
                <a:lnTo>
                  <a:pt x="59" y="0"/>
                </a:lnTo>
                <a:lnTo>
                  <a:pt x="60" y="0"/>
                </a:lnTo>
                <a:lnTo>
                  <a:pt x="61" y="0"/>
                </a:lnTo>
                <a:lnTo>
                  <a:pt x="61" y="0"/>
                </a:lnTo>
                <a:lnTo>
                  <a:pt x="62" y="0"/>
                </a:lnTo>
                <a:lnTo>
                  <a:pt x="63" y="0"/>
                </a:lnTo>
                <a:lnTo>
                  <a:pt x="64" y="0"/>
                </a:lnTo>
                <a:lnTo>
                  <a:pt x="65" y="0"/>
                </a:lnTo>
                <a:lnTo>
                  <a:pt x="66" y="0"/>
                </a:lnTo>
                <a:lnTo>
                  <a:pt x="66" y="0"/>
                </a:lnTo>
                <a:lnTo>
                  <a:pt x="67" y="0"/>
                </a:lnTo>
                <a:lnTo>
                  <a:pt x="68" y="0"/>
                </a:lnTo>
                <a:lnTo>
                  <a:pt x="69" y="0"/>
                </a:lnTo>
                <a:lnTo>
                  <a:pt x="70" y="0"/>
                </a:lnTo>
                <a:lnTo>
                  <a:pt x="70" y="0"/>
                </a:lnTo>
                <a:lnTo>
                  <a:pt x="71" y="0"/>
                </a:lnTo>
                <a:lnTo>
                  <a:pt x="72" y="0"/>
                </a:lnTo>
                <a:lnTo>
                  <a:pt x="73" y="0"/>
                </a:lnTo>
                <a:lnTo>
                  <a:pt x="74" y="0"/>
                </a:lnTo>
                <a:lnTo>
                  <a:pt x="75" y="0"/>
                </a:lnTo>
                <a:lnTo>
                  <a:pt x="75" y="0"/>
                </a:lnTo>
                <a:lnTo>
                  <a:pt x="76" y="0"/>
                </a:lnTo>
                <a:lnTo>
                  <a:pt x="77" y="0"/>
                </a:lnTo>
                <a:lnTo>
                  <a:pt x="78" y="0"/>
                </a:lnTo>
                <a:lnTo>
                  <a:pt x="79" y="0"/>
                </a:lnTo>
                <a:lnTo>
                  <a:pt x="80" y="0"/>
                </a:lnTo>
                <a:lnTo>
                  <a:pt x="80" y="0"/>
                </a:lnTo>
                <a:lnTo>
                  <a:pt x="81" y="0"/>
                </a:lnTo>
                <a:lnTo>
                  <a:pt x="82" y="0"/>
                </a:lnTo>
                <a:lnTo>
                  <a:pt x="83" y="0"/>
                </a:lnTo>
                <a:lnTo>
                  <a:pt x="84" y="0"/>
                </a:lnTo>
                <a:lnTo>
                  <a:pt x="84" y="0"/>
                </a:lnTo>
                <a:lnTo>
                  <a:pt x="85" y="0"/>
                </a:lnTo>
                <a:lnTo>
                  <a:pt x="86" y="0"/>
                </a:lnTo>
                <a:lnTo>
                  <a:pt x="87" y="0"/>
                </a:lnTo>
                <a:lnTo>
                  <a:pt x="88" y="0"/>
                </a:lnTo>
                <a:lnTo>
                  <a:pt x="89" y="0"/>
                </a:lnTo>
                <a:lnTo>
                  <a:pt x="89" y="0"/>
                </a:lnTo>
                <a:lnTo>
                  <a:pt x="90" y="0"/>
                </a:lnTo>
                <a:lnTo>
                  <a:pt x="91" y="0"/>
                </a:lnTo>
                <a:lnTo>
                  <a:pt x="92" y="0"/>
                </a:lnTo>
                <a:lnTo>
                  <a:pt x="93" y="0"/>
                </a:lnTo>
                <a:lnTo>
                  <a:pt x="94" y="0"/>
                </a:lnTo>
                <a:lnTo>
                  <a:pt x="94" y="0"/>
                </a:lnTo>
                <a:lnTo>
                  <a:pt x="95" y="0"/>
                </a:lnTo>
                <a:lnTo>
                  <a:pt x="96" y="0"/>
                </a:lnTo>
                <a:lnTo>
                  <a:pt x="97" y="0"/>
                </a:lnTo>
                <a:lnTo>
                  <a:pt x="98" y="0"/>
                </a:lnTo>
                <a:lnTo>
                  <a:pt x="98" y="0"/>
                </a:lnTo>
                <a:lnTo>
                  <a:pt x="99" y="0"/>
                </a:lnTo>
                <a:lnTo>
                  <a:pt x="100" y="0"/>
                </a:lnTo>
                <a:lnTo>
                  <a:pt x="101" y="0"/>
                </a:lnTo>
                <a:lnTo>
                  <a:pt x="102" y="0"/>
                </a:lnTo>
                <a:lnTo>
                  <a:pt x="103" y="0"/>
                </a:lnTo>
                <a:lnTo>
                  <a:pt x="103" y="0"/>
                </a:lnTo>
                <a:lnTo>
                  <a:pt x="104" y="0"/>
                </a:lnTo>
                <a:lnTo>
                  <a:pt x="105" y="0"/>
                </a:lnTo>
                <a:lnTo>
                  <a:pt x="106" y="0"/>
                </a:lnTo>
                <a:lnTo>
                  <a:pt x="107" y="0"/>
                </a:lnTo>
                <a:lnTo>
                  <a:pt x="108" y="0"/>
                </a:lnTo>
                <a:lnTo>
                  <a:pt x="108" y="0"/>
                </a:lnTo>
                <a:lnTo>
                  <a:pt x="109" y="0"/>
                </a:lnTo>
                <a:lnTo>
                  <a:pt x="110" y="0"/>
                </a:lnTo>
                <a:lnTo>
                  <a:pt x="111" y="0"/>
                </a:lnTo>
                <a:lnTo>
                  <a:pt x="112" y="0"/>
                </a:lnTo>
                <a:lnTo>
                  <a:pt x="112" y="0"/>
                </a:lnTo>
                <a:lnTo>
                  <a:pt x="113" y="0"/>
                </a:lnTo>
                <a:lnTo>
                  <a:pt x="114" y="0"/>
                </a:lnTo>
                <a:lnTo>
                  <a:pt x="115" y="0"/>
                </a:lnTo>
                <a:lnTo>
                  <a:pt x="116" y="0"/>
                </a:lnTo>
                <a:lnTo>
                  <a:pt x="117" y="0"/>
                </a:lnTo>
                <a:lnTo>
                  <a:pt x="117" y="0"/>
                </a:lnTo>
                <a:lnTo>
                  <a:pt x="118" y="0"/>
                </a:lnTo>
                <a:lnTo>
                  <a:pt x="119" y="0"/>
                </a:lnTo>
                <a:lnTo>
                  <a:pt x="120" y="0"/>
                </a:lnTo>
                <a:lnTo>
                  <a:pt x="121" y="0"/>
                </a:lnTo>
                <a:lnTo>
                  <a:pt x="121" y="0"/>
                </a:lnTo>
                <a:lnTo>
                  <a:pt x="122" y="0"/>
                </a:lnTo>
                <a:lnTo>
                  <a:pt x="123" y="0"/>
                </a:lnTo>
                <a:lnTo>
                  <a:pt x="124" y="0"/>
                </a:lnTo>
                <a:lnTo>
                  <a:pt x="125" y="0"/>
                </a:lnTo>
                <a:lnTo>
                  <a:pt x="126" y="0"/>
                </a:lnTo>
                <a:lnTo>
                  <a:pt x="126" y="0"/>
                </a:lnTo>
                <a:lnTo>
                  <a:pt x="127" y="0"/>
                </a:lnTo>
                <a:lnTo>
                  <a:pt x="128" y="0"/>
                </a:lnTo>
                <a:lnTo>
                  <a:pt x="129" y="0"/>
                </a:lnTo>
                <a:lnTo>
                  <a:pt x="130" y="0"/>
                </a:lnTo>
                <a:lnTo>
                  <a:pt x="131" y="0"/>
                </a:lnTo>
                <a:lnTo>
                  <a:pt x="131" y="0"/>
                </a:lnTo>
                <a:lnTo>
                  <a:pt x="132" y="0"/>
                </a:lnTo>
                <a:lnTo>
                  <a:pt x="133" y="0"/>
                </a:lnTo>
                <a:lnTo>
                  <a:pt x="134" y="0"/>
                </a:lnTo>
                <a:lnTo>
                  <a:pt x="135" y="0"/>
                </a:lnTo>
                <a:lnTo>
                  <a:pt x="136" y="0"/>
                </a:lnTo>
                <a:lnTo>
                  <a:pt x="136" y="0"/>
                </a:lnTo>
                <a:lnTo>
                  <a:pt x="137" y="0"/>
                </a:lnTo>
                <a:lnTo>
                  <a:pt x="138" y="0"/>
                </a:lnTo>
                <a:lnTo>
                  <a:pt x="139" y="0"/>
                </a:lnTo>
                <a:lnTo>
                  <a:pt x="140" y="0"/>
                </a:lnTo>
                <a:lnTo>
                  <a:pt x="140" y="0"/>
                </a:lnTo>
                <a:lnTo>
                  <a:pt x="141" y="0"/>
                </a:lnTo>
                <a:lnTo>
                  <a:pt x="142" y="0"/>
                </a:lnTo>
                <a:lnTo>
                  <a:pt x="143" y="0"/>
                </a:lnTo>
                <a:lnTo>
                  <a:pt x="144" y="0"/>
                </a:lnTo>
                <a:lnTo>
                  <a:pt x="145" y="0"/>
                </a:lnTo>
                <a:lnTo>
                  <a:pt x="145" y="0"/>
                </a:lnTo>
                <a:lnTo>
                  <a:pt x="146" y="0"/>
                </a:lnTo>
                <a:lnTo>
                  <a:pt x="147" y="0"/>
                </a:lnTo>
                <a:lnTo>
                  <a:pt x="148" y="0"/>
                </a:lnTo>
                <a:lnTo>
                  <a:pt x="149" y="0"/>
                </a:lnTo>
                <a:lnTo>
                  <a:pt x="150" y="0"/>
                </a:lnTo>
                <a:lnTo>
                  <a:pt x="150" y="0"/>
                </a:lnTo>
                <a:lnTo>
                  <a:pt x="151" y="0"/>
                </a:lnTo>
                <a:lnTo>
                  <a:pt x="152" y="0"/>
                </a:lnTo>
                <a:lnTo>
                  <a:pt x="153" y="0"/>
                </a:lnTo>
                <a:lnTo>
                  <a:pt x="154" y="0"/>
                </a:lnTo>
                <a:lnTo>
                  <a:pt x="154" y="0"/>
                </a:lnTo>
                <a:lnTo>
                  <a:pt x="155" y="0"/>
                </a:lnTo>
                <a:lnTo>
                  <a:pt x="156" y="0"/>
                </a:lnTo>
                <a:lnTo>
                  <a:pt x="157" y="0"/>
                </a:lnTo>
                <a:lnTo>
                  <a:pt x="158" y="0"/>
                </a:lnTo>
                <a:lnTo>
                  <a:pt x="159" y="0"/>
                </a:lnTo>
                <a:lnTo>
                  <a:pt x="159" y="0"/>
                </a:lnTo>
                <a:lnTo>
                  <a:pt x="160" y="0"/>
                </a:lnTo>
                <a:lnTo>
                  <a:pt x="161" y="0"/>
                </a:lnTo>
                <a:lnTo>
                  <a:pt x="162" y="0"/>
                </a:lnTo>
                <a:lnTo>
                  <a:pt x="163" y="0"/>
                </a:lnTo>
                <a:lnTo>
                  <a:pt x="164" y="0"/>
                </a:lnTo>
                <a:lnTo>
                  <a:pt x="164" y="0"/>
                </a:lnTo>
                <a:lnTo>
                  <a:pt x="165" y="0"/>
                </a:lnTo>
                <a:lnTo>
                  <a:pt x="166" y="0"/>
                </a:lnTo>
                <a:lnTo>
                  <a:pt x="167" y="0"/>
                </a:lnTo>
                <a:lnTo>
                  <a:pt x="168" y="0"/>
                </a:lnTo>
                <a:lnTo>
                  <a:pt x="168" y="0"/>
                </a:lnTo>
                <a:lnTo>
                  <a:pt x="169" y="0"/>
                </a:lnTo>
                <a:lnTo>
                  <a:pt x="170" y="0"/>
                </a:lnTo>
                <a:lnTo>
                  <a:pt x="171" y="0"/>
                </a:lnTo>
                <a:lnTo>
                  <a:pt x="172" y="0"/>
                </a:lnTo>
                <a:lnTo>
                  <a:pt x="173" y="0"/>
                </a:lnTo>
                <a:lnTo>
                  <a:pt x="173" y="0"/>
                </a:lnTo>
                <a:lnTo>
                  <a:pt x="174" y="0"/>
                </a:lnTo>
                <a:lnTo>
                  <a:pt x="175" y="0"/>
                </a:lnTo>
                <a:lnTo>
                  <a:pt x="176" y="0"/>
                </a:lnTo>
                <a:lnTo>
                  <a:pt x="177" y="0"/>
                </a:lnTo>
                <a:lnTo>
                  <a:pt x="177" y="0"/>
                </a:lnTo>
                <a:lnTo>
                  <a:pt x="178" y="0"/>
                </a:lnTo>
                <a:lnTo>
                  <a:pt x="179" y="0"/>
                </a:lnTo>
                <a:lnTo>
                  <a:pt x="180" y="0"/>
                </a:lnTo>
                <a:lnTo>
                  <a:pt x="181" y="0"/>
                </a:lnTo>
                <a:lnTo>
                  <a:pt x="182" y="0"/>
                </a:lnTo>
                <a:lnTo>
                  <a:pt x="182" y="0"/>
                </a:lnTo>
                <a:lnTo>
                  <a:pt x="183" y="0"/>
                </a:lnTo>
                <a:lnTo>
                  <a:pt x="184" y="0"/>
                </a:lnTo>
                <a:lnTo>
                  <a:pt x="185" y="0"/>
                </a:lnTo>
                <a:lnTo>
                  <a:pt x="186" y="0"/>
                </a:lnTo>
                <a:lnTo>
                  <a:pt x="187" y="0"/>
                </a:lnTo>
                <a:lnTo>
                  <a:pt x="187" y="0"/>
                </a:lnTo>
                <a:lnTo>
                  <a:pt x="188" y="0"/>
                </a:lnTo>
                <a:lnTo>
                  <a:pt x="189" y="0"/>
                </a:lnTo>
                <a:lnTo>
                  <a:pt x="190" y="0"/>
                </a:lnTo>
                <a:lnTo>
                  <a:pt x="191" y="0"/>
                </a:lnTo>
                <a:lnTo>
                  <a:pt x="192" y="0"/>
                </a:lnTo>
                <a:lnTo>
                  <a:pt x="192" y="0"/>
                </a:lnTo>
                <a:lnTo>
                  <a:pt x="193" y="0"/>
                </a:lnTo>
                <a:lnTo>
                  <a:pt x="194" y="0"/>
                </a:lnTo>
                <a:lnTo>
                  <a:pt x="195" y="0"/>
                </a:lnTo>
                <a:lnTo>
                  <a:pt x="196" y="0"/>
                </a:lnTo>
                <a:lnTo>
                  <a:pt x="196" y="0"/>
                </a:lnTo>
                <a:lnTo>
                  <a:pt x="197" y="0"/>
                </a:lnTo>
                <a:lnTo>
                  <a:pt x="198" y="0"/>
                </a:lnTo>
                <a:lnTo>
                  <a:pt x="199" y="0"/>
                </a:lnTo>
                <a:lnTo>
                  <a:pt x="200" y="0"/>
                </a:lnTo>
                <a:lnTo>
                  <a:pt x="201" y="0"/>
                </a:lnTo>
                <a:lnTo>
                  <a:pt x="201" y="0"/>
                </a:lnTo>
                <a:lnTo>
                  <a:pt x="202" y="0"/>
                </a:lnTo>
                <a:lnTo>
                  <a:pt x="203" y="0"/>
                </a:lnTo>
                <a:lnTo>
                  <a:pt x="204" y="0"/>
                </a:lnTo>
                <a:lnTo>
                  <a:pt x="205" y="0"/>
                </a:lnTo>
                <a:lnTo>
                  <a:pt x="206" y="0"/>
                </a:lnTo>
                <a:lnTo>
                  <a:pt x="206" y="0"/>
                </a:lnTo>
                <a:lnTo>
                  <a:pt x="207" y="0"/>
                </a:lnTo>
                <a:lnTo>
                  <a:pt x="208" y="0"/>
                </a:lnTo>
                <a:lnTo>
                  <a:pt x="209" y="0"/>
                </a:lnTo>
                <a:lnTo>
                  <a:pt x="210" y="0"/>
                </a:lnTo>
                <a:lnTo>
                  <a:pt x="210" y="0"/>
                </a:lnTo>
                <a:lnTo>
                  <a:pt x="211" y="0"/>
                </a:lnTo>
                <a:lnTo>
                  <a:pt x="212" y="0"/>
                </a:lnTo>
                <a:lnTo>
                  <a:pt x="213" y="0"/>
                </a:lnTo>
                <a:lnTo>
                  <a:pt x="214" y="0"/>
                </a:lnTo>
                <a:lnTo>
                  <a:pt x="215" y="0"/>
                </a:lnTo>
                <a:lnTo>
                  <a:pt x="215" y="0"/>
                </a:lnTo>
                <a:lnTo>
                  <a:pt x="216" y="0"/>
                </a:lnTo>
                <a:lnTo>
                  <a:pt x="217" y="0"/>
                </a:lnTo>
                <a:lnTo>
                  <a:pt x="218" y="0"/>
                </a:lnTo>
                <a:lnTo>
                  <a:pt x="219" y="0"/>
                </a:lnTo>
                <a:lnTo>
                  <a:pt x="219" y="0"/>
                </a:lnTo>
                <a:lnTo>
                  <a:pt x="220" y="0"/>
                </a:lnTo>
                <a:lnTo>
                  <a:pt x="221" y="0"/>
                </a:lnTo>
                <a:lnTo>
                  <a:pt x="222" y="0"/>
                </a:lnTo>
                <a:lnTo>
                  <a:pt x="223" y="0"/>
                </a:lnTo>
                <a:lnTo>
                  <a:pt x="224" y="0"/>
                </a:lnTo>
                <a:lnTo>
                  <a:pt x="224" y="0"/>
                </a:lnTo>
                <a:lnTo>
                  <a:pt x="225" y="0"/>
                </a:lnTo>
                <a:lnTo>
                  <a:pt x="226" y="0"/>
                </a:lnTo>
                <a:lnTo>
                  <a:pt x="227" y="0"/>
                </a:lnTo>
                <a:lnTo>
                  <a:pt x="228" y="0"/>
                </a:lnTo>
                <a:lnTo>
                  <a:pt x="229" y="0"/>
                </a:lnTo>
                <a:lnTo>
                  <a:pt x="229" y="0"/>
                </a:lnTo>
                <a:lnTo>
                  <a:pt x="230" y="0"/>
                </a:lnTo>
                <a:lnTo>
                  <a:pt x="231" y="0"/>
                </a:lnTo>
                <a:lnTo>
                  <a:pt x="232" y="0"/>
                </a:lnTo>
                <a:lnTo>
                  <a:pt x="233" y="0"/>
                </a:lnTo>
                <a:lnTo>
                  <a:pt x="233" y="0"/>
                </a:lnTo>
                <a:lnTo>
                  <a:pt x="234" y="0"/>
                </a:lnTo>
                <a:lnTo>
                  <a:pt x="235" y="0"/>
                </a:lnTo>
                <a:lnTo>
                  <a:pt x="236" y="0"/>
                </a:lnTo>
                <a:lnTo>
                  <a:pt x="237" y="0"/>
                </a:lnTo>
                <a:lnTo>
                  <a:pt x="238" y="0"/>
                </a:lnTo>
                <a:lnTo>
                  <a:pt x="238" y="0"/>
                </a:lnTo>
                <a:lnTo>
                  <a:pt x="239" y="0"/>
                </a:lnTo>
                <a:lnTo>
                  <a:pt x="240" y="0"/>
                </a:lnTo>
                <a:lnTo>
                  <a:pt x="241" y="0"/>
                </a:lnTo>
                <a:lnTo>
                  <a:pt x="242" y="0"/>
                </a:lnTo>
                <a:lnTo>
                  <a:pt x="243" y="0"/>
                </a:lnTo>
                <a:lnTo>
                  <a:pt x="243" y="0"/>
                </a:lnTo>
                <a:lnTo>
                  <a:pt x="244" y="0"/>
                </a:lnTo>
                <a:lnTo>
                  <a:pt x="245" y="0"/>
                </a:lnTo>
                <a:lnTo>
                  <a:pt x="246" y="0"/>
                </a:lnTo>
                <a:lnTo>
                  <a:pt x="247" y="0"/>
                </a:lnTo>
              </a:path>
            </a:pathLst>
          </a:custGeom>
          <a:noFill/>
          <a:ln w="28575">
            <a:solidFill>
              <a:srgbClr val="62636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04" name="Rectangle 122">
            <a:extLst>
              <a:ext uri="{FF2B5EF4-FFF2-40B4-BE49-F238E27FC236}">
                <a16:creationId xmlns:a16="http://schemas.microsoft.com/office/drawing/2014/main" id="{1D617FBF-5D12-180F-9316-F580BDEB6E5D}"/>
              </a:ext>
            </a:extLst>
          </p:cNvPr>
          <p:cNvSpPr>
            <a:spLocks noChangeArrowheads="1"/>
          </p:cNvSpPr>
          <p:nvPr/>
        </p:nvSpPr>
        <p:spPr bwMode="auto">
          <a:xfrm rot="16200000">
            <a:off x="-50052" y="3398692"/>
            <a:ext cx="2211037"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Average Income at Age 35</a:t>
            </a:r>
          </a:p>
        </p:txBody>
      </p:sp>
      <p:sp>
        <p:nvSpPr>
          <p:cNvPr id="205" name="Rectangle 132">
            <a:extLst>
              <a:ext uri="{FF2B5EF4-FFF2-40B4-BE49-F238E27FC236}">
                <a16:creationId xmlns:a16="http://schemas.microsoft.com/office/drawing/2014/main" id="{95F4865D-54B8-3D74-B697-75843E82B1B7}"/>
              </a:ext>
            </a:extLst>
          </p:cNvPr>
          <p:cNvSpPr>
            <a:spLocks noChangeArrowheads="1"/>
          </p:cNvSpPr>
          <p:nvPr/>
        </p:nvSpPr>
        <p:spPr bwMode="auto">
          <a:xfrm>
            <a:off x="4522090" y="6134034"/>
            <a:ext cx="2709954"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Age of Child when Parents Move</a:t>
            </a:r>
          </a:p>
        </p:txBody>
      </p:sp>
      <p:sp>
        <p:nvSpPr>
          <p:cNvPr id="2" name="AutoShape 94">
            <a:extLst>
              <a:ext uri="{FF2B5EF4-FFF2-40B4-BE49-F238E27FC236}">
                <a16:creationId xmlns:a16="http://schemas.microsoft.com/office/drawing/2014/main" id="{14DADA1B-B487-AC48-E1AC-942541F9C879}"/>
              </a:ext>
            </a:extLst>
          </p:cNvPr>
          <p:cNvSpPr>
            <a:spLocks noGrp="1" noRot="1" noChangeAspect="1" noMove="1" noResize="1" noEditPoints="1" noAdjustHandles="1" noChangeArrowheads="1" noChangeShapeType="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a:extLst>
              <a:ext uri="{FF2B5EF4-FFF2-40B4-BE49-F238E27FC236}">
                <a16:creationId xmlns:a16="http://schemas.microsoft.com/office/drawing/2014/main" id="{3430D4D5-8B34-8B81-AB2A-DC7AF150732A}"/>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pic>
        <p:nvPicPr>
          <p:cNvPr id="8" name="Picture 7" descr="A black and grey text&#10;&#10;Description automatically generated">
            <a:extLst>
              <a:ext uri="{FF2B5EF4-FFF2-40B4-BE49-F238E27FC236}">
                <a16:creationId xmlns:a16="http://schemas.microsoft.com/office/drawing/2014/main" id="{BEB5D5EE-F236-0F16-FD87-E92CD50E7FF5}"/>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9" name="Straight Connector 8">
            <a:extLst>
              <a:ext uri="{FF2B5EF4-FFF2-40B4-BE49-F238E27FC236}">
                <a16:creationId xmlns:a16="http://schemas.microsoft.com/office/drawing/2014/main" id="{6C65D327-38F8-C9BF-FD14-759756D8534D}"/>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AutoShape 112">
            <a:extLst>
              <a:ext uri="{FF2B5EF4-FFF2-40B4-BE49-F238E27FC236}">
                <a16:creationId xmlns:a16="http://schemas.microsoft.com/office/drawing/2014/main" id="{0886E14B-0BF7-699E-EFEA-763403E2F8FC}"/>
              </a:ext>
            </a:extLst>
          </p:cNvPr>
          <p:cNvSpPr>
            <a:spLocks noChangeAspect="1" noChangeArrowheads="1" noTextEdit="1"/>
          </p:cNvSpPr>
          <p:nvPr/>
        </p:nvSpPr>
        <p:spPr bwMode="auto">
          <a:xfrm>
            <a:off x="737568" y="827532"/>
            <a:ext cx="8627719" cy="5392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62626"/>
              </a:solidFill>
              <a:effectLst/>
              <a:uLnTx/>
              <a:uFillTx/>
              <a:latin typeface="Lucida Sans"/>
              <a:ea typeface="+mn-ea"/>
              <a:cs typeface="+mn-cs"/>
            </a:endParaRPr>
          </a:p>
        </p:txBody>
      </p:sp>
      <p:sp>
        <p:nvSpPr>
          <p:cNvPr id="3" name="TextBox 2">
            <a:extLst>
              <a:ext uri="{FF2B5EF4-FFF2-40B4-BE49-F238E27FC236}">
                <a16:creationId xmlns:a16="http://schemas.microsoft.com/office/drawing/2014/main" id="{F08D1F3D-7187-94CE-1683-11225AC2A599}"/>
              </a:ext>
            </a:extLst>
          </p:cNvPr>
          <p:cNvSpPr txBox="1"/>
          <p:nvPr/>
        </p:nvSpPr>
        <p:spPr>
          <a:xfrm>
            <a:off x="568592" y="648310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and Hendren (QJE 2018)</a:t>
            </a:r>
          </a:p>
        </p:txBody>
      </p:sp>
      <p:sp>
        <p:nvSpPr>
          <p:cNvPr id="170" name="Rectangle 169">
            <a:extLst>
              <a:ext uri="{FF2B5EF4-FFF2-40B4-BE49-F238E27FC236}">
                <a16:creationId xmlns:a16="http://schemas.microsoft.com/office/drawing/2014/main" id="{49639E15-6E4E-31A1-E4A8-02D3C0102D1A}"/>
              </a:ext>
            </a:extLst>
          </p:cNvPr>
          <p:cNvSpPr>
            <a:spLocks noChangeArrowheads="1"/>
          </p:cNvSpPr>
          <p:nvPr/>
        </p:nvSpPr>
        <p:spPr bwMode="auto">
          <a:xfrm>
            <a:off x="613842" y="375323"/>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Income Gain from Moving to a Higher Opportunity Neighborhood</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By Child’s Age at Move</a:t>
            </a:r>
          </a:p>
        </p:txBody>
      </p:sp>
      <p:cxnSp>
        <p:nvCxnSpPr>
          <p:cNvPr id="19" name="Straight Connector 18">
            <a:extLst>
              <a:ext uri="{FF2B5EF4-FFF2-40B4-BE49-F238E27FC236}">
                <a16:creationId xmlns:a16="http://schemas.microsoft.com/office/drawing/2014/main" id="{037EA1E5-E984-B459-325F-293BA1741403}"/>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18" name="Line 113">
            <a:extLst>
              <a:ext uri="{FF2B5EF4-FFF2-40B4-BE49-F238E27FC236}">
                <a16:creationId xmlns:a16="http://schemas.microsoft.com/office/drawing/2014/main" id="{19089D4A-AAC3-308C-9DA2-45B8F2B77735}"/>
              </a:ext>
            </a:extLst>
          </p:cNvPr>
          <p:cNvSpPr>
            <a:spLocks noChangeShapeType="1"/>
          </p:cNvSpPr>
          <p:nvPr/>
        </p:nvSpPr>
        <p:spPr bwMode="auto">
          <a:xfrm flipV="1">
            <a:off x="2330240" y="1161249"/>
            <a:ext cx="0" cy="453377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0" name="Line 123">
            <a:extLst>
              <a:ext uri="{FF2B5EF4-FFF2-40B4-BE49-F238E27FC236}">
                <a16:creationId xmlns:a16="http://schemas.microsoft.com/office/drawing/2014/main" id="{97FE458F-1C40-CC27-8A1B-9EBA32E5D558}"/>
              </a:ext>
            </a:extLst>
          </p:cNvPr>
          <p:cNvSpPr>
            <a:spLocks noChangeShapeType="1"/>
          </p:cNvSpPr>
          <p:nvPr/>
        </p:nvSpPr>
        <p:spPr bwMode="auto">
          <a:xfrm>
            <a:off x="2330240" y="5695022"/>
            <a:ext cx="7361245"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1" name="Line 124">
            <a:extLst>
              <a:ext uri="{FF2B5EF4-FFF2-40B4-BE49-F238E27FC236}">
                <a16:creationId xmlns:a16="http://schemas.microsoft.com/office/drawing/2014/main" id="{DCC6BC09-FD19-B994-0A5F-321C513E7F8A}"/>
              </a:ext>
            </a:extLst>
          </p:cNvPr>
          <p:cNvSpPr>
            <a:spLocks noChangeShapeType="1"/>
          </p:cNvSpPr>
          <p:nvPr/>
        </p:nvSpPr>
        <p:spPr bwMode="auto">
          <a:xfrm>
            <a:off x="2475501"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2" name="Rectangle 125">
            <a:extLst>
              <a:ext uri="{FF2B5EF4-FFF2-40B4-BE49-F238E27FC236}">
                <a16:creationId xmlns:a16="http://schemas.microsoft.com/office/drawing/2014/main" id="{ADD80ADB-8BFB-D41B-99B7-144A432454C4}"/>
              </a:ext>
            </a:extLst>
          </p:cNvPr>
          <p:cNvSpPr>
            <a:spLocks noChangeArrowheads="1"/>
          </p:cNvSpPr>
          <p:nvPr/>
        </p:nvSpPr>
        <p:spPr bwMode="auto">
          <a:xfrm>
            <a:off x="2403894" y="5832100"/>
            <a:ext cx="110010"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a:t>
            </a:r>
          </a:p>
        </p:txBody>
      </p:sp>
      <p:sp>
        <p:nvSpPr>
          <p:cNvPr id="24" name="Line 126">
            <a:extLst>
              <a:ext uri="{FF2B5EF4-FFF2-40B4-BE49-F238E27FC236}">
                <a16:creationId xmlns:a16="http://schemas.microsoft.com/office/drawing/2014/main" id="{929F7B5E-6D66-B007-E851-5B29DCAD898A}"/>
              </a:ext>
            </a:extLst>
          </p:cNvPr>
          <p:cNvSpPr>
            <a:spLocks noChangeShapeType="1"/>
          </p:cNvSpPr>
          <p:nvPr/>
        </p:nvSpPr>
        <p:spPr bwMode="auto">
          <a:xfrm>
            <a:off x="4650321"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6" name="Rectangle 127">
            <a:extLst>
              <a:ext uri="{FF2B5EF4-FFF2-40B4-BE49-F238E27FC236}">
                <a16:creationId xmlns:a16="http://schemas.microsoft.com/office/drawing/2014/main" id="{C3A996FA-E5E4-FF4A-431C-952E14F14075}"/>
              </a:ext>
            </a:extLst>
          </p:cNvPr>
          <p:cNvSpPr>
            <a:spLocks noChangeArrowheads="1"/>
          </p:cNvSpPr>
          <p:nvPr/>
        </p:nvSpPr>
        <p:spPr bwMode="auto">
          <a:xfrm>
            <a:off x="4513244"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10</a:t>
            </a:r>
          </a:p>
        </p:txBody>
      </p:sp>
      <p:sp>
        <p:nvSpPr>
          <p:cNvPr id="27" name="Line 128">
            <a:extLst>
              <a:ext uri="{FF2B5EF4-FFF2-40B4-BE49-F238E27FC236}">
                <a16:creationId xmlns:a16="http://schemas.microsoft.com/office/drawing/2014/main" id="{C84C4402-8018-4FD3-22AF-2737059F54D5}"/>
              </a:ext>
            </a:extLst>
          </p:cNvPr>
          <p:cNvSpPr>
            <a:spLocks noChangeShapeType="1"/>
          </p:cNvSpPr>
          <p:nvPr/>
        </p:nvSpPr>
        <p:spPr bwMode="auto">
          <a:xfrm>
            <a:off x="7367312"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28" name="Rectangle 129">
            <a:extLst>
              <a:ext uri="{FF2B5EF4-FFF2-40B4-BE49-F238E27FC236}">
                <a16:creationId xmlns:a16="http://schemas.microsoft.com/office/drawing/2014/main" id="{53E51F5E-3D39-B522-C7B7-7AFE3E5FC3A7}"/>
              </a:ext>
            </a:extLst>
          </p:cNvPr>
          <p:cNvSpPr>
            <a:spLocks noChangeArrowheads="1"/>
          </p:cNvSpPr>
          <p:nvPr/>
        </p:nvSpPr>
        <p:spPr bwMode="auto">
          <a:xfrm>
            <a:off x="7230235"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20</a:t>
            </a:r>
          </a:p>
        </p:txBody>
      </p:sp>
      <p:sp>
        <p:nvSpPr>
          <p:cNvPr id="31" name="Line 130">
            <a:extLst>
              <a:ext uri="{FF2B5EF4-FFF2-40B4-BE49-F238E27FC236}">
                <a16:creationId xmlns:a16="http://schemas.microsoft.com/office/drawing/2014/main" id="{33D4B9FF-0AB5-20C5-9C07-4FB06FB5086E}"/>
              </a:ext>
            </a:extLst>
          </p:cNvPr>
          <p:cNvSpPr>
            <a:spLocks noChangeShapeType="1"/>
          </p:cNvSpPr>
          <p:nvPr/>
        </p:nvSpPr>
        <p:spPr bwMode="auto">
          <a:xfrm>
            <a:off x="9546224" y="5695022"/>
            <a:ext cx="0" cy="94113"/>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2" name="Rectangle 131">
            <a:extLst>
              <a:ext uri="{FF2B5EF4-FFF2-40B4-BE49-F238E27FC236}">
                <a16:creationId xmlns:a16="http://schemas.microsoft.com/office/drawing/2014/main" id="{DE6F7CE1-0DC3-7BF3-9922-4F689CCA35EE}"/>
              </a:ext>
            </a:extLst>
          </p:cNvPr>
          <p:cNvSpPr>
            <a:spLocks noChangeArrowheads="1"/>
          </p:cNvSpPr>
          <p:nvPr/>
        </p:nvSpPr>
        <p:spPr bwMode="auto">
          <a:xfrm>
            <a:off x="9409147" y="5832100"/>
            <a:ext cx="220019" cy="20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28</a:t>
            </a:r>
          </a:p>
        </p:txBody>
      </p:sp>
      <p:sp>
        <p:nvSpPr>
          <p:cNvPr id="33" name="Line 114">
            <a:extLst>
              <a:ext uri="{FF2B5EF4-FFF2-40B4-BE49-F238E27FC236}">
                <a16:creationId xmlns:a16="http://schemas.microsoft.com/office/drawing/2014/main" id="{9CF8F994-669F-602D-9EEC-604C8051192E}"/>
              </a:ext>
            </a:extLst>
          </p:cNvPr>
          <p:cNvSpPr>
            <a:spLocks noChangeShapeType="1"/>
          </p:cNvSpPr>
          <p:nvPr/>
        </p:nvSpPr>
        <p:spPr bwMode="auto">
          <a:xfrm flipH="1">
            <a:off x="2236127" y="5413249"/>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4" name="Line 116">
            <a:extLst>
              <a:ext uri="{FF2B5EF4-FFF2-40B4-BE49-F238E27FC236}">
                <a16:creationId xmlns:a16="http://schemas.microsoft.com/office/drawing/2014/main" id="{3B112BCC-9C29-D294-78E6-C2012F069EE6}"/>
              </a:ext>
            </a:extLst>
          </p:cNvPr>
          <p:cNvSpPr>
            <a:spLocks noChangeShapeType="1"/>
          </p:cNvSpPr>
          <p:nvPr/>
        </p:nvSpPr>
        <p:spPr bwMode="auto">
          <a:xfrm flipH="1">
            <a:off x="2236127" y="4161134"/>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5" name="Line 118">
            <a:extLst>
              <a:ext uri="{FF2B5EF4-FFF2-40B4-BE49-F238E27FC236}">
                <a16:creationId xmlns:a16="http://schemas.microsoft.com/office/drawing/2014/main" id="{2D5A0039-086B-9E60-F3EC-829D9B573CDE}"/>
              </a:ext>
            </a:extLst>
          </p:cNvPr>
          <p:cNvSpPr>
            <a:spLocks noChangeShapeType="1"/>
          </p:cNvSpPr>
          <p:nvPr/>
        </p:nvSpPr>
        <p:spPr bwMode="auto">
          <a:xfrm flipH="1">
            <a:off x="2236127" y="2909019"/>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36" name="Line 120">
            <a:extLst>
              <a:ext uri="{FF2B5EF4-FFF2-40B4-BE49-F238E27FC236}">
                <a16:creationId xmlns:a16="http://schemas.microsoft.com/office/drawing/2014/main" id="{3DD9FFCC-C128-7259-B7C0-6835E61B2E9B}"/>
              </a:ext>
            </a:extLst>
          </p:cNvPr>
          <p:cNvSpPr>
            <a:spLocks noChangeShapeType="1"/>
          </p:cNvSpPr>
          <p:nvPr/>
        </p:nvSpPr>
        <p:spPr bwMode="auto">
          <a:xfrm flipH="1">
            <a:off x="2236127" y="1756487"/>
            <a:ext cx="94113" cy="0"/>
          </a:xfrm>
          <a:prstGeom prst="line">
            <a:avLst/>
          </a:prstGeom>
          <a:noFill/>
          <a:ln w="6350">
            <a:solidFill>
              <a:schemeClr val="tx2"/>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4" name="Rectangle 171">
            <a:extLst>
              <a:ext uri="{FF2B5EF4-FFF2-40B4-BE49-F238E27FC236}">
                <a16:creationId xmlns:a16="http://schemas.microsoft.com/office/drawing/2014/main" id="{E80AC52F-5FC4-6C35-2DB1-CC7629FBCD9B}"/>
              </a:ext>
            </a:extLst>
          </p:cNvPr>
          <p:cNvSpPr>
            <a:spLocks noChangeArrowheads="1"/>
          </p:cNvSpPr>
          <p:nvPr/>
        </p:nvSpPr>
        <p:spPr bwMode="auto">
          <a:xfrm>
            <a:off x="9797765" y="1642763"/>
            <a:ext cx="1760643" cy="246221"/>
          </a:xfrm>
          <a:prstGeom prst="rect">
            <a:avLst/>
          </a:prstGeom>
          <a:noFill/>
          <a:ln>
            <a:noFill/>
          </a:ln>
          <a:effec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0547"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Gotha</a:t>
            </a:r>
          </a:p>
        </p:txBody>
      </p:sp>
      <p:sp>
        <p:nvSpPr>
          <p:cNvPr id="5" name="Rectangle 171">
            <a:extLst>
              <a:ext uri="{FF2B5EF4-FFF2-40B4-BE49-F238E27FC236}">
                <a16:creationId xmlns:a16="http://schemas.microsoft.com/office/drawing/2014/main" id="{E62AEBD0-8BAD-6D14-400C-36D67B680397}"/>
              </a:ext>
            </a:extLst>
          </p:cNvPr>
          <p:cNvSpPr>
            <a:spLocks noChangeArrowheads="1"/>
          </p:cNvSpPr>
          <p:nvPr/>
        </p:nvSpPr>
        <p:spPr bwMode="auto">
          <a:xfrm>
            <a:off x="9797765" y="5284243"/>
            <a:ext cx="1870085" cy="246221"/>
          </a:xfrm>
          <a:prstGeom prst="rect">
            <a:avLst/>
          </a:prstGeom>
          <a:noFill/>
          <a:ln>
            <a:noFill/>
          </a:ln>
          <a:effec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0547"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Pine Hills</a:t>
            </a:r>
          </a:p>
        </p:txBody>
      </p:sp>
      <p:sp>
        <p:nvSpPr>
          <p:cNvPr id="6" name="Rectangle 115">
            <a:extLst>
              <a:ext uri="{FF2B5EF4-FFF2-40B4-BE49-F238E27FC236}">
                <a16:creationId xmlns:a16="http://schemas.microsoft.com/office/drawing/2014/main" id="{EA341F61-84EF-53B9-B6AD-332D3AC1A086}"/>
              </a:ext>
            </a:extLst>
          </p:cNvPr>
          <p:cNvSpPr>
            <a:spLocks noChangeArrowheads="1"/>
          </p:cNvSpPr>
          <p:nvPr/>
        </p:nvSpPr>
        <p:spPr bwMode="auto">
          <a:xfrm>
            <a:off x="1604360" y="5305527"/>
            <a:ext cx="6917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$34.5K</a:t>
            </a:r>
          </a:p>
        </p:txBody>
      </p:sp>
      <p:sp>
        <p:nvSpPr>
          <p:cNvPr id="15" name="Rectangle 117">
            <a:extLst>
              <a:ext uri="{FF2B5EF4-FFF2-40B4-BE49-F238E27FC236}">
                <a16:creationId xmlns:a16="http://schemas.microsoft.com/office/drawing/2014/main" id="{51A293E8-025A-B7C3-F8F7-66A35CD849B5}"/>
              </a:ext>
            </a:extLst>
          </p:cNvPr>
          <p:cNvSpPr>
            <a:spLocks noChangeArrowheads="1"/>
          </p:cNvSpPr>
          <p:nvPr/>
        </p:nvSpPr>
        <p:spPr bwMode="auto">
          <a:xfrm>
            <a:off x="1604360" y="4057722"/>
            <a:ext cx="6844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$40.1K </a:t>
            </a:r>
          </a:p>
        </p:txBody>
      </p:sp>
      <p:sp>
        <p:nvSpPr>
          <p:cNvPr id="16" name="Rectangle 119">
            <a:extLst>
              <a:ext uri="{FF2B5EF4-FFF2-40B4-BE49-F238E27FC236}">
                <a16:creationId xmlns:a16="http://schemas.microsoft.com/office/drawing/2014/main" id="{89EBA2F2-C923-6833-54A6-3F86C2887250}"/>
              </a:ext>
            </a:extLst>
          </p:cNvPr>
          <p:cNvSpPr>
            <a:spLocks noChangeArrowheads="1"/>
          </p:cNvSpPr>
          <p:nvPr/>
        </p:nvSpPr>
        <p:spPr bwMode="auto">
          <a:xfrm>
            <a:off x="1604360" y="2810774"/>
            <a:ext cx="62837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$45.6K</a:t>
            </a:r>
          </a:p>
        </p:txBody>
      </p:sp>
      <p:sp>
        <p:nvSpPr>
          <p:cNvPr id="17" name="Rectangle 121">
            <a:extLst>
              <a:ext uri="{FF2B5EF4-FFF2-40B4-BE49-F238E27FC236}">
                <a16:creationId xmlns:a16="http://schemas.microsoft.com/office/drawing/2014/main" id="{ACF8FF70-667F-B607-98D3-44DA7E9A2158}"/>
              </a:ext>
            </a:extLst>
          </p:cNvPr>
          <p:cNvSpPr>
            <a:spLocks noChangeArrowheads="1"/>
          </p:cNvSpPr>
          <p:nvPr/>
        </p:nvSpPr>
        <p:spPr bwMode="auto">
          <a:xfrm>
            <a:off x="1604360" y="1647409"/>
            <a:ext cx="68448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$51.3K </a:t>
            </a:r>
          </a:p>
        </p:txBody>
      </p:sp>
    </p:spTree>
    <p:extLst>
      <p:ext uri="{BB962C8B-B14F-4D97-AF65-F5344CB8AC3E}">
        <p14:creationId xmlns:p14="http://schemas.microsoft.com/office/powerpoint/2010/main" val="1472939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183"/>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pic>
        <p:nvPicPr>
          <p:cNvPr id="13" name="Picture 12" descr="A black and grey text&#10;&#10;Description automatically generated">
            <a:extLst>
              <a:ext uri="{FF2B5EF4-FFF2-40B4-BE49-F238E27FC236}">
                <a16:creationId xmlns:a16="http://schemas.microsoft.com/office/drawing/2014/main" id="{5B6E901D-0B96-88A4-DB1C-94BE1AB6C13A}"/>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21" name="Rectangle 20">
            <a:extLst>
              <a:ext uri="{FF2B5EF4-FFF2-40B4-BE49-F238E27FC236}">
                <a16:creationId xmlns:a16="http://schemas.microsoft.com/office/drawing/2014/main" id="{49AA5601-56E8-BE11-8ABB-6E369ABCEB66}"/>
              </a:ext>
            </a:extLst>
          </p:cNvPr>
          <p:cNvSpPr>
            <a:spLocks noChangeArrowheads="1"/>
          </p:cNvSpPr>
          <p:nvPr/>
        </p:nvSpPr>
        <p:spPr bwMode="auto">
          <a:xfrm>
            <a:off x="609074" y="375319"/>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Characteristics of High-Mobility Neighborhoods</a:t>
            </a:r>
          </a:p>
        </p:txBody>
      </p:sp>
      <p:sp>
        <p:nvSpPr>
          <p:cNvPr id="5" name="TextBox 4">
            <a:extLst>
              <a:ext uri="{FF2B5EF4-FFF2-40B4-BE49-F238E27FC236}">
                <a16:creationId xmlns:a16="http://schemas.microsoft.com/office/drawing/2014/main" id="{0523FC75-2689-E104-72A6-7A6E4DCAF75F}"/>
              </a:ext>
            </a:extLst>
          </p:cNvPr>
          <p:cNvSpPr txBox="1"/>
          <p:nvPr/>
        </p:nvSpPr>
        <p:spPr>
          <a:xfrm>
            <a:off x="1128936" y="3983324"/>
            <a:ext cx="1610675" cy="584754"/>
          </a:xfrm>
          <a:prstGeom prst="rect">
            <a:avLst/>
          </a:prstGeom>
          <a:noFill/>
        </p:spPr>
        <p:txBody>
          <a:bodyPr wrap="square" lIns="91034"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Lower Poverty Rates</a:t>
            </a:r>
          </a:p>
        </p:txBody>
      </p:sp>
      <p:grpSp>
        <p:nvGrpSpPr>
          <p:cNvPr id="44" name="Group 43">
            <a:extLst>
              <a:ext uri="{FF2B5EF4-FFF2-40B4-BE49-F238E27FC236}">
                <a16:creationId xmlns:a16="http://schemas.microsoft.com/office/drawing/2014/main" id="{E03AFBDC-F73C-DF7D-E382-4310596B24DC}"/>
              </a:ext>
            </a:extLst>
          </p:cNvPr>
          <p:cNvGrpSpPr/>
          <p:nvPr/>
        </p:nvGrpSpPr>
        <p:grpSpPr>
          <a:xfrm>
            <a:off x="1234883" y="2585590"/>
            <a:ext cx="1275995" cy="1028289"/>
            <a:chOff x="782068" y="2974793"/>
            <a:chExt cx="1521167" cy="1225866"/>
          </a:xfrm>
        </p:grpSpPr>
        <p:grpSp>
          <p:nvGrpSpPr>
            <p:cNvPr id="38" name="Group 37">
              <a:extLst>
                <a:ext uri="{FF2B5EF4-FFF2-40B4-BE49-F238E27FC236}">
                  <a16:creationId xmlns:a16="http://schemas.microsoft.com/office/drawing/2014/main" id="{25A1D09F-B764-8700-FD8F-C8FE71783667}"/>
                </a:ext>
              </a:extLst>
            </p:cNvPr>
            <p:cNvGrpSpPr/>
            <p:nvPr/>
          </p:nvGrpSpPr>
          <p:grpSpPr>
            <a:xfrm>
              <a:off x="782068" y="2974793"/>
              <a:ext cx="514092" cy="1216511"/>
              <a:chOff x="1266896" y="2974793"/>
              <a:chExt cx="514092" cy="1216511"/>
            </a:xfrm>
            <a:solidFill>
              <a:srgbClr val="626365"/>
            </a:solidFill>
          </p:grpSpPr>
          <p:pic>
            <p:nvPicPr>
              <p:cNvPr id="17" name="Graphic 16">
                <a:extLst>
                  <a:ext uri="{FF2B5EF4-FFF2-40B4-BE49-F238E27FC236}">
                    <a16:creationId xmlns:a16="http://schemas.microsoft.com/office/drawing/2014/main" id="{15227FFD-6F4F-0183-7819-88E79E9E9B76}"/>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54197" y="2974793"/>
                <a:ext cx="139490" cy="223184"/>
              </a:xfrm>
              <a:prstGeom prst="rect">
                <a:avLst/>
              </a:prstGeom>
            </p:spPr>
          </p:pic>
          <p:pic>
            <p:nvPicPr>
              <p:cNvPr id="33" name="Graphic 32">
                <a:extLst>
                  <a:ext uri="{FF2B5EF4-FFF2-40B4-BE49-F238E27FC236}">
                    <a16:creationId xmlns:a16="http://schemas.microsoft.com/office/drawing/2014/main" id="{5B2648A6-B382-51A0-B0B0-105B4137C27B}"/>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6896" y="3368757"/>
                <a:ext cx="514092" cy="822547"/>
              </a:xfrm>
              <a:prstGeom prst="rect">
                <a:avLst/>
              </a:prstGeom>
            </p:spPr>
          </p:pic>
        </p:grpSp>
        <p:grpSp>
          <p:nvGrpSpPr>
            <p:cNvPr id="39" name="Group 38">
              <a:extLst>
                <a:ext uri="{FF2B5EF4-FFF2-40B4-BE49-F238E27FC236}">
                  <a16:creationId xmlns:a16="http://schemas.microsoft.com/office/drawing/2014/main" id="{78126248-6C4A-8770-B563-C370973C31B8}"/>
                </a:ext>
              </a:extLst>
            </p:cNvPr>
            <p:cNvGrpSpPr/>
            <p:nvPr/>
          </p:nvGrpSpPr>
          <p:grpSpPr>
            <a:xfrm>
              <a:off x="1406984" y="3147407"/>
              <a:ext cx="417714" cy="1043897"/>
              <a:chOff x="1875068" y="3147407"/>
              <a:chExt cx="417714" cy="1043897"/>
            </a:xfrm>
            <a:solidFill>
              <a:srgbClr val="29B6A4"/>
            </a:solidFill>
          </p:grpSpPr>
          <p:pic>
            <p:nvPicPr>
              <p:cNvPr id="34" name="Graphic 33">
                <a:extLst>
                  <a:ext uri="{FF2B5EF4-FFF2-40B4-BE49-F238E27FC236}">
                    <a16:creationId xmlns:a16="http://schemas.microsoft.com/office/drawing/2014/main" id="{A72746B9-F84E-69AF-D387-ECA07F26C994}"/>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14180" y="3147407"/>
                <a:ext cx="139490" cy="223184"/>
              </a:xfrm>
              <a:prstGeom prst="rect">
                <a:avLst/>
              </a:prstGeom>
            </p:spPr>
          </p:pic>
          <p:pic>
            <p:nvPicPr>
              <p:cNvPr id="35" name="Graphic 34">
                <a:extLst>
                  <a:ext uri="{FF2B5EF4-FFF2-40B4-BE49-F238E27FC236}">
                    <a16:creationId xmlns:a16="http://schemas.microsoft.com/office/drawing/2014/main" id="{6C9B748D-D6AA-0476-4801-50860D9A9BD0}"/>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75068" y="3522962"/>
                <a:ext cx="417714" cy="668342"/>
              </a:xfrm>
              <a:prstGeom prst="rect">
                <a:avLst/>
              </a:prstGeom>
            </p:spPr>
          </p:pic>
        </p:grpSp>
        <p:grpSp>
          <p:nvGrpSpPr>
            <p:cNvPr id="40" name="Group 39">
              <a:extLst>
                <a:ext uri="{FF2B5EF4-FFF2-40B4-BE49-F238E27FC236}">
                  <a16:creationId xmlns:a16="http://schemas.microsoft.com/office/drawing/2014/main" id="{398A47A0-BE0F-6CA5-72D4-E7400315D08B}"/>
                </a:ext>
              </a:extLst>
            </p:cNvPr>
            <p:cNvGrpSpPr/>
            <p:nvPr/>
          </p:nvGrpSpPr>
          <p:grpSpPr>
            <a:xfrm>
              <a:off x="1935522" y="3268914"/>
              <a:ext cx="367713" cy="931745"/>
              <a:chOff x="2420350" y="3268914"/>
              <a:chExt cx="367713" cy="931745"/>
            </a:xfrm>
            <a:solidFill>
              <a:srgbClr val="626365"/>
            </a:solidFill>
          </p:grpSpPr>
          <p:pic>
            <p:nvPicPr>
              <p:cNvPr id="36" name="Graphic 35">
                <a:extLst>
                  <a:ext uri="{FF2B5EF4-FFF2-40B4-BE49-F238E27FC236}">
                    <a16:creationId xmlns:a16="http://schemas.microsoft.com/office/drawing/2014/main" id="{E983077B-689C-2307-B4FD-4478DBDDE646}"/>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34461" y="3268914"/>
                <a:ext cx="139490" cy="223184"/>
              </a:xfrm>
              <a:prstGeom prst="rect">
                <a:avLst/>
              </a:prstGeom>
            </p:spPr>
          </p:pic>
          <p:pic>
            <p:nvPicPr>
              <p:cNvPr id="37" name="Graphic 36">
                <a:extLst>
                  <a:ext uri="{FF2B5EF4-FFF2-40B4-BE49-F238E27FC236}">
                    <a16:creationId xmlns:a16="http://schemas.microsoft.com/office/drawing/2014/main" id="{72E18A6F-4BCA-07BD-90B5-E4C0EDA113BA}"/>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20350" y="3612318"/>
                <a:ext cx="367713" cy="588341"/>
              </a:xfrm>
              <a:prstGeom prst="rect">
                <a:avLst/>
              </a:prstGeom>
            </p:spPr>
          </p:pic>
        </p:grpSp>
      </p:grpSp>
      <p:sp>
        <p:nvSpPr>
          <p:cNvPr id="41" name="TextBox 40">
            <a:extLst>
              <a:ext uri="{FF2B5EF4-FFF2-40B4-BE49-F238E27FC236}">
                <a16:creationId xmlns:a16="http://schemas.microsoft.com/office/drawing/2014/main" id="{E921B823-93BF-DD57-EB46-89BE3B6EFA63}"/>
              </a:ext>
            </a:extLst>
          </p:cNvPr>
          <p:cNvSpPr txBox="1"/>
          <p:nvPr/>
        </p:nvSpPr>
        <p:spPr>
          <a:xfrm>
            <a:off x="3741688" y="3983324"/>
            <a:ext cx="1932321" cy="584755"/>
          </a:xfrm>
          <a:prstGeom prst="rect">
            <a:avLst/>
          </a:prstGeom>
          <a:noFill/>
        </p:spPr>
        <p:txBody>
          <a:bodyPr wrap="square" lIns="91034"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More Stable Family Structure</a:t>
            </a:r>
          </a:p>
        </p:txBody>
      </p:sp>
      <p:pic>
        <p:nvPicPr>
          <p:cNvPr id="43" name="Graphic 42">
            <a:extLst>
              <a:ext uri="{FF2B5EF4-FFF2-40B4-BE49-F238E27FC236}">
                <a16:creationId xmlns:a16="http://schemas.microsoft.com/office/drawing/2014/main" id="{70134AB8-72A3-C0CE-AF11-4314E35CB8C8}"/>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978292" y="2642534"/>
            <a:ext cx="1143001" cy="914400"/>
          </a:xfrm>
          <a:prstGeom prst="rect">
            <a:avLst/>
          </a:prstGeom>
        </p:spPr>
      </p:pic>
      <p:sp>
        <p:nvSpPr>
          <p:cNvPr id="45" name="TextBox 44">
            <a:extLst>
              <a:ext uri="{FF2B5EF4-FFF2-40B4-BE49-F238E27FC236}">
                <a16:creationId xmlns:a16="http://schemas.microsoft.com/office/drawing/2014/main" id="{36DE33E5-D189-E447-B039-6D361F1973B7}"/>
              </a:ext>
            </a:extLst>
          </p:cNvPr>
          <p:cNvSpPr txBox="1"/>
          <p:nvPr/>
        </p:nvSpPr>
        <p:spPr>
          <a:xfrm>
            <a:off x="6676086" y="3983324"/>
            <a:ext cx="1740136" cy="584755"/>
          </a:xfrm>
          <a:prstGeom prst="rect">
            <a:avLst/>
          </a:prstGeom>
          <a:noFill/>
        </p:spPr>
        <p:txBody>
          <a:bodyPr wrap="square" lIns="91034"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Better </a:t>
            </a:r>
          </a:p>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School Quality</a:t>
            </a:r>
          </a:p>
        </p:txBody>
      </p:sp>
      <p:pic>
        <p:nvPicPr>
          <p:cNvPr id="46" name="Graphic 45">
            <a:extLst>
              <a:ext uri="{FF2B5EF4-FFF2-40B4-BE49-F238E27FC236}">
                <a16:creationId xmlns:a16="http://schemas.microsoft.com/office/drawing/2014/main" id="{FE665EF1-3CF9-C69D-EDF4-F3B5637285BE}"/>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21835" y="2642534"/>
            <a:ext cx="1143002" cy="914400"/>
          </a:xfrm>
          <a:prstGeom prst="rect">
            <a:avLst/>
          </a:prstGeom>
        </p:spPr>
      </p:pic>
      <p:sp>
        <p:nvSpPr>
          <p:cNvPr id="47" name="TextBox 46">
            <a:extLst>
              <a:ext uri="{FF2B5EF4-FFF2-40B4-BE49-F238E27FC236}">
                <a16:creationId xmlns:a16="http://schemas.microsoft.com/office/drawing/2014/main" id="{BAEE703B-2414-7D93-438F-EE042AB83AC8}"/>
              </a:ext>
            </a:extLst>
          </p:cNvPr>
          <p:cNvSpPr txBox="1"/>
          <p:nvPr/>
        </p:nvSpPr>
        <p:spPr>
          <a:xfrm>
            <a:off x="9418299" y="3983324"/>
            <a:ext cx="1556743" cy="584755"/>
          </a:xfrm>
          <a:prstGeom prst="rect">
            <a:avLst/>
          </a:prstGeom>
          <a:noFill/>
        </p:spPr>
        <p:txBody>
          <a:bodyPr wrap="square" lIns="91034"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Greater Social Capital</a:t>
            </a:r>
          </a:p>
        </p:txBody>
      </p:sp>
      <p:pic>
        <p:nvPicPr>
          <p:cNvPr id="49" name="Graphic 48">
            <a:extLst>
              <a:ext uri="{FF2B5EF4-FFF2-40B4-BE49-F238E27FC236}">
                <a16:creationId xmlns:a16="http://schemas.microsoft.com/office/drawing/2014/main" id="{086E12D3-F45B-6553-FD0F-04C6BE6DD792}"/>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465379" y="2642534"/>
            <a:ext cx="1143000" cy="914400"/>
          </a:xfrm>
          <a:prstGeom prst="rect">
            <a:avLst/>
          </a:prstGeom>
        </p:spPr>
      </p:pic>
      <p:cxnSp>
        <p:nvCxnSpPr>
          <p:cNvPr id="2" name="Straight Connector 1">
            <a:extLst>
              <a:ext uri="{FF2B5EF4-FFF2-40B4-BE49-F238E27FC236}">
                <a16:creationId xmlns:a16="http://schemas.microsoft.com/office/drawing/2014/main" id="{EC494F6D-9E60-DE56-1A8E-AB8BA26D1231}"/>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808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E6343-9594-B177-4E41-EE6626B08E03}"/>
            </a:ext>
          </a:extLst>
        </p:cNvPr>
        <p:cNvGrpSpPr/>
        <p:nvPr/>
      </p:nvGrpSpPr>
      <p:grpSpPr>
        <a:xfrm>
          <a:off x="0" y="0"/>
          <a:ext cx="0" cy="0"/>
          <a:chOff x="0" y="0"/>
          <a:chExt cx="0" cy="0"/>
        </a:xfrm>
      </p:grpSpPr>
      <p:sp>
        <p:nvSpPr>
          <p:cNvPr id="2" name="AutoShape 94">
            <a:extLst>
              <a:ext uri="{FF2B5EF4-FFF2-40B4-BE49-F238E27FC236}">
                <a16:creationId xmlns:a16="http://schemas.microsoft.com/office/drawing/2014/main" id="{1F8114BC-7E0E-FFD7-44D3-142C246BEE30}"/>
              </a:ext>
            </a:extLst>
          </p:cNvPr>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pic>
        <p:nvPicPr>
          <p:cNvPr id="3" name="Picture 2" descr="A black and grey text&#10;&#10;Description automatically generated">
            <a:extLst>
              <a:ext uri="{FF2B5EF4-FFF2-40B4-BE49-F238E27FC236}">
                <a16:creationId xmlns:a16="http://schemas.microsoft.com/office/drawing/2014/main" id="{D07A06BD-49AE-2455-FCD3-4FF4AAC68E26}"/>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29" name="Straight Connector 28">
            <a:extLst>
              <a:ext uri="{FF2B5EF4-FFF2-40B4-BE49-F238E27FC236}">
                <a16:creationId xmlns:a16="http://schemas.microsoft.com/office/drawing/2014/main" id="{2B9F6B26-BB9C-522B-FF88-4C1E202F91E1}"/>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0A37D1A-0147-5BF1-9940-FAC4EDED62BA}"/>
              </a:ext>
            </a:extLst>
          </p:cNvPr>
          <p:cNvCxnSpPr>
            <a:cxnSpLocks/>
          </p:cNvCxnSpPr>
          <p:nvPr/>
        </p:nvCxnSpPr>
        <p:spPr>
          <a:xfrm flipV="1">
            <a:off x="5704171" y="1890518"/>
            <a:ext cx="0" cy="3358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DE5D559F-0B55-44BB-07DE-D3D21B8D5221}"/>
              </a:ext>
            </a:extLst>
          </p:cNvPr>
          <p:cNvSpPr>
            <a:spLocks noChangeArrowheads="1"/>
          </p:cNvSpPr>
          <p:nvPr/>
        </p:nvSpPr>
        <p:spPr bwMode="auto">
          <a:xfrm>
            <a:off x="613836" y="375319"/>
            <a:ext cx="10957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Economic Opportunity and Social Capital</a:t>
            </a:r>
            <a:endParaRPr kumimoji="0" lang="en-US" sz="2400" b="1" i="0" u="sng"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endParaRPr>
          </a:p>
        </p:txBody>
      </p:sp>
      <p:sp>
        <p:nvSpPr>
          <p:cNvPr id="9" name="Text Placeholder 9">
            <a:extLst>
              <a:ext uri="{FF2B5EF4-FFF2-40B4-BE49-F238E27FC236}">
                <a16:creationId xmlns:a16="http://schemas.microsoft.com/office/drawing/2014/main" id="{6E939D59-60BC-8F6A-7E0F-A0FB075D83C5}"/>
              </a:ext>
            </a:extLst>
          </p:cNvPr>
          <p:cNvSpPr txBox="1">
            <a:spLocks/>
          </p:cNvSpPr>
          <p:nvPr/>
        </p:nvSpPr>
        <p:spPr>
          <a:xfrm>
            <a:off x="1435388" y="1416808"/>
            <a:ext cx="3256127" cy="4088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Upward Mobility </a:t>
            </a:r>
          </a:p>
          <a:p>
            <a:pPr marL="0" marR="0" lvl="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Based on Tax Records</a:t>
            </a:r>
          </a:p>
          <a:p>
            <a:pPr marL="0" marR="0" lvl="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a:pPr>
            <a:b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br>
            <a:endPar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 name="Text Placeholder 9">
            <a:extLst>
              <a:ext uri="{FF2B5EF4-FFF2-40B4-BE49-F238E27FC236}">
                <a16:creationId xmlns:a16="http://schemas.microsoft.com/office/drawing/2014/main" id="{93666C23-AD06-89D1-944E-A1B9C217770A}"/>
              </a:ext>
            </a:extLst>
          </p:cNvPr>
          <p:cNvSpPr txBox="1">
            <a:spLocks/>
          </p:cNvSpPr>
          <p:nvPr/>
        </p:nvSpPr>
        <p:spPr>
          <a:xfrm>
            <a:off x="7384421" y="1416808"/>
            <a:ext cx="2999090" cy="4088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Economic Connectedness Based on Facebook Data</a:t>
            </a:r>
          </a:p>
        </p:txBody>
      </p:sp>
      <p:sp>
        <p:nvSpPr>
          <p:cNvPr id="14" name="TextBox 13">
            <a:extLst>
              <a:ext uri="{FF2B5EF4-FFF2-40B4-BE49-F238E27FC236}">
                <a16:creationId xmlns:a16="http://schemas.microsoft.com/office/drawing/2014/main" id="{21AF5369-C583-630B-5C9D-6D77BE0F6F34}"/>
              </a:ext>
            </a:extLst>
          </p:cNvPr>
          <p:cNvSpPr txBox="1"/>
          <p:nvPr/>
        </p:nvSpPr>
        <p:spPr>
          <a:xfrm>
            <a:off x="568591" y="6483107"/>
            <a:ext cx="10641275"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Friedman, Hendren, Jones, Porter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AER 2026</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Chetty, Jackson, Kuchler, Stroebel et al. (Nature 2022) </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grpSp>
        <p:nvGrpSpPr>
          <p:cNvPr id="71" name="Group 70">
            <a:extLst>
              <a:ext uri="{FF2B5EF4-FFF2-40B4-BE49-F238E27FC236}">
                <a16:creationId xmlns:a16="http://schemas.microsoft.com/office/drawing/2014/main" id="{F0D04D48-5684-47A1-4F55-AA847112F326}"/>
              </a:ext>
            </a:extLst>
          </p:cNvPr>
          <p:cNvGrpSpPr/>
          <p:nvPr/>
        </p:nvGrpSpPr>
        <p:grpSpPr>
          <a:xfrm>
            <a:off x="300127" y="1984126"/>
            <a:ext cx="5526649" cy="3427412"/>
            <a:chOff x="164659" y="1654944"/>
            <a:chExt cx="5948801" cy="3689214"/>
          </a:xfrm>
        </p:grpSpPr>
        <p:grpSp>
          <p:nvGrpSpPr>
            <p:cNvPr id="72" name="Group 71">
              <a:extLst>
                <a:ext uri="{FF2B5EF4-FFF2-40B4-BE49-F238E27FC236}">
                  <a16:creationId xmlns:a16="http://schemas.microsoft.com/office/drawing/2014/main" id="{215F83DD-49DA-C607-8AFB-DCA32440BAF0}"/>
                </a:ext>
              </a:extLst>
            </p:cNvPr>
            <p:cNvGrpSpPr/>
            <p:nvPr/>
          </p:nvGrpSpPr>
          <p:grpSpPr>
            <a:xfrm>
              <a:off x="164659" y="1654944"/>
              <a:ext cx="5763065" cy="3689214"/>
              <a:chOff x="164659" y="1937084"/>
              <a:chExt cx="5763065" cy="3689214"/>
            </a:xfrm>
          </p:grpSpPr>
          <p:pic>
            <p:nvPicPr>
              <p:cNvPr id="77" name="Picture 76">
                <a:extLst>
                  <a:ext uri="{FF2B5EF4-FFF2-40B4-BE49-F238E27FC236}">
                    <a16:creationId xmlns:a16="http://schemas.microsoft.com/office/drawing/2014/main" id="{7132F364-52BB-FA78-1B3A-827DCCFABF9A}"/>
                  </a:ext>
                </a:extLst>
              </p:cNvPr>
              <p:cNvPicPr>
                <a:picLocks noChangeAspect="1"/>
              </p:cNvPicPr>
              <p:nvPr/>
            </p:nvPicPr>
            <p:blipFill rotWithShape="1">
              <a:blip r:embed="rId4"/>
              <a:srcRect t="3597" r="5351" b="10722"/>
              <a:stretch/>
            </p:blipFill>
            <p:spPr>
              <a:xfrm>
                <a:off x="164659" y="1937084"/>
                <a:ext cx="5763064" cy="3689214"/>
              </a:xfrm>
              <a:prstGeom prst="rect">
                <a:avLst/>
              </a:prstGeom>
            </p:spPr>
          </p:pic>
          <p:sp>
            <p:nvSpPr>
              <p:cNvPr id="78" name="Rectangle 77">
                <a:extLst>
                  <a:ext uri="{FF2B5EF4-FFF2-40B4-BE49-F238E27FC236}">
                    <a16:creationId xmlns:a16="http://schemas.microsoft.com/office/drawing/2014/main" id="{681D068F-CC6B-8B88-084F-455DCEE9B38A}"/>
                  </a:ext>
                </a:extLst>
              </p:cNvPr>
              <p:cNvSpPr/>
              <p:nvPr/>
            </p:nvSpPr>
            <p:spPr>
              <a:xfrm>
                <a:off x="5279927" y="3692899"/>
                <a:ext cx="647797" cy="1926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ource Sans Pro"/>
                  <a:ea typeface="+mn-ea"/>
                  <a:cs typeface="+mn-cs"/>
                </a:endParaRPr>
              </a:p>
            </p:txBody>
          </p:sp>
        </p:grpSp>
        <p:sp>
          <p:nvSpPr>
            <p:cNvPr id="73" name="TextBox 72">
              <a:extLst>
                <a:ext uri="{FF2B5EF4-FFF2-40B4-BE49-F238E27FC236}">
                  <a16:creationId xmlns:a16="http://schemas.microsoft.com/office/drawing/2014/main" id="{26D4BBCC-D609-57E6-6D35-25F054DCE2F1}"/>
                </a:ext>
              </a:extLst>
            </p:cNvPr>
            <p:cNvSpPr txBox="1"/>
            <p:nvPr/>
          </p:nvSpPr>
          <p:spPr>
            <a:xfrm>
              <a:off x="5482428" y="3497480"/>
              <a:ext cx="565721" cy="200035"/>
            </a:xfrm>
            <a:prstGeom prst="rect">
              <a:avLst/>
            </a:prstGeom>
            <a:noFill/>
          </p:spPr>
          <p:txBody>
            <a:bodyPr wrap="square" lIns="0"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575757"/>
                  </a:solidFill>
                  <a:effectLst/>
                  <a:uLnTx/>
                  <a:uFillTx/>
                  <a:latin typeface="Lucida Sans" panose="020B0602030504020204" pitchFamily="34" charset="0"/>
                  <a:ea typeface="Lato" panose="020F0502020204030203" pitchFamily="34" charset="0"/>
                  <a:cs typeface="Arial" pitchFamily="34" charset="0"/>
                </a:rPr>
                <a:t>&gt;$44k</a:t>
              </a:r>
            </a:p>
          </p:txBody>
        </p:sp>
        <p:sp>
          <p:nvSpPr>
            <p:cNvPr id="74" name="TextBox 73">
              <a:extLst>
                <a:ext uri="{FF2B5EF4-FFF2-40B4-BE49-F238E27FC236}">
                  <a16:creationId xmlns:a16="http://schemas.microsoft.com/office/drawing/2014/main" id="{2318E1F5-EB99-220E-3A37-70FAF7033C9C}"/>
                </a:ext>
              </a:extLst>
            </p:cNvPr>
            <p:cNvSpPr txBox="1"/>
            <p:nvPr/>
          </p:nvSpPr>
          <p:spPr>
            <a:xfrm>
              <a:off x="5482428" y="4197667"/>
              <a:ext cx="565721" cy="200035"/>
            </a:xfrm>
            <a:prstGeom prst="rect">
              <a:avLst/>
            </a:prstGeom>
            <a:noFill/>
          </p:spPr>
          <p:txBody>
            <a:bodyPr wrap="square" lIns="0"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575757"/>
                  </a:solidFill>
                  <a:effectLst/>
                  <a:uLnTx/>
                  <a:uFillTx/>
                  <a:latin typeface="Lucida Sans" panose="020B0602030504020204" pitchFamily="34" charset="0"/>
                  <a:ea typeface="Lato" panose="020F0502020204030203" pitchFamily="34" charset="0"/>
                  <a:cs typeface="Arial" pitchFamily="34" charset="0"/>
                </a:rPr>
                <a:t>$33k</a:t>
              </a:r>
            </a:p>
          </p:txBody>
        </p:sp>
        <p:sp>
          <p:nvSpPr>
            <p:cNvPr id="75" name="TextBox 74">
              <a:extLst>
                <a:ext uri="{FF2B5EF4-FFF2-40B4-BE49-F238E27FC236}">
                  <a16:creationId xmlns:a16="http://schemas.microsoft.com/office/drawing/2014/main" id="{E251CB3D-6B85-5C59-D87C-B5DFE776551B}"/>
                </a:ext>
              </a:extLst>
            </p:cNvPr>
            <p:cNvSpPr txBox="1"/>
            <p:nvPr/>
          </p:nvSpPr>
          <p:spPr>
            <a:xfrm>
              <a:off x="5482428" y="4759450"/>
              <a:ext cx="631032" cy="200035"/>
            </a:xfrm>
            <a:prstGeom prst="rect">
              <a:avLst/>
            </a:prstGeom>
            <a:noFill/>
          </p:spPr>
          <p:txBody>
            <a:bodyPr wrap="square" lIns="0"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575757"/>
                  </a:solidFill>
                  <a:effectLst/>
                  <a:uLnTx/>
                  <a:uFillTx/>
                  <a:latin typeface="Lucida Sans" panose="020B0602030504020204" pitchFamily="34" charset="0"/>
                  <a:ea typeface="Lato" panose="020F0502020204030203" pitchFamily="34" charset="0"/>
                  <a:cs typeface="Arial" pitchFamily="34" charset="0"/>
                </a:rPr>
                <a:t>&lt;$27k</a:t>
              </a:r>
            </a:p>
          </p:txBody>
        </p:sp>
        <p:pic>
          <p:nvPicPr>
            <p:cNvPr id="76" name="Content Placeholder 144" descr="A map of the united states&#10;&#10;Description automatically generated">
              <a:extLst>
                <a:ext uri="{FF2B5EF4-FFF2-40B4-BE49-F238E27FC236}">
                  <a16:creationId xmlns:a16="http://schemas.microsoft.com/office/drawing/2014/main" id="{3ADDD09F-8782-C82E-6813-1AE0435A117C}"/>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l="85324" t="44965" r="11797"/>
            <a:stretch/>
          </p:blipFill>
          <p:spPr>
            <a:xfrm>
              <a:off x="5279927" y="3410758"/>
              <a:ext cx="176311" cy="1926498"/>
            </a:xfrm>
            <a:prstGeom prst="rect">
              <a:avLst/>
            </a:prstGeom>
          </p:spPr>
        </p:pic>
      </p:grpSp>
      <p:grpSp>
        <p:nvGrpSpPr>
          <p:cNvPr id="79" name="Group 78">
            <a:extLst>
              <a:ext uri="{FF2B5EF4-FFF2-40B4-BE49-F238E27FC236}">
                <a16:creationId xmlns:a16="http://schemas.microsoft.com/office/drawing/2014/main" id="{90A0718A-7BBE-8A57-1E8E-E827C700E77C}"/>
              </a:ext>
            </a:extLst>
          </p:cNvPr>
          <p:cNvGrpSpPr/>
          <p:nvPr/>
        </p:nvGrpSpPr>
        <p:grpSpPr>
          <a:xfrm>
            <a:off x="6039648" y="2165913"/>
            <a:ext cx="5688637" cy="3252114"/>
            <a:chOff x="5904180" y="1836731"/>
            <a:chExt cx="6123162" cy="3500526"/>
          </a:xfrm>
        </p:grpSpPr>
        <p:pic>
          <p:nvPicPr>
            <p:cNvPr id="80" name="Content Placeholder 144" descr="A map of the united states&#10;&#10;Description automatically generated">
              <a:extLst>
                <a:ext uri="{FF2B5EF4-FFF2-40B4-BE49-F238E27FC236}">
                  <a16:creationId xmlns:a16="http://schemas.microsoft.com/office/drawing/2014/main" id="{8A6C8E81-9538-6EE2-A8EB-9527A9031B23}"/>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904180" y="1836731"/>
              <a:ext cx="6123162" cy="3500526"/>
            </a:xfrm>
            <a:prstGeom prst="rect">
              <a:avLst/>
            </a:prstGeom>
          </p:spPr>
        </p:pic>
        <p:sp>
          <p:nvSpPr>
            <p:cNvPr id="81" name="Rectangle 80">
              <a:extLst>
                <a:ext uri="{FF2B5EF4-FFF2-40B4-BE49-F238E27FC236}">
                  <a16:creationId xmlns:a16="http://schemas.microsoft.com/office/drawing/2014/main" id="{A307E78E-81AA-7393-FF20-3569B8943E18}"/>
                </a:ext>
              </a:extLst>
            </p:cNvPr>
            <p:cNvSpPr/>
            <p:nvPr/>
          </p:nvSpPr>
          <p:spPr>
            <a:xfrm>
              <a:off x="11303797" y="3334435"/>
              <a:ext cx="663495" cy="1926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82" name="TextBox 81">
              <a:extLst>
                <a:ext uri="{FF2B5EF4-FFF2-40B4-BE49-F238E27FC236}">
                  <a16:creationId xmlns:a16="http://schemas.microsoft.com/office/drawing/2014/main" id="{6E1CB659-93D7-5929-AFFA-23DF42517A4C}"/>
                </a:ext>
              </a:extLst>
            </p:cNvPr>
            <p:cNvSpPr txBox="1"/>
            <p:nvPr/>
          </p:nvSpPr>
          <p:spPr>
            <a:xfrm>
              <a:off x="11336260" y="3497480"/>
              <a:ext cx="565721" cy="200035"/>
            </a:xfrm>
            <a:prstGeom prst="rect">
              <a:avLst/>
            </a:prstGeom>
            <a:noFill/>
          </p:spPr>
          <p:txBody>
            <a:bodyPr wrap="square" lIns="0"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575757"/>
                  </a:solidFill>
                  <a:effectLst/>
                  <a:uLnTx/>
                  <a:uFillTx/>
                  <a:latin typeface="Lucida Sans" panose="020B0602030504020204" pitchFamily="34" charset="0"/>
                  <a:ea typeface="Lato" panose="020F0502020204030203" pitchFamily="34" charset="0"/>
                  <a:cs typeface="Arial" pitchFamily="34" charset="0"/>
                </a:rPr>
                <a:t>&gt; 52.5%</a:t>
              </a:r>
            </a:p>
          </p:txBody>
        </p:sp>
        <p:sp>
          <p:nvSpPr>
            <p:cNvPr id="83" name="TextBox 82">
              <a:extLst>
                <a:ext uri="{FF2B5EF4-FFF2-40B4-BE49-F238E27FC236}">
                  <a16:creationId xmlns:a16="http://schemas.microsoft.com/office/drawing/2014/main" id="{DEB2937A-C0EA-6441-8E10-FFDFBA8E84BE}"/>
                </a:ext>
              </a:extLst>
            </p:cNvPr>
            <p:cNvSpPr txBox="1"/>
            <p:nvPr/>
          </p:nvSpPr>
          <p:spPr>
            <a:xfrm>
              <a:off x="11336260" y="4197667"/>
              <a:ext cx="565721" cy="200035"/>
            </a:xfrm>
            <a:prstGeom prst="rect">
              <a:avLst/>
            </a:prstGeom>
            <a:noFill/>
          </p:spPr>
          <p:txBody>
            <a:bodyPr wrap="square" lIns="0"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575757"/>
                  </a:solidFill>
                  <a:effectLst/>
                  <a:uLnTx/>
                  <a:uFillTx/>
                  <a:latin typeface="Lucida Sans" panose="020B0602030504020204" pitchFamily="34" charset="0"/>
                  <a:ea typeface="Lato" panose="020F0502020204030203" pitchFamily="34" charset="0"/>
                  <a:cs typeface="Arial" pitchFamily="34" charset="0"/>
                </a:rPr>
                <a:t>38% - 40%</a:t>
              </a:r>
            </a:p>
          </p:txBody>
        </p:sp>
        <p:sp>
          <p:nvSpPr>
            <p:cNvPr id="84" name="TextBox 83">
              <a:extLst>
                <a:ext uri="{FF2B5EF4-FFF2-40B4-BE49-F238E27FC236}">
                  <a16:creationId xmlns:a16="http://schemas.microsoft.com/office/drawing/2014/main" id="{FF4EE5B4-7B35-69C4-F92E-D17175610743}"/>
                </a:ext>
              </a:extLst>
            </p:cNvPr>
            <p:cNvSpPr txBox="1"/>
            <p:nvPr/>
          </p:nvSpPr>
          <p:spPr>
            <a:xfrm>
              <a:off x="11336260" y="4759450"/>
              <a:ext cx="631032" cy="200035"/>
            </a:xfrm>
            <a:prstGeom prst="rect">
              <a:avLst/>
            </a:prstGeom>
            <a:noFill/>
          </p:spPr>
          <p:txBody>
            <a:bodyPr wrap="square" lIns="0"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575757"/>
                  </a:solidFill>
                  <a:effectLst/>
                  <a:uLnTx/>
                  <a:uFillTx/>
                  <a:latin typeface="Lucida Sans" panose="020B0602030504020204" pitchFamily="34" charset="0"/>
                  <a:ea typeface="Lato" panose="020F0502020204030203" pitchFamily="34" charset="0"/>
                  <a:cs typeface="Arial" pitchFamily="34" charset="0"/>
                </a:rPr>
                <a:t>&lt; 29%</a:t>
              </a:r>
            </a:p>
          </p:txBody>
        </p:sp>
      </p:grpSp>
      <p:sp>
        <p:nvSpPr>
          <p:cNvPr id="87" name="TextBox 86">
            <a:extLst>
              <a:ext uri="{FF2B5EF4-FFF2-40B4-BE49-F238E27FC236}">
                <a16:creationId xmlns:a16="http://schemas.microsoft.com/office/drawing/2014/main" id="{49D29750-228F-860C-E1FF-FBF183753DFD}"/>
              </a:ext>
            </a:extLst>
          </p:cNvPr>
          <p:cNvSpPr txBox="1"/>
          <p:nvPr/>
        </p:nvSpPr>
        <p:spPr>
          <a:xfrm>
            <a:off x="433321" y="5533481"/>
            <a:ext cx="5260260" cy="480131"/>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Average Household Income at Age 35 </a:t>
            </a:r>
            <a:b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b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for Children whose Parents Earned $41k</a:t>
            </a:r>
          </a:p>
        </p:txBody>
      </p:sp>
      <p:sp>
        <p:nvSpPr>
          <p:cNvPr id="88" name="TextBox 87">
            <a:extLst>
              <a:ext uri="{FF2B5EF4-FFF2-40B4-BE49-F238E27FC236}">
                <a16:creationId xmlns:a16="http://schemas.microsoft.com/office/drawing/2014/main" id="{46187F3F-A9D6-B14E-7754-C0A9A588C979}"/>
              </a:ext>
            </a:extLst>
          </p:cNvPr>
          <p:cNvSpPr txBox="1"/>
          <p:nvPr/>
        </p:nvSpPr>
        <p:spPr>
          <a:xfrm>
            <a:off x="6389390" y="5528701"/>
            <a:ext cx="4989152" cy="480131"/>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Share of Above-Median-Income Friends </a:t>
            </a:r>
            <a:b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b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among Below-Median-Income People</a:t>
            </a:r>
          </a:p>
        </p:txBody>
      </p:sp>
      <p:cxnSp>
        <p:nvCxnSpPr>
          <p:cNvPr id="5" name="Straight Connector 4">
            <a:extLst>
              <a:ext uri="{FF2B5EF4-FFF2-40B4-BE49-F238E27FC236}">
                <a16:creationId xmlns:a16="http://schemas.microsoft.com/office/drawing/2014/main" id="{362DCB12-B725-0182-B510-B762F1748ACD}"/>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6016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64984-3700-11F0-F864-0872C1C6BDD2}"/>
            </a:ext>
          </a:extLst>
        </p:cNvPr>
        <p:cNvGrpSpPr/>
        <p:nvPr/>
      </p:nvGrpSpPr>
      <p:grpSpPr>
        <a:xfrm>
          <a:off x="0" y="0"/>
          <a:ext cx="0" cy="0"/>
          <a:chOff x="0" y="0"/>
          <a:chExt cx="0" cy="0"/>
        </a:xfrm>
      </p:grpSpPr>
      <p:sp>
        <p:nvSpPr>
          <p:cNvPr id="2" name="AutoShape 94">
            <a:extLst>
              <a:ext uri="{FF2B5EF4-FFF2-40B4-BE49-F238E27FC236}">
                <a16:creationId xmlns:a16="http://schemas.microsoft.com/office/drawing/2014/main" id="{1B02331F-C516-20D9-32CD-21C8886EA731}"/>
              </a:ext>
            </a:extLst>
          </p:cNvPr>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pic>
        <p:nvPicPr>
          <p:cNvPr id="3" name="Picture 2" descr="A black and grey text&#10;&#10;Description automatically generated">
            <a:extLst>
              <a:ext uri="{FF2B5EF4-FFF2-40B4-BE49-F238E27FC236}">
                <a16:creationId xmlns:a16="http://schemas.microsoft.com/office/drawing/2014/main" id="{7D435162-A74D-7199-F876-59BEE715742C}"/>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29" name="Straight Connector 28">
            <a:extLst>
              <a:ext uri="{FF2B5EF4-FFF2-40B4-BE49-F238E27FC236}">
                <a16:creationId xmlns:a16="http://schemas.microsoft.com/office/drawing/2014/main" id="{D6626CC8-FC9E-FF94-281E-3CB6D64709E4}"/>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1CE304-74E8-5CA7-F214-2F09A94A6D50}"/>
              </a:ext>
            </a:extLst>
          </p:cNvPr>
          <p:cNvCxnSpPr>
            <a:cxnSpLocks/>
          </p:cNvCxnSpPr>
          <p:nvPr/>
        </p:nvCxnSpPr>
        <p:spPr>
          <a:xfrm flipV="1">
            <a:off x="5704171" y="1890518"/>
            <a:ext cx="0" cy="3358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Placeholder 9">
            <a:extLst>
              <a:ext uri="{FF2B5EF4-FFF2-40B4-BE49-F238E27FC236}">
                <a16:creationId xmlns:a16="http://schemas.microsoft.com/office/drawing/2014/main" id="{80FC6DC9-DCE5-0BB9-4B2F-B08A6044CE8A}"/>
              </a:ext>
            </a:extLst>
          </p:cNvPr>
          <p:cNvSpPr txBox="1">
            <a:spLocks/>
          </p:cNvSpPr>
          <p:nvPr/>
        </p:nvSpPr>
        <p:spPr>
          <a:xfrm>
            <a:off x="1435388" y="1416808"/>
            <a:ext cx="3256127" cy="4088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Upward Mobility </a:t>
            </a:r>
          </a:p>
          <a:p>
            <a:pPr marL="0" marR="0" lvl="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Based on Tax Records</a:t>
            </a:r>
          </a:p>
          <a:p>
            <a:pPr marL="0" marR="0" lvl="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a:pPr>
            <a:b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br>
            <a:endPar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sp>
        <p:nvSpPr>
          <p:cNvPr id="13" name="Text Placeholder 9">
            <a:extLst>
              <a:ext uri="{FF2B5EF4-FFF2-40B4-BE49-F238E27FC236}">
                <a16:creationId xmlns:a16="http://schemas.microsoft.com/office/drawing/2014/main" id="{5D12C5D1-FDC8-77B0-1812-271FE666D89D}"/>
              </a:ext>
            </a:extLst>
          </p:cNvPr>
          <p:cNvSpPr txBox="1">
            <a:spLocks/>
          </p:cNvSpPr>
          <p:nvPr/>
        </p:nvSpPr>
        <p:spPr>
          <a:xfrm>
            <a:off x="7384421" y="1416808"/>
            <a:ext cx="2999090" cy="4088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Economic Connectedness Based on Facebook Data</a:t>
            </a:r>
          </a:p>
        </p:txBody>
      </p:sp>
      <p:sp>
        <p:nvSpPr>
          <p:cNvPr id="14" name="TextBox 13">
            <a:extLst>
              <a:ext uri="{FF2B5EF4-FFF2-40B4-BE49-F238E27FC236}">
                <a16:creationId xmlns:a16="http://schemas.microsoft.com/office/drawing/2014/main" id="{2DFFED42-0CA0-0863-289C-633ACFBF96E7}"/>
              </a:ext>
            </a:extLst>
          </p:cNvPr>
          <p:cNvSpPr txBox="1"/>
          <p:nvPr/>
        </p:nvSpPr>
        <p:spPr>
          <a:xfrm>
            <a:off x="568591" y="6483107"/>
            <a:ext cx="10641275"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Friedman, Hendren, Jones, Porter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AER 2026</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Chetty, Jackson, Kuchler, Stroebel et al. (Nature 2022) </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sp>
        <p:nvSpPr>
          <p:cNvPr id="87" name="TextBox 86">
            <a:extLst>
              <a:ext uri="{FF2B5EF4-FFF2-40B4-BE49-F238E27FC236}">
                <a16:creationId xmlns:a16="http://schemas.microsoft.com/office/drawing/2014/main" id="{7CBCCFB3-033E-8D36-FF9C-39626273758D}"/>
              </a:ext>
            </a:extLst>
          </p:cNvPr>
          <p:cNvSpPr txBox="1"/>
          <p:nvPr/>
        </p:nvSpPr>
        <p:spPr>
          <a:xfrm>
            <a:off x="433321" y="5533481"/>
            <a:ext cx="5260260" cy="480131"/>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Average Household Income at Age 35 </a:t>
            </a:r>
            <a:b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b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for Children whose Parents Earned $41k</a:t>
            </a:r>
          </a:p>
        </p:txBody>
      </p:sp>
      <p:sp>
        <p:nvSpPr>
          <p:cNvPr id="88" name="TextBox 87">
            <a:extLst>
              <a:ext uri="{FF2B5EF4-FFF2-40B4-BE49-F238E27FC236}">
                <a16:creationId xmlns:a16="http://schemas.microsoft.com/office/drawing/2014/main" id="{CB2A3512-94E3-F840-2BB7-AD5586BCE3CF}"/>
              </a:ext>
            </a:extLst>
          </p:cNvPr>
          <p:cNvSpPr txBox="1"/>
          <p:nvPr/>
        </p:nvSpPr>
        <p:spPr>
          <a:xfrm>
            <a:off x="6389390" y="5528701"/>
            <a:ext cx="4989152" cy="480131"/>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Share of Above-Median-Income Friends </a:t>
            </a:r>
            <a:b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b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among Below-Median-Income People</a:t>
            </a:r>
          </a:p>
        </p:txBody>
      </p:sp>
      <p:cxnSp>
        <p:nvCxnSpPr>
          <p:cNvPr id="6" name="Straight Connector 5">
            <a:extLst>
              <a:ext uri="{FF2B5EF4-FFF2-40B4-BE49-F238E27FC236}">
                <a16:creationId xmlns:a16="http://schemas.microsoft.com/office/drawing/2014/main" id="{89E2A8A0-AC6B-7026-C0E5-A327FFC10CEC}"/>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B12CDA1E-B6E7-48FE-4E31-F0597A67E2BA}"/>
              </a:ext>
            </a:extLst>
          </p:cNvPr>
          <p:cNvSpPr>
            <a:spLocks noChangeArrowheads="1"/>
          </p:cNvSpPr>
          <p:nvPr/>
        </p:nvSpPr>
        <p:spPr bwMode="auto">
          <a:xfrm>
            <a:off x="613836" y="375319"/>
            <a:ext cx="10840227"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Economic Opportunity and Social Capital</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panose="020B0602030504020204" pitchFamily="34" charset="0"/>
                <a:ea typeface="+mn-ea"/>
                <a:cs typeface="Arial" pitchFamily="34" charset="0"/>
              </a:rPr>
              <a:t>Florida</a:t>
            </a:r>
          </a:p>
        </p:txBody>
      </p:sp>
      <p:pic>
        <p:nvPicPr>
          <p:cNvPr id="8" name="Picture 7">
            <a:extLst>
              <a:ext uri="{FF2B5EF4-FFF2-40B4-BE49-F238E27FC236}">
                <a16:creationId xmlns:a16="http://schemas.microsoft.com/office/drawing/2014/main" id="{3BF8EE01-CE7F-1586-3DEA-3F3879445DA5}"/>
              </a:ext>
            </a:extLst>
          </p:cNvPr>
          <p:cNvPicPr>
            <a:picLocks noChangeAspect="1"/>
          </p:cNvPicPr>
          <p:nvPr/>
        </p:nvPicPr>
        <p:blipFill>
          <a:blip r:embed="rId4">
            <a:extLst>
              <a:ext uri="{28A0092B-C50C-407E-A947-70E740481C1C}">
                <a14:useLocalDpi xmlns:a14="http://schemas.microsoft.com/office/drawing/2010/main" val="0"/>
              </a:ext>
            </a:extLst>
          </a:blip>
          <a:srcRect t="3110" b="-3381"/>
          <a:stretch>
            <a:fillRect/>
          </a:stretch>
        </p:blipFill>
        <p:spPr>
          <a:xfrm>
            <a:off x="1642853" y="1990959"/>
            <a:ext cx="2666454" cy="3479815"/>
          </a:xfrm>
          <a:prstGeom prst="ellipse">
            <a:avLst/>
          </a:prstGeom>
          <a:ln>
            <a:solidFill>
              <a:schemeClr val="tx1"/>
            </a:solidFill>
          </a:ln>
        </p:spPr>
      </p:pic>
      <p:pic>
        <p:nvPicPr>
          <p:cNvPr id="12" name="Picture 11">
            <a:extLst>
              <a:ext uri="{FF2B5EF4-FFF2-40B4-BE49-F238E27FC236}">
                <a16:creationId xmlns:a16="http://schemas.microsoft.com/office/drawing/2014/main" id="{A7F903AD-EC82-D07F-30B9-FC37E30DC4B3}"/>
              </a:ext>
            </a:extLst>
          </p:cNvPr>
          <p:cNvPicPr>
            <a:picLocks noChangeAspect="1"/>
          </p:cNvPicPr>
          <p:nvPr/>
        </p:nvPicPr>
        <p:blipFill>
          <a:blip r:embed="rId5">
            <a:extLst>
              <a:ext uri="{28A0092B-C50C-407E-A947-70E740481C1C}">
                <a14:useLocalDpi xmlns:a14="http://schemas.microsoft.com/office/drawing/2010/main" val="0"/>
              </a:ext>
            </a:extLst>
          </a:blip>
          <a:srcRect t="5137" b="2276"/>
          <a:stretch>
            <a:fillRect/>
          </a:stretch>
        </p:blipFill>
        <p:spPr>
          <a:xfrm>
            <a:off x="7419487" y="1990960"/>
            <a:ext cx="2731871" cy="3358300"/>
          </a:xfrm>
          <a:prstGeom prst="ellipse">
            <a:avLst/>
          </a:prstGeom>
          <a:ln>
            <a:solidFill>
              <a:schemeClr val="tx1"/>
            </a:solidFill>
          </a:ln>
        </p:spPr>
      </p:pic>
    </p:spTree>
    <p:extLst>
      <p:ext uri="{BB962C8B-B14F-4D97-AF65-F5344CB8AC3E}">
        <p14:creationId xmlns:p14="http://schemas.microsoft.com/office/powerpoint/2010/main" val="2102824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94"/>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7" name="TextBox 6">
            <a:extLst>
              <a:ext uri="{FF2B5EF4-FFF2-40B4-BE49-F238E27FC236}">
                <a16:creationId xmlns:a16="http://schemas.microsoft.com/office/drawing/2014/main" id="{E6DEBC73-9B1B-8751-69C9-AA305EB2761E}"/>
              </a:ext>
            </a:extLst>
          </p:cNvPr>
          <p:cNvSpPr txBox="1"/>
          <p:nvPr/>
        </p:nvSpPr>
        <p:spPr>
          <a:xfrm>
            <a:off x="566211" y="648215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Jackson, Kuchler, Stroebel et al. (Nature 2022b)</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sp>
        <p:nvSpPr>
          <p:cNvPr id="3" name="TextBox 2">
            <a:extLst>
              <a:ext uri="{FF2B5EF4-FFF2-40B4-BE49-F238E27FC236}">
                <a16:creationId xmlns:a16="http://schemas.microsoft.com/office/drawing/2014/main" id="{9737EE6F-6B8D-8544-2189-80EFDF317DE8}"/>
              </a:ext>
            </a:extLst>
          </p:cNvPr>
          <p:cNvSpPr txBox="1"/>
          <p:nvPr/>
        </p:nvSpPr>
        <p:spPr>
          <a:xfrm>
            <a:off x="2163540" y="1630234"/>
            <a:ext cx="1762840" cy="400089"/>
          </a:xfrm>
          <a:prstGeom prst="rect">
            <a:avLst/>
          </a:prstGeom>
          <a:noFill/>
        </p:spPr>
        <p:txBody>
          <a:bodyPr wrap="square" lIns="91034" tIns="45710" rIns="91034" bIns="45710" rtlCol="0">
            <a:spAutoFit/>
          </a:bodyPr>
          <a:lstStyle/>
          <a:p>
            <a:pPr marL="0" marR="0" lvl="0" indent="0" algn="ctr" defTabSz="121869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Exposure</a:t>
            </a:r>
          </a:p>
        </p:txBody>
      </p:sp>
      <p:pic>
        <p:nvPicPr>
          <p:cNvPr id="13" name="Picture 12" descr="A black and grey text&#10;&#10;Description automatically generated">
            <a:extLst>
              <a:ext uri="{FF2B5EF4-FFF2-40B4-BE49-F238E27FC236}">
                <a16:creationId xmlns:a16="http://schemas.microsoft.com/office/drawing/2014/main" id="{5B6E901D-0B96-88A4-DB1C-94BE1AB6C13A}"/>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21" name="Rectangle 20">
            <a:extLst>
              <a:ext uri="{FF2B5EF4-FFF2-40B4-BE49-F238E27FC236}">
                <a16:creationId xmlns:a16="http://schemas.microsoft.com/office/drawing/2014/main" id="{49AA5601-56E8-BE11-8ABB-6E369ABCEB66}"/>
              </a:ext>
            </a:extLst>
          </p:cNvPr>
          <p:cNvSpPr>
            <a:spLocks noChangeArrowheads="1"/>
          </p:cNvSpPr>
          <p:nvPr/>
        </p:nvSpPr>
        <p:spPr bwMode="auto">
          <a:xfrm>
            <a:off x="609074" y="375319"/>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Determinants of Economic Connectedness</a:t>
            </a:r>
          </a:p>
        </p:txBody>
      </p:sp>
      <p:sp>
        <p:nvSpPr>
          <p:cNvPr id="24" name="TextBox 23">
            <a:extLst>
              <a:ext uri="{FF2B5EF4-FFF2-40B4-BE49-F238E27FC236}">
                <a16:creationId xmlns:a16="http://schemas.microsoft.com/office/drawing/2014/main" id="{E8E92A77-1A3A-5B27-A420-A544B8B2E445}"/>
              </a:ext>
            </a:extLst>
          </p:cNvPr>
          <p:cNvSpPr txBox="1"/>
          <p:nvPr/>
        </p:nvSpPr>
        <p:spPr>
          <a:xfrm>
            <a:off x="1955883" y="2041021"/>
            <a:ext cx="2178155" cy="307777"/>
          </a:xfrm>
          <a:prstGeom prst="rect">
            <a:avLst/>
          </a:prstGeom>
          <a:noFill/>
        </p:spPr>
        <p:txBody>
          <a:bodyPr wrap="square">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a:ea typeface="+mn-ea"/>
                <a:cs typeface="Arial" pitchFamily="34" charset="0"/>
              </a:rPr>
              <a:t>Segregation by income</a:t>
            </a:r>
            <a:endParaRPr kumimoji="0" lang="en-US" sz="1400" b="1" i="0" u="none" strike="noStrike" kern="1200" cap="none" spc="0" normalizeH="0" baseline="0" noProof="0" dirty="0">
              <a:ln>
                <a:noFill/>
              </a:ln>
              <a:solidFill>
                <a:prstClr val="black"/>
              </a:solidFill>
              <a:effectLst/>
              <a:uLnTx/>
              <a:uFillTx/>
              <a:latin typeface="Lucida Sans"/>
              <a:ea typeface="+mn-ea"/>
              <a:cs typeface="Arial" pitchFamily="34" charset="0"/>
            </a:endParaRPr>
          </a:p>
        </p:txBody>
      </p:sp>
      <p:cxnSp>
        <p:nvCxnSpPr>
          <p:cNvPr id="29" name="Straight Connector 28">
            <a:extLst>
              <a:ext uri="{FF2B5EF4-FFF2-40B4-BE49-F238E27FC236}">
                <a16:creationId xmlns:a16="http://schemas.microsoft.com/office/drawing/2014/main" id="{1B445FBE-AB51-120C-9E2D-6530B158A076}"/>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35C940A1-9B63-079D-A034-54E481B20CE7}"/>
              </a:ext>
            </a:extLst>
          </p:cNvPr>
          <p:cNvGrpSpPr/>
          <p:nvPr/>
        </p:nvGrpSpPr>
        <p:grpSpPr>
          <a:xfrm>
            <a:off x="6653758" y="1630234"/>
            <a:ext cx="4871773" cy="2844979"/>
            <a:chOff x="6653758" y="1630234"/>
            <a:chExt cx="4871773" cy="2844979"/>
          </a:xfrm>
        </p:grpSpPr>
        <p:sp>
          <p:nvSpPr>
            <p:cNvPr id="4" name="TextBox 3">
              <a:extLst>
                <a:ext uri="{FF2B5EF4-FFF2-40B4-BE49-F238E27FC236}">
                  <a16:creationId xmlns:a16="http://schemas.microsoft.com/office/drawing/2014/main" id="{64FAF049-9DE8-3D25-9A26-0A9AC3A604EB}"/>
                </a:ext>
              </a:extLst>
            </p:cNvPr>
            <p:cNvSpPr txBox="1"/>
            <p:nvPr/>
          </p:nvSpPr>
          <p:spPr>
            <a:xfrm>
              <a:off x="8027381" y="1630234"/>
              <a:ext cx="2124526" cy="400089"/>
            </a:xfrm>
            <a:prstGeom prst="rect">
              <a:avLst/>
            </a:prstGeom>
            <a:noFill/>
          </p:spPr>
          <p:txBody>
            <a:bodyPr wrap="square" lIns="91034" tIns="45710" rIns="91034" bIns="45710" rtlCol="0">
              <a:spAutoFit/>
            </a:bodyPr>
            <a:lstStyle/>
            <a:p>
              <a:pPr marL="0" marR="0" lvl="0" indent="0" algn="ctr" defTabSz="121869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Friending Bias</a:t>
              </a:r>
            </a:p>
          </p:txBody>
        </p:sp>
        <p:sp>
          <p:nvSpPr>
            <p:cNvPr id="26" name="TextBox 25">
              <a:extLst>
                <a:ext uri="{FF2B5EF4-FFF2-40B4-BE49-F238E27FC236}">
                  <a16:creationId xmlns:a16="http://schemas.microsoft.com/office/drawing/2014/main" id="{9932E516-32F1-C826-9AB1-6F508FC202D6}"/>
                </a:ext>
              </a:extLst>
            </p:cNvPr>
            <p:cNvSpPr txBox="1"/>
            <p:nvPr/>
          </p:nvSpPr>
          <p:spPr>
            <a:xfrm>
              <a:off x="7453484" y="2041021"/>
              <a:ext cx="3272320" cy="307777"/>
            </a:xfrm>
            <a:prstGeom prst="rect">
              <a:avLst/>
            </a:prstGeom>
            <a:noFill/>
          </p:spPr>
          <p:txBody>
            <a:bodyPr wrap="square">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a:ea typeface="+mn-ea"/>
                  <a:cs typeface="Arial" pitchFamily="34" charset="0"/>
                </a:rPr>
                <a:t>Interaction conditional on exposure</a:t>
              </a:r>
              <a:endParaRPr kumimoji="0" lang="en-US" sz="1400" b="1" i="0" u="none" strike="noStrike" kern="1200" cap="none" spc="0" normalizeH="0" baseline="0" noProof="0" dirty="0">
                <a:ln>
                  <a:noFill/>
                </a:ln>
                <a:solidFill>
                  <a:prstClr val="black"/>
                </a:solidFill>
                <a:effectLst/>
                <a:uLnTx/>
                <a:uFillTx/>
                <a:latin typeface="Lucida Sans"/>
                <a:ea typeface="+mn-ea"/>
                <a:cs typeface="Arial" pitchFamily="34" charset="0"/>
              </a:endParaRPr>
            </a:p>
          </p:txBody>
        </p:sp>
        <p:grpSp>
          <p:nvGrpSpPr>
            <p:cNvPr id="6" name="Group 5">
              <a:extLst>
                <a:ext uri="{FF2B5EF4-FFF2-40B4-BE49-F238E27FC236}">
                  <a16:creationId xmlns:a16="http://schemas.microsoft.com/office/drawing/2014/main" id="{B0DF13CD-EB10-8FF7-C83C-F688E5F2C280}"/>
                </a:ext>
              </a:extLst>
            </p:cNvPr>
            <p:cNvGrpSpPr/>
            <p:nvPr/>
          </p:nvGrpSpPr>
          <p:grpSpPr>
            <a:xfrm>
              <a:off x="6653758" y="2395232"/>
              <a:ext cx="4871773" cy="2079981"/>
              <a:chOff x="6653758" y="2395233"/>
              <a:chExt cx="4333875" cy="1850328"/>
            </a:xfrm>
          </p:grpSpPr>
          <p:grpSp>
            <p:nvGrpSpPr>
              <p:cNvPr id="19" name="Group 18">
                <a:extLst>
                  <a:ext uri="{FF2B5EF4-FFF2-40B4-BE49-F238E27FC236}">
                    <a16:creationId xmlns:a16="http://schemas.microsoft.com/office/drawing/2014/main" id="{5D702587-441B-FB4C-5CA8-8408BDC21728}"/>
                  </a:ext>
                </a:extLst>
              </p:cNvPr>
              <p:cNvGrpSpPr/>
              <p:nvPr/>
            </p:nvGrpSpPr>
            <p:grpSpPr>
              <a:xfrm>
                <a:off x="6653758" y="2395233"/>
                <a:ext cx="4333875" cy="1850328"/>
                <a:chOff x="838200" y="2395233"/>
                <a:chExt cx="4333875" cy="1850328"/>
              </a:xfrm>
            </p:grpSpPr>
            <p:pic>
              <p:nvPicPr>
                <p:cNvPr id="20" name="Picture 19">
                  <a:extLst>
                    <a:ext uri="{FF2B5EF4-FFF2-40B4-BE49-F238E27FC236}">
                      <a16:creationId xmlns:a16="http://schemas.microsoft.com/office/drawing/2014/main" id="{BFDEB1ED-16F8-1646-019E-C12310C82200}"/>
                    </a:ext>
                  </a:extLst>
                </p:cNvPr>
                <p:cNvPicPr>
                  <a:picLocks noChangeAspect="1"/>
                </p:cNvPicPr>
                <p:nvPr/>
              </p:nvPicPr>
              <p:blipFill rotWithShape="1">
                <a:blip r:embed="rId4"/>
                <a:srcRect t="20857" r="58786"/>
                <a:stretch/>
              </p:blipFill>
              <p:spPr>
                <a:xfrm>
                  <a:off x="838200" y="2395233"/>
                  <a:ext cx="4333875" cy="1850328"/>
                </a:xfrm>
                <a:prstGeom prst="rect">
                  <a:avLst/>
                </a:prstGeom>
              </p:spPr>
            </p:pic>
            <p:sp>
              <p:nvSpPr>
                <p:cNvPr id="23" name="Rectangle 22">
                  <a:extLst>
                    <a:ext uri="{FF2B5EF4-FFF2-40B4-BE49-F238E27FC236}">
                      <a16:creationId xmlns:a16="http://schemas.microsoft.com/office/drawing/2014/main" id="{B3F1D704-713D-69D4-DBEA-AAF1988EB554}"/>
                    </a:ext>
                  </a:extLst>
                </p:cNvPr>
                <p:cNvSpPr/>
                <p:nvPr/>
              </p:nvSpPr>
              <p:spPr>
                <a:xfrm>
                  <a:off x="1255059" y="2805953"/>
                  <a:ext cx="1371600" cy="12944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2A48BD26-16D2-5715-2ADB-1C92FD3035F0}"/>
                    </a:ext>
                  </a:extLst>
                </p:cNvPr>
                <p:cNvSpPr/>
                <p:nvPr/>
              </p:nvSpPr>
              <p:spPr>
                <a:xfrm>
                  <a:off x="3339411" y="2825941"/>
                  <a:ext cx="1371600" cy="12944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06" name="Group 105">
                <a:extLst>
                  <a:ext uri="{FF2B5EF4-FFF2-40B4-BE49-F238E27FC236}">
                    <a16:creationId xmlns:a16="http://schemas.microsoft.com/office/drawing/2014/main" id="{0C068B5C-AD1C-9F02-E69F-886AE432464F}"/>
                  </a:ext>
                </a:extLst>
              </p:cNvPr>
              <p:cNvGrpSpPr/>
              <p:nvPr/>
            </p:nvGrpSpPr>
            <p:grpSpPr>
              <a:xfrm>
                <a:off x="7120491" y="2870222"/>
                <a:ext cx="1256493" cy="1178475"/>
                <a:chOff x="7135731" y="2858322"/>
                <a:chExt cx="1256493" cy="1178475"/>
              </a:xfrm>
            </p:grpSpPr>
            <p:grpSp>
              <p:nvGrpSpPr>
                <p:cNvPr id="79" name="Group 78">
                  <a:extLst>
                    <a:ext uri="{FF2B5EF4-FFF2-40B4-BE49-F238E27FC236}">
                      <a16:creationId xmlns:a16="http://schemas.microsoft.com/office/drawing/2014/main" id="{AACEAE0D-8C33-1AA6-793D-27B8CFF53362}"/>
                    </a:ext>
                  </a:extLst>
                </p:cNvPr>
                <p:cNvGrpSpPr/>
                <p:nvPr/>
              </p:nvGrpSpPr>
              <p:grpSpPr>
                <a:xfrm>
                  <a:off x="7135731" y="2858322"/>
                  <a:ext cx="964688" cy="683921"/>
                  <a:chOff x="1338684" y="2882122"/>
                  <a:chExt cx="964688" cy="683921"/>
                </a:xfrm>
              </p:grpSpPr>
              <p:pic>
                <p:nvPicPr>
                  <p:cNvPr id="80" name="Graphic 79">
                    <a:extLst>
                      <a:ext uri="{FF2B5EF4-FFF2-40B4-BE49-F238E27FC236}">
                        <a16:creationId xmlns:a16="http://schemas.microsoft.com/office/drawing/2014/main" id="{2C4501E1-E282-E379-F2B3-D78D3848A26D}"/>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8684" y="3200283"/>
                    <a:ext cx="365760" cy="365760"/>
                  </a:xfrm>
                  <a:prstGeom prst="rect">
                    <a:avLst/>
                  </a:prstGeom>
                </p:spPr>
              </p:pic>
              <p:pic>
                <p:nvPicPr>
                  <p:cNvPr id="81" name="Graphic 80">
                    <a:extLst>
                      <a:ext uri="{FF2B5EF4-FFF2-40B4-BE49-F238E27FC236}">
                        <a16:creationId xmlns:a16="http://schemas.microsoft.com/office/drawing/2014/main" id="{C02AF337-F04A-DB28-E3AE-65A4651593C6}"/>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37612" y="2882122"/>
                    <a:ext cx="365760" cy="365760"/>
                  </a:xfrm>
                  <a:prstGeom prst="rect">
                    <a:avLst/>
                  </a:prstGeom>
                </p:spPr>
              </p:pic>
              <p:cxnSp>
                <p:nvCxnSpPr>
                  <p:cNvPr id="82" name="Straight Connector 81">
                    <a:extLst>
                      <a:ext uri="{FF2B5EF4-FFF2-40B4-BE49-F238E27FC236}">
                        <a16:creationId xmlns:a16="http://schemas.microsoft.com/office/drawing/2014/main" id="{B3D4EE40-7A0D-3837-5F15-09321975227F}"/>
                      </a:ext>
                    </a:extLst>
                  </p:cNvPr>
                  <p:cNvCxnSpPr>
                    <a:cxnSpLocks/>
                  </p:cNvCxnSpPr>
                  <p:nvPr/>
                </p:nvCxnSpPr>
                <p:spPr>
                  <a:xfrm flipV="1">
                    <a:off x="1685290" y="3167027"/>
                    <a:ext cx="288152" cy="163696"/>
                  </a:xfrm>
                  <a:prstGeom prst="line">
                    <a:avLst/>
                  </a:prstGeom>
                  <a:ln w="38100">
                    <a:solidFill>
                      <a:srgbClr val="29B6A4"/>
                    </a:solidFill>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ABDC18CD-E83D-EDF0-A54D-2C6A29718860}"/>
                    </a:ext>
                  </a:extLst>
                </p:cNvPr>
                <p:cNvGrpSpPr/>
                <p:nvPr/>
              </p:nvGrpSpPr>
              <p:grpSpPr>
                <a:xfrm>
                  <a:off x="7427536" y="3352876"/>
                  <a:ext cx="964688" cy="683921"/>
                  <a:chOff x="1338684" y="2882122"/>
                  <a:chExt cx="964688" cy="683921"/>
                </a:xfrm>
              </p:grpSpPr>
              <p:pic>
                <p:nvPicPr>
                  <p:cNvPr id="85" name="Graphic 84">
                    <a:extLst>
                      <a:ext uri="{FF2B5EF4-FFF2-40B4-BE49-F238E27FC236}">
                        <a16:creationId xmlns:a16="http://schemas.microsoft.com/office/drawing/2014/main" id="{BB03F8B4-E760-FDE6-2E19-B4B20DFF034E}"/>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38684" y="3200283"/>
                    <a:ext cx="365760" cy="365760"/>
                  </a:xfrm>
                  <a:prstGeom prst="rect">
                    <a:avLst/>
                  </a:prstGeom>
                </p:spPr>
              </p:pic>
              <p:pic>
                <p:nvPicPr>
                  <p:cNvPr id="86" name="Graphic 85">
                    <a:extLst>
                      <a:ext uri="{FF2B5EF4-FFF2-40B4-BE49-F238E27FC236}">
                        <a16:creationId xmlns:a16="http://schemas.microsoft.com/office/drawing/2014/main" id="{342B4B3C-C39E-1574-D98A-1B5EA19AF7A9}"/>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7612" y="2882122"/>
                    <a:ext cx="365760" cy="365760"/>
                  </a:xfrm>
                  <a:prstGeom prst="rect">
                    <a:avLst/>
                  </a:prstGeom>
                </p:spPr>
              </p:pic>
              <p:cxnSp>
                <p:nvCxnSpPr>
                  <p:cNvPr id="87" name="Straight Connector 86">
                    <a:extLst>
                      <a:ext uri="{FF2B5EF4-FFF2-40B4-BE49-F238E27FC236}">
                        <a16:creationId xmlns:a16="http://schemas.microsoft.com/office/drawing/2014/main" id="{C556F700-98CC-926F-EA0F-B56F76D4E001}"/>
                      </a:ext>
                    </a:extLst>
                  </p:cNvPr>
                  <p:cNvCxnSpPr>
                    <a:cxnSpLocks/>
                  </p:cNvCxnSpPr>
                  <p:nvPr/>
                </p:nvCxnSpPr>
                <p:spPr>
                  <a:xfrm flipV="1">
                    <a:off x="1685290" y="3167027"/>
                    <a:ext cx="288152" cy="163696"/>
                  </a:xfrm>
                  <a:prstGeom prst="line">
                    <a:avLst/>
                  </a:prstGeom>
                  <a:ln w="38100">
                    <a:solidFill>
                      <a:srgbClr val="FAA523"/>
                    </a:solidFill>
                  </a:ln>
                </p:spPr>
                <p:style>
                  <a:lnRef idx="1">
                    <a:schemeClr val="accent1"/>
                  </a:lnRef>
                  <a:fillRef idx="0">
                    <a:schemeClr val="accent1"/>
                  </a:fillRef>
                  <a:effectRef idx="0">
                    <a:schemeClr val="accent1"/>
                  </a:effectRef>
                  <a:fontRef idx="minor">
                    <a:schemeClr val="tx1"/>
                  </a:fontRef>
                </p:style>
              </p:cxnSp>
            </p:grpSp>
          </p:grpSp>
          <p:grpSp>
            <p:nvGrpSpPr>
              <p:cNvPr id="107" name="Group 106">
                <a:extLst>
                  <a:ext uri="{FF2B5EF4-FFF2-40B4-BE49-F238E27FC236}">
                    <a16:creationId xmlns:a16="http://schemas.microsoft.com/office/drawing/2014/main" id="{3ED8838F-D345-A24C-52AA-31B56CD5418C}"/>
                  </a:ext>
                </a:extLst>
              </p:cNvPr>
              <p:cNvGrpSpPr/>
              <p:nvPr/>
            </p:nvGrpSpPr>
            <p:grpSpPr>
              <a:xfrm>
                <a:off x="9221364" y="2870222"/>
                <a:ext cx="1256493" cy="1178475"/>
                <a:chOff x="9236604" y="2874614"/>
                <a:chExt cx="1256493" cy="1178475"/>
              </a:xfrm>
            </p:grpSpPr>
            <p:grpSp>
              <p:nvGrpSpPr>
                <p:cNvPr id="88" name="Group 87">
                  <a:extLst>
                    <a:ext uri="{FF2B5EF4-FFF2-40B4-BE49-F238E27FC236}">
                      <a16:creationId xmlns:a16="http://schemas.microsoft.com/office/drawing/2014/main" id="{169ED786-E367-FBED-3E2B-5C2C01E5955E}"/>
                    </a:ext>
                  </a:extLst>
                </p:cNvPr>
                <p:cNvGrpSpPr/>
                <p:nvPr/>
              </p:nvGrpSpPr>
              <p:grpSpPr>
                <a:xfrm>
                  <a:off x="9236604" y="2874614"/>
                  <a:ext cx="964688" cy="683921"/>
                  <a:chOff x="1338684" y="2882122"/>
                  <a:chExt cx="964688" cy="683921"/>
                </a:xfrm>
              </p:grpSpPr>
              <p:pic>
                <p:nvPicPr>
                  <p:cNvPr id="89" name="Graphic 88">
                    <a:extLst>
                      <a:ext uri="{FF2B5EF4-FFF2-40B4-BE49-F238E27FC236}">
                        <a16:creationId xmlns:a16="http://schemas.microsoft.com/office/drawing/2014/main" id="{9B9AF5A5-BFCA-336A-D26E-C7A0D895934A}"/>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8684" y="3200283"/>
                    <a:ext cx="365760" cy="365760"/>
                  </a:xfrm>
                  <a:prstGeom prst="rect">
                    <a:avLst/>
                  </a:prstGeom>
                </p:spPr>
              </p:pic>
              <p:pic>
                <p:nvPicPr>
                  <p:cNvPr id="90" name="Graphic 89">
                    <a:extLst>
                      <a:ext uri="{FF2B5EF4-FFF2-40B4-BE49-F238E27FC236}">
                        <a16:creationId xmlns:a16="http://schemas.microsoft.com/office/drawing/2014/main" id="{A05CE043-17F4-1879-8B94-B264379260BA}"/>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37612" y="2882122"/>
                    <a:ext cx="365760" cy="365760"/>
                  </a:xfrm>
                  <a:prstGeom prst="rect">
                    <a:avLst/>
                  </a:prstGeom>
                </p:spPr>
              </p:pic>
              <p:cxnSp>
                <p:nvCxnSpPr>
                  <p:cNvPr id="91" name="Straight Connector 90">
                    <a:extLst>
                      <a:ext uri="{FF2B5EF4-FFF2-40B4-BE49-F238E27FC236}">
                        <a16:creationId xmlns:a16="http://schemas.microsoft.com/office/drawing/2014/main" id="{76C1017C-2630-0BAE-45FC-1E447E8068C2}"/>
                      </a:ext>
                    </a:extLst>
                  </p:cNvPr>
                  <p:cNvCxnSpPr>
                    <a:cxnSpLocks/>
                  </p:cNvCxnSpPr>
                  <p:nvPr/>
                </p:nvCxnSpPr>
                <p:spPr>
                  <a:xfrm flipV="1">
                    <a:off x="1685290" y="3167027"/>
                    <a:ext cx="288152" cy="163696"/>
                  </a:xfrm>
                  <a:prstGeom prst="line">
                    <a:avLst/>
                  </a:prstGeom>
                  <a:ln w="38100">
                    <a:solidFill>
                      <a:srgbClr val="29B6A4"/>
                    </a:solidFill>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468CABFE-787D-1FFD-CF77-145DB08188E5}"/>
                    </a:ext>
                  </a:extLst>
                </p:cNvPr>
                <p:cNvGrpSpPr/>
                <p:nvPr/>
              </p:nvGrpSpPr>
              <p:grpSpPr>
                <a:xfrm>
                  <a:off x="9528409" y="3369168"/>
                  <a:ext cx="964688" cy="683921"/>
                  <a:chOff x="1338684" y="2882122"/>
                  <a:chExt cx="964688" cy="683921"/>
                </a:xfrm>
              </p:grpSpPr>
              <p:pic>
                <p:nvPicPr>
                  <p:cNvPr id="93" name="Graphic 92">
                    <a:extLst>
                      <a:ext uri="{FF2B5EF4-FFF2-40B4-BE49-F238E27FC236}">
                        <a16:creationId xmlns:a16="http://schemas.microsoft.com/office/drawing/2014/main" id="{9FF76B37-E2A9-D9D7-1579-72ACC03D8D5A}"/>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38684" y="3200283"/>
                    <a:ext cx="365760" cy="365760"/>
                  </a:xfrm>
                  <a:prstGeom prst="rect">
                    <a:avLst/>
                  </a:prstGeom>
                </p:spPr>
              </p:pic>
              <p:pic>
                <p:nvPicPr>
                  <p:cNvPr id="94" name="Graphic 93">
                    <a:extLst>
                      <a:ext uri="{FF2B5EF4-FFF2-40B4-BE49-F238E27FC236}">
                        <a16:creationId xmlns:a16="http://schemas.microsoft.com/office/drawing/2014/main" id="{252EDE13-7298-0FED-694F-4B92E90CC81F}"/>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7612" y="2882122"/>
                    <a:ext cx="365760" cy="365760"/>
                  </a:xfrm>
                  <a:prstGeom prst="rect">
                    <a:avLst/>
                  </a:prstGeom>
                </p:spPr>
              </p:pic>
              <p:cxnSp>
                <p:nvCxnSpPr>
                  <p:cNvPr id="95" name="Straight Connector 94">
                    <a:extLst>
                      <a:ext uri="{FF2B5EF4-FFF2-40B4-BE49-F238E27FC236}">
                        <a16:creationId xmlns:a16="http://schemas.microsoft.com/office/drawing/2014/main" id="{4A218F7F-DBD9-EB9F-44AF-C6A331621F67}"/>
                      </a:ext>
                    </a:extLst>
                  </p:cNvPr>
                  <p:cNvCxnSpPr>
                    <a:cxnSpLocks/>
                  </p:cNvCxnSpPr>
                  <p:nvPr/>
                </p:nvCxnSpPr>
                <p:spPr>
                  <a:xfrm flipV="1">
                    <a:off x="1685290" y="3167027"/>
                    <a:ext cx="288152" cy="163696"/>
                  </a:xfrm>
                  <a:prstGeom prst="line">
                    <a:avLst/>
                  </a:prstGeom>
                  <a:ln w="38100">
                    <a:solidFill>
                      <a:srgbClr val="FAA523"/>
                    </a:solidFill>
                  </a:ln>
                </p:spPr>
                <p:style>
                  <a:lnRef idx="1">
                    <a:schemeClr val="accent1"/>
                  </a:lnRef>
                  <a:fillRef idx="0">
                    <a:schemeClr val="accent1"/>
                  </a:fillRef>
                  <a:effectRef idx="0">
                    <a:schemeClr val="accent1"/>
                  </a:effectRef>
                  <a:fontRef idx="minor">
                    <a:schemeClr val="tx1"/>
                  </a:fontRef>
                </p:style>
              </p:cxnSp>
            </p:grpSp>
          </p:grpSp>
        </p:grpSp>
      </p:grpSp>
      <p:grpSp>
        <p:nvGrpSpPr>
          <p:cNvPr id="8" name="Group 7">
            <a:extLst>
              <a:ext uri="{FF2B5EF4-FFF2-40B4-BE49-F238E27FC236}">
                <a16:creationId xmlns:a16="http://schemas.microsoft.com/office/drawing/2014/main" id="{AD9ECB72-BEB8-7892-8DD6-C0B0C4771BEA}"/>
              </a:ext>
            </a:extLst>
          </p:cNvPr>
          <p:cNvGrpSpPr/>
          <p:nvPr/>
        </p:nvGrpSpPr>
        <p:grpSpPr>
          <a:xfrm>
            <a:off x="609074" y="2395232"/>
            <a:ext cx="4871773" cy="2079981"/>
            <a:chOff x="838200" y="2395233"/>
            <a:chExt cx="4333875" cy="1850328"/>
          </a:xfrm>
        </p:grpSpPr>
        <p:grpSp>
          <p:nvGrpSpPr>
            <p:cNvPr id="18" name="Group 17">
              <a:extLst>
                <a:ext uri="{FF2B5EF4-FFF2-40B4-BE49-F238E27FC236}">
                  <a16:creationId xmlns:a16="http://schemas.microsoft.com/office/drawing/2014/main" id="{CB21D43E-B7DA-2B19-8C8D-5A2CD956713A}"/>
                </a:ext>
              </a:extLst>
            </p:cNvPr>
            <p:cNvGrpSpPr>
              <a:grpSpLocks/>
            </p:cNvGrpSpPr>
            <p:nvPr/>
          </p:nvGrpSpPr>
          <p:grpSpPr>
            <a:xfrm>
              <a:off x="838200" y="2395233"/>
              <a:ext cx="4333875" cy="1850328"/>
              <a:chOff x="838200" y="2395233"/>
              <a:chExt cx="4333875" cy="1850328"/>
            </a:xfrm>
          </p:grpSpPr>
          <p:pic>
            <p:nvPicPr>
              <p:cNvPr id="15" name="Picture 14">
                <a:extLst>
                  <a:ext uri="{FF2B5EF4-FFF2-40B4-BE49-F238E27FC236}">
                    <a16:creationId xmlns:a16="http://schemas.microsoft.com/office/drawing/2014/main" id="{7497EF9D-B2DB-B406-1582-9459BC027588}"/>
                  </a:ext>
                </a:extLst>
              </p:cNvPr>
              <p:cNvPicPr>
                <a:picLocks noChangeAspect="1"/>
              </p:cNvPicPr>
              <p:nvPr/>
            </p:nvPicPr>
            <p:blipFill rotWithShape="1">
              <a:blip r:embed="rId4"/>
              <a:srcRect t="20857" r="58786"/>
              <a:stretch/>
            </p:blipFill>
            <p:spPr>
              <a:xfrm>
                <a:off x="838200" y="2395233"/>
                <a:ext cx="4333875" cy="1850328"/>
              </a:xfrm>
              <a:prstGeom prst="rect">
                <a:avLst/>
              </a:prstGeom>
            </p:spPr>
          </p:pic>
          <p:sp>
            <p:nvSpPr>
              <p:cNvPr id="16" name="Rectangle 15">
                <a:extLst>
                  <a:ext uri="{FF2B5EF4-FFF2-40B4-BE49-F238E27FC236}">
                    <a16:creationId xmlns:a16="http://schemas.microsoft.com/office/drawing/2014/main" id="{D77B7954-7792-10B8-B36E-90C313AEC03D}"/>
                  </a:ext>
                </a:extLst>
              </p:cNvPr>
              <p:cNvSpPr>
                <a:spLocks/>
              </p:cNvSpPr>
              <p:nvPr/>
            </p:nvSpPr>
            <p:spPr>
              <a:xfrm>
                <a:off x="1255059" y="2805953"/>
                <a:ext cx="1371600" cy="12944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6905B696-B504-543A-28BD-5ECC7043575C}"/>
                  </a:ext>
                </a:extLst>
              </p:cNvPr>
              <p:cNvSpPr>
                <a:spLocks/>
              </p:cNvSpPr>
              <p:nvPr/>
            </p:nvSpPr>
            <p:spPr>
              <a:xfrm>
                <a:off x="3339411" y="2825941"/>
                <a:ext cx="1371600" cy="12944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04" name="Group 103">
              <a:extLst>
                <a:ext uri="{FF2B5EF4-FFF2-40B4-BE49-F238E27FC236}">
                  <a16:creationId xmlns:a16="http://schemas.microsoft.com/office/drawing/2014/main" id="{40203B51-A356-ABCF-E5C1-68DB29B1276C}"/>
                </a:ext>
              </a:extLst>
            </p:cNvPr>
            <p:cNvGrpSpPr>
              <a:grpSpLocks/>
            </p:cNvGrpSpPr>
            <p:nvPr/>
          </p:nvGrpSpPr>
          <p:grpSpPr>
            <a:xfrm>
              <a:off x="1300580" y="2870222"/>
              <a:ext cx="1256493" cy="1178475"/>
              <a:chOff x="1300580" y="2882122"/>
              <a:chExt cx="1256493" cy="1178475"/>
            </a:xfrm>
          </p:grpSpPr>
          <p:grpSp>
            <p:nvGrpSpPr>
              <p:cNvPr id="74" name="Group 73">
                <a:extLst>
                  <a:ext uri="{FF2B5EF4-FFF2-40B4-BE49-F238E27FC236}">
                    <a16:creationId xmlns:a16="http://schemas.microsoft.com/office/drawing/2014/main" id="{B0244AC5-8531-70CF-C4C3-4BC782E3A4C6}"/>
                  </a:ext>
                </a:extLst>
              </p:cNvPr>
              <p:cNvGrpSpPr>
                <a:grpSpLocks/>
              </p:cNvGrpSpPr>
              <p:nvPr/>
            </p:nvGrpSpPr>
            <p:grpSpPr>
              <a:xfrm>
                <a:off x="1300580" y="2882122"/>
                <a:ext cx="964688" cy="683921"/>
                <a:chOff x="1338684" y="2882122"/>
                <a:chExt cx="964688" cy="683921"/>
              </a:xfrm>
            </p:grpSpPr>
            <p:pic>
              <p:nvPicPr>
                <p:cNvPr id="31" name="Graphic 30">
                  <a:extLst>
                    <a:ext uri="{FF2B5EF4-FFF2-40B4-BE49-F238E27FC236}">
                      <a16:creationId xmlns:a16="http://schemas.microsoft.com/office/drawing/2014/main" id="{D402D025-9D2F-8485-A996-3E44726A4CCD}"/>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8684" y="3200283"/>
                  <a:ext cx="365760" cy="365760"/>
                </a:xfrm>
                <a:prstGeom prst="rect">
                  <a:avLst/>
                </a:prstGeom>
              </p:spPr>
            </p:pic>
            <p:pic>
              <p:nvPicPr>
                <p:cNvPr id="32" name="Graphic 31">
                  <a:extLst>
                    <a:ext uri="{FF2B5EF4-FFF2-40B4-BE49-F238E27FC236}">
                      <a16:creationId xmlns:a16="http://schemas.microsoft.com/office/drawing/2014/main" id="{BFD32E1A-DE0B-D48C-E385-C665BB7701E6}"/>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37612" y="2882122"/>
                  <a:ext cx="365760" cy="365760"/>
                </a:xfrm>
                <a:prstGeom prst="rect">
                  <a:avLst/>
                </a:prstGeom>
              </p:spPr>
            </p:pic>
            <p:cxnSp>
              <p:nvCxnSpPr>
                <p:cNvPr id="67" name="Straight Connector 66">
                  <a:extLst>
                    <a:ext uri="{FF2B5EF4-FFF2-40B4-BE49-F238E27FC236}">
                      <a16:creationId xmlns:a16="http://schemas.microsoft.com/office/drawing/2014/main" id="{F29C893F-1AB4-454D-C9C2-C18A25020777}"/>
                    </a:ext>
                  </a:extLst>
                </p:cNvPr>
                <p:cNvCxnSpPr>
                  <a:cxnSpLocks/>
                </p:cNvCxnSpPr>
                <p:nvPr/>
              </p:nvCxnSpPr>
              <p:spPr>
                <a:xfrm flipV="1">
                  <a:off x="1685290" y="3167027"/>
                  <a:ext cx="288152" cy="163696"/>
                </a:xfrm>
                <a:prstGeom prst="line">
                  <a:avLst/>
                </a:prstGeom>
                <a:ln w="38100">
                  <a:solidFill>
                    <a:srgbClr val="29B6A4"/>
                  </a:solidFill>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AEB75B12-FE47-7C42-4B15-F65E0BA7FEC5}"/>
                  </a:ext>
                </a:extLst>
              </p:cNvPr>
              <p:cNvGrpSpPr>
                <a:grpSpLocks/>
              </p:cNvGrpSpPr>
              <p:nvPr/>
            </p:nvGrpSpPr>
            <p:grpSpPr>
              <a:xfrm>
                <a:off x="1592385" y="3376676"/>
                <a:ext cx="964688" cy="683921"/>
                <a:chOff x="1338684" y="2882122"/>
                <a:chExt cx="964688" cy="683921"/>
              </a:xfrm>
            </p:grpSpPr>
            <p:pic>
              <p:nvPicPr>
                <p:cNvPr id="76" name="Graphic 75">
                  <a:extLst>
                    <a:ext uri="{FF2B5EF4-FFF2-40B4-BE49-F238E27FC236}">
                      <a16:creationId xmlns:a16="http://schemas.microsoft.com/office/drawing/2014/main" id="{977A87B9-61BD-D1A8-1A87-7C98C7E27315}"/>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8684" y="3200283"/>
                  <a:ext cx="365760" cy="365760"/>
                </a:xfrm>
                <a:prstGeom prst="rect">
                  <a:avLst/>
                </a:prstGeom>
              </p:spPr>
            </p:pic>
            <p:pic>
              <p:nvPicPr>
                <p:cNvPr id="77" name="Graphic 76">
                  <a:extLst>
                    <a:ext uri="{FF2B5EF4-FFF2-40B4-BE49-F238E27FC236}">
                      <a16:creationId xmlns:a16="http://schemas.microsoft.com/office/drawing/2014/main" id="{0C0FC739-1413-A01B-EB9D-2E980FBBE78B}"/>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37612" y="2882122"/>
                  <a:ext cx="365760" cy="365760"/>
                </a:xfrm>
                <a:prstGeom prst="rect">
                  <a:avLst/>
                </a:prstGeom>
              </p:spPr>
            </p:pic>
            <p:cxnSp>
              <p:nvCxnSpPr>
                <p:cNvPr id="78" name="Straight Connector 77">
                  <a:extLst>
                    <a:ext uri="{FF2B5EF4-FFF2-40B4-BE49-F238E27FC236}">
                      <a16:creationId xmlns:a16="http://schemas.microsoft.com/office/drawing/2014/main" id="{73CA9516-D19C-4D68-55F4-73EDCA038302}"/>
                    </a:ext>
                  </a:extLst>
                </p:cNvPr>
                <p:cNvCxnSpPr>
                  <a:cxnSpLocks/>
                </p:cNvCxnSpPr>
                <p:nvPr/>
              </p:nvCxnSpPr>
              <p:spPr>
                <a:xfrm flipV="1">
                  <a:off x="1685290" y="3167027"/>
                  <a:ext cx="288152" cy="163696"/>
                </a:xfrm>
                <a:prstGeom prst="line">
                  <a:avLst/>
                </a:prstGeom>
                <a:ln w="38100">
                  <a:solidFill>
                    <a:srgbClr val="29B6A4"/>
                  </a:solidFill>
                </a:ln>
              </p:spPr>
              <p:style>
                <a:lnRef idx="1">
                  <a:schemeClr val="accent1"/>
                </a:lnRef>
                <a:fillRef idx="0">
                  <a:schemeClr val="accent1"/>
                </a:fillRef>
                <a:effectRef idx="0">
                  <a:schemeClr val="accent1"/>
                </a:effectRef>
                <a:fontRef idx="minor">
                  <a:schemeClr val="tx1"/>
                </a:fontRef>
              </p:style>
            </p:cxnSp>
          </p:grpSp>
        </p:grpSp>
        <p:grpSp>
          <p:nvGrpSpPr>
            <p:cNvPr id="105" name="Group 104">
              <a:extLst>
                <a:ext uri="{FF2B5EF4-FFF2-40B4-BE49-F238E27FC236}">
                  <a16:creationId xmlns:a16="http://schemas.microsoft.com/office/drawing/2014/main" id="{D1B9D311-ED5A-9BB2-FA4E-A8328B523CEF}"/>
                </a:ext>
              </a:extLst>
            </p:cNvPr>
            <p:cNvGrpSpPr>
              <a:grpSpLocks/>
            </p:cNvGrpSpPr>
            <p:nvPr/>
          </p:nvGrpSpPr>
          <p:grpSpPr>
            <a:xfrm>
              <a:off x="3388560" y="2870222"/>
              <a:ext cx="1256493" cy="1178475"/>
              <a:chOff x="3358080" y="2874614"/>
              <a:chExt cx="1256493" cy="1178475"/>
            </a:xfrm>
          </p:grpSpPr>
          <p:grpSp>
            <p:nvGrpSpPr>
              <p:cNvPr id="96" name="Group 95">
                <a:extLst>
                  <a:ext uri="{FF2B5EF4-FFF2-40B4-BE49-F238E27FC236}">
                    <a16:creationId xmlns:a16="http://schemas.microsoft.com/office/drawing/2014/main" id="{15A4B969-BF87-3D6C-686D-13F7CE351CC0}"/>
                  </a:ext>
                </a:extLst>
              </p:cNvPr>
              <p:cNvGrpSpPr>
                <a:grpSpLocks/>
              </p:cNvGrpSpPr>
              <p:nvPr/>
            </p:nvGrpSpPr>
            <p:grpSpPr>
              <a:xfrm>
                <a:off x="3358080" y="2874614"/>
                <a:ext cx="964688" cy="683921"/>
                <a:chOff x="1338684" y="2882122"/>
                <a:chExt cx="964688" cy="683921"/>
              </a:xfrm>
            </p:grpSpPr>
            <p:pic>
              <p:nvPicPr>
                <p:cNvPr id="97" name="Graphic 96">
                  <a:extLst>
                    <a:ext uri="{FF2B5EF4-FFF2-40B4-BE49-F238E27FC236}">
                      <a16:creationId xmlns:a16="http://schemas.microsoft.com/office/drawing/2014/main" id="{1191E64F-F972-760D-D013-98B27F0B6465}"/>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38684" y="3200283"/>
                  <a:ext cx="365760" cy="365760"/>
                </a:xfrm>
                <a:prstGeom prst="rect">
                  <a:avLst/>
                </a:prstGeom>
              </p:spPr>
            </p:pic>
            <p:pic>
              <p:nvPicPr>
                <p:cNvPr id="98" name="Graphic 97">
                  <a:extLst>
                    <a:ext uri="{FF2B5EF4-FFF2-40B4-BE49-F238E27FC236}">
                      <a16:creationId xmlns:a16="http://schemas.microsoft.com/office/drawing/2014/main" id="{A1AAD0B8-1371-EB7A-B32A-5BABF5AF64A4}"/>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37612" y="2882122"/>
                  <a:ext cx="365760" cy="365760"/>
                </a:xfrm>
                <a:prstGeom prst="rect">
                  <a:avLst/>
                </a:prstGeom>
              </p:spPr>
            </p:pic>
            <p:cxnSp>
              <p:nvCxnSpPr>
                <p:cNvPr id="99" name="Straight Connector 98">
                  <a:extLst>
                    <a:ext uri="{FF2B5EF4-FFF2-40B4-BE49-F238E27FC236}">
                      <a16:creationId xmlns:a16="http://schemas.microsoft.com/office/drawing/2014/main" id="{A844805E-6FCA-6552-6FD3-498CD8D259BF}"/>
                    </a:ext>
                  </a:extLst>
                </p:cNvPr>
                <p:cNvCxnSpPr>
                  <a:cxnSpLocks/>
                </p:cNvCxnSpPr>
                <p:nvPr/>
              </p:nvCxnSpPr>
              <p:spPr>
                <a:xfrm flipV="1">
                  <a:off x="1685290" y="3167027"/>
                  <a:ext cx="288152" cy="163696"/>
                </a:xfrm>
                <a:prstGeom prst="line">
                  <a:avLst/>
                </a:prstGeom>
                <a:ln w="38100">
                  <a:solidFill>
                    <a:srgbClr val="FAA523"/>
                  </a:solidFill>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31ED5CBF-EF41-6AF2-7C48-6031A783ACBC}"/>
                  </a:ext>
                </a:extLst>
              </p:cNvPr>
              <p:cNvGrpSpPr>
                <a:grpSpLocks/>
              </p:cNvGrpSpPr>
              <p:nvPr/>
            </p:nvGrpSpPr>
            <p:grpSpPr>
              <a:xfrm>
                <a:off x="3649885" y="3369168"/>
                <a:ext cx="964688" cy="683921"/>
                <a:chOff x="1338684" y="2882122"/>
                <a:chExt cx="964688" cy="683921"/>
              </a:xfrm>
            </p:grpSpPr>
            <p:pic>
              <p:nvPicPr>
                <p:cNvPr id="101" name="Graphic 100">
                  <a:extLst>
                    <a:ext uri="{FF2B5EF4-FFF2-40B4-BE49-F238E27FC236}">
                      <a16:creationId xmlns:a16="http://schemas.microsoft.com/office/drawing/2014/main" id="{1D0B2A73-3040-9E58-B34D-7BBADC2B688D}"/>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38684" y="3200283"/>
                  <a:ext cx="365760" cy="365760"/>
                </a:xfrm>
                <a:prstGeom prst="rect">
                  <a:avLst/>
                </a:prstGeom>
              </p:spPr>
            </p:pic>
            <p:pic>
              <p:nvPicPr>
                <p:cNvPr id="102" name="Graphic 101">
                  <a:extLst>
                    <a:ext uri="{FF2B5EF4-FFF2-40B4-BE49-F238E27FC236}">
                      <a16:creationId xmlns:a16="http://schemas.microsoft.com/office/drawing/2014/main" id="{47667506-D468-043B-A85C-83C3884C1FBA}"/>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7612" y="2882122"/>
                  <a:ext cx="365760" cy="365760"/>
                </a:xfrm>
                <a:prstGeom prst="rect">
                  <a:avLst/>
                </a:prstGeom>
              </p:spPr>
            </p:pic>
            <p:cxnSp>
              <p:nvCxnSpPr>
                <p:cNvPr id="103" name="Straight Connector 102">
                  <a:extLst>
                    <a:ext uri="{FF2B5EF4-FFF2-40B4-BE49-F238E27FC236}">
                      <a16:creationId xmlns:a16="http://schemas.microsoft.com/office/drawing/2014/main" id="{55317BB4-72AB-9FB9-D0F5-5EC0B34274C2}"/>
                    </a:ext>
                  </a:extLst>
                </p:cNvPr>
                <p:cNvCxnSpPr>
                  <a:cxnSpLocks/>
                </p:cNvCxnSpPr>
                <p:nvPr/>
              </p:nvCxnSpPr>
              <p:spPr>
                <a:xfrm flipV="1">
                  <a:off x="1685290" y="3167027"/>
                  <a:ext cx="288152" cy="163696"/>
                </a:xfrm>
                <a:prstGeom prst="line">
                  <a:avLst/>
                </a:prstGeom>
                <a:ln w="38100">
                  <a:solidFill>
                    <a:srgbClr val="FAA523"/>
                  </a:solidFill>
                </a:ln>
              </p:spPr>
              <p:style>
                <a:lnRef idx="1">
                  <a:schemeClr val="accent1"/>
                </a:lnRef>
                <a:fillRef idx="0">
                  <a:schemeClr val="accent1"/>
                </a:fillRef>
                <a:effectRef idx="0">
                  <a:schemeClr val="accent1"/>
                </a:effectRef>
                <a:fontRef idx="minor">
                  <a:schemeClr val="tx1"/>
                </a:fontRef>
              </p:style>
            </p:cxnSp>
          </p:grpSp>
        </p:grpSp>
      </p:grpSp>
      <p:grpSp>
        <p:nvGrpSpPr>
          <p:cNvPr id="9" name="Group 8">
            <a:extLst>
              <a:ext uri="{FF2B5EF4-FFF2-40B4-BE49-F238E27FC236}">
                <a16:creationId xmlns:a16="http://schemas.microsoft.com/office/drawing/2014/main" id="{E3D9F9CB-9AF8-7FDC-1FB9-7D8A861EF7B9}"/>
              </a:ext>
            </a:extLst>
          </p:cNvPr>
          <p:cNvGrpSpPr/>
          <p:nvPr/>
        </p:nvGrpSpPr>
        <p:grpSpPr>
          <a:xfrm>
            <a:off x="5016052" y="5066768"/>
            <a:ext cx="2159897" cy="1122910"/>
            <a:chOff x="4905371" y="5066768"/>
            <a:chExt cx="2159897" cy="1122910"/>
          </a:xfrm>
        </p:grpSpPr>
        <p:sp>
          <p:nvSpPr>
            <p:cNvPr id="10" name="TextBox 9">
              <a:extLst>
                <a:ext uri="{FF2B5EF4-FFF2-40B4-BE49-F238E27FC236}">
                  <a16:creationId xmlns:a16="http://schemas.microsoft.com/office/drawing/2014/main" id="{9C50DD37-674A-3033-12AA-0D144CE77BEB}"/>
                </a:ext>
              </a:extLst>
            </p:cNvPr>
            <p:cNvSpPr txBox="1"/>
            <p:nvPr/>
          </p:nvSpPr>
          <p:spPr>
            <a:xfrm>
              <a:off x="5345836" y="5097443"/>
              <a:ext cx="1719432" cy="523220"/>
            </a:xfrm>
            <a:prstGeom prst="rect">
              <a:avLst/>
            </a:prstGeom>
            <a:noFill/>
          </p:spPr>
          <p:txBody>
            <a:bodyPr wrap="square" rtlCol="0">
              <a:spAutoFit/>
            </a:bodyPr>
            <a:lstStyle/>
            <a:p>
              <a:pPr marL="0" marR="0" lvl="0" indent="0" algn="l" defTabSz="91403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a:ea typeface="+mn-ea"/>
                  <a:cs typeface="+mn-cs"/>
                </a:rPr>
                <a:t>High income</a:t>
              </a:r>
            </a:p>
          </p:txBody>
        </p:sp>
        <p:sp>
          <p:nvSpPr>
            <p:cNvPr id="11" name="TextBox 10">
              <a:extLst>
                <a:ext uri="{FF2B5EF4-FFF2-40B4-BE49-F238E27FC236}">
                  <a16:creationId xmlns:a16="http://schemas.microsoft.com/office/drawing/2014/main" id="{63FED8A2-A089-905B-9BC0-D1AB47DDE2AF}"/>
                </a:ext>
              </a:extLst>
            </p:cNvPr>
            <p:cNvSpPr txBox="1"/>
            <p:nvPr/>
          </p:nvSpPr>
          <p:spPr>
            <a:xfrm>
              <a:off x="5345836" y="5666458"/>
              <a:ext cx="1719432" cy="523220"/>
            </a:xfrm>
            <a:prstGeom prst="rect">
              <a:avLst/>
            </a:prstGeom>
            <a:noFill/>
          </p:spPr>
          <p:txBody>
            <a:bodyPr wrap="square" rtlCol="0">
              <a:spAutoFit/>
            </a:bodyPr>
            <a:lstStyle/>
            <a:p>
              <a:pPr marL="0" marR="0" lvl="0" indent="0" algn="l" defTabSz="91403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a:ea typeface="+mn-ea"/>
                  <a:cs typeface="+mn-cs"/>
                </a:rPr>
                <a:t>Low income</a:t>
              </a:r>
            </a:p>
          </p:txBody>
        </p:sp>
        <p:pic>
          <p:nvPicPr>
            <p:cNvPr id="114" name="Graphic 113">
              <a:extLst>
                <a:ext uri="{FF2B5EF4-FFF2-40B4-BE49-F238E27FC236}">
                  <a16:creationId xmlns:a16="http://schemas.microsoft.com/office/drawing/2014/main" id="{9B12939C-24E1-E0CD-5D8B-DC8F4465998A}"/>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05371" y="5627313"/>
              <a:ext cx="365760" cy="365760"/>
            </a:xfrm>
            <a:prstGeom prst="rect">
              <a:avLst/>
            </a:prstGeom>
          </p:spPr>
        </p:pic>
        <p:pic>
          <p:nvPicPr>
            <p:cNvPr id="115" name="Graphic 114">
              <a:extLst>
                <a:ext uri="{FF2B5EF4-FFF2-40B4-BE49-F238E27FC236}">
                  <a16:creationId xmlns:a16="http://schemas.microsoft.com/office/drawing/2014/main" id="{21041811-4F42-2B47-8CB8-13E75AE047BF}"/>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05371" y="5066768"/>
              <a:ext cx="365760" cy="365760"/>
            </a:xfrm>
            <a:prstGeom prst="rect">
              <a:avLst/>
            </a:prstGeom>
          </p:spPr>
        </p:pic>
      </p:grpSp>
      <p:cxnSp>
        <p:nvCxnSpPr>
          <p:cNvPr id="5" name="Straight Connector 4">
            <a:extLst>
              <a:ext uri="{FF2B5EF4-FFF2-40B4-BE49-F238E27FC236}">
                <a16:creationId xmlns:a16="http://schemas.microsoft.com/office/drawing/2014/main" id="{75B96EAD-BF10-CAC3-D4A1-F4BE942B8A57}"/>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9619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239A6-B810-7A1A-29EF-E86A740E9050}"/>
            </a:ext>
          </a:extLst>
        </p:cNvPr>
        <p:cNvGrpSpPr/>
        <p:nvPr/>
      </p:nvGrpSpPr>
      <p:grpSpPr>
        <a:xfrm>
          <a:off x="0" y="0"/>
          <a:ext cx="0" cy="0"/>
          <a:chOff x="0" y="0"/>
          <a:chExt cx="0" cy="0"/>
        </a:xfrm>
      </p:grpSpPr>
      <p:sp>
        <p:nvSpPr>
          <p:cNvPr id="83" name="Rectangle 183">
            <a:extLst>
              <a:ext uri="{FF2B5EF4-FFF2-40B4-BE49-F238E27FC236}">
                <a16:creationId xmlns:a16="http://schemas.microsoft.com/office/drawing/2014/main" id="{048019FD-6B53-71CE-F98F-ED9E97597AE8}"/>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F41F00B0-9939-68E4-CD49-E437EF17350F}"/>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20" name="TextBox 19">
            <a:extLst>
              <a:ext uri="{FF2B5EF4-FFF2-40B4-BE49-F238E27FC236}">
                <a16:creationId xmlns:a16="http://schemas.microsoft.com/office/drawing/2014/main" id="{8EBD439E-B90A-BC4A-B2BF-8A75871F2F67}"/>
              </a:ext>
            </a:extLst>
          </p:cNvPr>
          <p:cNvSpPr txBox="1"/>
          <p:nvPr/>
        </p:nvSpPr>
        <p:spPr>
          <a:xfrm>
            <a:off x="2209027" y="1630234"/>
            <a:ext cx="1762840" cy="338534"/>
          </a:xfrm>
          <a:prstGeom prst="rect">
            <a:avLst/>
          </a:prstGeom>
          <a:noFill/>
        </p:spPr>
        <p:txBody>
          <a:bodyPr wrap="square" lIns="91034"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50% Exposure</a:t>
            </a:r>
          </a:p>
        </p:txBody>
      </p:sp>
      <p:sp>
        <p:nvSpPr>
          <p:cNvPr id="22" name="TextBox 21">
            <a:extLst>
              <a:ext uri="{FF2B5EF4-FFF2-40B4-BE49-F238E27FC236}">
                <a16:creationId xmlns:a16="http://schemas.microsoft.com/office/drawing/2014/main" id="{46EA85AB-38BF-3F4C-70E0-FB43916CF6B9}"/>
              </a:ext>
            </a:extLst>
          </p:cNvPr>
          <p:cNvSpPr txBox="1"/>
          <p:nvPr/>
        </p:nvSpPr>
        <p:spPr>
          <a:xfrm>
            <a:off x="2001370" y="2041021"/>
            <a:ext cx="2178155" cy="307777"/>
          </a:xfrm>
          <a:prstGeom prst="rect">
            <a:avLst/>
          </a:prstGeom>
          <a:noFill/>
        </p:spPr>
        <p:txBody>
          <a:bodyPr wrap="square">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a:ea typeface="+mn-ea"/>
                <a:cs typeface="Arial" pitchFamily="34" charset="0"/>
              </a:rPr>
              <a:t>Segregation by income</a:t>
            </a:r>
            <a:endParaRPr kumimoji="0" lang="en-US" sz="1400" b="1" i="0" u="none" strike="noStrike" kern="1200" cap="none" spc="0" normalizeH="0" baseline="0" noProof="0" dirty="0">
              <a:ln>
                <a:noFill/>
              </a:ln>
              <a:solidFill>
                <a:prstClr val="black"/>
              </a:solidFill>
              <a:effectLst/>
              <a:uLnTx/>
              <a:uFillTx/>
              <a:latin typeface="Lucida Sans"/>
              <a:ea typeface="+mn-ea"/>
              <a:cs typeface="Arial" pitchFamily="34" charset="0"/>
            </a:endParaRPr>
          </a:p>
        </p:txBody>
      </p:sp>
      <p:sp>
        <p:nvSpPr>
          <p:cNvPr id="25" name="TextBox 24">
            <a:extLst>
              <a:ext uri="{FF2B5EF4-FFF2-40B4-BE49-F238E27FC236}">
                <a16:creationId xmlns:a16="http://schemas.microsoft.com/office/drawing/2014/main" id="{479A2EC9-37B3-ADD4-1703-9139E7EB3875}"/>
              </a:ext>
            </a:extLst>
          </p:cNvPr>
          <p:cNvSpPr txBox="1"/>
          <p:nvPr/>
        </p:nvSpPr>
        <p:spPr>
          <a:xfrm>
            <a:off x="2028184" y="4816979"/>
            <a:ext cx="2124526" cy="338534"/>
          </a:xfrm>
          <a:prstGeom prst="rect">
            <a:avLst/>
          </a:prstGeom>
          <a:noFill/>
        </p:spPr>
        <p:txBody>
          <a:bodyPr wrap="square" lIns="91034" tIns="45710" rIns="91034" bIns="45710" rtlCol="0">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50% Friending Bias</a:t>
            </a:r>
          </a:p>
        </p:txBody>
      </p:sp>
      <p:sp>
        <p:nvSpPr>
          <p:cNvPr id="27" name="TextBox 26">
            <a:extLst>
              <a:ext uri="{FF2B5EF4-FFF2-40B4-BE49-F238E27FC236}">
                <a16:creationId xmlns:a16="http://schemas.microsoft.com/office/drawing/2014/main" id="{F0A83E5C-7DCE-36F2-6FE4-C67345926611}"/>
              </a:ext>
            </a:extLst>
          </p:cNvPr>
          <p:cNvSpPr txBox="1"/>
          <p:nvPr/>
        </p:nvSpPr>
        <p:spPr>
          <a:xfrm>
            <a:off x="1454287" y="5227766"/>
            <a:ext cx="3272320" cy="307777"/>
          </a:xfrm>
          <a:prstGeom prst="rect">
            <a:avLst/>
          </a:prstGeom>
          <a:noFill/>
        </p:spPr>
        <p:txBody>
          <a:bodyPr wrap="square">
            <a:spAutoFit/>
          </a:bodyPr>
          <a:lstStyle/>
          <a:p>
            <a:pPr marL="0" marR="0" lvl="0" indent="0" algn="l" defTabSz="121869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a:ea typeface="+mn-ea"/>
                <a:cs typeface="Arial" pitchFamily="34" charset="0"/>
              </a:rPr>
              <a:t>Interaction conditional on exposure</a:t>
            </a:r>
            <a:endParaRPr kumimoji="0" lang="en-US" sz="1400" b="1" i="0" u="none" strike="noStrike" kern="1200" cap="none" spc="0" normalizeH="0" baseline="0" noProof="0" dirty="0">
              <a:ln>
                <a:noFill/>
              </a:ln>
              <a:solidFill>
                <a:prstClr val="black"/>
              </a:solidFill>
              <a:effectLst/>
              <a:uLnTx/>
              <a:uFillTx/>
              <a:latin typeface="Lucida Sans"/>
              <a:ea typeface="+mn-ea"/>
              <a:cs typeface="Arial" pitchFamily="34" charset="0"/>
            </a:endParaRPr>
          </a:p>
        </p:txBody>
      </p:sp>
      <p:grpSp>
        <p:nvGrpSpPr>
          <p:cNvPr id="30" name="Group 29">
            <a:extLst>
              <a:ext uri="{FF2B5EF4-FFF2-40B4-BE49-F238E27FC236}">
                <a16:creationId xmlns:a16="http://schemas.microsoft.com/office/drawing/2014/main" id="{64476C66-A34E-E019-B1F2-C402DE0701B2}"/>
              </a:ext>
            </a:extLst>
          </p:cNvPr>
          <p:cNvGrpSpPr/>
          <p:nvPr/>
        </p:nvGrpSpPr>
        <p:grpSpPr>
          <a:xfrm rot="5400000">
            <a:off x="2218090" y="2744472"/>
            <a:ext cx="1744714" cy="1734330"/>
            <a:chOff x="5229847" y="1628211"/>
            <a:chExt cx="1744714" cy="1734330"/>
          </a:xfrm>
        </p:grpSpPr>
        <p:sp>
          <p:nvSpPr>
            <p:cNvPr id="31" name="Oval 30">
              <a:extLst>
                <a:ext uri="{FF2B5EF4-FFF2-40B4-BE49-F238E27FC236}">
                  <a16:creationId xmlns:a16="http://schemas.microsoft.com/office/drawing/2014/main" id="{22794CC1-0B99-6988-2587-703135BAEF76}"/>
                </a:ext>
              </a:extLst>
            </p:cNvPr>
            <p:cNvSpPr/>
            <p:nvPr/>
          </p:nvSpPr>
          <p:spPr>
            <a:xfrm>
              <a:off x="5229847" y="1630234"/>
              <a:ext cx="1732307" cy="1732307"/>
            </a:xfrm>
            <a:prstGeom prst="ellipse">
              <a:avLst/>
            </a:prstGeom>
            <a:solidFill>
              <a:schemeClr val="bg1"/>
            </a:solidFill>
            <a:ln>
              <a:solidFill>
                <a:srgbClr val="19B7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3" name="Graphic 32">
              <a:extLst>
                <a:ext uri="{FF2B5EF4-FFF2-40B4-BE49-F238E27FC236}">
                  <a16:creationId xmlns:a16="http://schemas.microsoft.com/office/drawing/2014/main" id="{9A02D2DD-DDE1-DCBE-982C-2CE6F05850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9847" y="1630234"/>
              <a:ext cx="866154" cy="1732307"/>
            </a:xfrm>
            <a:prstGeom prst="rect">
              <a:avLst/>
            </a:prstGeom>
          </p:spPr>
        </p:pic>
        <p:pic>
          <p:nvPicPr>
            <p:cNvPr id="34" name="Graphic 33">
              <a:extLst>
                <a:ext uri="{FF2B5EF4-FFF2-40B4-BE49-F238E27FC236}">
                  <a16:creationId xmlns:a16="http://schemas.microsoft.com/office/drawing/2014/main" id="{8B77BA96-C8A0-26D2-BCBC-0A9D0BB7B2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6108407" y="1628211"/>
              <a:ext cx="866154" cy="1732307"/>
            </a:xfrm>
            <a:prstGeom prst="rect">
              <a:avLst/>
            </a:prstGeom>
          </p:spPr>
        </p:pic>
        <p:cxnSp>
          <p:nvCxnSpPr>
            <p:cNvPr id="35" name="Straight Connector 34">
              <a:extLst>
                <a:ext uri="{FF2B5EF4-FFF2-40B4-BE49-F238E27FC236}">
                  <a16:creationId xmlns:a16="http://schemas.microsoft.com/office/drawing/2014/main" id="{06EE1C4C-DC9C-5A34-2460-F30D8A795185}"/>
                </a:ext>
              </a:extLst>
            </p:cNvPr>
            <p:cNvCxnSpPr>
              <a:stCxn id="31" idx="0"/>
              <a:endCxn id="31" idx="4"/>
            </p:cNvCxnSpPr>
            <p:nvPr/>
          </p:nvCxnSpPr>
          <p:spPr>
            <a:xfrm>
              <a:off x="6096001" y="1630234"/>
              <a:ext cx="0" cy="1732307"/>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C3C9BC3B-CBD5-9603-0266-EB31FE538A07}"/>
              </a:ext>
            </a:extLst>
          </p:cNvPr>
          <p:cNvSpPr>
            <a:spLocks noChangeArrowheads="1"/>
          </p:cNvSpPr>
          <p:nvPr/>
        </p:nvSpPr>
        <p:spPr bwMode="auto">
          <a:xfrm>
            <a:off x="609074" y="375319"/>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Determinants of Economic Connectedness</a:t>
            </a:r>
          </a:p>
        </p:txBody>
      </p:sp>
      <p:cxnSp>
        <p:nvCxnSpPr>
          <p:cNvPr id="7" name="Straight Connector 6">
            <a:extLst>
              <a:ext uri="{FF2B5EF4-FFF2-40B4-BE49-F238E27FC236}">
                <a16:creationId xmlns:a16="http://schemas.microsoft.com/office/drawing/2014/main" id="{3BDD60D1-D79E-8E03-987C-628E2A8ABDC7}"/>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929E7EB2-652F-C577-FB87-FFD84FCEC986}"/>
              </a:ext>
            </a:extLst>
          </p:cNvPr>
          <p:cNvGrpSpPr/>
          <p:nvPr/>
        </p:nvGrpSpPr>
        <p:grpSpPr>
          <a:xfrm>
            <a:off x="6210127" y="1553096"/>
            <a:ext cx="4986913" cy="4422961"/>
            <a:chOff x="6210127" y="1553096"/>
            <a:chExt cx="4986913" cy="4422961"/>
          </a:xfrm>
        </p:grpSpPr>
        <p:grpSp>
          <p:nvGrpSpPr>
            <p:cNvPr id="2" name="Group 1">
              <a:extLst>
                <a:ext uri="{FF2B5EF4-FFF2-40B4-BE49-F238E27FC236}">
                  <a16:creationId xmlns:a16="http://schemas.microsoft.com/office/drawing/2014/main" id="{F0A2B9F4-BA3B-A555-2950-ABA4841CB986}"/>
                </a:ext>
              </a:extLst>
            </p:cNvPr>
            <p:cNvGrpSpPr/>
            <p:nvPr/>
          </p:nvGrpSpPr>
          <p:grpSpPr>
            <a:xfrm>
              <a:off x="6210127" y="1553096"/>
              <a:ext cx="4986913" cy="4422961"/>
              <a:chOff x="6210127" y="1553096"/>
              <a:chExt cx="4986913" cy="4422961"/>
            </a:xfrm>
          </p:grpSpPr>
          <p:sp>
            <p:nvSpPr>
              <p:cNvPr id="6" name="TextBox 5">
                <a:extLst>
                  <a:ext uri="{FF2B5EF4-FFF2-40B4-BE49-F238E27FC236}">
                    <a16:creationId xmlns:a16="http://schemas.microsoft.com/office/drawing/2014/main" id="{39742D66-DD48-5F62-8DAF-34AFBE850307}"/>
                  </a:ext>
                </a:extLst>
              </p:cNvPr>
              <p:cNvSpPr txBox="1"/>
              <p:nvPr/>
            </p:nvSpPr>
            <p:spPr>
              <a:xfrm>
                <a:off x="6320517" y="1605630"/>
                <a:ext cx="4876523" cy="4370427"/>
              </a:xfrm>
              <a:prstGeom prst="rect">
                <a:avLst/>
              </a:prstGeom>
              <a:noFill/>
              <a:ln>
                <a:noFill/>
              </a:ln>
            </p:spPr>
            <p:txBody>
              <a:bodyPr wrap="square" lIns="182880" tIns="182880" rIns="182880" bIns="18288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Every time I walked across Eutaw Street, I witnessed the exchange of realities. As I grew older, I’ve come to learn that this was how Baltimore works.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Millionaires could live on one side of a street, and the projects could be on the other side.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Those two worlds would never cross, never make friends, never acknowledge each other. Everybody was OK with it, especially the rich.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1"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 Carmelo Anthony</a:t>
                </a:r>
                <a:br>
                  <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br>
                <a:r>
                  <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  </a:t>
                </a:r>
                <a:r>
                  <a:rPr kumimoji="0" lang="en-US" sz="1600" b="0" i="1"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Where Tomorrows Aren’t Promised </a:t>
                </a:r>
                <a:r>
                  <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(2021)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grpSp>
            <p:nvGrpSpPr>
              <p:cNvPr id="26" name="Group 25">
                <a:extLst>
                  <a:ext uri="{FF2B5EF4-FFF2-40B4-BE49-F238E27FC236}">
                    <a16:creationId xmlns:a16="http://schemas.microsoft.com/office/drawing/2014/main" id="{F8BA4F9A-9B69-D243-C637-36F0843F39D5}"/>
                  </a:ext>
                </a:extLst>
              </p:cNvPr>
              <p:cNvGrpSpPr/>
              <p:nvPr/>
            </p:nvGrpSpPr>
            <p:grpSpPr>
              <a:xfrm>
                <a:off x="6210127" y="1553096"/>
                <a:ext cx="4965192" cy="4264041"/>
                <a:chOff x="6210127" y="1553097"/>
                <a:chExt cx="4965192" cy="3807830"/>
              </a:xfrm>
            </p:grpSpPr>
            <p:sp>
              <p:nvSpPr>
                <p:cNvPr id="3" name="TextBox 2">
                  <a:extLst>
                    <a:ext uri="{FF2B5EF4-FFF2-40B4-BE49-F238E27FC236}">
                      <a16:creationId xmlns:a16="http://schemas.microsoft.com/office/drawing/2014/main" id="{A30C6504-63AA-FEAE-6888-A5C7F1F6B031}"/>
                    </a:ext>
                  </a:extLst>
                </p:cNvPr>
                <p:cNvSpPr txBox="1"/>
                <p:nvPr/>
              </p:nvSpPr>
              <p:spPr>
                <a:xfrm>
                  <a:off x="6231848" y="1553097"/>
                  <a:ext cx="4873752" cy="2015936"/>
                </a:xfrm>
                <a:prstGeom prst="rect">
                  <a:avLst/>
                </a:prstGeom>
                <a:noFill/>
                <a:ln>
                  <a:noFill/>
                </a:ln>
              </p:spPr>
              <p:txBody>
                <a:bodyPr wrap="square" lIns="182880" tIns="182880" rIns="182880" bIns="18288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sp>
              <p:nvSpPr>
                <p:cNvPr id="15" name="Rectangle 14">
                  <a:extLst>
                    <a:ext uri="{FF2B5EF4-FFF2-40B4-BE49-F238E27FC236}">
                      <a16:creationId xmlns:a16="http://schemas.microsoft.com/office/drawing/2014/main" id="{48FD04E0-70ED-F879-B6CD-3BF62D7A6807}"/>
                    </a:ext>
                  </a:extLst>
                </p:cNvPr>
                <p:cNvSpPr/>
                <p:nvPr/>
              </p:nvSpPr>
              <p:spPr>
                <a:xfrm>
                  <a:off x="6210127" y="1627127"/>
                  <a:ext cx="4965192" cy="37338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7" name="Rectangle 16">
                <a:extLst>
                  <a:ext uri="{FF2B5EF4-FFF2-40B4-BE49-F238E27FC236}">
                    <a16:creationId xmlns:a16="http://schemas.microsoft.com/office/drawing/2014/main" id="{D68FA667-8687-60E1-C70D-42B8EE31502F}"/>
                  </a:ext>
                </a:extLst>
              </p:cNvPr>
              <p:cNvSpPr/>
              <p:nvPr/>
            </p:nvSpPr>
            <p:spPr>
              <a:xfrm>
                <a:off x="6506958" y="4325043"/>
                <a:ext cx="4465842" cy="182880"/>
              </a:xfrm>
              <a:prstGeom prst="rect">
                <a:avLst/>
              </a:prstGeom>
              <a:solidFill>
                <a:srgbClr val="2AB6AC">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4D0CAC44-E86C-22ED-5735-24D5A6F227AB}"/>
                  </a:ext>
                </a:extLst>
              </p:cNvPr>
              <p:cNvSpPr/>
              <p:nvPr/>
            </p:nvSpPr>
            <p:spPr>
              <a:xfrm>
                <a:off x="6506958" y="4548097"/>
                <a:ext cx="2516392" cy="182880"/>
              </a:xfrm>
              <a:prstGeom prst="rect">
                <a:avLst/>
              </a:prstGeom>
              <a:solidFill>
                <a:srgbClr val="2AB6AC">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8" name="Rectangle 7">
              <a:extLst>
                <a:ext uri="{FF2B5EF4-FFF2-40B4-BE49-F238E27FC236}">
                  <a16:creationId xmlns:a16="http://schemas.microsoft.com/office/drawing/2014/main" id="{21204C36-8DEA-F300-2DFD-0CB045956C3B}"/>
                </a:ext>
              </a:extLst>
            </p:cNvPr>
            <p:cNvSpPr/>
            <p:nvPr/>
          </p:nvSpPr>
          <p:spPr>
            <a:xfrm>
              <a:off x="10185400" y="4070298"/>
              <a:ext cx="584200" cy="182880"/>
            </a:xfrm>
            <a:prstGeom prst="rect">
              <a:avLst/>
            </a:prstGeom>
            <a:solidFill>
              <a:srgbClr val="2AB6AC">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27630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94"/>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AF21E452-DCAE-DA58-0AB7-0C6962FEED62}"/>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24" name="TextBox 23">
            <a:extLst>
              <a:ext uri="{FF2B5EF4-FFF2-40B4-BE49-F238E27FC236}">
                <a16:creationId xmlns:a16="http://schemas.microsoft.com/office/drawing/2014/main" id="{A7D289A0-FEF6-5297-FAB2-277447E6F7F7}"/>
              </a:ext>
            </a:extLst>
          </p:cNvPr>
          <p:cNvSpPr txBox="1"/>
          <p:nvPr/>
        </p:nvSpPr>
        <p:spPr>
          <a:xfrm>
            <a:off x="566211" y="648977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The Daily Californian (2017)</a:t>
            </a:r>
          </a:p>
        </p:txBody>
      </p:sp>
      <p:grpSp>
        <p:nvGrpSpPr>
          <p:cNvPr id="32" name="Group 31">
            <a:extLst>
              <a:ext uri="{FF2B5EF4-FFF2-40B4-BE49-F238E27FC236}">
                <a16:creationId xmlns:a16="http://schemas.microsoft.com/office/drawing/2014/main" id="{358002B3-B548-4381-58A8-11BCA8BEE298}"/>
              </a:ext>
            </a:extLst>
          </p:cNvPr>
          <p:cNvGrpSpPr/>
          <p:nvPr/>
        </p:nvGrpSpPr>
        <p:grpSpPr>
          <a:xfrm>
            <a:off x="788102" y="1938183"/>
            <a:ext cx="4876523" cy="4154984"/>
            <a:chOff x="788102" y="1629548"/>
            <a:chExt cx="4876523" cy="4154984"/>
          </a:xfrm>
        </p:grpSpPr>
        <p:sp>
          <p:nvSpPr>
            <p:cNvPr id="8" name="TextBox 7">
              <a:extLst>
                <a:ext uri="{FF2B5EF4-FFF2-40B4-BE49-F238E27FC236}">
                  <a16:creationId xmlns:a16="http://schemas.microsoft.com/office/drawing/2014/main" id="{8DE831DD-F0BC-E7D0-23BE-D745F50048D4}"/>
                </a:ext>
              </a:extLst>
            </p:cNvPr>
            <p:cNvSpPr txBox="1"/>
            <p:nvPr/>
          </p:nvSpPr>
          <p:spPr>
            <a:xfrm>
              <a:off x="788102" y="1629548"/>
              <a:ext cx="4876523" cy="4154984"/>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A Structure of Division: Berkeley High School attempts to tackle segregation on campus</a:t>
              </a: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To attempt to address this divisive climate, Berkeley High’s Design Team has proposed the creation of a ninth grade that places incoming students into intentionally diverse communities. Under a universal ninth grade, students would begin their time at Berkeley High in one of various houses, rather than in one of the five learning communities. </a:t>
              </a: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sp>
          <p:nvSpPr>
            <p:cNvPr id="10" name="Rectangle 9">
              <a:extLst>
                <a:ext uri="{FF2B5EF4-FFF2-40B4-BE49-F238E27FC236}">
                  <a16:creationId xmlns:a16="http://schemas.microsoft.com/office/drawing/2014/main" id="{01AF44BE-A47F-2B98-2E9D-3D10709185EC}"/>
                </a:ext>
              </a:extLst>
            </p:cNvPr>
            <p:cNvSpPr/>
            <p:nvPr/>
          </p:nvSpPr>
          <p:spPr>
            <a:xfrm>
              <a:off x="974543" y="4014143"/>
              <a:ext cx="4022907" cy="182880"/>
            </a:xfrm>
            <a:prstGeom prst="rect">
              <a:avLst/>
            </a:prstGeom>
            <a:solidFill>
              <a:srgbClr val="2AB6AC">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34347D9-14D7-4D40-B546-9BB2C1DE42B9}"/>
                </a:ext>
              </a:extLst>
            </p:cNvPr>
            <p:cNvSpPr/>
            <p:nvPr/>
          </p:nvSpPr>
          <p:spPr>
            <a:xfrm>
              <a:off x="974542" y="4248032"/>
              <a:ext cx="4194358" cy="182880"/>
            </a:xfrm>
            <a:prstGeom prst="rect">
              <a:avLst/>
            </a:prstGeom>
            <a:solidFill>
              <a:srgbClr val="2AB6AC">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Rectangle 4">
            <a:extLst>
              <a:ext uri="{FF2B5EF4-FFF2-40B4-BE49-F238E27FC236}">
                <a16:creationId xmlns:a16="http://schemas.microsoft.com/office/drawing/2014/main" id="{9F1817C7-ACBD-7542-51A3-1F08556AF000}"/>
              </a:ext>
            </a:extLst>
          </p:cNvPr>
          <p:cNvSpPr>
            <a:spLocks noChangeArrowheads="1"/>
          </p:cNvSpPr>
          <p:nvPr/>
        </p:nvSpPr>
        <p:spPr bwMode="auto">
          <a:xfrm>
            <a:off x="609074" y="375319"/>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Initiatives to Increase Cross-Class Interaction in High Schools</a:t>
            </a:r>
          </a:p>
          <a:p>
            <a:pPr marL="0" marR="0" lvl="0" indent="0" algn="l" defTabSz="121917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626365"/>
              </a:solidFill>
              <a:effectLst/>
              <a:uLnTx/>
              <a:uFillTx/>
              <a:latin typeface="Lucida Sans" panose="020B0602030504020204" pitchFamily="34" charset="0"/>
              <a:ea typeface="+mn-ea"/>
              <a:cs typeface="Arial" pitchFamily="34" charset="0"/>
            </a:endParaRPr>
          </a:p>
        </p:txBody>
      </p:sp>
      <p:cxnSp>
        <p:nvCxnSpPr>
          <p:cNvPr id="18" name="Straight Connector 17">
            <a:extLst>
              <a:ext uri="{FF2B5EF4-FFF2-40B4-BE49-F238E27FC236}">
                <a16:creationId xmlns:a16="http://schemas.microsoft.com/office/drawing/2014/main" id="{6F9E59A7-DFB4-AB2D-638A-4CF0966CF7CD}"/>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53A5B6AA-2F0D-B721-8A2D-D49EC7B69F06}"/>
              </a:ext>
            </a:extLst>
          </p:cNvPr>
          <p:cNvGrpSpPr/>
          <p:nvPr/>
        </p:nvGrpSpPr>
        <p:grpSpPr>
          <a:xfrm>
            <a:off x="788102" y="1169591"/>
            <a:ext cx="4965281" cy="4943755"/>
            <a:chOff x="788102" y="1553097"/>
            <a:chExt cx="4965281" cy="4943755"/>
          </a:xfrm>
        </p:grpSpPr>
        <p:sp>
          <p:nvSpPr>
            <p:cNvPr id="12" name="Rectangle 11">
              <a:extLst>
                <a:ext uri="{FF2B5EF4-FFF2-40B4-BE49-F238E27FC236}">
                  <a16:creationId xmlns:a16="http://schemas.microsoft.com/office/drawing/2014/main" id="{F182015B-753C-0C90-4F45-F3841EB3BE31}"/>
                </a:ext>
              </a:extLst>
            </p:cNvPr>
            <p:cNvSpPr/>
            <p:nvPr/>
          </p:nvSpPr>
          <p:spPr>
            <a:xfrm>
              <a:off x="788102" y="1627126"/>
              <a:ext cx="4965281" cy="486972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368FE52-C9BE-A1AA-B572-C25EF005D5F0}"/>
                </a:ext>
              </a:extLst>
            </p:cNvPr>
            <p:cNvSpPr txBox="1"/>
            <p:nvPr/>
          </p:nvSpPr>
          <p:spPr>
            <a:xfrm>
              <a:off x="788102" y="1553097"/>
              <a:ext cx="4873752" cy="584775"/>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2017</a:t>
              </a:r>
              <a:endParaRPr kumimoji="0" lang="en-US" sz="14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grpSp>
      <p:pic>
        <p:nvPicPr>
          <p:cNvPr id="13" name="Picture 2" descr="Searching For Reasons Behind Segregation At Berkeley High">
            <a:extLst>
              <a:ext uri="{FF2B5EF4-FFF2-40B4-BE49-F238E27FC236}">
                <a16:creationId xmlns:a16="http://schemas.microsoft.com/office/drawing/2014/main" id="{44D96558-CED6-0167-DC42-8E8232071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0851" y="1243620"/>
            <a:ext cx="5338371" cy="4003779"/>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2C65A05-54EE-32D4-EA5F-C35C0D735328}"/>
              </a:ext>
            </a:extLst>
          </p:cNvPr>
          <p:cNvSpPr txBox="1"/>
          <p:nvPr/>
        </p:nvSpPr>
        <p:spPr>
          <a:xfrm>
            <a:off x="6001583" y="5330870"/>
            <a:ext cx="6149082" cy="338554"/>
          </a:xfrm>
          <a:prstGeom prst="rect">
            <a:avLst/>
          </a:prstGeom>
          <a:noFill/>
        </p:spPr>
        <p:txBody>
          <a:bodyPr wrap="square">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Cambria" panose="02040503050406030204" pitchFamily="18" charset="0"/>
                <a:cs typeface="Times New Roman" panose="02020603050405020304" pitchFamily="18" charset="0"/>
              </a:rPr>
              <a:t>Berkeley High School</a:t>
            </a:r>
            <a:endParaRPr kumimoji="0" 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p:txBody>
      </p:sp>
      <p:grpSp>
        <p:nvGrpSpPr>
          <p:cNvPr id="20" name="Group 19">
            <a:extLst>
              <a:ext uri="{FF2B5EF4-FFF2-40B4-BE49-F238E27FC236}">
                <a16:creationId xmlns:a16="http://schemas.microsoft.com/office/drawing/2014/main" id="{946747CF-5B09-2502-E3D6-84142CD5B453}"/>
              </a:ext>
            </a:extLst>
          </p:cNvPr>
          <p:cNvGrpSpPr/>
          <p:nvPr/>
        </p:nvGrpSpPr>
        <p:grpSpPr>
          <a:xfrm>
            <a:off x="785331" y="1694050"/>
            <a:ext cx="4965281" cy="809865"/>
            <a:chOff x="785331" y="1694050"/>
            <a:chExt cx="4965281" cy="809865"/>
          </a:xfrm>
        </p:grpSpPr>
        <p:sp>
          <p:nvSpPr>
            <p:cNvPr id="19" name="Rectangle 18">
              <a:extLst>
                <a:ext uri="{FF2B5EF4-FFF2-40B4-BE49-F238E27FC236}">
                  <a16:creationId xmlns:a16="http://schemas.microsoft.com/office/drawing/2014/main" id="{17E19357-4031-0224-2C9A-6577BC2A8D3D}"/>
                </a:ext>
              </a:extLst>
            </p:cNvPr>
            <p:cNvSpPr/>
            <p:nvPr/>
          </p:nvSpPr>
          <p:spPr>
            <a:xfrm>
              <a:off x="785331" y="1694050"/>
              <a:ext cx="4965281" cy="809865"/>
            </a:xfrm>
            <a:prstGeom prst="rect">
              <a:avLst/>
            </a:prstGeom>
            <a:solidFill>
              <a:srgbClr val="4B9A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 name="Picture 6">
              <a:extLst>
                <a:ext uri="{FF2B5EF4-FFF2-40B4-BE49-F238E27FC236}">
                  <a16:creationId xmlns:a16="http://schemas.microsoft.com/office/drawing/2014/main" id="{CDE96B14-869F-0E88-6744-E026F9ABDF5B}"/>
                </a:ext>
              </a:extLst>
            </p:cNvPr>
            <p:cNvPicPr>
              <a:picLocks noChangeAspect="1"/>
            </p:cNvPicPr>
            <p:nvPr/>
          </p:nvPicPr>
          <p:blipFill rotWithShape="1">
            <a:blip r:embed="rId5"/>
            <a:srcRect l="5951" t="22255" r="2074" b="16069"/>
            <a:stretch/>
          </p:blipFill>
          <p:spPr>
            <a:xfrm>
              <a:off x="1083591" y="1862726"/>
              <a:ext cx="4566795" cy="463914"/>
            </a:xfrm>
            <a:prstGeom prst="rect">
              <a:avLst/>
            </a:prstGeom>
          </p:spPr>
        </p:pic>
      </p:grpSp>
      <p:cxnSp>
        <p:nvCxnSpPr>
          <p:cNvPr id="3" name="Straight Connector 2">
            <a:extLst>
              <a:ext uri="{FF2B5EF4-FFF2-40B4-BE49-F238E27FC236}">
                <a16:creationId xmlns:a16="http://schemas.microsoft.com/office/drawing/2014/main" id="{42A03203-108B-B673-A4B3-846B996DAB36}"/>
              </a:ext>
            </a:extLst>
          </p:cNvPr>
          <p:cNvCxnSpPr>
            <a:cxnSpLocks/>
          </p:cNvCxnSpPr>
          <p:nvPr/>
        </p:nvCxnSpPr>
        <p:spPr>
          <a:xfrm>
            <a:off x="620980" y="851188"/>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7556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94"/>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dirty="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pic>
        <p:nvPicPr>
          <p:cNvPr id="14" name="Picture 13" descr="A black and grey text&#10;&#10;Description automatically generated">
            <a:extLst>
              <a:ext uri="{FF2B5EF4-FFF2-40B4-BE49-F238E27FC236}">
                <a16:creationId xmlns:a16="http://schemas.microsoft.com/office/drawing/2014/main" id="{AF21E452-DCAE-DA58-0AB7-0C6962FEED62}"/>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24" name="TextBox 23">
            <a:extLst>
              <a:ext uri="{FF2B5EF4-FFF2-40B4-BE49-F238E27FC236}">
                <a16:creationId xmlns:a16="http://schemas.microsoft.com/office/drawing/2014/main" id="{A7D289A0-FEF6-5297-FAB2-277447E6F7F7}"/>
              </a:ext>
            </a:extLst>
          </p:cNvPr>
          <p:cNvSpPr txBox="1"/>
          <p:nvPr/>
        </p:nvSpPr>
        <p:spPr>
          <a:xfrm>
            <a:off x="566211" y="648977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en-US" sz="1400" b="0" i="0" u="none" strike="noStrike" kern="1200" cap="none" spc="0" normalizeH="0" baseline="0" noProof="0" dirty="0" err="1">
                <a:ln>
                  <a:noFill/>
                </a:ln>
                <a:solidFill>
                  <a:prstClr val="black"/>
                </a:solidFill>
                <a:effectLst/>
                <a:uLnTx/>
                <a:uFillTx/>
                <a:latin typeface="Lucida Sans" panose="020B0602030504020204" pitchFamily="34" charset="0"/>
                <a:ea typeface="Lato" panose="020F0502020204030203" pitchFamily="34" charset="0"/>
                <a:cs typeface="Arial" pitchFamily="34" charset="0"/>
              </a:rPr>
              <a:t>Urbanland</a:t>
            </a: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 (2023)</a:t>
            </a:r>
          </a:p>
        </p:txBody>
      </p:sp>
      <p:sp>
        <p:nvSpPr>
          <p:cNvPr id="5" name="Rectangle 4">
            <a:extLst>
              <a:ext uri="{FF2B5EF4-FFF2-40B4-BE49-F238E27FC236}">
                <a16:creationId xmlns:a16="http://schemas.microsoft.com/office/drawing/2014/main" id="{9F1817C7-ACBD-7542-51A3-1F08556AF000}"/>
              </a:ext>
            </a:extLst>
          </p:cNvPr>
          <p:cNvSpPr>
            <a:spLocks noChangeArrowheads="1"/>
          </p:cNvSpPr>
          <p:nvPr/>
        </p:nvSpPr>
        <p:spPr bwMode="auto">
          <a:xfrm>
            <a:off x="609074" y="375319"/>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Increasing Cross-Class Interaction Through Urban Design</a:t>
            </a:r>
          </a:p>
        </p:txBody>
      </p:sp>
      <p:cxnSp>
        <p:nvCxnSpPr>
          <p:cNvPr id="18" name="Straight Connector 17">
            <a:extLst>
              <a:ext uri="{FF2B5EF4-FFF2-40B4-BE49-F238E27FC236}">
                <a16:creationId xmlns:a16="http://schemas.microsoft.com/office/drawing/2014/main" id="{6F9E59A7-DFB4-AB2D-638A-4CF0966CF7CD}"/>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53A5B6AA-2F0D-B721-8A2D-D49EC7B69F06}"/>
              </a:ext>
            </a:extLst>
          </p:cNvPr>
          <p:cNvGrpSpPr/>
          <p:nvPr/>
        </p:nvGrpSpPr>
        <p:grpSpPr>
          <a:xfrm>
            <a:off x="788102" y="1169591"/>
            <a:ext cx="4965281" cy="4943755"/>
            <a:chOff x="788102" y="1553097"/>
            <a:chExt cx="4965281" cy="4943755"/>
          </a:xfrm>
        </p:grpSpPr>
        <p:sp>
          <p:nvSpPr>
            <p:cNvPr id="12" name="Rectangle 11">
              <a:extLst>
                <a:ext uri="{FF2B5EF4-FFF2-40B4-BE49-F238E27FC236}">
                  <a16:creationId xmlns:a16="http://schemas.microsoft.com/office/drawing/2014/main" id="{F182015B-753C-0C90-4F45-F3841EB3BE31}"/>
                </a:ext>
              </a:extLst>
            </p:cNvPr>
            <p:cNvSpPr/>
            <p:nvPr/>
          </p:nvSpPr>
          <p:spPr>
            <a:xfrm>
              <a:off x="788102" y="1627126"/>
              <a:ext cx="4965281" cy="486972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368FE52-C9BE-A1AA-B572-C25EF005D5F0}"/>
                </a:ext>
              </a:extLst>
            </p:cNvPr>
            <p:cNvSpPr txBox="1"/>
            <p:nvPr/>
          </p:nvSpPr>
          <p:spPr>
            <a:xfrm>
              <a:off x="788102" y="1553097"/>
              <a:ext cx="4873752" cy="584775"/>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2023</a:t>
              </a:r>
              <a:endParaRPr kumimoji="0" lang="en-US" sz="14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grpSp>
      <p:pic>
        <p:nvPicPr>
          <p:cNvPr id="13" name="Picture 2">
            <a:extLst>
              <a:ext uri="{FF2B5EF4-FFF2-40B4-BE49-F238E27FC236}">
                <a16:creationId xmlns:a16="http://schemas.microsoft.com/office/drawing/2014/main" id="{44D96558-CED6-0167-DC42-8E8232071F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6055013" y="1243619"/>
            <a:ext cx="5062204" cy="486972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A5F463B-86AC-89EC-600F-CCBD720DE337}"/>
              </a:ext>
            </a:extLst>
          </p:cNvPr>
          <p:cNvSpPr txBox="1"/>
          <p:nvPr/>
        </p:nvSpPr>
        <p:spPr>
          <a:xfrm>
            <a:off x="832481" y="1552386"/>
            <a:ext cx="4876523" cy="2031325"/>
          </a:xfrm>
          <a:prstGeom prst="rect">
            <a:avLst/>
          </a:prstGeom>
          <a:noFill/>
          <a:ln>
            <a:noFill/>
          </a:ln>
        </p:spPr>
        <p:txBody>
          <a:bodyPr wrap="square" lIns="182880" tIns="182880" rIns="182880" bIns="182880"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Connecting Communities: Adding Soccer Fields to Atlanta’s MARTA Stations</a:t>
            </a: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endParaRPr>
          </a:p>
          <a:p>
            <a:pPr marL="0" marR="0" lvl="0" indent="0" algn="l"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endParaRPr>
          </a:p>
        </p:txBody>
      </p:sp>
      <p:pic>
        <p:nvPicPr>
          <p:cNvPr id="6" name="Picture 6">
            <a:extLst>
              <a:ext uri="{FF2B5EF4-FFF2-40B4-BE49-F238E27FC236}">
                <a16:creationId xmlns:a16="http://schemas.microsoft.com/office/drawing/2014/main" id="{CC4B1C7B-2A60-0374-399B-80BF8757F8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1360356" y="1785130"/>
            <a:ext cx="3820773" cy="38482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west-end-station_900">
            <a:extLst>
              <a:ext uri="{FF2B5EF4-FFF2-40B4-BE49-F238E27FC236}">
                <a16:creationId xmlns:a16="http://schemas.microsoft.com/office/drawing/2014/main" id="{25D9F0AB-4CE0-7003-E854-E1A82126D2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9732" y="2972086"/>
            <a:ext cx="4362020" cy="2908014"/>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4E420BC8-8A64-3129-AB16-1C0E0E4FE503}"/>
              </a:ext>
            </a:extLst>
          </p:cNvPr>
          <p:cNvSpPr/>
          <p:nvPr/>
        </p:nvSpPr>
        <p:spPr>
          <a:xfrm>
            <a:off x="7410450" y="5496560"/>
            <a:ext cx="3669817" cy="482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7" name="Group 16">
            <a:extLst>
              <a:ext uri="{FF2B5EF4-FFF2-40B4-BE49-F238E27FC236}">
                <a16:creationId xmlns:a16="http://schemas.microsoft.com/office/drawing/2014/main" id="{FBAB82BB-C206-6C16-074C-56EFA2E6F30A}"/>
              </a:ext>
            </a:extLst>
          </p:cNvPr>
          <p:cNvGrpSpPr/>
          <p:nvPr/>
        </p:nvGrpSpPr>
        <p:grpSpPr>
          <a:xfrm>
            <a:off x="7503266" y="5583712"/>
            <a:ext cx="1477736" cy="307777"/>
            <a:chOff x="8007187" y="6279916"/>
            <a:chExt cx="1477736" cy="307777"/>
          </a:xfrm>
        </p:grpSpPr>
        <p:sp>
          <p:nvSpPr>
            <p:cNvPr id="21" name="Oval 20">
              <a:extLst>
                <a:ext uri="{FF2B5EF4-FFF2-40B4-BE49-F238E27FC236}">
                  <a16:creationId xmlns:a16="http://schemas.microsoft.com/office/drawing/2014/main" id="{1F9BD17C-36A9-AAA5-3F69-3E2D98E14DE9}"/>
                </a:ext>
              </a:extLst>
            </p:cNvPr>
            <p:cNvSpPr/>
            <p:nvPr/>
          </p:nvSpPr>
          <p:spPr>
            <a:xfrm>
              <a:off x="8007187" y="6378777"/>
              <a:ext cx="110054" cy="110054"/>
            </a:xfrm>
            <a:prstGeom prst="ellipse">
              <a:avLst/>
            </a:prstGeom>
            <a:solidFill>
              <a:srgbClr val="00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2" name="TextBox 21">
              <a:extLst>
                <a:ext uri="{FF2B5EF4-FFF2-40B4-BE49-F238E27FC236}">
                  <a16:creationId xmlns:a16="http://schemas.microsoft.com/office/drawing/2014/main" id="{129FA07E-B9FE-C133-E81A-4019C59BCD05}"/>
                </a:ext>
              </a:extLst>
            </p:cNvPr>
            <p:cNvSpPr txBox="1"/>
            <p:nvPr/>
          </p:nvSpPr>
          <p:spPr>
            <a:xfrm>
              <a:off x="8117241" y="6279916"/>
              <a:ext cx="1367682" cy="307777"/>
            </a:xfrm>
            <a:prstGeom prst="rect">
              <a:avLst/>
            </a:prstGeom>
            <a:noFill/>
          </p:spPr>
          <p:txBody>
            <a:bodyPr wrap="none" rtlCol="0">
              <a:spAutoFit/>
            </a:bodyPr>
            <a:lstStyle/>
            <a:p>
              <a:pPr marL="0" marR="0" lvl="0" indent="0" algn="l" defTabSz="9141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2626"/>
                  </a:solidFill>
                  <a:effectLst/>
                  <a:uLnTx/>
                  <a:uFillTx/>
                  <a:latin typeface="Source Sans Pro"/>
                  <a:ea typeface="+mn-ea"/>
                  <a:cs typeface="+mn-cs"/>
                </a:rPr>
                <a:t>MARTA Stations</a:t>
              </a:r>
            </a:p>
          </p:txBody>
        </p:sp>
      </p:grpSp>
      <p:pic>
        <p:nvPicPr>
          <p:cNvPr id="23" name="Picture 22" descr="Map&#10;&#10;Description automatically generated">
            <a:extLst>
              <a:ext uri="{FF2B5EF4-FFF2-40B4-BE49-F238E27FC236}">
                <a16:creationId xmlns:a16="http://schemas.microsoft.com/office/drawing/2014/main" id="{DFEFD1C0-D479-8B69-C8F9-93CF5151E575}"/>
              </a:ext>
            </a:extLst>
          </p:cNvPr>
          <p:cNvPicPr>
            <a:picLocks noChangeAspect="1"/>
          </p:cNvPicPr>
          <p:nvPr/>
        </p:nvPicPr>
        <p:blipFill rotWithShape="1">
          <a:blip r:embed="rId7">
            <a:extLst>
              <a:ext uri="{28A0092B-C50C-407E-A947-70E740481C1C}">
                <a14:useLocalDpi xmlns:a14="http://schemas.microsoft.com/office/drawing/2010/main" val="0"/>
              </a:ext>
            </a:extLst>
          </a:blip>
          <a:srcRect l="67461" r="-258" b="90625"/>
          <a:stretch/>
        </p:blipFill>
        <p:spPr>
          <a:xfrm>
            <a:off x="8890132" y="5524702"/>
            <a:ext cx="2190135" cy="425797"/>
          </a:xfrm>
          <a:prstGeom prst="rect">
            <a:avLst/>
          </a:prstGeom>
          <a:ln>
            <a:noFill/>
          </a:ln>
        </p:spPr>
      </p:pic>
      <p:cxnSp>
        <p:nvCxnSpPr>
          <p:cNvPr id="7" name="Straight Connector 6">
            <a:extLst>
              <a:ext uri="{FF2B5EF4-FFF2-40B4-BE49-F238E27FC236}">
                <a16:creationId xmlns:a16="http://schemas.microsoft.com/office/drawing/2014/main" id="{F56D0376-A126-24E6-65BE-6CB476C89AD4}"/>
              </a:ext>
            </a:extLst>
          </p:cNvPr>
          <p:cNvCxnSpPr>
            <a:cxnSpLocks/>
          </p:cNvCxnSpPr>
          <p:nvPr/>
        </p:nvCxnSpPr>
        <p:spPr>
          <a:xfrm>
            <a:off x="620980" y="851188"/>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04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35EDA3-9E42-D897-6478-D5E5F76450D4}"/>
              </a:ext>
            </a:extLst>
          </p:cNvPr>
          <p:cNvSpPr>
            <a:spLocks noChangeArrowheads="1"/>
          </p:cNvSpPr>
          <p:nvPr/>
        </p:nvSpPr>
        <p:spPr bwMode="auto">
          <a:xfrm>
            <a:off x="3192255" y="3244334"/>
            <a:ext cx="5076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Sans" panose="020B0602030504020204" pitchFamily="34" charset="0"/>
                <a:cs typeface="Arial" pitchFamily="34" charset="0"/>
              </a:rPr>
              <a:t>Additional Social Capital Slides</a:t>
            </a:r>
          </a:p>
        </p:txBody>
      </p:sp>
    </p:spTree>
    <p:extLst>
      <p:ext uri="{BB962C8B-B14F-4D97-AF65-F5344CB8AC3E}">
        <p14:creationId xmlns:p14="http://schemas.microsoft.com/office/powerpoint/2010/main" val="1588896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20908E-08A5-418D-B0F5-3B38D419784B}"/>
              </a:ext>
            </a:extLst>
          </p:cNvPr>
          <p:cNvSpPr/>
          <p:nvPr/>
        </p:nvSpPr>
        <p:spPr>
          <a:xfrm>
            <a:off x="9753600" y="3164023"/>
            <a:ext cx="1556084" cy="1117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AA357FDA-FCE3-89A3-66E7-64E2E24290BD}"/>
              </a:ext>
            </a:extLst>
          </p:cNvPr>
          <p:cNvSpPr txBox="1"/>
          <p:nvPr/>
        </p:nvSpPr>
        <p:spPr>
          <a:xfrm>
            <a:off x="9252284" y="2382253"/>
            <a:ext cx="2057400" cy="1754326"/>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FFFFFF"/>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FFFFFF"/>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FFFFFF"/>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FFFFFF"/>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FFFFFF"/>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FFFFFF"/>
              </a:highlight>
              <a:uLnTx/>
              <a:uFillTx/>
              <a:latin typeface="Calibri" panose="020F0502020204030204"/>
              <a:ea typeface="+mn-ea"/>
              <a:cs typeface="+mn-cs"/>
            </a:endParaRPr>
          </a:p>
        </p:txBody>
      </p:sp>
      <p:pic>
        <p:nvPicPr>
          <p:cNvPr id="20" name="Picture 19">
            <a:extLst>
              <a:ext uri="{FF2B5EF4-FFF2-40B4-BE49-F238E27FC236}">
                <a16:creationId xmlns:a16="http://schemas.microsoft.com/office/drawing/2014/main" id="{32AC9315-C099-474B-AE75-51E836A29942}"/>
              </a:ext>
            </a:extLst>
          </p:cNvPr>
          <p:cNvPicPr>
            <a:picLocks noChangeAspect="1"/>
          </p:cNvPicPr>
          <p:nvPr/>
        </p:nvPicPr>
        <p:blipFill>
          <a:blip r:embed="rId3"/>
          <a:stretch>
            <a:fillRect/>
          </a:stretch>
        </p:blipFill>
        <p:spPr>
          <a:xfrm>
            <a:off x="9252284" y="2185376"/>
            <a:ext cx="895350" cy="2743200"/>
          </a:xfrm>
          <a:prstGeom prst="rect">
            <a:avLst/>
          </a:prstGeom>
        </p:spPr>
      </p:pic>
      <p:pic>
        <p:nvPicPr>
          <p:cNvPr id="22" name="Picture 21">
            <a:extLst>
              <a:ext uri="{FF2B5EF4-FFF2-40B4-BE49-F238E27FC236}">
                <a16:creationId xmlns:a16="http://schemas.microsoft.com/office/drawing/2014/main" id="{301AEE92-ABDA-4D51-8B27-61895EA7DF59}"/>
              </a:ext>
            </a:extLst>
          </p:cNvPr>
          <p:cNvPicPr>
            <a:picLocks noChangeAspect="1"/>
          </p:cNvPicPr>
          <p:nvPr/>
        </p:nvPicPr>
        <p:blipFill>
          <a:blip r:embed="rId3"/>
          <a:stretch>
            <a:fillRect/>
          </a:stretch>
        </p:blipFill>
        <p:spPr>
          <a:xfrm>
            <a:off x="9998020" y="2382253"/>
            <a:ext cx="895350" cy="2743200"/>
          </a:xfrm>
          <a:prstGeom prst="rect">
            <a:avLst/>
          </a:prstGeom>
        </p:spPr>
      </p:pic>
      <p:pic>
        <p:nvPicPr>
          <p:cNvPr id="26" name="Picture 25">
            <a:extLst>
              <a:ext uri="{FF2B5EF4-FFF2-40B4-BE49-F238E27FC236}">
                <a16:creationId xmlns:a16="http://schemas.microsoft.com/office/drawing/2014/main" id="{5642E6B8-2129-481C-8791-3ED882A3E25D}"/>
              </a:ext>
            </a:extLst>
          </p:cNvPr>
          <p:cNvPicPr>
            <a:picLocks noChangeAspect="1"/>
          </p:cNvPicPr>
          <p:nvPr/>
        </p:nvPicPr>
        <p:blipFill>
          <a:blip r:embed="rId4"/>
          <a:stretch>
            <a:fillRect/>
          </a:stretch>
        </p:blipFill>
        <p:spPr>
          <a:xfrm>
            <a:off x="9177477" y="2052026"/>
            <a:ext cx="895350" cy="3009900"/>
          </a:xfrm>
          <a:prstGeom prst="rect">
            <a:avLst/>
          </a:prstGeom>
        </p:spPr>
      </p:pic>
      <p:pic>
        <p:nvPicPr>
          <p:cNvPr id="28" name="Picture 27">
            <a:extLst>
              <a:ext uri="{FF2B5EF4-FFF2-40B4-BE49-F238E27FC236}">
                <a16:creationId xmlns:a16="http://schemas.microsoft.com/office/drawing/2014/main" id="{318A0F24-490C-47D4-BF86-F048FE465419}"/>
              </a:ext>
            </a:extLst>
          </p:cNvPr>
          <p:cNvPicPr>
            <a:picLocks noChangeAspect="1"/>
          </p:cNvPicPr>
          <p:nvPr/>
        </p:nvPicPr>
        <p:blipFill>
          <a:blip r:embed="rId4"/>
          <a:stretch>
            <a:fillRect/>
          </a:stretch>
        </p:blipFill>
        <p:spPr>
          <a:xfrm>
            <a:off x="10043257" y="2047454"/>
            <a:ext cx="895350" cy="3009900"/>
          </a:xfrm>
          <a:prstGeom prst="rect">
            <a:avLst/>
          </a:prstGeom>
        </p:spPr>
      </p:pic>
      <p:pic>
        <p:nvPicPr>
          <p:cNvPr id="7" name="Picture 6">
            <a:extLst>
              <a:ext uri="{FF2B5EF4-FFF2-40B4-BE49-F238E27FC236}">
                <a16:creationId xmlns:a16="http://schemas.microsoft.com/office/drawing/2014/main" id="{B085901F-2F84-48C6-BF21-0A8CAD8E47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2768" y="978861"/>
            <a:ext cx="9436608" cy="5504688"/>
          </a:xfrm>
          <a:prstGeom prst="rect">
            <a:avLst/>
          </a:prstGeom>
        </p:spPr>
      </p:pic>
      <p:pic>
        <p:nvPicPr>
          <p:cNvPr id="9" name="Picture 8">
            <a:extLst>
              <a:ext uri="{FF2B5EF4-FFF2-40B4-BE49-F238E27FC236}">
                <a16:creationId xmlns:a16="http://schemas.microsoft.com/office/drawing/2014/main" id="{888FCE4C-43E1-47C9-9108-6F93445BF162}"/>
              </a:ext>
            </a:extLst>
          </p:cNvPr>
          <p:cNvPicPr>
            <a:picLocks noChangeAspect="1"/>
          </p:cNvPicPr>
          <p:nvPr/>
        </p:nvPicPr>
        <p:blipFill>
          <a:blip r:embed="rId6"/>
          <a:stretch>
            <a:fillRect/>
          </a:stretch>
        </p:blipFill>
        <p:spPr>
          <a:xfrm>
            <a:off x="9252284" y="2514600"/>
            <a:ext cx="2295525" cy="1828800"/>
          </a:xfrm>
          <a:prstGeom prst="rect">
            <a:avLst/>
          </a:prstGeom>
        </p:spPr>
      </p:pic>
      <p:pic>
        <p:nvPicPr>
          <p:cNvPr id="10" name="Picture 9" descr="A black and grey text&#10;&#10;Description automatically generated">
            <a:extLst>
              <a:ext uri="{FF2B5EF4-FFF2-40B4-BE49-F238E27FC236}">
                <a16:creationId xmlns:a16="http://schemas.microsoft.com/office/drawing/2014/main" id="{EA640345-3275-F05C-C26E-97B94D8BA6C0}"/>
              </a:ext>
            </a:extLst>
          </p:cNvPr>
          <p:cNvPicPr>
            <a:picLocks noChangeAspect="1"/>
          </p:cNvPicPr>
          <p:nvPr/>
        </p:nvPicPr>
        <p:blipFill rotWithShape="1">
          <a:blip r:embed="rId7" cstate="hqprint">
            <a:extLst>
              <a:ext uri="{28A0092B-C50C-407E-A947-70E740481C1C}">
                <a14:useLocalDpi xmlns:a14="http://schemas.microsoft.com/office/drawing/2010/main" val="0"/>
              </a:ext>
            </a:extLst>
          </a:blip>
          <a:srcRect/>
          <a:stretch/>
        </p:blipFill>
        <p:spPr>
          <a:xfrm>
            <a:off x="11835183" y="6480880"/>
            <a:ext cx="315482" cy="304226"/>
          </a:xfrm>
          <a:prstGeom prst="rect">
            <a:avLst/>
          </a:prstGeom>
        </p:spPr>
      </p:pic>
      <p:cxnSp>
        <p:nvCxnSpPr>
          <p:cNvPr id="12" name="Straight Connector 11">
            <a:extLst>
              <a:ext uri="{FF2B5EF4-FFF2-40B4-BE49-F238E27FC236}">
                <a16:creationId xmlns:a16="http://schemas.microsoft.com/office/drawing/2014/main" id="{FA6FAB17-7317-CB0D-FB04-94C1EE61BCDF}"/>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0C0F2D6-4C25-1E4E-4D45-E2C42A57F680}"/>
              </a:ext>
            </a:extLst>
          </p:cNvPr>
          <p:cNvSpPr txBox="1"/>
          <p:nvPr/>
        </p:nvSpPr>
        <p:spPr>
          <a:xfrm>
            <a:off x="568591" y="6483107"/>
            <a:ext cx="10641275"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Friedman, Hendren, Jones, Porter (2018); Chetty, Jackson, Kuchler, Stroebel et al. (Nature 2022) </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sp>
        <p:nvSpPr>
          <p:cNvPr id="14" name="Rectangle 13">
            <a:extLst>
              <a:ext uri="{FF2B5EF4-FFF2-40B4-BE49-F238E27FC236}">
                <a16:creationId xmlns:a16="http://schemas.microsoft.com/office/drawing/2014/main" id="{2E480B74-3705-EEEB-17FC-49E898E2CEA7}"/>
              </a:ext>
            </a:extLst>
          </p:cNvPr>
          <p:cNvSpPr>
            <a:spLocks noChangeArrowheads="1"/>
          </p:cNvSpPr>
          <p:nvPr/>
        </p:nvSpPr>
        <p:spPr bwMode="auto">
          <a:xfrm>
            <a:off x="613836" y="375319"/>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Economic Opportunity and Social Capital</a:t>
            </a:r>
          </a:p>
        </p:txBody>
      </p:sp>
      <p:cxnSp>
        <p:nvCxnSpPr>
          <p:cNvPr id="2" name="Straight Connector 1">
            <a:extLst>
              <a:ext uri="{FF2B5EF4-FFF2-40B4-BE49-F238E27FC236}">
                <a16:creationId xmlns:a16="http://schemas.microsoft.com/office/drawing/2014/main" id="{D0E42569-16E9-1206-1C7F-1A0477B637E3}"/>
              </a:ext>
            </a:extLst>
          </p:cNvPr>
          <p:cNvCxnSpPr>
            <a:cxnSpLocks/>
          </p:cNvCxnSpPr>
          <p:nvPr/>
        </p:nvCxnSpPr>
        <p:spPr>
          <a:xfrm>
            <a:off x="620980" y="759919"/>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293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hart, scatter chart&#10;&#10;Description automatically generated">
            <a:extLst>
              <a:ext uri="{FF2B5EF4-FFF2-40B4-BE49-F238E27FC236}">
                <a16:creationId xmlns:a16="http://schemas.microsoft.com/office/drawing/2014/main" id="{AADB4673-3F68-468E-81A2-E0ACACCDF8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2768" y="978408"/>
            <a:ext cx="9436608" cy="5504688"/>
          </a:xfrm>
          <a:prstGeom prst="rect">
            <a:avLst/>
          </a:prstGeom>
        </p:spPr>
      </p:pic>
      <p:sp>
        <p:nvSpPr>
          <p:cNvPr id="16" name="Rectangle 15">
            <a:extLst>
              <a:ext uri="{FF2B5EF4-FFF2-40B4-BE49-F238E27FC236}">
                <a16:creationId xmlns:a16="http://schemas.microsoft.com/office/drawing/2014/main" id="{0B0AF414-F959-5B58-FD53-170DCF8069E1}"/>
              </a:ext>
            </a:extLst>
          </p:cNvPr>
          <p:cNvSpPr>
            <a:spLocks noChangeArrowheads="1"/>
          </p:cNvSpPr>
          <p:nvPr/>
        </p:nvSpPr>
        <p:spPr bwMode="auto">
          <a:xfrm>
            <a:off x="613836" y="375319"/>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Economic Opportunity and Social Capital</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Colored by Rate of Economic Mobility</a:t>
            </a:r>
          </a:p>
        </p:txBody>
      </p:sp>
      <p:cxnSp>
        <p:nvCxnSpPr>
          <p:cNvPr id="17" name="Straight Connector 16">
            <a:extLst>
              <a:ext uri="{FF2B5EF4-FFF2-40B4-BE49-F238E27FC236}">
                <a16:creationId xmlns:a16="http://schemas.microsoft.com/office/drawing/2014/main" id="{07F347E4-336D-1D49-0BEB-D8C4740B66BE}"/>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pic>
        <p:nvPicPr>
          <p:cNvPr id="18" name="Picture 17" descr="A black and grey text&#10;&#10;Description automatically generated">
            <a:extLst>
              <a:ext uri="{FF2B5EF4-FFF2-40B4-BE49-F238E27FC236}">
                <a16:creationId xmlns:a16="http://schemas.microsoft.com/office/drawing/2014/main" id="{FCEE2CF8-ED3E-85DF-E79B-17AFC8742DE6}"/>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a:stretch/>
        </p:blipFill>
        <p:spPr>
          <a:xfrm>
            <a:off x="11835183" y="6480880"/>
            <a:ext cx="315482" cy="304226"/>
          </a:xfrm>
          <a:prstGeom prst="rect">
            <a:avLst/>
          </a:prstGeom>
        </p:spPr>
      </p:pic>
      <p:cxnSp>
        <p:nvCxnSpPr>
          <p:cNvPr id="19" name="Straight Connector 18">
            <a:extLst>
              <a:ext uri="{FF2B5EF4-FFF2-40B4-BE49-F238E27FC236}">
                <a16:creationId xmlns:a16="http://schemas.microsoft.com/office/drawing/2014/main" id="{83EA7530-CC5F-ABAC-10B9-C44451C99010}"/>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7FE923D-507D-3C6A-8A87-F432968E9733}"/>
              </a:ext>
            </a:extLst>
          </p:cNvPr>
          <p:cNvSpPr txBox="1"/>
          <p:nvPr/>
        </p:nvSpPr>
        <p:spPr>
          <a:xfrm>
            <a:off x="568591" y="6483107"/>
            <a:ext cx="10641275"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Friedman, Hendren, Jones, Porter (2018); Chetty, Jackson, Kuchler, Stroebel et al. (Nature 2022) </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sp>
        <p:nvSpPr>
          <p:cNvPr id="21" name="Freeform: Shape 6">
            <a:extLst>
              <a:ext uri="{FF2B5EF4-FFF2-40B4-BE49-F238E27FC236}">
                <a16:creationId xmlns:a16="http://schemas.microsoft.com/office/drawing/2014/main" id="{7DC86E81-FC4F-2DF3-726F-27484FF70ED6}"/>
              </a:ext>
            </a:extLst>
          </p:cNvPr>
          <p:cNvSpPr/>
          <p:nvPr/>
        </p:nvSpPr>
        <p:spPr>
          <a:xfrm>
            <a:off x="0" y="0"/>
            <a:ext cx="12192000" cy="6858000"/>
          </a:xfrm>
          <a:custGeom>
            <a:avLst/>
            <a:gdLst>
              <a:gd name="connsiteX0" fmla="*/ 3748400 w 12192000"/>
              <a:gd name="connsiteY0" fmla="*/ 1727200 h 6858000"/>
              <a:gd name="connsiteX1" fmla="*/ 3748400 w 12192000"/>
              <a:gd name="connsiteY1" fmla="*/ 5303520 h 6858000"/>
              <a:gd name="connsiteX2" fmla="*/ 4662800 w 12192000"/>
              <a:gd name="connsiteY2" fmla="*/ 5303520 h 6858000"/>
              <a:gd name="connsiteX3" fmla="*/ 4662800 w 12192000"/>
              <a:gd name="connsiteY3" fmla="*/ 172720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748400" y="1727200"/>
                </a:moveTo>
                <a:lnTo>
                  <a:pt x="3748400" y="5303520"/>
                </a:lnTo>
                <a:lnTo>
                  <a:pt x="4662800" y="5303520"/>
                </a:lnTo>
                <a:lnTo>
                  <a:pt x="4662800" y="1727200"/>
                </a:lnTo>
                <a:close/>
                <a:moveTo>
                  <a:pt x="0" y="0"/>
                </a:moveTo>
                <a:lnTo>
                  <a:pt x="12192000" y="0"/>
                </a:lnTo>
                <a:lnTo>
                  <a:pt x="12192000" y="6858000"/>
                </a:lnTo>
                <a:lnTo>
                  <a:pt x="0" y="6858000"/>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527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hart, scatter chart&#10;&#10;Description automatically generated">
            <a:extLst>
              <a:ext uri="{FF2B5EF4-FFF2-40B4-BE49-F238E27FC236}">
                <a16:creationId xmlns:a16="http://schemas.microsoft.com/office/drawing/2014/main" id="{AADB4673-3F68-468E-81A2-E0ACACCDF8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2768" y="978408"/>
            <a:ext cx="9436608" cy="5504688"/>
          </a:xfrm>
          <a:prstGeom prst="rect">
            <a:avLst/>
          </a:prstGeom>
        </p:spPr>
      </p:pic>
      <p:sp>
        <p:nvSpPr>
          <p:cNvPr id="16" name="Rectangle 15">
            <a:extLst>
              <a:ext uri="{FF2B5EF4-FFF2-40B4-BE49-F238E27FC236}">
                <a16:creationId xmlns:a16="http://schemas.microsoft.com/office/drawing/2014/main" id="{0B0AF414-F959-5B58-FD53-170DCF8069E1}"/>
              </a:ext>
            </a:extLst>
          </p:cNvPr>
          <p:cNvSpPr>
            <a:spLocks noChangeArrowheads="1"/>
          </p:cNvSpPr>
          <p:nvPr/>
        </p:nvSpPr>
        <p:spPr bwMode="auto">
          <a:xfrm>
            <a:off x="613836" y="375319"/>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Economic Opportunity and Social Capital</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Colored by Rate of Economic Mobility</a:t>
            </a:r>
          </a:p>
        </p:txBody>
      </p:sp>
      <p:cxnSp>
        <p:nvCxnSpPr>
          <p:cNvPr id="17" name="Straight Connector 16">
            <a:extLst>
              <a:ext uri="{FF2B5EF4-FFF2-40B4-BE49-F238E27FC236}">
                <a16:creationId xmlns:a16="http://schemas.microsoft.com/office/drawing/2014/main" id="{07F347E4-336D-1D49-0BEB-D8C4740B66BE}"/>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pic>
        <p:nvPicPr>
          <p:cNvPr id="18" name="Picture 17" descr="A black and grey text&#10;&#10;Description automatically generated">
            <a:extLst>
              <a:ext uri="{FF2B5EF4-FFF2-40B4-BE49-F238E27FC236}">
                <a16:creationId xmlns:a16="http://schemas.microsoft.com/office/drawing/2014/main" id="{FCEE2CF8-ED3E-85DF-E79B-17AFC8742DE6}"/>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a:stretch/>
        </p:blipFill>
        <p:spPr>
          <a:xfrm>
            <a:off x="11835183" y="6480880"/>
            <a:ext cx="315482" cy="304226"/>
          </a:xfrm>
          <a:prstGeom prst="rect">
            <a:avLst/>
          </a:prstGeom>
        </p:spPr>
      </p:pic>
      <p:cxnSp>
        <p:nvCxnSpPr>
          <p:cNvPr id="19" name="Straight Connector 18">
            <a:extLst>
              <a:ext uri="{FF2B5EF4-FFF2-40B4-BE49-F238E27FC236}">
                <a16:creationId xmlns:a16="http://schemas.microsoft.com/office/drawing/2014/main" id="{83EA7530-CC5F-ABAC-10B9-C44451C99010}"/>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7FE923D-507D-3C6A-8A87-F432968E9733}"/>
              </a:ext>
            </a:extLst>
          </p:cNvPr>
          <p:cNvSpPr txBox="1"/>
          <p:nvPr/>
        </p:nvSpPr>
        <p:spPr>
          <a:xfrm>
            <a:off x="568591" y="6483107"/>
            <a:ext cx="10641275"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Friedman, Hendren, Jones, Porter (2018); Chetty, Jackson, Kuchler, Stroebel et al. (Nature 2022) </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sp>
        <p:nvSpPr>
          <p:cNvPr id="2" name="Freeform: Shape 1">
            <a:extLst>
              <a:ext uri="{FF2B5EF4-FFF2-40B4-BE49-F238E27FC236}">
                <a16:creationId xmlns:a16="http://schemas.microsoft.com/office/drawing/2014/main" id="{229B9462-6883-A510-182D-4212E7730815}"/>
              </a:ext>
            </a:extLst>
          </p:cNvPr>
          <p:cNvSpPr/>
          <p:nvPr/>
        </p:nvSpPr>
        <p:spPr>
          <a:xfrm flipV="1">
            <a:off x="0" y="-2548648"/>
            <a:ext cx="12192000" cy="9406647"/>
          </a:xfrm>
          <a:custGeom>
            <a:avLst/>
            <a:gdLst>
              <a:gd name="connsiteX0" fmla="*/ 1686560 w 12192000"/>
              <a:gd name="connsiteY0" fmla="*/ 1798320 h 6858000"/>
              <a:gd name="connsiteX1" fmla="*/ 1686560 w 12192000"/>
              <a:gd name="connsiteY1" fmla="*/ 2712720 h 6858000"/>
              <a:gd name="connsiteX2" fmla="*/ 9458966 w 12192000"/>
              <a:gd name="connsiteY2" fmla="*/ 2712720 h 6858000"/>
              <a:gd name="connsiteX3" fmla="*/ 9458966 w 12192000"/>
              <a:gd name="connsiteY3" fmla="*/ 179832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86560" y="1798320"/>
                </a:moveTo>
                <a:lnTo>
                  <a:pt x="1686560" y="2712720"/>
                </a:lnTo>
                <a:lnTo>
                  <a:pt x="9458966" y="2712720"/>
                </a:lnTo>
                <a:lnTo>
                  <a:pt x="9458966" y="1798320"/>
                </a:lnTo>
                <a:close/>
                <a:moveTo>
                  <a:pt x="0" y="0"/>
                </a:moveTo>
                <a:lnTo>
                  <a:pt x="12192000" y="0"/>
                </a:lnTo>
                <a:lnTo>
                  <a:pt x="12192000" y="6858000"/>
                </a:lnTo>
                <a:lnTo>
                  <a:pt x="0" y="6858000"/>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8052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32">
            <a:extLst>
              <a:ext uri="{FF2B5EF4-FFF2-40B4-BE49-F238E27FC236}">
                <a16:creationId xmlns:a16="http://schemas.microsoft.com/office/drawing/2014/main" id="{8DBBEC23-E30C-8EA1-E2FF-DFA27674C38C}"/>
              </a:ext>
            </a:extLst>
          </p:cNvPr>
          <p:cNvSpPr>
            <a:spLocks noChangeArrowheads="1"/>
          </p:cNvSpPr>
          <p:nvPr/>
        </p:nvSpPr>
        <p:spPr bwMode="auto">
          <a:xfrm>
            <a:off x="3082926" y="6174319"/>
            <a:ext cx="72594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Share of Above-Median-SES Friends Among Below-Median-SES People</a:t>
            </a:r>
          </a:p>
        </p:txBody>
      </p:sp>
      <p:sp>
        <p:nvSpPr>
          <p:cNvPr id="20" name="Rectangle 11247">
            <a:extLst>
              <a:ext uri="{FF2B5EF4-FFF2-40B4-BE49-F238E27FC236}">
                <a16:creationId xmlns:a16="http://schemas.microsoft.com/office/drawing/2014/main" id="{4F4ABA4C-0C44-3F7C-F629-746AC733FE7C}"/>
              </a:ext>
            </a:extLst>
          </p:cNvPr>
          <p:cNvSpPr>
            <a:spLocks noChangeArrowheads="1"/>
          </p:cNvSpPr>
          <p:nvPr/>
        </p:nvSpPr>
        <p:spPr bwMode="auto">
          <a:xfrm rot="16200000">
            <a:off x="-415846" y="2818636"/>
            <a:ext cx="26232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dirty="0">
                <a:ln>
                  <a:noFill/>
                </a:ln>
                <a:solidFill>
                  <a:srgbClr val="29B6A4"/>
                </a:solidFill>
                <a:effectLst/>
                <a:uLnTx/>
                <a:uFillTx/>
                <a:latin typeface="Lucida Sans" panose="020B0602030504020204" pitchFamily="34" charset="0"/>
                <a:ea typeface="+mn-ea"/>
                <a:cs typeface="+mn-cs"/>
              </a:rPr>
              <a:t>Upward Mobility Rate</a:t>
            </a:r>
            <a:endParaRPr kumimoji="0" lang="en-US" altLang="en-US" sz="1600" b="1" i="0" u="none" strike="noStrike" kern="1200" cap="none" spc="0" normalizeH="0" baseline="0" noProof="0" dirty="0">
              <a:ln>
                <a:noFill/>
              </a:ln>
              <a:solidFill>
                <a:srgbClr val="29B6A4"/>
              </a:solidFill>
              <a:effectLst/>
              <a:uLnTx/>
              <a:uFillTx/>
              <a:latin typeface="Arial" panose="020B0604020202020204" pitchFamily="34" charset="0"/>
              <a:ea typeface="+mn-ea"/>
              <a:cs typeface="+mn-cs"/>
            </a:endParaRPr>
          </a:p>
        </p:txBody>
      </p:sp>
      <p:sp>
        <p:nvSpPr>
          <p:cNvPr id="21" name="Rectangle 11249">
            <a:extLst>
              <a:ext uri="{FF2B5EF4-FFF2-40B4-BE49-F238E27FC236}">
                <a16:creationId xmlns:a16="http://schemas.microsoft.com/office/drawing/2014/main" id="{21B1EBA3-316F-2F74-B849-41B10FCECB5A}"/>
              </a:ext>
            </a:extLst>
          </p:cNvPr>
          <p:cNvSpPr>
            <a:spLocks noChangeArrowheads="1"/>
          </p:cNvSpPr>
          <p:nvPr/>
        </p:nvSpPr>
        <p:spPr bwMode="auto">
          <a:xfrm rot="16200000">
            <a:off x="-391684" y="2922680"/>
            <a:ext cx="350129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Predicted Income Rank for Children with Parents at 25</a:t>
            </a:r>
            <a:r>
              <a:rPr kumimoji="0" lang="en-US" altLang="en-US" sz="1600" b="0" i="0" u="none" strike="noStrike" kern="1200" cap="none" spc="0" normalizeH="0" baseline="30000" noProof="0" dirty="0">
                <a:ln>
                  <a:noFill/>
                </a:ln>
                <a:effectLst/>
                <a:uLnTx/>
                <a:uFillTx/>
                <a:latin typeface="Lucida Sans" panose="020B0602030504020204" pitchFamily="34" charset="0"/>
                <a:ea typeface="+mn-ea"/>
                <a:cs typeface="+mn-cs"/>
              </a:rPr>
              <a:t>th</a:t>
            </a: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 percentile</a:t>
            </a:r>
            <a:endParaRPr kumimoji="0" lang="en-US" altLang="en-US" sz="1600" b="0" i="0" u="none" strike="noStrike" kern="1200" cap="none" spc="0" normalizeH="0" baseline="0" noProof="0" dirty="0">
              <a:ln>
                <a:noFill/>
              </a:ln>
              <a:effectLst/>
              <a:uLnTx/>
              <a:uFillTx/>
              <a:ea typeface="+mn-ea"/>
              <a:cs typeface="+mn-cs"/>
            </a:endParaRPr>
          </a:p>
        </p:txBody>
      </p:sp>
      <p:grpSp>
        <p:nvGrpSpPr>
          <p:cNvPr id="55" name="Group 54">
            <a:extLst>
              <a:ext uri="{FF2B5EF4-FFF2-40B4-BE49-F238E27FC236}">
                <a16:creationId xmlns:a16="http://schemas.microsoft.com/office/drawing/2014/main" id="{B22EEC5B-69BC-06C6-2A1E-9F358398418B}"/>
              </a:ext>
            </a:extLst>
          </p:cNvPr>
          <p:cNvGrpSpPr/>
          <p:nvPr/>
        </p:nvGrpSpPr>
        <p:grpSpPr>
          <a:xfrm>
            <a:off x="1922914" y="1106234"/>
            <a:ext cx="10415713" cy="4995138"/>
            <a:chOff x="1922914" y="964489"/>
            <a:chExt cx="10711275" cy="5136883"/>
          </a:xfrm>
        </p:grpSpPr>
        <p:sp>
          <p:nvSpPr>
            <p:cNvPr id="2" name="Line 113">
              <a:extLst>
                <a:ext uri="{FF2B5EF4-FFF2-40B4-BE49-F238E27FC236}">
                  <a16:creationId xmlns:a16="http://schemas.microsoft.com/office/drawing/2014/main" id="{373BFACC-AE14-E88B-8D98-365121D46907}"/>
                </a:ext>
              </a:extLst>
            </p:cNvPr>
            <p:cNvSpPr>
              <a:spLocks noChangeShapeType="1"/>
            </p:cNvSpPr>
            <p:nvPr/>
          </p:nvSpPr>
          <p:spPr bwMode="auto">
            <a:xfrm flipV="1">
              <a:off x="2332567" y="1021094"/>
              <a:ext cx="0" cy="4690533"/>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3" name="Line 114">
              <a:extLst>
                <a:ext uri="{FF2B5EF4-FFF2-40B4-BE49-F238E27FC236}">
                  <a16:creationId xmlns:a16="http://schemas.microsoft.com/office/drawing/2014/main" id="{07AF675D-BD2A-A28B-56E5-32FBAE256D64}"/>
                </a:ext>
              </a:extLst>
            </p:cNvPr>
            <p:cNvSpPr>
              <a:spLocks noChangeShapeType="1"/>
            </p:cNvSpPr>
            <p:nvPr/>
          </p:nvSpPr>
          <p:spPr bwMode="auto">
            <a:xfrm flipH="1">
              <a:off x="2235298" y="5586743"/>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4" name="Line 116">
              <a:extLst>
                <a:ext uri="{FF2B5EF4-FFF2-40B4-BE49-F238E27FC236}">
                  <a16:creationId xmlns:a16="http://schemas.microsoft.com/office/drawing/2014/main" id="{2AF3210B-EC8B-29A9-3ACB-4199FB71B05D}"/>
                </a:ext>
              </a:extLst>
            </p:cNvPr>
            <p:cNvSpPr>
              <a:spLocks noChangeShapeType="1"/>
            </p:cNvSpPr>
            <p:nvPr/>
          </p:nvSpPr>
          <p:spPr bwMode="auto">
            <a:xfrm flipH="1">
              <a:off x="2235298" y="3814247"/>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5" name="Line 118">
              <a:extLst>
                <a:ext uri="{FF2B5EF4-FFF2-40B4-BE49-F238E27FC236}">
                  <a16:creationId xmlns:a16="http://schemas.microsoft.com/office/drawing/2014/main" id="{DFC470CB-0359-9F7A-184D-26C03C271E53}"/>
                </a:ext>
              </a:extLst>
            </p:cNvPr>
            <p:cNvSpPr>
              <a:spLocks noChangeShapeType="1"/>
            </p:cNvSpPr>
            <p:nvPr/>
          </p:nvSpPr>
          <p:spPr bwMode="auto">
            <a:xfrm flipH="1">
              <a:off x="2235298" y="2937523"/>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6" name="Line 120">
              <a:extLst>
                <a:ext uri="{FF2B5EF4-FFF2-40B4-BE49-F238E27FC236}">
                  <a16:creationId xmlns:a16="http://schemas.microsoft.com/office/drawing/2014/main" id="{4B1C269B-0C0F-3BE1-4DD1-2A22D322E2DA}"/>
                </a:ext>
              </a:extLst>
            </p:cNvPr>
            <p:cNvSpPr>
              <a:spLocks noChangeShapeType="1"/>
            </p:cNvSpPr>
            <p:nvPr/>
          </p:nvSpPr>
          <p:spPr bwMode="auto">
            <a:xfrm flipH="1">
              <a:off x="2235298" y="1177725"/>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7" name="Line 123">
              <a:extLst>
                <a:ext uri="{FF2B5EF4-FFF2-40B4-BE49-F238E27FC236}">
                  <a16:creationId xmlns:a16="http://schemas.microsoft.com/office/drawing/2014/main" id="{F56C243F-1FA7-359F-637D-3341CEE1CC3F}"/>
                </a:ext>
              </a:extLst>
            </p:cNvPr>
            <p:cNvSpPr>
              <a:spLocks noChangeShapeType="1"/>
            </p:cNvSpPr>
            <p:nvPr/>
          </p:nvSpPr>
          <p:spPr bwMode="auto">
            <a:xfrm>
              <a:off x="2332572" y="5711625"/>
              <a:ext cx="8922168"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8" name="Line 124">
              <a:extLst>
                <a:ext uri="{FF2B5EF4-FFF2-40B4-BE49-F238E27FC236}">
                  <a16:creationId xmlns:a16="http://schemas.microsoft.com/office/drawing/2014/main" id="{AA4DB55F-2CE7-561A-44A2-E693FF8CE95D}"/>
                </a:ext>
              </a:extLst>
            </p:cNvPr>
            <p:cNvSpPr>
              <a:spLocks noChangeShapeType="1"/>
            </p:cNvSpPr>
            <p:nvPr/>
          </p:nvSpPr>
          <p:spPr bwMode="auto">
            <a:xfrm>
              <a:off x="2482851" y="5711723"/>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9" name="Line 126">
              <a:extLst>
                <a:ext uri="{FF2B5EF4-FFF2-40B4-BE49-F238E27FC236}">
                  <a16:creationId xmlns:a16="http://schemas.microsoft.com/office/drawing/2014/main" id="{48F97C7A-4F5C-6008-17C5-F2CC195B19AF}"/>
                </a:ext>
              </a:extLst>
            </p:cNvPr>
            <p:cNvSpPr>
              <a:spLocks noChangeShapeType="1"/>
            </p:cNvSpPr>
            <p:nvPr/>
          </p:nvSpPr>
          <p:spPr bwMode="auto">
            <a:xfrm>
              <a:off x="4337050" y="5711723"/>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0" name="Line 128">
              <a:extLst>
                <a:ext uri="{FF2B5EF4-FFF2-40B4-BE49-F238E27FC236}">
                  <a16:creationId xmlns:a16="http://schemas.microsoft.com/office/drawing/2014/main" id="{6CD34A2C-2FCE-C0B7-F86E-D02EB5D591CF}"/>
                </a:ext>
              </a:extLst>
            </p:cNvPr>
            <p:cNvSpPr>
              <a:spLocks noChangeShapeType="1"/>
            </p:cNvSpPr>
            <p:nvPr/>
          </p:nvSpPr>
          <p:spPr bwMode="auto">
            <a:xfrm>
              <a:off x="8039100" y="5711723"/>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1" name="Line 130">
              <a:extLst>
                <a:ext uri="{FF2B5EF4-FFF2-40B4-BE49-F238E27FC236}">
                  <a16:creationId xmlns:a16="http://schemas.microsoft.com/office/drawing/2014/main" id="{F23D8503-F6CF-6128-F12E-621F9C079495}"/>
                </a:ext>
              </a:extLst>
            </p:cNvPr>
            <p:cNvSpPr>
              <a:spLocks noChangeShapeType="1"/>
            </p:cNvSpPr>
            <p:nvPr/>
          </p:nvSpPr>
          <p:spPr bwMode="auto">
            <a:xfrm>
              <a:off x="9893299" y="5711723"/>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5" name="Line 116">
              <a:extLst>
                <a:ext uri="{FF2B5EF4-FFF2-40B4-BE49-F238E27FC236}">
                  <a16:creationId xmlns:a16="http://schemas.microsoft.com/office/drawing/2014/main" id="{35F93CDA-9873-D7BF-278E-A4004130ED39}"/>
                </a:ext>
              </a:extLst>
            </p:cNvPr>
            <p:cNvSpPr>
              <a:spLocks noChangeShapeType="1"/>
            </p:cNvSpPr>
            <p:nvPr/>
          </p:nvSpPr>
          <p:spPr bwMode="auto">
            <a:xfrm flipH="1">
              <a:off x="2235200" y="4703671"/>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6" name="Line 116">
              <a:extLst>
                <a:ext uri="{FF2B5EF4-FFF2-40B4-BE49-F238E27FC236}">
                  <a16:creationId xmlns:a16="http://schemas.microsoft.com/office/drawing/2014/main" id="{08237ED4-2A82-BFF7-B883-3030BA91374E}"/>
                </a:ext>
              </a:extLst>
            </p:cNvPr>
            <p:cNvSpPr>
              <a:spLocks noChangeShapeType="1"/>
            </p:cNvSpPr>
            <p:nvPr/>
          </p:nvSpPr>
          <p:spPr bwMode="auto">
            <a:xfrm flipH="1">
              <a:off x="2235200" y="205444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7" name="Line 126">
              <a:extLst>
                <a:ext uri="{FF2B5EF4-FFF2-40B4-BE49-F238E27FC236}">
                  <a16:creationId xmlns:a16="http://schemas.microsoft.com/office/drawing/2014/main" id="{11BBF149-006C-5976-FC6D-CD5BB72E0A8F}"/>
                </a:ext>
              </a:extLst>
            </p:cNvPr>
            <p:cNvSpPr>
              <a:spLocks noChangeShapeType="1"/>
            </p:cNvSpPr>
            <p:nvPr/>
          </p:nvSpPr>
          <p:spPr bwMode="auto">
            <a:xfrm>
              <a:off x="6191250" y="5711723"/>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28" name="Rectangle 125">
              <a:extLst>
                <a:ext uri="{FF2B5EF4-FFF2-40B4-BE49-F238E27FC236}">
                  <a16:creationId xmlns:a16="http://schemas.microsoft.com/office/drawing/2014/main" id="{3BCF827A-A131-2A6E-20E5-63B8FFB962C2}"/>
                </a:ext>
              </a:extLst>
            </p:cNvPr>
            <p:cNvSpPr>
              <a:spLocks noChangeArrowheads="1"/>
            </p:cNvSpPr>
            <p:nvPr/>
          </p:nvSpPr>
          <p:spPr bwMode="auto">
            <a:xfrm>
              <a:off x="2332567" y="5855151"/>
              <a:ext cx="3975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20%</a:t>
              </a:r>
            </a:p>
          </p:txBody>
        </p:sp>
        <p:sp>
          <p:nvSpPr>
            <p:cNvPr id="29" name="Rectangle 127">
              <a:extLst>
                <a:ext uri="{FF2B5EF4-FFF2-40B4-BE49-F238E27FC236}">
                  <a16:creationId xmlns:a16="http://schemas.microsoft.com/office/drawing/2014/main" id="{C4A9B83F-1F14-27DD-F323-344DD8DC7D2A}"/>
                </a:ext>
              </a:extLst>
            </p:cNvPr>
            <p:cNvSpPr>
              <a:spLocks noChangeArrowheads="1"/>
            </p:cNvSpPr>
            <p:nvPr/>
          </p:nvSpPr>
          <p:spPr bwMode="auto">
            <a:xfrm>
              <a:off x="4207207" y="5855151"/>
              <a:ext cx="3975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30%</a:t>
              </a:r>
            </a:p>
          </p:txBody>
        </p:sp>
        <p:sp>
          <p:nvSpPr>
            <p:cNvPr id="30" name="Rectangle 129">
              <a:extLst>
                <a:ext uri="{FF2B5EF4-FFF2-40B4-BE49-F238E27FC236}">
                  <a16:creationId xmlns:a16="http://schemas.microsoft.com/office/drawing/2014/main" id="{0566A1DF-E488-005A-7C91-DECCE10664A1}"/>
                </a:ext>
              </a:extLst>
            </p:cNvPr>
            <p:cNvSpPr>
              <a:spLocks noChangeArrowheads="1"/>
            </p:cNvSpPr>
            <p:nvPr/>
          </p:nvSpPr>
          <p:spPr bwMode="auto">
            <a:xfrm>
              <a:off x="6061407" y="5855151"/>
              <a:ext cx="3975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40%</a:t>
              </a:r>
            </a:p>
          </p:txBody>
        </p:sp>
        <p:sp>
          <p:nvSpPr>
            <p:cNvPr id="31" name="Rectangle 131">
              <a:extLst>
                <a:ext uri="{FF2B5EF4-FFF2-40B4-BE49-F238E27FC236}">
                  <a16:creationId xmlns:a16="http://schemas.microsoft.com/office/drawing/2014/main" id="{23D09365-BCA9-B7A6-ECAA-015FA2DDD421}"/>
                </a:ext>
              </a:extLst>
            </p:cNvPr>
            <p:cNvSpPr>
              <a:spLocks noChangeArrowheads="1"/>
            </p:cNvSpPr>
            <p:nvPr/>
          </p:nvSpPr>
          <p:spPr bwMode="auto">
            <a:xfrm>
              <a:off x="7913817" y="5855151"/>
              <a:ext cx="3975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50%</a:t>
              </a:r>
            </a:p>
          </p:txBody>
        </p:sp>
        <p:sp>
          <p:nvSpPr>
            <p:cNvPr id="32" name="Rectangle 131">
              <a:extLst>
                <a:ext uri="{FF2B5EF4-FFF2-40B4-BE49-F238E27FC236}">
                  <a16:creationId xmlns:a16="http://schemas.microsoft.com/office/drawing/2014/main" id="{5C96A5F9-0245-D75A-AAC3-C2B2B8ECF446}"/>
                </a:ext>
              </a:extLst>
            </p:cNvPr>
            <p:cNvSpPr>
              <a:spLocks noChangeArrowheads="1"/>
            </p:cNvSpPr>
            <p:nvPr/>
          </p:nvSpPr>
          <p:spPr bwMode="auto">
            <a:xfrm>
              <a:off x="9766227" y="5855151"/>
              <a:ext cx="39754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60%</a:t>
              </a:r>
            </a:p>
          </p:txBody>
        </p:sp>
        <p:sp>
          <p:nvSpPr>
            <p:cNvPr id="33" name="Rectangle 115">
              <a:extLst>
                <a:ext uri="{FF2B5EF4-FFF2-40B4-BE49-F238E27FC236}">
                  <a16:creationId xmlns:a16="http://schemas.microsoft.com/office/drawing/2014/main" id="{3B6C2B96-8465-66CB-FB3E-445A93CCA417}"/>
                </a:ext>
              </a:extLst>
            </p:cNvPr>
            <p:cNvSpPr>
              <a:spLocks noChangeArrowheads="1"/>
            </p:cNvSpPr>
            <p:nvPr/>
          </p:nvSpPr>
          <p:spPr bwMode="auto">
            <a:xfrm>
              <a:off x="1922914" y="5473632"/>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30</a:t>
              </a:r>
            </a:p>
          </p:txBody>
        </p:sp>
        <p:sp>
          <p:nvSpPr>
            <p:cNvPr id="37" name="Rectangle 115">
              <a:extLst>
                <a:ext uri="{FF2B5EF4-FFF2-40B4-BE49-F238E27FC236}">
                  <a16:creationId xmlns:a16="http://schemas.microsoft.com/office/drawing/2014/main" id="{39B12442-643E-BDA8-953B-4671B4CE8C8F}"/>
                </a:ext>
              </a:extLst>
            </p:cNvPr>
            <p:cNvSpPr>
              <a:spLocks noChangeArrowheads="1"/>
            </p:cNvSpPr>
            <p:nvPr/>
          </p:nvSpPr>
          <p:spPr bwMode="auto">
            <a:xfrm>
              <a:off x="1922914" y="4594217"/>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35</a:t>
              </a:r>
            </a:p>
          </p:txBody>
        </p:sp>
        <p:sp>
          <p:nvSpPr>
            <p:cNvPr id="38" name="Rectangle 115">
              <a:extLst>
                <a:ext uri="{FF2B5EF4-FFF2-40B4-BE49-F238E27FC236}">
                  <a16:creationId xmlns:a16="http://schemas.microsoft.com/office/drawing/2014/main" id="{2CFE8422-2DCD-A63B-6BEA-0A500B6EECCE}"/>
                </a:ext>
              </a:extLst>
            </p:cNvPr>
            <p:cNvSpPr>
              <a:spLocks noChangeArrowheads="1"/>
            </p:cNvSpPr>
            <p:nvPr/>
          </p:nvSpPr>
          <p:spPr bwMode="auto">
            <a:xfrm>
              <a:off x="1922914" y="3695401"/>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40</a:t>
              </a:r>
            </a:p>
          </p:txBody>
        </p:sp>
        <p:sp>
          <p:nvSpPr>
            <p:cNvPr id="39" name="Rectangle 115">
              <a:extLst>
                <a:ext uri="{FF2B5EF4-FFF2-40B4-BE49-F238E27FC236}">
                  <a16:creationId xmlns:a16="http://schemas.microsoft.com/office/drawing/2014/main" id="{1D7CEFB3-BF95-FF1E-5A92-D8FF8DA031E4}"/>
                </a:ext>
              </a:extLst>
            </p:cNvPr>
            <p:cNvSpPr>
              <a:spLocks noChangeArrowheads="1"/>
            </p:cNvSpPr>
            <p:nvPr/>
          </p:nvSpPr>
          <p:spPr bwMode="auto">
            <a:xfrm>
              <a:off x="1922914" y="2817865"/>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45</a:t>
              </a:r>
            </a:p>
          </p:txBody>
        </p:sp>
        <p:sp>
          <p:nvSpPr>
            <p:cNvPr id="40" name="Rectangle 115">
              <a:extLst>
                <a:ext uri="{FF2B5EF4-FFF2-40B4-BE49-F238E27FC236}">
                  <a16:creationId xmlns:a16="http://schemas.microsoft.com/office/drawing/2014/main" id="{1AE778D3-99FD-5BF8-A6E2-8AE34885BF3A}"/>
                </a:ext>
              </a:extLst>
            </p:cNvPr>
            <p:cNvSpPr>
              <a:spLocks noChangeArrowheads="1"/>
            </p:cNvSpPr>
            <p:nvPr/>
          </p:nvSpPr>
          <p:spPr bwMode="auto">
            <a:xfrm>
              <a:off x="1922914" y="1931338"/>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50</a:t>
              </a:r>
            </a:p>
          </p:txBody>
        </p:sp>
        <p:sp>
          <p:nvSpPr>
            <p:cNvPr id="41" name="Rectangle 115">
              <a:extLst>
                <a:ext uri="{FF2B5EF4-FFF2-40B4-BE49-F238E27FC236}">
                  <a16:creationId xmlns:a16="http://schemas.microsoft.com/office/drawing/2014/main" id="{F5EEEA03-E6C5-B74E-E291-5585233C5C38}"/>
                </a:ext>
              </a:extLst>
            </p:cNvPr>
            <p:cNvSpPr>
              <a:spLocks noChangeArrowheads="1"/>
            </p:cNvSpPr>
            <p:nvPr/>
          </p:nvSpPr>
          <p:spPr bwMode="auto">
            <a:xfrm>
              <a:off x="1922914" y="1053444"/>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55</a:t>
              </a:r>
            </a:p>
          </p:txBody>
        </p:sp>
        <p:grpSp>
          <p:nvGrpSpPr>
            <p:cNvPr id="43" name="Group 42">
              <a:extLst>
                <a:ext uri="{FF2B5EF4-FFF2-40B4-BE49-F238E27FC236}">
                  <a16:creationId xmlns:a16="http://schemas.microsoft.com/office/drawing/2014/main" id="{DF19D1E6-EDAE-DD7F-5701-9BA5E35A2A97}"/>
                </a:ext>
              </a:extLst>
            </p:cNvPr>
            <p:cNvGrpSpPr/>
            <p:nvPr/>
          </p:nvGrpSpPr>
          <p:grpSpPr>
            <a:xfrm>
              <a:off x="2429836" y="964489"/>
              <a:ext cx="8723940" cy="4688403"/>
              <a:chOff x="2429836" y="964489"/>
              <a:chExt cx="8723940" cy="4688403"/>
            </a:xfrm>
          </p:grpSpPr>
          <p:pic>
            <p:nvPicPr>
              <p:cNvPr id="22" name="Picture 21">
                <a:extLst>
                  <a:ext uri="{FF2B5EF4-FFF2-40B4-BE49-F238E27FC236}">
                    <a16:creationId xmlns:a16="http://schemas.microsoft.com/office/drawing/2014/main" id="{ACD384F0-A9DA-2935-3A86-3AE1DA8D9117}"/>
                  </a:ext>
                </a:extLst>
              </p:cNvPr>
              <p:cNvPicPr>
                <a:picLocks noChangeAspect="1"/>
              </p:cNvPicPr>
              <p:nvPr/>
            </p:nvPicPr>
            <p:blipFill rotWithShape="1">
              <a:blip r:embed="rId2"/>
              <a:srcRect l="11983" b="16583"/>
              <a:stretch/>
            </p:blipFill>
            <p:spPr>
              <a:xfrm>
                <a:off x="2429836" y="964489"/>
                <a:ext cx="8723940" cy="4622250"/>
              </a:xfrm>
              <a:prstGeom prst="rect">
                <a:avLst/>
              </a:prstGeom>
            </p:spPr>
          </p:pic>
          <p:sp>
            <p:nvSpPr>
              <p:cNvPr id="42" name="Rectangle 41">
                <a:extLst>
                  <a:ext uri="{FF2B5EF4-FFF2-40B4-BE49-F238E27FC236}">
                    <a16:creationId xmlns:a16="http://schemas.microsoft.com/office/drawing/2014/main" id="{CFBFB459-BD6A-F889-4A48-2A02E5E7ECC1}"/>
                  </a:ext>
                </a:extLst>
              </p:cNvPr>
              <p:cNvSpPr/>
              <p:nvPr/>
            </p:nvSpPr>
            <p:spPr>
              <a:xfrm>
                <a:off x="6815670" y="4840438"/>
                <a:ext cx="4128850" cy="8124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schemeClr val="tx1"/>
                  </a:solidFill>
                  <a:effectLst/>
                  <a:uLnTx/>
                  <a:uFillTx/>
                  <a:latin typeface="Calibri"/>
                  <a:ea typeface="+mn-ea"/>
                  <a:cs typeface="+mn-cs"/>
                </a:endParaRPr>
              </a:p>
            </p:txBody>
          </p:sp>
        </p:grpSp>
        <p:sp>
          <p:nvSpPr>
            <p:cNvPr id="44" name="Rectangle 43">
              <a:extLst>
                <a:ext uri="{FF2B5EF4-FFF2-40B4-BE49-F238E27FC236}">
                  <a16:creationId xmlns:a16="http://schemas.microsoft.com/office/drawing/2014/main" id="{B98BC734-385A-DE30-BF7C-32A25A8CD5AD}"/>
                </a:ext>
              </a:extLst>
            </p:cNvPr>
            <p:cNvSpPr/>
            <p:nvPr/>
          </p:nvSpPr>
          <p:spPr>
            <a:xfrm>
              <a:off x="3910250" y="5215309"/>
              <a:ext cx="1321626" cy="3527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schemeClr val="tx1"/>
                </a:solidFill>
                <a:effectLst/>
                <a:uLnTx/>
                <a:uFillTx/>
                <a:latin typeface="Calibri"/>
                <a:ea typeface="+mn-ea"/>
                <a:cs typeface="+mn-cs"/>
              </a:endParaRPr>
            </a:p>
          </p:txBody>
        </p:sp>
        <p:sp>
          <p:nvSpPr>
            <p:cNvPr id="45" name="Rectangle 115">
              <a:extLst>
                <a:ext uri="{FF2B5EF4-FFF2-40B4-BE49-F238E27FC236}">
                  <a16:creationId xmlns:a16="http://schemas.microsoft.com/office/drawing/2014/main" id="{C3537332-0663-38ED-7500-A78A45469C3F}"/>
                </a:ext>
              </a:extLst>
            </p:cNvPr>
            <p:cNvSpPr>
              <a:spLocks noChangeArrowheads="1"/>
            </p:cNvSpPr>
            <p:nvPr/>
          </p:nvSpPr>
          <p:spPr bwMode="auto">
            <a:xfrm>
              <a:off x="4007421" y="5208089"/>
              <a:ext cx="132162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Indianapolis</a:t>
              </a:r>
            </a:p>
          </p:txBody>
        </p:sp>
        <p:sp>
          <p:nvSpPr>
            <p:cNvPr id="46" name="Rectangle 45">
              <a:extLst>
                <a:ext uri="{FF2B5EF4-FFF2-40B4-BE49-F238E27FC236}">
                  <a16:creationId xmlns:a16="http://schemas.microsoft.com/office/drawing/2014/main" id="{38EF41DE-0A52-D087-9288-844923383C3E}"/>
                </a:ext>
              </a:extLst>
            </p:cNvPr>
            <p:cNvSpPr/>
            <p:nvPr/>
          </p:nvSpPr>
          <p:spPr>
            <a:xfrm>
              <a:off x="8484219" y="4076956"/>
              <a:ext cx="1409080" cy="3527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schemeClr val="tx1"/>
                </a:solidFill>
                <a:effectLst/>
                <a:uLnTx/>
                <a:uFillTx/>
                <a:latin typeface="Calibri"/>
                <a:ea typeface="+mn-ea"/>
                <a:cs typeface="+mn-cs"/>
              </a:endParaRPr>
            </a:p>
          </p:txBody>
        </p:sp>
        <p:sp>
          <p:nvSpPr>
            <p:cNvPr id="47" name="Rectangle 115">
              <a:extLst>
                <a:ext uri="{FF2B5EF4-FFF2-40B4-BE49-F238E27FC236}">
                  <a16:creationId xmlns:a16="http://schemas.microsoft.com/office/drawing/2014/main" id="{528FC8E8-AD6B-392E-8873-8EC939C35FD7}"/>
                </a:ext>
              </a:extLst>
            </p:cNvPr>
            <p:cNvSpPr>
              <a:spLocks noChangeArrowheads="1"/>
            </p:cNvSpPr>
            <p:nvPr/>
          </p:nvSpPr>
          <p:spPr bwMode="auto">
            <a:xfrm>
              <a:off x="8571673" y="4089126"/>
              <a:ext cx="132162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Minneapolis</a:t>
              </a:r>
            </a:p>
          </p:txBody>
        </p:sp>
        <p:sp>
          <p:nvSpPr>
            <p:cNvPr id="48" name="Rectangle 47">
              <a:extLst>
                <a:ext uri="{FF2B5EF4-FFF2-40B4-BE49-F238E27FC236}">
                  <a16:creationId xmlns:a16="http://schemas.microsoft.com/office/drawing/2014/main" id="{54D36A1B-9C74-C2DC-8D26-89F95A1D0A47}"/>
                </a:ext>
              </a:extLst>
            </p:cNvPr>
            <p:cNvSpPr/>
            <p:nvPr/>
          </p:nvSpPr>
          <p:spPr>
            <a:xfrm>
              <a:off x="5657749" y="1783166"/>
              <a:ext cx="1409080" cy="3527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schemeClr val="tx1"/>
                </a:solidFill>
                <a:effectLst/>
                <a:uLnTx/>
                <a:uFillTx/>
                <a:latin typeface="Calibri"/>
                <a:ea typeface="+mn-ea"/>
                <a:cs typeface="+mn-cs"/>
              </a:endParaRPr>
            </a:p>
          </p:txBody>
        </p:sp>
        <p:sp>
          <p:nvSpPr>
            <p:cNvPr id="49" name="Rectangle 115">
              <a:extLst>
                <a:ext uri="{FF2B5EF4-FFF2-40B4-BE49-F238E27FC236}">
                  <a16:creationId xmlns:a16="http://schemas.microsoft.com/office/drawing/2014/main" id="{CB004F48-19C4-8421-D0BD-E156FE96809E}"/>
                </a:ext>
              </a:extLst>
            </p:cNvPr>
            <p:cNvSpPr>
              <a:spLocks noChangeArrowheads="1"/>
            </p:cNvSpPr>
            <p:nvPr/>
          </p:nvSpPr>
          <p:spPr bwMode="auto">
            <a:xfrm>
              <a:off x="5842374" y="1829070"/>
              <a:ext cx="132162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New York</a:t>
              </a:r>
            </a:p>
          </p:txBody>
        </p:sp>
        <p:sp>
          <p:nvSpPr>
            <p:cNvPr id="50" name="Rectangle 49">
              <a:extLst>
                <a:ext uri="{FF2B5EF4-FFF2-40B4-BE49-F238E27FC236}">
                  <a16:creationId xmlns:a16="http://schemas.microsoft.com/office/drawing/2014/main" id="{DCA24290-C62A-18F8-0B53-256BF53FE08F}"/>
                </a:ext>
              </a:extLst>
            </p:cNvPr>
            <p:cNvSpPr/>
            <p:nvPr/>
          </p:nvSpPr>
          <p:spPr>
            <a:xfrm>
              <a:off x="7028049" y="1164544"/>
              <a:ext cx="1635184" cy="3527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schemeClr val="tx1"/>
                </a:solidFill>
                <a:effectLst/>
                <a:uLnTx/>
                <a:uFillTx/>
                <a:latin typeface="Calibri"/>
                <a:ea typeface="+mn-ea"/>
                <a:cs typeface="+mn-cs"/>
              </a:endParaRPr>
            </a:p>
          </p:txBody>
        </p:sp>
        <p:sp>
          <p:nvSpPr>
            <p:cNvPr id="51" name="Rectangle 115">
              <a:extLst>
                <a:ext uri="{FF2B5EF4-FFF2-40B4-BE49-F238E27FC236}">
                  <a16:creationId xmlns:a16="http://schemas.microsoft.com/office/drawing/2014/main" id="{17E2940F-9C01-AC49-214C-9020156E3FC3}"/>
                </a:ext>
              </a:extLst>
            </p:cNvPr>
            <p:cNvSpPr>
              <a:spLocks noChangeArrowheads="1"/>
            </p:cNvSpPr>
            <p:nvPr/>
          </p:nvSpPr>
          <p:spPr bwMode="auto">
            <a:xfrm>
              <a:off x="7313326" y="1236683"/>
              <a:ext cx="15290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Salt Lake City</a:t>
              </a:r>
            </a:p>
          </p:txBody>
        </p:sp>
        <p:sp>
          <p:nvSpPr>
            <p:cNvPr id="52" name="Rectangle 51">
              <a:extLst>
                <a:ext uri="{FF2B5EF4-FFF2-40B4-BE49-F238E27FC236}">
                  <a16:creationId xmlns:a16="http://schemas.microsoft.com/office/drawing/2014/main" id="{B8435AE1-7EAA-D360-A27E-38640965A298}"/>
                </a:ext>
              </a:extLst>
            </p:cNvPr>
            <p:cNvSpPr/>
            <p:nvPr/>
          </p:nvSpPr>
          <p:spPr>
            <a:xfrm>
              <a:off x="9139334" y="1203184"/>
              <a:ext cx="1805186" cy="3141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schemeClr val="tx1"/>
                </a:solidFill>
                <a:effectLst/>
                <a:uLnTx/>
                <a:uFillTx/>
                <a:latin typeface="Calibri"/>
                <a:ea typeface="+mn-ea"/>
                <a:cs typeface="+mn-cs"/>
              </a:endParaRPr>
            </a:p>
          </p:txBody>
        </p:sp>
        <p:sp>
          <p:nvSpPr>
            <p:cNvPr id="53" name="Rectangle 115">
              <a:extLst>
                <a:ext uri="{FF2B5EF4-FFF2-40B4-BE49-F238E27FC236}">
                  <a16:creationId xmlns:a16="http://schemas.microsoft.com/office/drawing/2014/main" id="{852360FE-9FAB-688B-4A20-A13A72311231}"/>
                </a:ext>
              </a:extLst>
            </p:cNvPr>
            <p:cNvSpPr>
              <a:spLocks noChangeArrowheads="1"/>
            </p:cNvSpPr>
            <p:nvPr/>
          </p:nvSpPr>
          <p:spPr bwMode="auto">
            <a:xfrm>
              <a:off x="9681321" y="1257043"/>
              <a:ext cx="15290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San Francisco</a:t>
              </a:r>
            </a:p>
          </p:txBody>
        </p:sp>
        <p:sp>
          <p:nvSpPr>
            <p:cNvPr id="54" name="Rectangle 115">
              <a:extLst>
                <a:ext uri="{FF2B5EF4-FFF2-40B4-BE49-F238E27FC236}">
                  <a16:creationId xmlns:a16="http://schemas.microsoft.com/office/drawing/2014/main" id="{D1AF2BF7-6F31-9AB2-4C4F-01E1738A2135}"/>
                </a:ext>
              </a:extLst>
            </p:cNvPr>
            <p:cNvSpPr>
              <a:spLocks noChangeArrowheads="1"/>
            </p:cNvSpPr>
            <p:nvPr/>
          </p:nvSpPr>
          <p:spPr bwMode="auto">
            <a:xfrm>
              <a:off x="9421211" y="5020054"/>
              <a:ext cx="3212978" cy="253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Correlation = </a:t>
              </a:r>
              <a:r>
                <a:rPr kumimoji="0" lang="en-US" altLang="en-US" sz="1600" b="1" i="0" u="none" strike="noStrike" kern="1200" cap="none" spc="0" normalizeH="0" baseline="0" noProof="0" dirty="0">
                  <a:ln>
                    <a:noFill/>
                  </a:ln>
                  <a:effectLst/>
                  <a:uLnTx/>
                  <a:uFillTx/>
                  <a:latin typeface="Lucida Sans" panose="020B0602030504020204" pitchFamily="34" charset="0"/>
                  <a:ea typeface="+mn-ea"/>
                  <a:cs typeface="+mn-cs"/>
                </a:rPr>
                <a:t>0.65</a:t>
              </a:r>
              <a:endPar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endParaRPr>
            </a:p>
          </p:txBody>
        </p:sp>
      </p:grpSp>
      <p:sp>
        <p:nvSpPr>
          <p:cNvPr id="18" name="Rectangle 17">
            <a:extLst>
              <a:ext uri="{FF2B5EF4-FFF2-40B4-BE49-F238E27FC236}">
                <a16:creationId xmlns:a16="http://schemas.microsoft.com/office/drawing/2014/main" id="{94514205-E811-260D-21B2-5BAED32B3916}"/>
              </a:ext>
            </a:extLst>
          </p:cNvPr>
          <p:cNvSpPr>
            <a:spLocks noChangeArrowheads="1"/>
          </p:cNvSpPr>
          <p:nvPr/>
        </p:nvSpPr>
        <p:spPr bwMode="auto">
          <a:xfrm>
            <a:off x="613836" y="375319"/>
            <a:ext cx="10499449"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effectLst/>
                <a:uLnTx/>
                <a:uFillTx/>
                <a:latin typeface="Lucida Bright" panose="02040602050505020304" pitchFamily="18" charset="0"/>
                <a:cs typeface="Arial" pitchFamily="34" charset="0"/>
              </a:rPr>
              <a:t>Upward Mobility vs. Economic Connectedness, by County</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200 Largest Counties</a:t>
            </a:r>
          </a:p>
        </p:txBody>
      </p:sp>
      <p:pic>
        <p:nvPicPr>
          <p:cNvPr id="24" name="Picture 23" descr="A black and grey text&#10;&#10;Description automatically generated">
            <a:extLst>
              <a:ext uri="{FF2B5EF4-FFF2-40B4-BE49-F238E27FC236}">
                <a16:creationId xmlns:a16="http://schemas.microsoft.com/office/drawing/2014/main" id="{4D3C8885-D4B6-21FB-4087-20A8686D05DC}"/>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25" name="Straight Connector 24">
            <a:extLst>
              <a:ext uri="{FF2B5EF4-FFF2-40B4-BE49-F238E27FC236}">
                <a16:creationId xmlns:a16="http://schemas.microsoft.com/office/drawing/2014/main" id="{C50AB344-EF5B-CA07-B73E-EA0DA972C240}"/>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F397217-B37B-FD68-BFB4-1E347F8E8C9B}"/>
              </a:ext>
            </a:extLst>
          </p:cNvPr>
          <p:cNvSpPr txBox="1"/>
          <p:nvPr/>
        </p:nvSpPr>
        <p:spPr>
          <a:xfrm>
            <a:off x="568591" y="6483107"/>
            <a:ext cx="10641275"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dirty="0">
                <a:ln>
                  <a:noFill/>
                </a:ln>
                <a:effectLst/>
                <a:uLnTx/>
                <a:uFillTx/>
                <a:latin typeface="Lucida Sans" panose="020B0602030504020204" pitchFamily="34" charset="0"/>
                <a:ea typeface="Lato" panose="020F0502020204030203" pitchFamily="34" charset="0"/>
                <a:cs typeface="Arial" pitchFamily="34" charset="0"/>
              </a:rPr>
              <a:t>Source: </a:t>
            </a:r>
            <a:r>
              <a:rPr kumimoji="0" lang="nb-NO" sz="1400" b="0" u="none" strike="noStrike" kern="1200" cap="none" spc="0" normalizeH="0" baseline="0" noProof="0" dirty="0">
                <a:ln>
                  <a:noFill/>
                </a:ln>
                <a:effectLst/>
                <a:uLnTx/>
                <a:uFillTx/>
                <a:latin typeface="Lucida Sans" panose="020B0602030504020204" pitchFamily="34" charset="0"/>
                <a:ea typeface="Lato" panose="020F0502020204030203" pitchFamily="34" charset="0"/>
                <a:cs typeface="Arial" pitchFamily="34" charset="0"/>
              </a:rPr>
              <a:t>Chetty, Friedman, Hendren, Jones, Porter (2018); Chetty, Jackson, Kuchler, Stroebel et al. (Nature 2022) </a:t>
            </a:r>
            <a:endParaRPr kumimoji="0" lang="en-US" sz="1400" b="0" u="none" strike="noStrike" kern="1200" cap="none" spc="0" normalizeH="0" baseline="0" noProof="0" dirty="0">
              <a:ln>
                <a:noFill/>
              </a:ln>
              <a:effectLst/>
              <a:uLnTx/>
              <a:uFillTx/>
              <a:latin typeface="Lucida Sans" panose="020B0602030504020204" pitchFamily="34" charset="0"/>
              <a:ea typeface="Lato" panose="020F0502020204030203" pitchFamily="34" charset="0"/>
              <a:cs typeface="Arial" pitchFamily="34" charset="0"/>
            </a:endParaRPr>
          </a:p>
        </p:txBody>
      </p:sp>
      <p:cxnSp>
        <p:nvCxnSpPr>
          <p:cNvPr id="12" name="Straight Connector 11">
            <a:extLst>
              <a:ext uri="{FF2B5EF4-FFF2-40B4-BE49-F238E27FC236}">
                <a16:creationId xmlns:a16="http://schemas.microsoft.com/office/drawing/2014/main" id="{4B08015E-BE33-8F6E-67D8-817910DD437F}"/>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7138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89CAA1-E835-4CEB-6F09-28AB2B1FEFEB}"/>
              </a:ext>
            </a:extLst>
          </p:cNvPr>
          <p:cNvPicPr>
            <a:picLocks noChangeAspect="1"/>
          </p:cNvPicPr>
          <p:nvPr/>
        </p:nvPicPr>
        <p:blipFill>
          <a:blip r:embed="rId3"/>
          <a:stretch>
            <a:fillRect/>
          </a:stretch>
        </p:blipFill>
        <p:spPr>
          <a:xfrm>
            <a:off x="621309" y="834932"/>
            <a:ext cx="10665816" cy="5752162"/>
          </a:xfrm>
          <a:prstGeom prst="rect">
            <a:avLst/>
          </a:prstGeom>
        </p:spPr>
      </p:pic>
      <p:sp>
        <p:nvSpPr>
          <p:cNvPr id="16" name="Rectangle 15">
            <a:extLst>
              <a:ext uri="{FF2B5EF4-FFF2-40B4-BE49-F238E27FC236}">
                <a16:creationId xmlns:a16="http://schemas.microsoft.com/office/drawing/2014/main" id="{335D651B-6842-9772-9278-59A4E98BC703}"/>
              </a:ext>
            </a:extLst>
          </p:cNvPr>
          <p:cNvSpPr/>
          <p:nvPr/>
        </p:nvSpPr>
        <p:spPr>
          <a:xfrm>
            <a:off x="4092787" y="5137782"/>
            <a:ext cx="6834291" cy="102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2E9F221B-9A43-4321-A2FA-165B55270966}"/>
              </a:ext>
            </a:extLst>
          </p:cNvPr>
          <p:cNvSpPr/>
          <p:nvPr/>
        </p:nvSpPr>
        <p:spPr>
          <a:xfrm>
            <a:off x="3962400" y="1314450"/>
            <a:ext cx="180975" cy="38385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Line 113">
            <a:extLst>
              <a:ext uri="{FF2B5EF4-FFF2-40B4-BE49-F238E27FC236}">
                <a16:creationId xmlns:a16="http://schemas.microsoft.com/office/drawing/2014/main" id="{DF090569-EEDF-F6EF-4B78-169AAB63BECF}"/>
              </a:ext>
            </a:extLst>
          </p:cNvPr>
          <p:cNvSpPr>
            <a:spLocks noChangeShapeType="1"/>
          </p:cNvSpPr>
          <p:nvPr/>
        </p:nvSpPr>
        <p:spPr bwMode="auto">
          <a:xfrm flipV="1">
            <a:off x="4092787" y="1402079"/>
            <a:ext cx="0" cy="3735705"/>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7" name="Line 116">
            <a:extLst>
              <a:ext uri="{FF2B5EF4-FFF2-40B4-BE49-F238E27FC236}">
                <a16:creationId xmlns:a16="http://schemas.microsoft.com/office/drawing/2014/main" id="{18A21EEB-D47D-BAC2-AAB3-AED49A944814}"/>
              </a:ext>
            </a:extLst>
          </p:cNvPr>
          <p:cNvSpPr>
            <a:spLocks noChangeShapeType="1"/>
          </p:cNvSpPr>
          <p:nvPr/>
        </p:nvSpPr>
        <p:spPr bwMode="auto">
          <a:xfrm flipH="1">
            <a:off x="3995420" y="150834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8" name="Line 116">
            <a:extLst>
              <a:ext uri="{FF2B5EF4-FFF2-40B4-BE49-F238E27FC236}">
                <a16:creationId xmlns:a16="http://schemas.microsoft.com/office/drawing/2014/main" id="{44FADA2C-A222-96E1-99B2-60AAE5D2FCEC}"/>
              </a:ext>
            </a:extLst>
          </p:cNvPr>
          <p:cNvSpPr>
            <a:spLocks noChangeShapeType="1"/>
          </p:cNvSpPr>
          <p:nvPr/>
        </p:nvSpPr>
        <p:spPr bwMode="auto">
          <a:xfrm flipH="1">
            <a:off x="3995420" y="195919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9" name="Line 116">
            <a:extLst>
              <a:ext uri="{FF2B5EF4-FFF2-40B4-BE49-F238E27FC236}">
                <a16:creationId xmlns:a16="http://schemas.microsoft.com/office/drawing/2014/main" id="{5B3D3F76-CE77-727D-FC58-244E6C96F287}"/>
              </a:ext>
            </a:extLst>
          </p:cNvPr>
          <p:cNvSpPr>
            <a:spLocks noChangeShapeType="1"/>
          </p:cNvSpPr>
          <p:nvPr/>
        </p:nvSpPr>
        <p:spPr bwMode="auto">
          <a:xfrm flipH="1">
            <a:off x="3995420" y="237829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20" name="Line 116">
            <a:extLst>
              <a:ext uri="{FF2B5EF4-FFF2-40B4-BE49-F238E27FC236}">
                <a16:creationId xmlns:a16="http://schemas.microsoft.com/office/drawing/2014/main" id="{4443B9A9-3D7B-360B-5740-C57CFDA9EA28}"/>
              </a:ext>
            </a:extLst>
          </p:cNvPr>
          <p:cNvSpPr>
            <a:spLocks noChangeShapeType="1"/>
          </p:cNvSpPr>
          <p:nvPr/>
        </p:nvSpPr>
        <p:spPr bwMode="auto">
          <a:xfrm flipH="1">
            <a:off x="3995420" y="282914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21" name="Line 116">
            <a:extLst>
              <a:ext uri="{FF2B5EF4-FFF2-40B4-BE49-F238E27FC236}">
                <a16:creationId xmlns:a16="http://schemas.microsoft.com/office/drawing/2014/main" id="{72D7436E-E5E8-01B2-234D-AEDCD92F5E1A}"/>
              </a:ext>
            </a:extLst>
          </p:cNvPr>
          <p:cNvSpPr>
            <a:spLocks noChangeShapeType="1"/>
          </p:cNvSpPr>
          <p:nvPr/>
        </p:nvSpPr>
        <p:spPr bwMode="auto">
          <a:xfrm flipH="1">
            <a:off x="3995420" y="326094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22" name="Line 116">
            <a:extLst>
              <a:ext uri="{FF2B5EF4-FFF2-40B4-BE49-F238E27FC236}">
                <a16:creationId xmlns:a16="http://schemas.microsoft.com/office/drawing/2014/main" id="{701F8387-6EF8-8C06-FC70-979CFAA2C87B}"/>
              </a:ext>
            </a:extLst>
          </p:cNvPr>
          <p:cNvSpPr>
            <a:spLocks noChangeShapeType="1"/>
          </p:cNvSpPr>
          <p:nvPr/>
        </p:nvSpPr>
        <p:spPr bwMode="auto">
          <a:xfrm flipH="1">
            <a:off x="3995420" y="371179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23" name="Line 116">
            <a:extLst>
              <a:ext uri="{FF2B5EF4-FFF2-40B4-BE49-F238E27FC236}">
                <a16:creationId xmlns:a16="http://schemas.microsoft.com/office/drawing/2014/main" id="{0F5DA634-E58E-5E08-FC4D-744E1E4AB3AA}"/>
              </a:ext>
            </a:extLst>
          </p:cNvPr>
          <p:cNvSpPr>
            <a:spLocks noChangeShapeType="1"/>
          </p:cNvSpPr>
          <p:nvPr/>
        </p:nvSpPr>
        <p:spPr bwMode="auto">
          <a:xfrm flipH="1">
            <a:off x="3995420" y="413089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24" name="Line 116">
            <a:extLst>
              <a:ext uri="{FF2B5EF4-FFF2-40B4-BE49-F238E27FC236}">
                <a16:creationId xmlns:a16="http://schemas.microsoft.com/office/drawing/2014/main" id="{B8C2AD1D-803A-97ED-CD2A-744E3E23266E}"/>
              </a:ext>
            </a:extLst>
          </p:cNvPr>
          <p:cNvSpPr>
            <a:spLocks noChangeShapeType="1"/>
          </p:cNvSpPr>
          <p:nvPr/>
        </p:nvSpPr>
        <p:spPr bwMode="auto">
          <a:xfrm flipH="1">
            <a:off x="3995420" y="458174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26" name="Line 116">
            <a:extLst>
              <a:ext uri="{FF2B5EF4-FFF2-40B4-BE49-F238E27FC236}">
                <a16:creationId xmlns:a16="http://schemas.microsoft.com/office/drawing/2014/main" id="{1EAAB952-3238-D331-A1A9-F953C6196D8A}"/>
              </a:ext>
            </a:extLst>
          </p:cNvPr>
          <p:cNvSpPr>
            <a:spLocks noChangeShapeType="1"/>
          </p:cNvSpPr>
          <p:nvPr/>
        </p:nvSpPr>
        <p:spPr bwMode="auto">
          <a:xfrm flipH="1">
            <a:off x="3995420" y="5007199"/>
            <a:ext cx="97367"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32" name="Rectangle 31">
            <a:extLst>
              <a:ext uri="{FF2B5EF4-FFF2-40B4-BE49-F238E27FC236}">
                <a16:creationId xmlns:a16="http://schemas.microsoft.com/office/drawing/2014/main" id="{EBE4618E-78AE-1ACF-1CEE-D1F2D8999C1D}"/>
              </a:ext>
            </a:extLst>
          </p:cNvPr>
          <p:cNvSpPr/>
          <p:nvPr/>
        </p:nvSpPr>
        <p:spPr>
          <a:xfrm>
            <a:off x="4106758" y="5106960"/>
            <a:ext cx="682032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28" name="Line 124">
            <a:extLst>
              <a:ext uri="{FF2B5EF4-FFF2-40B4-BE49-F238E27FC236}">
                <a16:creationId xmlns:a16="http://schemas.microsoft.com/office/drawing/2014/main" id="{3AC2D85F-CC12-48AF-DB33-494B2A500469}"/>
              </a:ext>
            </a:extLst>
          </p:cNvPr>
          <p:cNvSpPr>
            <a:spLocks noChangeShapeType="1"/>
          </p:cNvSpPr>
          <p:nvPr/>
        </p:nvSpPr>
        <p:spPr bwMode="auto">
          <a:xfrm>
            <a:off x="5854701" y="5131432"/>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29" name="Line 124">
            <a:extLst>
              <a:ext uri="{FF2B5EF4-FFF2-40B4-BE49-F238E27FC236}">
                <a16:creationId xmlns:a16="http://schemas.microsoft.com/office/drawing/2014/main" id="{A77E6004-D88F-732B-8ACD-B63A443FE184}"/>
              </a:ext>
            </a:extLst>
          </p:cNvPr>
          <p:cNvSpPr>
            <a:spLocks noChangeShapeType="1"/>
          </p:cNvSpPr>
          <p:nvPr/>
        </p:nvSpPr>
        <p:spPr bwMode="auto">
          <a:xfrm>
            <a:off x="7486651" y="5131432"/>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30" name="Line 124">
            <a:extLst>
              <a:ext uri="{FF2B5EF4-FFF2-40B4-BE49-F238E27FC236}">
                <a16:creationId xmlns:a16="http://schemas.microsoft.com/office/drawing/2014/main" id="{738E10BC-C861-BC5A-2B11-7B5A18823414}"/>
              </a:ext>
            </a:extLst>
          </p:cNvPr>
          <p:cNvSpPr>
            <a:spLocks noChangeShapeType="1"/>
          </p:cNvSpPr>
          <p:nvPr/>
        </p:nvSpPr>
        <p:spPr bwMode="auto">
          <a:xfrm>
            <a:off x="9124951" y="5137782"/>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5" name="Line 123">
            <a:extLst>
              <a:ext uri="{FF2B5EF4-FFF2-40B4-BE49-F238E27FC236}">
                <a16:creationId xmlns:a16="http://schemas.microsoft.com/office/drawing/2014/main" id="{EBC24207-4A18-F666-89C0-448CF5C83C1A}"/>
              </a:ext>
            </a:extLst>
          </p:cNvPr>
          <p:cNvSpPr>
            <a:spLocks noChangeShapeType="1"/>
          </p:cNvSpPr>
          <p:nvPr/>
        </p:nvSpPr>
        <p:spPr bwMode="auto">
          <a:xfrm>
            <a:off x="4092792" y="5137783"/>
            <a:ext cx="6719988" cy="0"/>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27" name="Line 124">
            <a:extLst>
              <a:ext uri="{FF2B5EF4-FFF2-40B4-BE49-F238E27FC236}">
                <a16:creationId xmlns:a16="http://schemas.microsoft.com/office/drawing/2014/main" id="{B8A66C97-BF19-01FB-8BC2-BD5AE1F0395F}"/>
              </a:ext>
            </a:extLst>
          </p:cNvPr>
          <p:cNvSpPr>
            <a:spLocks noChangeShapeType="1"/>
          </p:cNvSpPr>
          <p:nvPr/>
        </p:nvSpPr>
        <p:spPr bwMode="auto">
          <a:xfrm>
            <a:off x="4222751" y="5133185"/>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31" name="Line 124">
            <a:extLst>
              <a:ext uri="{FF2B5EF4-FFF2-40B4-BE49-F238E27FC236}">
                <a16:creationId xmlns:a16="http://schemas.microsoft.com/office/drawing/2014/main" id="{541B031D-93DF-C471-DBC1-BE258BF8BBB0}"/>
              </a:ext>
            </a:extLst>
          </p:cNvPr>
          <p:cNvSpPr>
            <a:spLocks noChangeShapeType="1"/>
          </p:cNvSpPr>
          <p:nvPr/>
        </p:nvSpPr>
        <p:spPr bwMode="auto">
          <a:xfrm>
            <a:off x="10756901" y="5129315"/>
            <a:ext cx="0" cy="97367"/>
          </a:xfrm>
          <a:prstGeom prst="line">
            <a:avLst/>
          </a:prstGeom>
          <a:noFill/>
          <a:ln w="12700">
            <a:solidFill>
              <a:srgbClr val="626365"/>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effectLst/>
              <a:uLnTx/>
              <a:uFillTx/>
              <a:latin typeface="Lucida Sans" panose="020B0602030504020204" pitchFamily="34" charset="0"/>
              <a:ea typeface="+mn-ea"/>
              <a:cs typeface="+mn-cs"/>
            </a:endParaRPr>
          </a:p>
        </p:txBody>
      </p:sp>
      <p:sp>
        <p:nvSpPr>
          <p:cNvPr id="12" name="Rectangle 11">
            <a:extLst>
              <a:ext uri="{FF2B5EF4-FFF2-40B4-BE49-F238E27FC236}">
                <a16:creationId xmlns:a16="http://schemas.microsoft.com/office/drawing/2014/main" id="{69377E17-3623-3378-D250-42C52913231C}"/>
              </a:ext>
            </a:extLst>
          </p:cNvPr>
          <p:cNvSpPr>
            <a:spLocks noGrp="1" noRot="1" noMove="1" noResize="1" noEditPoints="1" noAdjustHandles="1" noChangeArrowheads="1" noChangeShapeType="1"/>
          </p:cNvSpPr>
          <p:nvPr/>
        </p:nvSpPr>
        <p:spPr>
          <a:xfrm>
            <a:off x="2085975" y="1436897"/>
            <a:ext cx="1892513" cy="37897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13" name="Rectangle 115">
            <a:extLst>
              <a:ext uri="{FF2B5EF4-FFF2-40B4-BE49-F238E27FC236}">
                <a16:creationId xmlns:a16="http://schemas.microsoft.com/office/drawing/2014/main" id="{BEA63161-830B-0B21-0848-57F9EAE9D88D}"/>
              </a:ext>
            </a:extLst>
          </p:cNvPr>
          <p:cNvSpPr>
            <a:spLocks noChangeArrowheads="1"/>
          </p:cNvSpPr>
          <p:nvPr/>
        </p:nvSpPr>
        <p:spPr bwMode="auto">
          <a:xfrm>
            <a:off x="2124727" y="1412425"/>
            <a:ext cx="185460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effectLst/>
                <a:uLnTx/>
                <a:uFillTx/>
                <a:latin typeface="Lucida Sans" panose="020B0602030504020204" pitchFamily="34" charset="0"/>
                <a:ea typeface="+mn-ea"/>
                <a:cs typeface="+mn-cs"/>
              </a:rPr>
              <a:t>Economic connectedness</a:t>
            </a:r>
          </a:p>
        </p:txBody>
      </p:sp>
      <p:sp>
        <p:nvSpPr>
          <p:cNvPr id="25" name="Rectangle 115">
            <a:extLst>
              <a:ext uri="{FF2B5EF4-FFF2-40B4-BE49-F238E27FC236}">
                <a16:creationId xmlns:a16="http://schemas.microsoft.com/office/drawing/2014/main" id="{A0A45EAB-90C3-F007-3D09-6D5B1C693698}"/>
              </a:ext>
            </a:extLst>
          </p:cNvPr>
          <p:cNvSpPr>
            <a:spLocks noChangeArrowheads="1"/>
          </p:cNvSpPr>
          <p:nvPr/>
        </p:nvSpPr>
        <p:spPr bwMode="auto">
          <a:xfrm>
            <a:off x="2101861" y="1868574"/>
            <a:ext cx="187746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effectLst/>
                <a:uLnTx/>
                <a:uFillTx/>
                <a:latin typeface="Lucida Sans" panose="020B0602030504020204" pitchFamily="34" charset="0"/>
                <a:ea typeface="+mn-ea"/>
                <a:cs typeface="+mn-cs"/>
              </a:rPr>
              <a:t>Language connectedness</a:t>
            </a:r>
          </a:p>
        </p:txBody>
      </p:sp>
      <p:sp>
        <p:nvSpPr>
          <p:cNvPr id="33" name="Rectangle 115">
            <a:extLst>
              <a:ext uri="{FF2B5EF4-FFF2-40B4-BE49-F238E27FC236}">
                <a16:creationId xmlns:a16="http://schemas.microsoft.com/office/drawing/2014/main" id="{A5826843-CDB9-8FDA-2341-4BBE5D0B8583}"/>
              </a:ext>
            </a:extLst>
          </p:cNvPr>
          <p:cNvSpPr>
            <a:spLocks noChangeArrowheads="1"/>
          </p:cNvSpPr>
          <p:nvPr/>
        </p:nvSpPr>
        <p:spPr bwMode="auto">
          <a:xfrm>
            <a:off x="2508724" y="2287529"/>
            <a:ext cx="147060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effectLst/>
                <a:uLnTx/>
                <a:uFillTx/>
                <a:latin typeface="Lucida Sans" panose="020B0602030504020204" pitchFamily="34" charset="0"/>
                <a:ea typeface="+mn-ea"/>
                <a:cs typeface="+mn-cs"/>
              </a:rPr>
              <a:t>Age connectedness</a:t>
            </a:r>
          </a:p>
        </p:txBody>
      </p:sp>
      <p:sp>
        <p:nvSpPr>
          <p:cNvPr id="34" name="Rectangle 115">
            <a:extLst>
              <a:ext uri="{FF2B5EF4-FFF2-40B4-BE49-F238E27FC236}">
                <a16:creationId xmlns:a16="http://schemas.microsoft.com/office/drawing/2014/main" id="{13E16E50-6E70-D23C-5AF7-EB891661536B}"/>
              </a:ext>
            </a:extLst>
          </p:cNvPr>
          <p:cNvSpPr>
            <a:spLocks noChangeArrowheads="1"/>
          </p:cNvSpPr>
          <p:nvPr/>
        </p:nvSpPr>
        <p:spPr bwMode="auto">
          <a:xfrm>
            <a:off x="3184948" y="2735387"/>
            <a:ext cx="79438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effectLst/>
                <a:uLnTx/>
                <a:uFillTx/>
                <a:latin typeface="Lucida Sans" panose="020B0602030504020204" pitchFamily="34" charset="0"/>
                <a:ea typeface="+mn-ea"/>
                <a:cs typeface="+mn-cs"/>
              </a:rPr>
              <a:t>Clustering</a:t>
            </a:r>
          </a:p>
        </p:txBody>
      </p:sp>
      <p:sp>
        <p:nvSpPr>
          <p:cNvPr id="35" name="Rectangle 115">
            <a:extLst>
              <a:ext uri="{FF2B5EF4-FFF2-40B4-BE49-F238E27FC236}">
                <a16:creationId xmlns:a16="http://schemas.microsoft.com/office/drawing/2014/main" id="{10E21A21-7FB0-0073-B119-511E29D622FC}"/>
              </a:ext>
            </a:extLst>
          </p:cNvPr>
          <p:cNvSpPr>
            <a:spLocks noChangeArrowheads="1"/>
          </p:cNvSpPr>
          <p:nvPr/>
        </p:nvSpPr>
        <p:spPr bwMode="auto">
          <a:xfrm>
            <a:off x="2948108" y="3163322"/>
            <a:ext cx="103122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effectLst/>
                <a:uLnTx/>
                <a:uFillTx/>
                <a:latin typeface="Lucida Sans" panose="020B0602030504020204" pitchFamily="34" charset="0"/>
                <a:ea typeface="+mn-ea"/>
                <a:cs typeface="+mn-cs"/>
              </a:rPr>
              <a:t>Support Ratio</a:t>
            </a:r>
          </a:p>
        </p:txBody>
      </p:sp>
      <p:sp>
        <p:nvSpPr>
          <p:cNvPr id="36" name="Rectangle 115">
            <a:extLst>
              <a:ext uri="{FF2B5EF4-FFF2-40B4-BE49-F238E27FC236}">
                <a16:creationId xmlns:a16="http://schemas.microsoft.com/office/drawing/2014/main" id="{2DAE8F2F-497C-A93F-F754-25460595DD54}"/>
              </a:ext>
            </a:extLst>
          </p:cNvPr>
          <p:cNvSpPr>
            <a:spLocks noChangeArrowheads="1"/>
          </p:cNvSpPr>
          <p:nvPr/>
        </p:nvSpPr>
        <p:spPr bwMode="auto">
          <a:xfrm>
            <a:off x="2509125" y="3631901"/>
            <a:ext cx="147020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effectLst/>
                <a:uLnTx/>
                <a:uFillTx/>
                <a:latin typeface="Lucida Sans" panose="020B0602030504020204" pitchFamily="34" charset="0"/>
                <a:ea typeface="+mn-ea"/>
                <a:cs typeface="+mn-cs"/>
              </a:rPr>
              <a:t>Spectral homophily</a:t>
            </a:r>
          </a:p>
        </p:txBody>
      </p:sp>
      <p:sp>
        <p:nvSpPr>
          <p:cNvPr id="37" name="Rectangle 115">
            <a:extLst>
              <a:ext uri="{FF2B5EF4-FFF2-40B4-BE49-F238E27FC236}">
                <a16:creationId xmlns:a16="http://schemas.microsoft.com/office/drawing/2014/main" id="{71800ECD-7017-88CE-2FA2-564F3D4B7823}"/>
              </a:ext>
            </a:extLst>
          </p:cNvPr>
          <p:cNvSpPr>
            <a:spLocks noChangeArrowheads="1"/>
          </p:cNvSpPr>
          <p:nvPr/>
        </p:nvSpPr>
        <p:spPr bwMode="auto">
          <a:xfrm>
            <a:off x="2694304" y="4041659"/>
            <a:ext cx="12850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effectLst/>
                <a:uLnTx/>
                <a:uFillTx/>
                <a:latin typeface="Lucida Sans" panose="020B0602030504020204" pitchFamily="34" charset="0"/>
                <a:ea typeface="+mn-ea"/>
                <a:cs typeface="+mn-cs"/>
              </a:rPr>
              <a:t>Penn State Index</a:t>
            </a:r>
          </a:p>
        </p:txBody>
      </p:sp>
      <p:sp>
        <p:nvSpPr>
          <p:cNvPr id="38" name="Rectangle 115">
            <a:extLst>
              <a:ext uri="{FF2B5EF4-FFF2-40B4-BE49-F238E27FC236}">
                <a16:creationId xmlns:a16="http://schemas.microsoft.com/office/drawing/2014/main" id="{FF939848-E1BF-F1A9-83BC-7A3D13B1C1B0}"/>
              </a:ext>
            </a:extLst>
          </p:cNvPr>
          <p:cNvSpPr>
            <a:spLocks noChangeArrowheads="1"/>
          </p:cNvSpPr>
          <p:nvPr/>
        </p:nvSpPr>
        <p:spPr bwMode="auto">
          <a:xfrm>
            <a:off x="2509125" y="4489517"/>
            <a:ext cx="147020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effectLst/>
                <a:uLnTx/>
                <a:uFillTx/>
                <a:latin typeface="Lucida Sans" panose="020B0602030504020204" pitchFamily="34" charset="0"/>
                <a:ea typeface="+mn-ea"/>
                <a:cs typeface="+mn-cs"/>
              </a:rPr>
              <a:t>Civic Organizations</a:t>
            </a:r>
          </a:p>
        </p:txBody>
      </p:sp>
      <p:sp>
        <p:nvSpPr>
          <p:cNvPr id="39" name="Rectangle 115">
            <a:extLst>
              <a:ext uri="{FF2B5EF4-FFF2-40B4-BE49-F238E27FC236}">
                <a16:creationId xmlns:a16="http://schemas.microsoft.com/office/drawing/2014/main" id="{07122DCC-4EC4-705E-5A1F-66BB6D617BDF}"/>
              </a:ext>
            </a:extLst>
          </p:cNvPr>
          <p:cNvSpPr>
            <a:spLocks noChangeArrowheads="1"/>
          </p:cNvSpPr>
          <p:nvPr/>
        </p:nvSpPr>
        <p:spPr bwMode="auto">
          <a:xfrm>
            <a:off x="2639279" y="4907446"/>
            <a:ext cx="134005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err="1">
                <a:ln>
                  <a:noFill/>
                </a:ln>
                <a:effectLst/>
                <a:uLnTx/>
                <a:uFillTx/>
                <a:latin typeface="Lucida Sans" panose="020B0602030504020204" pitchFamily="34" charset="0"/>
                <a:ea typeface="+mn-ea"/>
                <a:cs typeface="+mn-cs"/>
              </a:rPr>
              <a:t>Volunteerin</a:t>
            </a:r>
            <a:r>
              <a:rPr kumimoji="0" lang="en-US" altLang="en-US" sz="1200" b="0" i="0" u="none" strike="noStrike" kern="1200" cap="none" spc="0" normalizeH="0" baseline="0" noProof="0" dirty="0">
                <a:ln>
                  <a:noFill/>
                </a:ln>
                <a:effectLst/>
                <a:uLnTx/>
                <a:uFillTx/>
                <a:latin typeface="Lucida Sans" panose="020B0602030504020204" pitchFamily="34" charset="0"/>
                <a:ea typeface="+mn-ea"/>
                <a:cs typeface="+mn-cs"/>
              </a:rPr>
              <a:t>g Rate</a:t>
            </a:r>
          </a:p>
        </p:txBody>
      </p:sp>
      <p:sp>
        <p:nvSpPr>
          <p:cNvPr id="40" name="Rectangle 39">
            <a:extLst>
              <a:ext uri="{FF2B5EF4-FFF2-40B4-BE49-F238E27FC236}">
                <a16:creationId xmlns:a16="http://schemas.microsoft.com/office/drawing/2014/main" id="{E2F67799-5324-FA07-23FA-81318CD0BD19}"/>
              </a:ext>
            </a:extLst>
          </p:cNvPr>
          <p:cNvSpPr/>
          <p:nvPr/>
        </p:nvSpPr>
        <p:spPr>
          <a:xfrm>
            <a:off x="4052887" y="5269660"/>
            <a:ext cx="7062788" cy="2465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41" name="Rectangle 125">
            <a:extLst>
              <a:ext uri="{FF2B5EF4-FFF2-40B4-BE49-F238E27FC236}">
                <a16:creationId xmlns:a16="http://schemas.microsoft.com/office/drawing/2014/main" id="{DC7FB553-0810-FC91-0095-ED097143510B}"/>
              </a:ext>
            </a:extLst>
          </p:cNvPr>
          <p:cNvSpPr>
            <a:spLocks noChangeArrowheads="1"/>
          </p:cNvSpPr>
          <p:nvPr/>
        </p:nvSpPr>
        <p:spPr bwMode="auto">
          <a:xfrm>
            <a:off x="4081832" y="5234178"/>
            <a:ext cx="3254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0.0</a:t>
            </a:r>
          </a:p>
        </p:txBody>
      </p:sp>
      <p:sp>
        <p:nvSpPr>
          <p:cNvPr id="42" name="Rectangle 125">
            <a:extLst>
              <a:ext uri="{FF2B5EF4-FFF2-40B4-BE49-F238E27FC236}">
                <a16:creationId xmlns:a16="http://schemas.microsoft.com/office/drawing/2014/main" id="{73B9D8CF-B115-A052-C21A-2DD32FAEA0E9}"/>
              </a:ext>
            </a:extLst>
          </p:cNvPr>
          <p:cNvSpPr>
            <a:spLocks noChangeArrowheads="1"/>
          </p:cNvSpPr>
          <p:nvPr/>
        </p:nvSpPr>
        <p:spPr bwMode="auto">
          <a:xfrm>
            <a:off x="5720131" y="5234178"/>
            <a:ext cx="3254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0.2</a:t>
            </a:r>
          </a:p>
        </p:txBody>
      </p:sp>
      <p:sp>
        <p:nvSpPr>
          <p:cNvPr id="43" name="Rectangle 125">
            <a:extLst>
              <a:ext uri="{FF2B5EF4-FFF2-40B4-BE49-F238E27FC236}">
                <a16:creationId xmlns:a16="http://schemas.microsoft.com/office/drawing/2014/main" id="{52182C2B-65F4-F7B1-569E-368F2AD58732}"/>
              </a:ext>
            </a:extLst>
          </p:cNvPr>
          <p:cNvSpPr>
            <a:spLocks noChangeArrowheads="1"/>
          </p:cNvSpPr>
          <p:nvPr/>
        </p:nvSpPr>
        <p:spPr bwMode="auto">
          <a:xfrm>
            <a:off x="7331607" y="5234178"/>
            <a:ext cx="3254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0.4</a:t>
            </a:r>
          </a:p>
        </p:txBody>
      </p:sp>
      <p:sp>
        <p:nvSpPr>
          <p:cNvPr id="44" name="Rectangle 125">
            <a:extLst>
              <a:ext uri="{FF2B5EF4-FFF2-40B4-BE49-F238E27FC236}">
                <a16:creationId xmlns:a16="http://schemas.microsoft.com/office/drawing/2014/main" id="{78F6A209-14BF-18A5-94BA-DEE3B053AF60}"/>
              </a:ext>
            </a:extLst>
          </p:cNvPr>
          <p:cNvSpPr>
            <a:spLocks noChangeArrowheads="1"/>
          </p:cNvSpPr>
          <p:nvPr/>
        </p:nvSpPr>
        <p:spPr bwMode="auto">
          <a:xfrm>
            <a:off x="8981759" y="5234178"/>
            <a:ext cx="3254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0.6</a:t>
            </a:r>
          </a:p>
        </p:txBody>
      </p:sp>
      <p:sp>
        <p:nvSpPr>
          <p:cNvPr id="45" name="Rectangle 125">
            <a:extLst>
              <a:ext uri="{FF2B5EF4-FFF2-40B4-BE49-F238E27FC236}">
                <a16:creationId xmlns:a16="http://schemas.microsoft.com/office/drawing/2014/main" id="{CE87E005-69F8-B20D-9042-DCF4C927CB54}"/>
              </a:ext>
            </a:extLst>
          </p:cNvPr>
          <p:cNvSpPr>
            <a:spLocks noChangeArrowheads="1"/>
          </p:cNvSpPr>
          <p:nvPr/>
        </p:nvSpPr>
        <p:spPr bwMode="auto">
          <a:xfrm>
            <a:off x="10631911" y="5234178"/>
            <a:ext cx="3254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0.8</a:t>
            </a:r>
          </a:p>
        </p:txBody>
      </p:sp>
      <p:grpSp>
        <p:nvGrpSpPr>
          <p:cNvPr id="50" name="Group 49">
            <a:extLst>
              <a:ext uri="{FF2B5EF4-FFF2-40B4-BE49-F238E27FC236}">
                <a16:creationId xmlns:a16="http://schemas.microsoft.com/office/drawing/2014/main" id="{31E905DD-9A9B-DC07-3AE1-771F43D21A2B}"/>
              </a:ext>
            </a:extLst>
          </p:cNvPr>
          <p:cNvGrpSpPr>
            <a:grpSpLocks noGrp="1" noUngrp="1" noRot="1" noMove="1" noResize="1"/>
          </p:cNvGrpSpPr>
          <p:nvPr/>
        </p:nvGrpSpPr>
        <p:grpSpPr>
          <a:xfrm>
            <a:off x="475427" y="1862187"/>
            <a:ext cx="1436081" cy="3133625"/>
            <a:chOff x="475427" y="1862187"/>
            <a:chExt cx="1436081" cy="3133625"/>
          </a:xfrm>
        </p:grpSpPr>
        <p:sp>
          <p:nvSpPr>
            <p:cNvPr id="46" name="Rectangle 45">
              <a:extLst>
                <a:ext uri="{FF2B5EF4-FFF2-40B4-BE49-F238E27FC236}">
                  <a16:creationId xmlns:a16="http://schemas.microsoft.com/office/drawing/2014/main" id="{C9F7FAF4-9765-CEF1-C2D3-22BFF6103E88}"/>
                </a:ext>
              </a:extLst>
            </p:cNvPr>
            <p:cNvSpPr>
              <a:spLocks noGrp="1" noRot="1" noMove="1" noResize="1" noEditPoints="1" noAdjustHandles="1" noChangeArrowheads="1" noChangeShapeType="1"/>
            </p:cNvSpPr>
            <p:nvPr/>
          </p:nvSpPr>
          <p:spPr>
            <a:xfrm>
              <a:off x="475427" y="1862187"/>
              <a:ext cx="1261614" cy="31336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47" name="Rectangle 46">
              <a:extLst>
                <a:ext uri="{FF2B5EF4-FFF2-40B4-BE49-F238E27FC236}">
                  <a16:creationId xmlns:a16="http://schemas.microsoft.com/office/drawing/2014/main" id="{6092312C-6960-6493-04F9-E5CD07546327}"/>
                </a:ext>
              </a:extLst>
            </p:cNvPr>
            <p:cNvSpPr>
              <a:spLocks noGrp="1" noRot="1" noMove="1" noResize="1" noEditPoints="1" noAdjustHandles="1" noChangeArrowheads="1" noChangeShapeType="1"/>
            </p:cNvSpPr>
            <p:nvPr/>
          </p:nvSpPr>
          <p:spPr>
            <a:xfrm>
              <a:off x="1286768" y="2057435"/>
              <a:ext cx="550889" cy="2300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18554A79-3456-AF6F-619B-567FE08371AC}"/>
                </a:ext>
              </a:extLst>
            </p:cNvPr>
            <p:cNvSpPr>
              <a:spLocks noGrp="1" noRot="1" noMove="1" noResize="1" noEditPoints="1" noAdjustHandles="1" noChangeArrowheads="1" noChangeShapeType="1"/>
            </p:cNvSpPr>
            <p:nvPr/>
          </p:nvSpPr>
          <p:spPr>
            <a:xfrm>
              <a:off x="1360619" y="3357413"/>
              <a:ext cx="550889" cy="2300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FB81A06A-12B7-1FCE-046B-39D38D9DFFC5}"/>
                </a:ext>
              </a:extLst>
            </p:cNvPr>
            <p:cNvSpPr>
              <a:spLocks noGrp="1" noRot="1" noMove="1" noResize="1" noEditPoints="1" noAdjustHandles="1" noChangeArrowheads="1" noChangeShapeType="1"/>
            </p:cNvSpPr>
            <p:nvPr/>
          </p:nvSpPr>
          <p:spPr>
            <a:xfrm>
              <a:off x="1303917" y="4657391"/>
              <a:ext cx="550889" cy="2300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grpSp>
      <p:sp>
        <p:nvSpPr>
          <p:cNvPr id="51" name="Rectangle 125">
            <a:extLst>
              <a:ext uri="{FF2B5EF4-FFF2-40B4-BE49-F238E27FC236}">
                <a16:creationId xmlns:a16="http://schemas.microsoft.com/office/drawing/2014/main" id="{B8EBA2F9-F191-7105-3123-80EA3805F7D9}"/>
              </a:ext>
            </a:extLst>
          </p:cNvPr>
          <p:cNvSpPr>
            <a:spLocks noChangeArrowheads="1"/>
          </p:cNvSpPr>
          <p:nvPr/>
        </p:nvSpPr>
        <p:spPr bwMode="auto">
          <a:xfrm>
            <a:off x="395632" y="1849951"/>
            <a:ext cx="150772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Cross-Type Connectedness</a:t>
            </a:r>
          </a:p>
        </p:txBody>
      </p:sp>
      <p:sp>
        <p:nvSpPr>
          <p:cNvPr id="52" name="Rectangle 125">
            <a:extLst>
              <a:ext uri="{FF2B5EF4-FFF2-40B4-BE49-F238E27FC236}">
                <a16:creationId xmlns:a16="http://schemas.microsoft.com/office/drawing/2014/main" id="{2F8EFB0F-B227-6421-FB32-76C8EB0EACD4}"/>
              </a:ext>
            </a:extLst>
          </p:cNvPr>
          <p:cNvSpPr>
            <a:spLocks noChangeArrowheads="1"/>
          </p:cNvSpPr>
          <p:nvPr/>
        </p:nvSpPr>
        <p:spPr bwMode="auto">
          <a:xfrm>
            <a:off x="395632" y="3142435"/>
            <a:ext cx="150772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Network Cohesiveness</a:t>
            </a:r>
          </a:p>
        </p:txBody>
      </p:sp>
      <p:sp>
        <p:nvSpPr>
          <p:cNvPr id="53" name="Rectangle 125">
            <a:extLst>
              <a:ext uri="{FF2B5EF4-FFF2-40B4-BE49-F238E27FC236}">
                <a16:creationId xmlns:a16="http://schemas.microsoft.com/office/drawing/2014/main" id="{04C5E8AA-6349-7095-6638-C81EDDF6FCB4}"/>
              </a:ext>
            </a:extLst>
          </p:cNvPr>
          <p:cNvSpPr>
            <a:spLocks noChangeArrowheads="1"/>
          </p:cNvSpPr>
          <p:nvPr/>
        </p:nvSpPr>
        <p:spPr bwMode="auto">
          <a:xfrm>
            <a:off x="395632" y="4427961"/>
            <a:ext cx="150772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Civic Engagement</a:t>
            </a:r>
          </a:p>
        </p:txBody>
      </p:sp>
      <p:sp>
        <p:nvSpPr>
          <p:cNvPr id="54" name="Rectangle 53">
            <a:extLst>
              <a:ext uri="{FF2B5EF4-FFF2-40B4-BE49-F238E27FC236}">
                <a16:creationId xmlns:a16="http://schemas.microsoft.com/office/drawing/2014/main" id="{57E57636-082B-280E-BA19-40CE5DB6DFBE}"/>
              </a:ext>
            </a:extLst>
          </p:cNvPr>
          <p:cNvSpPr>
            <a:spLocks noGrp="1" noRot="1" noMove="1" noResize="1" noEditPoints="1" noAdjustHandles="1" noChangeArrowheads="1" noChangeShapeType="1"/>
          </p:cNvSpPr>
          <p:nvPr/>
        </p:nvSpPr>
        <p:spPr>
          <a:xfrm>
            <a:off x="4224337" y="5565144"/>
            <a:ext cx="7062788" cy="4579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58" name="Rectangle 57">
            <a:extLst>
              <a:ext uri="{FF2B5EF4-FFF2-40B4-BE49-F238E27FC236}">
                <a16:creationId xmlns:a16="http://schemas.microsoft.com/office/drawing/2014/main" id="{0BDFEDFE-F27F-4284-D600-78A32EEC89B6}"/>
              </a:ext>
            </a:extLst>
          </p:cNvPr>
          <p:cNvSpPr/>
          <p:nvPr/>
        </p:nvSpPr>
        <p:spPr>
          <a:xfrm>
            <a:off x="6462712" y="6098574"/>
            <a:ext cx="2176463" cy="2866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6BF6F1CC-3FA6-8C49-A87D-77478E2B1F52}"/>
              </a:ext>
            </a:extLst>
          </p:cNvPr>
          <p:cNvSpPr/>
          <p:nvPr/>
        </p:nvSpPr>
        <p:spPr>
          <a:xfrm>
            <a:off x="4674393" y="1899530"/>
            <a:ext cx="110349" cy="110349"/>
          </a:xfrm>
          <a:prstGeom prst="ellipse">
            <a:avLst/>
          </a:prstGeom>
          <a:solidFill>
            <a:srgbClr val="2AB6AC"/>
          </a:solidFill>
          <a:ln>
            <a:solidFill>
              <a:srgbClr val="2AB6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2" name="Oval 61">
            <a:extLst>
              <a:ext uri="{FF2B5EF4-FFF2-40B4-BE49-F238E27FC236}">
                <a16:creationId xmlns:a16="http://schemas.microsoft.com/office/drawing/2014/main" id="{133676E4-15AF-68E3-6FF5-3CF3D76A984D}"/>
              </a:ext>
            </a:extLst>
          </p:cNvPr>
          <p:cNvSpPr/>
          <p:nvPr/>
        </p:nvSpPr>
        <p:spPr>
          <a:xfrm>
            <a:off x="4423911" y="2773012"/>
            <a:ext cx="110349" cy="110349"/>
          </a:xfrm>
          <a:prstGeom prst="ellipse">
            <a:avLst/>
          </a:prstGeom>
          <a:solidFill>
            <a:srgbClr val="2AB6AC"/>
          </a:solidFill>
          <a:ln>
            <a:solidFill>
              <a:srgbClr val="2AB6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3" name="Oval 62">
            <a:extLst>
              <a:ext uri="{FF2B5EF4-FFF2-40B4-BE49-F238E27FC236}">
                <a16:creationId xmlns:a16="http://schemas.microsoft.com/office/drawing/2014/main" id="{B5657CB7-A407-53D6-3645-2DF21FA01F9E}"/>
              </a:ext>
            </a:extLst>
          </p:cNvPr>
          <p:cNvSpPr/>
          <p:nvPr/>
        </p:nvSpPr>
        <p:spPr>
          <a:xfrm>
            <a:off x="4668627" y="4085980"/>
            <a:ext cx="110349" cy="110349"/>
          </a:xfrm>
          <a:prstGeom prst="ellipse">
            <a:avLst/>
          </a:prstGeom>
          <a:solidFill>
            <a:srgbClr val="2AB6AC"/>
          </a:solidFill>
          <a:ln>
            <a:solidFill>
              <a:srgbClr val="2AB6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4" name="Oval 63">
            <a:extLst>
              <a:ext uri="{FF2B5EF4-FFF2-40B4-BE49-F238E27FC236}">
                <a16:creationId xmlns:a16="http://schemas.microsoft.com/office/drawing/2014/main" id="{28A2A3BB-54CC-A3BA-9FDD-E59E0AF909D5}"/>
              </a:ext>
            </a:extLst>
          </p:cNvPr>
          <p:cNvSpPr/>
          <p:nvPr/>
        </p:nvSpPr>
        <p:spPr>
          <a:xfrm>
            <a:off x="4715054" y="4520123"/>
            <a:ext cx="110349" cy="110349"/>
          </a:xfrm>
          <a:prstGeom prst="ellipse">
            <a:avLst/>
          </a:prstGeom>
          <a:solidFill>
            <a:srgbClr val="2AB6AC"/>
          </a:solidFill>
          <a:ln>
            <a:solidFill>
              <a:srgbClr val="2AB6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EA08519A-12E6-056F-C518-0D410E45FB21}"/>
              </a:ext>
            </a:extLst>
          </p:cNvPr>
          <p:cNvSpPr/>
          <p:nvPr/>
        </p:nvSpPr>
        <p:spPr>
          <a:xfrm>
            <a:off x="5619307" y="4954539"/>
            <a:ext cx="110349" cy="110349"/>
          </a:xfrm>
          <a:prstGeom prst="ellipse">
            <a:avLst/>
          </a:prstGeom>
          <a:solidFill>
            <a:srgbClr val="2AB6AC"/>
          </a:solidFill>
          <a:ln>
            <a:solidFill>
              <a:srgbClr val="2AB6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6" name="Isosceles Triangle 65">
            <a:extLst>
              <a:ext uri="{FF2B5EF4-FFF2-40B4-BE49-F238E27FC236}">
                <a16:creationId xmlns:a16="http://schemas.microsoft.com/office/drawing/2014/main" id="{F6C5C74C-0589-BFFC-82D1-4B53637D0F11}"/>
              </a:ext>
            </a:extLst>
          </p:cNvPr>
          <p:cNvSpPr/>
          <p:nvPr/>
        </p:nvSpPr>
        <p:spPr>
          <a:xfrm>
            <a:off x="5437238" y="2305011"/>
            <a:ext cx="148885" cy="128349"/>
          </a:xfrm>
          <a:prstGeom prst="triangle">
            <a:avLst/>
          </a:prstGeom>
          <a:solidFill>
            <a:srgbClr val="FAA523"/>
          </a:solidFill>
          <a:ln>
            <a:solidFill>
              <a:srgbClr val="FAA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7" name="Isosceles Triangle 66">
            <a:extLst>
              <a:ext uri="{FF2B5EF4-FFF2-40B4-BE49-F238E27FC236}">
                <a16:creationId xmlns:a16="http://schemas.microsoft.com/office/drawing/2014/main" id="{96B3EDBC-1698-391C-4B3D-56A66A0CE681}"/>
              </a:ext>
            </a:extLst>
          </p:cNvPr>
          <p:cNvSpPr/>
          <p:nvPr/>
        </p:nvSpPr>
        <p:spPr>
          <a:xfrm>
            <a:off x="5989847" y="3179695"/>
            <a:ext cx="148885" cy="128349"/>
          </a:xfrm>
          <a:prstGeom prst="triangle">
            <a:avLst/>
          </a:prstGeom>
          <a:solidFill>
            <a:srgbClr val="FAA523"/>
          </a:solidFill>
          <a:ln>
            <a:solidFill>
              <a:srgbClr val="FAA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8" name="Isosceles Triangle 67">
            <a:extLst>
              <a:ext uri="{FF2B5EF4-FFF2-40B4-BE49-F238E27FC236}">
                <a16:creationId xmlns:a16="http://schemas.microsoft.com/office/drawing/2014/main" id="{28A6265C-4C93-BBEE-901B-EB12FAD2F353}"/>
              </a:ext>
            </a:extLst>
          </p:cNvPr>
          <p:cNvSpPr/>
          <p:nvPr/>
        </p:nvSpPr>
        <p:spPr>
          <a:xfrm>
            <a:off x="5047270" y="3615695"/>
            <a:ext cx="148885" cy="128349"/>
          </a:xfrm>
          <a:prstGeom prst="triangle">
            <a:avLst/>
          </a:prstGeom>
          <a:solidFill>
            <a:srgbClr val="FAA523"/>
          </a:solidFill>
          <a:ln>
            <a:solidFill>
              <a:srgbClr val="FAA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9" name="Oval 68">
            <a:extLst>
              <a:ext uri="{FF2B5EF4-FFF2-40B4-BE49-F238E27FC236}">
                <a16:creationId xmlns:a16="http://schemas.microsoft.com/office/drawing/2014/main" id="{A23BB17E-1681-4126-071B-3D7634F4C51C}"/>
              </a:ext>
            </a:extLst>
          </p:cNvPr>
          <p:cNvSpPr/>
          <p:nvPr/>
        </p:nvSpPr>
        <p:spPr>
          <a:xfrm>
            <a:off x="9440332" y="1466527"/>
            <a:ext cx="110349" cy="110349"/>
          </a:xfrm>
          <a:prstGeom prst="ellipse">
            <a:avLst/>
          </a:prstGeom>
          <a:solidFill>
            <a:srgbClr val="2AB6AC"/>
          </a:solidFill>
          <a:ln>
            <a:solidFill>
              <a:srgbClr val="2AB6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70" name="Oval 69">
            <a:extLst>
              <a:ext uri="{FF2B5EF4-FFF2-40B4-BE49-F238E27FC236}">
                <a16:creationId xmlns:a16="http://schemas.microsoft.com/office/drawing/2014/main" id="{36D48181-630D-5C3D-6622-DF81F88B7783}"/>
              </a:ext>
            </a:extLst>
          </p:cNvPr>
          <p:cNvSpPr/>
          <p:nvPr/>
        </p:nvSpPr>
        <p:spPr>
          <a:xfrm>
            <a:off x="10331708" y="2420076"/>
            <a:ext cx="110349" cy="110349"/>
          </a:xfrm>
          <a:prstGeom prst="ellipse">
            <a:avLst/>
          </a:prstGeom>
          <a:solidFill>
            <a:srgbClr val="2AB6AC"/>
          </a:solidFill>
          <a:ln>
            <a:solidFill>
              <a:srgbClr val="2AB6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71" name="Isosceles Triangle 70">
            <a:extLst>
              <a:ext uri="{FF2B5EF4-FFF2-40B4-BE49-F238E27FC236}">
                <a16:creationId xmlns:a16="http://schemas.microsoft.com/office/drawing/2014/main" id="{E19FCBFD-EF42-1F70-5585-E0EDC694C5CA}"/>
              </a:ext>
            </a:extLst>
          </p:cNvPr>
          <p:cNvSpPr/>
          <p:nvPr/>
        </p:nvSpPr>
        <p:spPr>
          <a:xfrm>
            <a:off x="10312440" y="2734537"/>
            <a:ext cx="148885" cy="128349"/>
          </a:xfrm>
          <a:prstGeom prst="triangle">
            <a:avLst/>
          </a:prstGeom>
          <a:solidFill>
            <a:srgbClr val="FAA523"/>
          </a:solidFill>
          <a:ln>
            <a:solidFill>
              <a:srgbClr val="FAA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72" name="Rectangle 125">
            <a:extLst>
              <a:ext uri="{FF2B5EF4-FFF2-40B4-BE49-F238E27FC236}">
                <a16:creationId xmlns:a16="http://schemas.microsoft.com/office/drawing/2014/main" id="{399A8711-1378-9DB1-38F1-40D57CF998E7}"/>
              </a:ext>
            </a:extLst>
          </p:cNvPr>
          <p:cNvSpPr>
            <a:spLocks noChangeArrowheads="1"/>
          </p:cNvSpPr>
          <p:nvPr/>
        </p:nvSpPr>
        <p:spPr bwMode="auto">
          <a:xfrm>
            <a:off x="10509758" y="2371681"/>
            <a:ext cx="75982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Positive</a:t>
            </a:r>
          </a:p>
        </p:txBody>
      </p:sp>
      <p:sp>
        <p:nvSpPr>
          <p:cNvPr id="73" name="Rectangle 125">
            <a:extLst>
              <a:ext uri="{FF2B5EF4-FFF2-40B4-BE49-F238E27FC236}">
                <a16:creationId xmlns:a16="http://schemas.microsoft.com/office/drawing/2014/main" id="{8D2E1C5B-347C-9C40-BA0A-3B9C9373D6FA}"/>
              </a:ext>
            </a:extLst>
          </p:cNvPr>
          <p:cNvSpPr>
            <a:spLocks noChangeArrowheads="1"/>
          </p:cNvSpPr>
          <p:nvPr/>
        </p:nvSpPr>
        <p:spPr bwMode="auto">
          <a:xfrm>
            <a:off x="10509758" y="2680440"/>
            <a:ext cx="8640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Negative</a:t>
            </a:r>
          </a:p>
        </p:txBody>
      </p:sp>
      <p:sp>
        <p:nvSpPr>
          <p:cNvPr id="56" name="Rectangle 125">
            <a:extLst>
              <a:ext uri="{FF2B5EF4-FFF2-40B4-BE49-F238E27FC236}">
                <a16:creationId xmlns:a16="http://schemas.microsoft.com/office/drawing/2014/main" id="{84A0AFC7-A436-CDF2-2705-10F30083EC9D}"/>
              </a:ext>
            </a:extLst>
          </p:cNvPr>
          <p:cNvSpPr>
            <a:spLocks noChangeArrowheads="1"/>
          </p:cNvSpPr>
          <p:nvPr/>
        </p:nvSpPr>
        <p:spPr bwMode="auto">
          <a:xfrm>
            <a:off x="4931680" y="5569892"/>
            <a:ext cx="537042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effectLst/>
                <a:uLnTx/>
                <a:uFillTx/>
                <a:latin typeface="Lucida Sans" panose="020B0602030504020204" pitchFamily="34" charset="0"/>
                <a:ea typeface="+mn-ea"/>
                <a:cs typeface="+mn-cs"/>
              </a:rPr>
              <a:t>Correlation between Population (weighted) and Upward Mobility across Counties</a:t>
            </a:r>
          </a:p>
        </p:txBody>
      </p:sp>
      <p:cxnSp>
        <p:nvCxnSpPr>
          <p:cNvPr id="2" name="Straight Connector 1">
            <a:extLst>
              <a:ext uri="{FF2B5EF4-FFF2-40B4-BE49-F238E27FC236}">
                <a16:creationId xmlns:a16="http://schemas.microsoft.com/office/drawing/2014/main" id="{BC11258E-BEAF-BDCD-8936-BB801CF10336}"/>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717ADF6-5FC6-6F98-E12B-6D2A562D5AAF}"/>
              </a:ext>
            </a:extLst>
          </p:cNvPr>
          <p:cNvSpPr txBox="1"/>
          <p:nvPr/>
        </p:nvSpPr>
        <p:spPr>
          <a:xfrm>
            <a:off x="568591" y="6483107"/>
            <a:ext cx="10641275"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dirty="0">
                <a:ln>
                  <a:noFill/>
                </a:ln>
                <a:effectLst/>
                <a:uLnTx/>
                <a:uFillTx/>
                <a:latin typeface="Lucida Sans" panose="020B0602030504020204" pitchFamily="34" charset="0"/>
                <a:ea typeface="Lato" panose="020F0502020204030203" pitchFamily="34" charset="0"/>
                <a:cs typeface="Arial" pitchFamily="34" charset="0"/>
              </a:rPr>
              <a:t>Source: </a:t>
            </a:r>
            <a:r>
              <a:rPr kumimoji="0" lang="nb-NO" sz="1400" b="0" u="none" strike="noStrike" kern="1200" cap="none" spc="0" normalizeH="0" baseline="0" noProof="0" dirty="0">
                <a:ln>
                  <a:noFill/>
                </a:ln>
                <a:effectLst/>
                <a:uLnTx/>
                <a:uFillTx/>
                <a:latin typeface="Lucida Sans" panose="020B0602030504020204" pitchFamily="34" charset="0"/>
                <a:ea typeface="Lato" panose="020F0502020204030203" pitchFamily="34" charset="0"/>
                <a:cs typeface="Arial" pitchFamily="34" charset="0"/>
              </a:rPr>
              <a:t>Chetty, Friedman, Hendren, Jones, Porter (2018); Chetty, Jackson, Kuchler, Stroebel et al. (Nature 2022) </a:t>
            </a:r>
            <a:endParaRPr kumimoji="0" lang="en-US" sz="1400" b="0" u="none" strike="noStrike" kern="1200" cap="none" spc="0" normalizeH="0" baseline="0" noProof="0" dirty="0">
              <a:ln>
                <a:noFill/>
              </a:ln>
              <a:effectLst/>
              <a:uLnTx/>
              <a:uFillTx/>
              <a:latin typeface="Lucida Sans" panose="020B0602030504020204" pitchFamily="34" charset="0"/>
              <a:ea typeface="Lato" panose="020F0502020204030203" pitchFamily="34" charset="0"/>
              <a:cs typeface="Arial" pitchFamily="34" charset="0"/>
            </a:endParaRPr>
          </a:p>
        </p:txBody>
      </p:sp>
      <p:sp>
        <p:nvSpPr>
          <p:cNvPr id="5" name="Rectangle 183">
            <a:extLst>
              <a:ext uri="{FF2B5EF4-FFF2-40B4-BE49-F238E27FC236}">
                <a16:creationId xmlns:a16="http://schemas.microsoft.com/office/drawing/2014/main" id="{DDA6B8A4-D80C-3BC9-A2C2-E8C7074488EC}"/>
              </a:ext>
            </a:extLst>
          </p:cNvPr>
          <p:cNvSpPr>
            <a:spLocks noChangeArrowheads="1"/>
          </p:cNvSpPr>
          <p:nvPr/>
        </p:nvSpPr>
        <p:spPr bwMode="auto">
          <a:xfrm>
            <a:off x="6462351" y="598576"/>
            <a:ext cx="10099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effectLst/>
              <a:uLnTx/>
              <a:uFillTx/>
              <a:latin typeface="Lucida Sans" panose="020B0602030504020204" pitchFamily="34" charset="0"/>
              <a:ea typeface="+mn-ea"/>
              <a:cs typeface="Arial" pitchFamily="34" charset="0"/>
            </a:endParaRPr>
          </a:p>
        </p:txBody>
      </p:sp>
      <p:sp>
        <p:nvSpPr>
          <p:cNvPr id="6" name="Rectangle 5">
            <a:extLst>
              <a:ext uri="{FF2B5EF4-FFF2-40B4-BE49-F238E27FC236}">
                <a16:creationId xmlns:a16="http://schemas.microsoft.com/office/drawing/2014/main" id="{30A94D90-7A00-F3B2-D95E-70C56BA11ACE}"/>
              </a:ext>
            </a:extLst>
          </p:cNvPr>
          <p:cNvSpPr>
            <a:spLocks noChangeArrowheads="1"/>
          </p:cNvSpPr>
          <p:nvPr/>
        </p:nvSpPr>
        <p:spPr bwMode="auto">
          <a:xfrm>
            <a:off x="613836" y="375319"/>
            <a:ext cx="1127336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effectLst/>
                <a:uLnTx/>
                <a:uFillTx/>
                <a:latin typeface="Lucida Bright" panose="02040602050505020304" pitchFamily="18" charset="0"/>
                <a:cs typeface="Arial" pitchFamily="34" charset="0"/>
              </a:rPr>
              <a:t>Correlations between Upward Mobility and Measures of Social Capital</a:t>
            </a:r>
          </a:p>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626365"/>
                </a:solidFill>
                <a:effectLst/>
                <a:uLnTx/>
                <a:uFillTx/>
                <a:latin typeface="Lucida Sans"/>
                <a:ea typeface="+mn-ea"/>
                <a:cs typeface="Arial" pitchFamily="34" charset="0"/>
              </a:rPr>
              <a:t>County-level Univariate Correlations</a:t>
            </a:r>
          </a:p>
        </p:txBody>
      </p:sp>
      <p:pic>
        <p:nvPicPr>
          <p:cNvPr id="55" name="Picture 54" descr="A black and grey text&#10;&#10;Description automatically generated">
            <a:extLst>
              <a:ext uri="{FF2B5EF4-FFF2-40B4-BE49-F238E27FC236}">
                <a16:creationId xmlns:a16="http://schemas.microsoft.com/office/drawing/2014/main" id="{D9A0299A-FB69-E46F-27DC-FBC1B17B6819}"/>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8" name="Straight Connector 7">
            <a:extLst>
              <a:ext uri="{FF2B5EF4-FFF2-40B4-BE49-F238E27FC236}">
                <a16:creationId xmlns:a16="http://schemas.microsoft.com/office/drawing/2014/main" id="{1BDADB9C-B25F-5977-0ADA-E9FF0BC3F7DB}"/>
              </a:ext>
            </a:extLst>
          </p:cNvPr>
          <p:cNvCxnSpPr>
            <a:cxnSpLocks/>
          </p:cNvCxnSpPr>
          <p:nvPr/>
        </p:nvCxnSpPr>
        <p:spPr>
          <a:xfrm>
            <a:off x="620980" y="10009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4278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94"/>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3" name="Rectangle 183"/>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87" name="Rectangle 86">
            <a:extLst>
              <a:ext uri="{FF2B5EF4-FFF2-40B4-BE49-F238E27FC236}">
                <a16:creationId xmlns:a16="http://schemas.microsoft.com/office/drawing/2014/main" id="{C144076C-FAF2-46A8-B1E5-4D9973586C5B}"/>
              </a:ext>
            </a:extLst>
          </p:cNvPr>
          <p:cNvSpPr>
            <a:spLocks noChangeArrowheads="1"/>
          </p:cNvSpPr>
          <p:nvPr/>
        </p:nvSpPr>
        <p:spPr bwMode="auto">
          <a:xfrm>
            <a:off x="613836" y="375319"/>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Ongoing Efforts to Increase</a:t>
            </a:r>
            <a:r>
              <a:rPr kumimoji="0" lang="en-US" sz="2400" b="1" i="0" u="none" strike="noStrike" kern="1200" cap="none" spc="0" normalizeH="0" noProof="0" dirty="0">
                <a:ln>
                  <a:noFill/>
                </a:ln>
                <a:solidFill>
                  <a:srgbClr val="262626"/>
                </a:solidFill>
                <a:effectLst/>
                <a:uLnTx/>
                <a:uFillTx/>
                <a:latin typeface="Lucida Bright" panose="02040602050505020304" pitchFamily="18" charset="0"/>
                <a:ea typeface="+mn-ea"/>
                <a:cs typeface="Arial" pitchFamily="34" charset="0"/>
              </a:rPr>
              <a:t> Cross-Class Interaction</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pic>
        <p:nvPicPr>
          <p:cNvPr id="3" name="Picture 2" descr="A black and grey text&#10;&#10;Description automatically generated">
            <a:extLst>
              <a:ext uri="{FF2B5EF4-FFF2-40B4-BE49-F238E27FC236}">
                <a16:creationId xmlns:a16="http://schemas.microsoft.com/office/drawing/2014/main" id="{8585D2FC-2A96-5725-5C87-AB72F35F98D9}"/>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18" name="Rectangle 17">
            <a:extLst>
              <a:ext uri="{FF2B5EF4-FFF2-40B4-BE49-F238E27FC236}">
                <a16:creationId xmlns:a16="http://schemas.microsoft.com/office/drawing/2014/main" id="{94E574D1-D6B9-8BFC-5919-6A1E98FC8BBA}"/>
              </a:ext>
            </a:extLst>
          </p:cNvPr>
          <p:cNvSpPr/>
          <p:nvPr/>
        </p:nvSpPr>
        <p:spPr>
          <a:xfrm>
            <a:off x="4143053" y="1564685"/>
            <a:ext cx="3811080" cy="4861593"/>
          </a:xfrm>
          <a:prstGeom prst="rect">
            <a:avLst/>
          </a:prstGeom>
          <a:solidFill>
            <a:schemeClr val="bg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9" name="Group 18">
            <a:extLst>
              <a:ext uri="{FF2B5EF4-FFF2-40B4-BE49-F238E27FC236}">
                <a16:creationId xmlns:a16="http://schemas.microsoft.com/office/drawing/2014/main" id="{6C05D7DF-C3F6-F3B5-5C35-96CED3B887CA}"/>
              </a:ext>
            </a:extLst>
          </p:cNvPr>
          <p:cNvGrpSpPr/>
          <p:nvPr/>
        </p:nvGrpSpPr>
        <p:grpSpPr>
          <a:xfrm>
            <a:off x="4444253" y="1244815"/>
            <a:ext cx="3326991" cy="5060215"/>
            <a:chOff x="4440893" y="1244815"/>
            <a:chExt cx="3326991" cy="5060215"/>
          </a:xfrm>
        </p:grpSpPr>
        <p:sp>
          <p:nvSpPr>
            <p:cNvPr id="9" name="Rectangle 8">
              <a:extLst>
                <a:ext uri="{FF2B5EF4-FFF2-40B4-BE49-F238E27FC236}">
                  <a16:creationId xmlns:a16="http://schemas.microsoft.com/office/drawing/2014/main" id="{7497B262-6A04-5D0B-D38A-791D9433BF8F}"/>
                </a:ext>
              </a:extLst>
            </p:cNvPr>
            <p:cNvSpPr/>
            <p:nvPr/>
          </p:nvSpPr>
          <p:spPr>
            <a:xfrm>
              <a:off x="4440893" y="1823073"/>
              <a:ext cx="3326991" cy="13449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9E5B312-41CD-565B-E40D-2206250D15EA}"/>
                </a:ext>
              </a:extLst>
            </p:cNvPr>
            <p:cNvSpPr/>
            <p:nvPr/>
          </p:nvSpPr>
          <p:spPr>
            <a:xfrm>
              <a:off x="4504188" y="1667686"/>
              <a:ext cx="3200400" cy="463734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FFD776A-8042-708B-08EA-221C5B878DFC}"/>
                </a:ext>
              </a:extLst>
            </p:cNvPr>
            <p:cNvCxnSpPr>
              <a:cxnSpLocks/>
            </p:cNvCxnSpPr>
            <p:nvPr/>
          </p:nvCxnSpPr>
          <p:spPr>
            <a:xfrm>
              <a:off x="5256360" y="3527927"/>
              <a:ext cx="1696057" cy="0"/>
            </a:xfrm>
            <a:prstGeom prst="line">
              <a:avLst/>
            </a:prstGeom>
            <a:ln>
              <a:solidFill>
                <a:srgbClr val="29B6A4"/>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8DE513F-A5CF-042A-6A53-5C32A3DD2A34}"/>
                </a:ext>
              </a:extLst>
            </p:cNvPr>
            <p:cNvSpPr txBox="1"/>
            <p:nvPr/>
          </p:nvSpPr>
          <p:spPr>
            <a:xfrm>
              <a:off x="4897687" y="1244815"/>
              <a:ext cx="255711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In Recreational Groups</a:t>
              </a:r>
            </a:p>
          </p:txBody>
        </p:sp>
        <p:grpSp>
          <p:nvGrpSpPr>
            <p:cNvPr id="52" name="Group 51">
              <a:extLst>
                <a:ext uri="{FF2B5EF4-FFF2-40B4-BE49-F238E27FC236}">
                  <a16:creationId xmlns:a16="http://schemas.microsoft.com/office/drawing/2014/main" id="{1D54A765-C1AF-0560-D310-868C6F61D156}"/>
                </a:ext>
              </a:extLst>
            </p:cNvPr>
            <p:cNvGrpSpPr/>
            <p:nvPr/>
          </p:nvGrpSpPr>
          <p:grpSpPr>
            <a:xfrm>
              <a:off x="4625053" y="3891436"/>
              <a:ext cx="2958671" cy="1600438"/>
              <a:chOff x="4616665" y="3891436"/>
              <a:chExt cx="2958671" cy="1600438"/>
            </a:xfrm>
          </p:grpSpPr>
          <p:sp>
            <p:nvSpPr>
              <p:cNvPr id="39" name="TextBox 38">
                <a:extLst>
                  <a:ext uri="{FF2B5EF4-FFF2-40B4-BE49-F238E27FC236}">
                    <a16:creationId xmlns:a16="http://schemas.microsoft.com/office/drawing/2014/main" id="{10FA2238-CA80-BC07-0B9D-3ABB58DD43A0}"/>
                  </a:ext>
                </a:extLst>
              </p:cNvPr>
              <p:cNvSpPr txBox="1"/>
              <p:nvPr/>
            </p:nvSpPr>
            <p:spPr>
              <a:xfrm>
                <a:off x="4616665" y="3891436"/>
                <a:ext cx="2958671" cy="1600438"/>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Where policy has failed, Innercity Weightlifting has succeeded in earning trust, creating hope, bridging social capital, and increasing opportunity for economic mobility.</a:t>
                </a:r>
              </a:p>
            </p:txBody>
          </p:sp>
          <p:sp>
            <p:nvSpPr>
              <p:cNvPr id="50" name="Rectangle 49">
                <a:extLst>
                  <a:ext uri="{FF2B5EF4-FFF2-40B4-BE49-F238E27FC236}">
                    <a16:creationId xmlns:a16="http://schemas.microsoft.com/office/drawing/2014/main" id="{9A82BD50-3BF9-E6CB-AD92-BECB1B8BECBC}"/>
                  </a:ext>
                </a:extLst>
              </p:cNvPr>
              <p:cNvSpPr/>
              <p:nvPr/>
            </p:nvSpPr>
            <p:spPr>
              <a:xfrm>
                <a:off x="4711055" y="4823499"/>
                <a:ext cx="640334" cy="155448"/>
              </a:xfrm>
              <a:prstGeom prst="rect">
                <a:avLst/>
              </a:prstGeom>
              <a:solidFill>
                <a:srgbClr val="29B6A4">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prstClr val="white"/>
                  </a:solidFill>
                  <a:effectLst/>
                  <a:uLnTx/>
                  <a:uFillTx/>
                  <a:latin typeface="Lucida Sans" panose="020B0602030504020204" pitchFamily="34" charset="0"/>
                  <a:ea typeface="+mn-ea"/>
                  <a:cs typeface="+mn-cs"/>
                </a:endParaRPr>
              </a:p>
            </p:txBody>
          </p:sp>
          <p:sp>
            <p:nvSpPr>
              <p:cNvPr id="51" name="Rectangle 50">
                <a:extLst>
                  <a:ext uri="{FF2B5EF4-FFF2-40B4-BE49-F238E27FC236}">
                    <a16:creationId xmlns:a16="http://schemas.microsoft.com/office/drawing/2014/main" id="{59BF86F4-2A9D-C0B0-7A8D-B37EE60AEDBE}"/>
                  </a:ext>
                </a:extLst>
              </p:cNvPr>
              <p:cNvSpPr/>
              <p:nvPr/>
            </p:nvSpPr>
            <p:spPr>
              <a:xfrm>
                <a:off x="5997252" y="4609925"/>
                <a:ext cx="1262311" cy="155448"/>
              </a:xfrm>
              <a:prstGeom prst="rect">
                <a:avLst/>
              </a:prstGeom>
              <a:solidFill>
                <a:srgbClr val="29B6A4">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prstClr val="white"/>
                  </a:solidFill>
                  <a:effectLst/>
                  <a:uLnTx/>
                  <a:uFillTx/>
                  <a:latin typeface="Lucida Sans" panose="020B0602030504020204" pitchFamily="34" charset="0"/>
                  <a:ea typeface="+mn-ea"/>
                  <a:cs typeface="+mn-cs"/>
                </a:endParaRPr>
              </a:p>
            </p:txBody>
          </p:sp>
        </p:grpSp>
        <p:pic>
          <p:nvPicPr>
            <p:cNvPr id="1028" name="Picture 4">
              <a:extLst>
                <a:ext uri="{FF2B5EF4-FFF2-40B4-BE49-F238E27FC236}">
                  <a16:creationId xmlns:a16="http://schemas.microsoft.com/office/drawing/2014/main" id="{05F7A51C-1DA0-1F41-6626-2B5B6FBCD4E6}"/>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454893" y="1946734"/>
              <a:ext cx="1298990" cy="12490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a:extLst>
              <a:ext uri="{FF2B5EF4-FFF2-40B4-BE49-F238E27FC236}">
                <a16:creationId xmlns:a16="http://schemas.microsoft.com/office/drawing/2014/main" id="{769BC221-6B46-CC83-AFD4-1EDFFE0EB174}"/>
              </a:ext>
            </a:extLst>
          </p:cNvPr>
          <p:cNvGrpSpPr/>
          <p:nvPr/>
        </p:nvGrpSpPr>
        <p:grpSpPr>
          <a:xfrm>
            <a:off x="811599" y="1223174"/>
            <a:ext cx="3200400" cy="5081856"/>
            <a:chOff x="811599" y="1223174"/>
            <a:chExt cx="3200400" cy="5081856"/>
          </a:xfrm>
        </p:grpSpPr>
        <p:sp>
          <p:nvSpPr>
            <p:cNvPr id="4" name="Rectangle 3">
              <a:extLst>
                <a:ext uri="{FF2B5EF4-FFF2-40B4-BE49-F238E27FC236}">
                  <a16:creationId xmlns:a16="http://schemas.microsoft.com/office/drawing/2014/main" id="{9382D7C0-877C-CC2D-47A7-BE48B90F916F}"/>
                </a:ext>
              </a:extLst>
            </p:cNvPr>
            <p:cNvSpPr/>
            <p:nvPr/>
          </p:nvSpPr>
          <p:spPr>
            <a:xfrm>
              <a:off x="811599" y="1667686"/>
              <a:ext cx="3200400" cy="463734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47A27B1D-29A8-ED67-9AC4-C2D6CA5FE867}"/>
                </a:ext>
              </a:extLst>
            </p:cNvPr>
            <p:cNvCxnSpPr>
              <a:cxnSpLocks/>
            </p:cNvCxnSpPr>
            <p:nvPr/>
          </p:nvCxnSpPr>
          <p:spPr>
            <a:xfrm>
              <a:off x="1563771" y="3527927"/>
              <a:ext cx="1696057" cy="0"/>
            </a:xfrm>
            <a:prstGeom prst="line">
              <a:avLst/>
            </a:prstGeom>
            <a:ln>
              <a:solidFill>
                <a:srgbClr val="29B6A4"/>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92DA138-11CE-2898-E1FB-F8C109B016C3}"/>
                </a:ext>
              </a:extLst>
            </p:cNvPr>
            <p:cNvSpPr txBox="1"/>
            <p:nvPr/>
          </p:nvSpPr>
          <p:spPr>
            <a:xfrm>
              <a:off x="811599" y="1684428"/>
              <a:ext cx="3200400" cy="923330"/>
            </a:xfrm>
            <a:prstGeom prst="rect">
              <a:avLst/>
            </a:prstGeom>
            <a:noFill/>
            <a:ln>
              <a:noFill/>
            </a:ln>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33" name="TextBox 32">
              <a:extLst>
                <a:ext uri="{FF2B5EF4-FFF2-40B4-BE49-F238E27FC236}">
                  <a16:creationId xmlns:a16="http://schemas.microsoft.com/office/drawing/2014/main" id="{F8379550-B887-D4C2-3C2D-AB555B46345F}"/>
                </a:ext>
              </a:extLst>
            </p:cNvPr>
            <p:cNvSpPr txBox="1"/>
            <p:nvPr/>
          </p:nvSpPr>
          <p:spPr>
            <a:xfrm>
              <a:off x="1495522" y="1223174"/>
              <a:ext cx="183255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In Communities</a:t>
              </a:r>
            </a:p>
          </p:txBody>
        </p:sp>
        <p:pic>
          <p:nvPicPr>
            <p:cNvPr id="1026" name="Picture 2" descr="A New Logo - Richard King Mellon Foundation">
              <a:extLst>
                <a:ext uri="{FF2B5EF4-FFF2-40B4-BE49-F238E27FC236}">
                  <a16:creationId xmlns:a16="http://schemas.microsoft.com/office/drawing/2014/main" id="{0B18B309-67CF-9E70-699B-E6E479F80D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5516" y="2263472"/>
              <a:ext cx="2752567" cy="615553"/>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DFDF950B-4FFC-8416-642A-FAE99D634AF6}"/>
                </a:ext>
              </a:extLst>
            </p:cNvPr>
            <p:cNvGrpSpPr/>
            <p:nvPr/>
          </p:nvGrpSpPr>
          <p:grpSpPr>
            <a:xfrm>
              <a:off x="860760" y="3891436"/>
              <a:ext cx="3102078" cy="2246769"/>
              <a:chOff x="860760" y="3891436"/>
              <a:chExt cx="3102078" cy="2246769"/>
            </a:xfrm>
          </p:grpSpPr>
          <p:grpSp>
            <p:nvGrpSpPr>
              <p:cNvPr id="24" name="Group 23">
                <a:extLst>
                  <a:ext uri="{FF2B5EF4-FFF2-40B4-BE49-F238E27FC236}">
                    <a16:creationId xmlns:a16="http://schemas.microsoft.com/office/drawing/2014/main" id="{13D6FFB6-EE45-DB22-8A45-4E449CDD2784}"/>
                  </a:ext>
                </a:extLst>
              </p:cNvPr>
              <p:cNvGrpSpPr/>
              <p:nvPr/>
            </p:nvGrpSpPr>
            <p:grpSpPr>
              <a:xfrm>
                <a:off x="860760" y="3891436"/>
                <a:ext cx="3102078" cy="2246769"/>
                <a:chOff x="644323" y="3435793"/>
                <a:chExt cx="3102078" cy="2246769"/>
              </a:xfrm>
            </p:grpSpPr>
            <p:sp>
              <p:nvSpPr>
                <p:cNvPr id="27" name="TextBox 26">
                  <a:extLst>
                    <a:ext uri="{FF2B5EF4-FFF2-40B4-BE49-F238E27FC236}">
                      <a16:creationId xmlns:a16="http://schemas.microsoft.com/office/drawing/2014/main" id="{6B5AA689-6EFE-B251-996A-4B383A9E72AC}"/>
                    </a:ext>
                  </a:extLst>
                </p:cNvPr>
                <p:cNvSpPr txBox="1"/>
                <p:nvPr/>
              </p:nvSpPr>
              <p:spPr>
                <a:xfrm>
                  <a:off x="644323" y="3435793"/>
                  <a:ext cx="3102078" cy="2246769"/>
                </a:xfrm>
                <a:prstGeom prst="rect">
                  <a:avLst/>
                </a:prstGeom>
                <a:noFill/>
                <a:ln>
                  <a:noFill/>
                </a:ln>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The Richard King Mellon Foundation is issuing a Request for Proposals (RFP) that identify the factors that limit the formation of young people’s social connections across economic classes in Allegheny and Westmoreland counties and prototype interventions to increase these connections. </a:t>
                  </a:r>
                </a:p>
              </p:txBody>
            </p:sp>
            <p:sp>
              <p:nvSpPr>
                <p:cNvPr id="32" name="Rectangle 31">
                  <a:extLst>
                    <a:ext uri="{FF2B5EF4-FFF2-40B4-BE49-F238E27FC236}">
                      <a16:creationId xmlns:a16="http://schemas.microsoft.com/office/drawing/2014/main" id="{D91CF141-5CE1-6151-10D3-82F6A1383DB6}"/>
                    </a:ext>
                  </a:extLst>
                </p:cNvPr>
                <p:cNvSpPr/>
                <p:nvPr/>
              </p:nvSpPr>
              <p:spPr>
                <a:xfrm>
                  <a:off x="749802" y="4377029"/>
                  <a:ext cx="2422279" cy="155448"/>
                </a:xfrm>
                <a:prstGeom prst="rect">
                  <a:avLst/>
                </a:prstGeom>
                <a:solidFill>
                  <a:srgbClr val="29B6A4">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prstClr val="white"/>
                    </a:solidFill>
                    <a:effectLst/>
                    <a:uLnTx/>
                    <a:uFillTx/>
                    <a:latin typeface="Lucida Sans" panose="020B0602030504020204" pitchFamily="34" charset="0"/>
                    <a:ea typeface="+mn-ea"/>
                    <a:cs typeface="+mn-cs"/>
                  </a:endParaRPr>
                </a:p>
              </p:txBody>
            </p:sp>
            <p:sp>
              <p:nvSpPr>
                <p:cNvPr id="29" name="Rectangle 28">
                  <a:extLst>
                    <a:ext uri="{FF2B5EF4-FFF2-40B4-BE49-F238E27FC236}">
                      <a16:creationId xmlns:a16="http://schemas.microsoft.com/office/drawing/2014/main" id="{9AC5B871-EF7F-25A1-9888-471BBB4344A5}"/>
                    </a:ext>
                  </a:extLst>
                </p:cNvPr>
                <p:cNvSpPr/>
                <p:nvPr/>
              </p:nvSpPr>
              <p:spPr>
                <a:xfrm>
                  <a:off x="749802" y="4152846"/>
                  <a:ext cx="2126211" cy="155448"/>
                </a:xfrm>
                <a:prstGeom prst="rect">
                  <a:avLst/>
                </a:prstGeom>
                <a:solidFill>
                  <a:srgbClr val="29B6A4">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prstClr val="white"/>
                    </a:solidFill>
                    <a:effectLst/>
                    <a:uLnTx/>
                    <a:uFillTx/>
                    <a:latin typeface="Lucida Sans" panose="020B0602030504020204" pitchFamily="34" charset="0"/>
                    <a:ea typeface="+mn-ea"/>
                    <a:cs typeface="+mn-cs"/>
                  </a:endParaRPr>
                </a:p>
              </p:txBody>
            </p:sp>
            <p:sp>
              <p:nvSpPr>
                <p:cNvPr id="30" name="Rectangle 29">
                  <a:extLst>
                    <a:ext uri="{FF2B5EF4-FFF2-40B4-BE49-F238E27FC236}">
                      <a16:creationId xmlns:a16="http://schemas.microsoft.com/office/drawing/2014/main" id="{C1FC28EE-C46D-1BCF-4AAA-947CBDCD7687}"/>
                    </a:ext>
                  </a:extLst>
                </p:cNvPr>
                <p:cNvSpPr/>
                <p:nvPr/>
              </p:nvSpPr>
              <p:spPr>
                <a:xfrm>
                  <a:off x="2815687" y="3938227"/>
                  <a:ext cx="682625" cy="155448"/>
                </a:xfrm>
                <a:prstGeom prst="rect">
                  <a:avLst/>
                </a:prstGeom>
                <a:solidFill>
                  <a:srgbClr val="29B6A4">
                    <a:alpha val="2470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prstClr val="white"/>
                    </a:solidFill>
                    <a:effectLst/>
                    <a:uLnTx/>
                    <a:uFillTx/>
                    <a:latin typeface="Lucida Sans" panose="020B0602030504020204" pitchFamily="34" charset="0"/>
                    <a:ea typeface="+mn-ea"/>
                    <a:cs typeface="+mn-cs"/>
                  </a:endParaRPr>
                </a:p>
              </p:txBody>
            </p:sp>
          </p:grpSp>
          <p:sp>
            <p:nvSpPr>
              <p:cNvPr id="6" name="Rectangle 5">
                <a:extLst>
                  <a:ext uri="{FF2B5EF4-FFF2-40B4-BE49-F238E27FC236}">
                    <a16:creationId xmlns:a16="http://schemas.microsoft.com/office/drawing/2014/main" id="{034B48A6-57A8-3DA3-F952-0845A927E428}"/>
                  </a:ext>
                </a:extLst>
              </p:cNvPr>
              <p:cNvSpPr/>
              <p:nvPr/>
            </p:nvSpPr>
            <p:spPr>
              <a:xfrm>
                <a:off x="964370" y="5048113"/>
                <a:ext cx="2172530" cy="155448"/>
              </a:xfrm>
              <a:prstGeom prst="rect">
                <a:avLst/>
              </a:prstGeom>
              <a:solidFill>
                <a:srgbClr val="29B6A4">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prstClr val="white"/>
                  </a:solidFill>
                  <a:effectLst/>
                  <a:uLnTx/>
                  <a:uFillTx/>
                  <a:latin typeface="Lucida Sans" panose="020B0602030504020204" pitchFamily="34" charset="0"/>
                  <a:ea typeface="+mn-ea"/>
                  <a:cs typeface="+mn-cs"/>
                </a:endParaRPr>
              </a:p>
            </p:txBody>
          </p:sp>
          <p:sp>
            <p:nvSpPr>
              <p:cNvPr id="15" name="Rectangle 14">
                <a:extLst>
                  <a:ext uri="{FF2B5EF4-FFF2-40B4-BE49-F238E27FC236}">
                    <a16:creationId xmlns:a16="http://schemas.microsoft.com/office/drawing/2014/main" id="{5B739E00-862C-0616-5B98-A467C00F12A6}"/>
                  </a:ext>
                </a:extLst>
              </p:cNvPr>
              <p:cNvSpPr/>
              <p:nvPr/>
            </p:nvSpPr>
            <p:spPr>
              <a:xfrm>
                <a:off x="964370" y="5261255"/>
                <a:ext cx="1470855" cy="155448"/>
              </a:xfrm>
              <a:prstGeom prst="rect">
                <a:avLst/>
              </a:prstGeom>
              <a:solidFill>
                <a:srgbClr val="29B6A4">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prstClr val="white"/>
                  </a:solidFill>
                  <a:effectLst/>
                  <a:uLnTx/>
                  <a:uFillTx/>
                  <a:latin typeface="Lucida Sans" panose="020B0602030504020204" pitchFamily="34" charset="0"/>
                  <a:ea typeface="+mn-ea"/>
                  <a:cs typeface="+mn-cs"/>
                </a:endParaRPr>
              </a:p>
            </p:txBody>
          </p:sp>
        </p:grpSp>
      </p:grpSp>
      <p:grpSp>
        <p:nvGrpSpPr>
          <p:cNvPr id="10" name="Group 9">
            <a:extLst>
              <a:ext uri="{FF2B5EF4-FFF2-40B4-BE49-F238E27FC236}">
                <a16:creationId xmlns:a16="http://schemas.microsoft.com/office/drawing/2014/main" id="{1DE226D9-02C9-FA51-09DE-1892F04F11F7}"/>
              </a:ext>
            </a:extLst>
          </p:cNvPr>
          <p:cNvGrpSpPr/>
          <p:nvPr/>
        </p:nvGrpSpPr>
        <p:grpSpPr>
          <a:xfrm>
            <a:off x="8203498" y="1244815"/>
            <a:ext cx="3200400" cy="5060215"/>
            <a:chOff x="8203498" y="1244815"/>
            <a:chExt cx="3200400" cy="5060215"/>
          </a:xfrm>
        </p:grpSpPr>
        <p:grpSp>
          <p:nvGrpSpPr>
            <p:cNvPr id="44" name="Group 43">
              <a:extLst>
                <a:ext uri="{FF2B5EF4-FFF2-40B4-BE49-F238E27FC236}">
                  <a16:creationId xmlns:a16="http://schemas.microsoft.com/office/drawing/2014/main" id="{6C8EED5A-F045-F69B-4913-48F251D8FF98}"/>
                </a:ext>
              </a:extLst>
            </p:cNvPr>
            <p:cNvGrpSpPr/>
            <p:nvPr/>
          </p:nvGrpSpPr>
          <p:grpSpPr>
            <a:xfrm>
              <a:off x="8324363" y="3891436"/>
              <a:ext cx="2958671" cy="1815882"/>
              <a:chOff x="8324363" y="4020161"/>
              <a:chExt cx="2958671" cy="1815882"/>
            </a:xfrm>
          </p:grpSpPr>
          <p:sp>
            <p:nvSpPr>
              <p:cNvPr id="41" name="TextBox 40">
                <a:extLst>
                  <a:ext uri="{FF2B5EF4-FFF2-40B4-BE49-F238E27FC236}">
                    <a16:creationId xmlns:a16="http://schemas.microsoft.com/office/drawing/2014/main" id="{3B684481-255D-A69D-43B2-3B29D4BDE60D}"/>
                  </a:ext>
                </a:extLst>
              </p:cNvPr>
              <p:cNvSpPr txBox="1"/>
              <p:nvPr/>
            </p:nvSpPr>
            <p:spPr>
              <a:xfrm>
                <a:off x="8324363" y="4020161"/>
                <a:ext cx="2958671"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Students are forming cross-class friendships. 85% connect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with their peer partner outside of class time.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1"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Students who succeed are well positioned to attend four-year colleges.</a:t>
                </a:r>
              </a:p>
            </p:txBody>
          </p:sp>
          <p:sp>
            <p:nvSpPr>
              <p:cNvPr id="16" name="Rectangle 15">
                <a:extLst>
                  <a:ext uri="{FF2B5EF4-FFF2-40B4-BE49-F238E27FC236}">
                    <a16:creationId xmlns:a16="http://schemas.microsoft.com/office/drawing/2014/main" id="{3240C613-F232-8D6C-21AE-60397EA0EB86}"/>
                  </a:ext>
                </a:extLst>
              </p:cNvPr>
              <p:cNvSpPr/>
              <p:nvPr/>
            </p:nvSpPr>
            <p:spPr>
              <a:xfrm>
                <a:off x="10279320" y="4101877"/>
                <a:ext cx="558340" cy="155448"/>
              </a:xfrm>
              <a:prstGeom prst="rect">
                <a:avLst/>
              </a:prstGeom>
              <a:solidFill>
                <a:srgbClr val="29B6A4">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prstClr val="white"/>
                  </a:solidFill>
                  <a:effectLst/>
                  <a:uLnTx/>
                  <a:uFillTx/>
                  <a:latin typeface="Lucida Sans" panose="020B0602030504020204" pitchFamily="34" charset="0"/>
                  <a:ea typeface="+mn-ea"/>
                  <a:cs typeface="+mn-cs"/>
                </a:endParaRPr>
              </a:p>
            </p:txBody>
          </p:sp>
          <p:sp>
            <p:nvSpPr>
              <p:cNvPr id="43" name="Rectangle 42">
                <a:extLst>
                  <a:ext uri="{FF2B5EF4-FFF2-40B4-BE49-F238E27FC236}">
                    <a16:creationId xmlns:a16="http://schemas.microsoft.com/office/drawing/2014/main" id="{D6E68E40-6595-C3FF-DE4D-8883BCB85A36}"/>
                  </a:ext>
                </a:extLst>
              </p:cNvPr>
              <p:cNvSpPr/>
              <p:nvPr/>
            </p:nvSpPr>
            <p:spPr>
              <a:xfrm>
                <a:off x="8421407" y="4316836"/>
                <a:ext cx="1503643" cy="155448"/>
              </a:xfrm>
              <a:prstGeom prst="rect">
                <a:avLst/>
              </a:prstGeom>
              <a:solidFill>
                <a:srgbClr val="29B6A4">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prstClr val="white"/>
                  </a:solidFill>
                  <a:effectLst/>
                  <a:uLnTx/>
                  <a:uFillTx/>
                  <a:latin typeface="Lucida Sans" panose="020B0602030504020204" pitchFamily="34" charset="0"/>
                  <a:ea typeface="+mn-ea"/>
                  <a:cs typeface="+mn-cs"/>
                </a:endParaRPr>
              </a:p>
            </p:txBody>
          </p:sp>
        </p:grpSp>
        <p:sp>
          <p:nvSpPr>
            <p:cNvPr id="12" name="Rectangle 11">
              <a:extLst>
                <a:ext uri="{FF2B5EF4-FFF2-40B4-BE49-F238E27FC236}">
                  <a16:creationId xmlns:a16="http://schemas.microsoft.com/office/drawing/2014/main" id="{3638C5F1-266D-AE88-FBA3-2717AB9F4091}"/>
                </a:ext>
              </a:extLst>
            </p:cNvPr>
            <p:cNvSpPr/>
            <p:nvPr/>
          </p:nvSpPr>
          <p:spPr>
            <a:xfrm>
              <a:off x="8203498" y="1667686"/>
              <a:ext cx="3200400" cy="463734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4" name="Straight Connector 13">
              <a:extLst>
                <a:ext uri="{FF2B5EF4-FFF2-40B4-BE49-F238E27FC236}">
                  <a16:creationId xmlns:a16="http://schemas.microsoft.com/office/drawing/2014/main" id="{D04E79E8-91C0-EE41-8CBD-EBE607D0B247}"/>
                </a:ext>
              </a:extLst>
            </p:cNvPr>
            <p:cNvCxnSpPr>
              <a:cxnSpLocks/>
            </p:cNvCxnSpPr>
            <p:nvPr/>
          </p:nvCxnSpPr>
          <p:spPr>
            <a:xfrm>
              <a:off x="8955670" y="3527927"/>
              <a:ext cx="1696057" cy="0"/>
            </a:xfrm>
            <a:prstGeom prst="line">
              <a:avLst/>
            </a:prstGeom>
            <a:ln>
              <a:solidFill>
                <a:srgbClr val="29B6A4"/>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171D632-6B23-A452-B09F-46E9DE65A69D}"/>
                </a:ext>
              </a:extLst>
            </p:cNvPr>
            <p:cNvSpPr txBox="1"/>
            <p:nvPr/>
          </p:nvSpPr>
          <p:spPr>
            <a:xfrm>
              <a:off x="9191822" y="1244815"/>
              <a:ext cx="1242648"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In Schools</a:t>
              </a:r>
            </a:p>
          </p:txBody>
        </p:sp>
        <p:pic>
          <p:nvPicPr>
            <p:cNvPr id="7" name="Picture 2">
              <a:extLst>
                <a:ext uri="{FF2B5EF4-FFF2-40B4-BE49-F238E27FC236}">
                  <a16:creationId xmlns:a16="http://schemas.microsoft.com/office/drawing/2014/main" id="{2064BBFC-98C1-8758-11CF-205898358C47}"/>
                </a:ext>
              </a:extLst>
            </p:cNvPr>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9172927" y="1945777"/>
              <a:ext cx="1261543" cy="1250942"/>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 name="Straight Connector 4">
            <a:extLst>
              <a:ext uri="{FF2B5EF4-FFF2-40B4-BE49-F238E27FC236}">
                <a16:creationId xmlns:a16="http://schemas.microsoft.com/office/drawing/2014/main" id="{16AE2C23-72E2-89FC-0C6B-6E284830E294}"/>
              </a:ext>
            </a:extLst>
          </p:cNvPr>
          <p:cNvCxnSpPr>
            <a:cxnSpLocks/>
          </p:cNvCxnSpPr>
          <p:nvPr/>
        </p:nvCxnSpPr>
        <p:spPr>
          <a:xfrm>
            <a:off x="620980" y="851188"/>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799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E6343-9594-B177-4E41-EE6626B08E03}"/>
            </a:ext>
          </a:extLst>
        </p:cNvPr>
        <p:cNvGrpSpPr/>
        <p:nvPr/>
      </p:nvGrpSpPr>
      <p:grpSpPr>
        <a:xfrm>
          <a:off x="0" y="0"/>
          <a:ext cx="0" cy="0"/>
          <a:chOff x="0" y="0"/>
          <a:chExt cx="0" cy="0"/>
        </a:xfrm>
      </p:grpSpPr>
      <p:grpSp>
        <p:nvGrpSpPr>
          <p:cNvPr id="52" name="Group 51">
            <a:extLst>
              <a:ext uri="{FF2B5EF4-FFF2-40B4-BE49-F238E27FC236}">
                <a16:creationId xmlns:a16="http://schemas.microsoft.com/office/drawing/2014/main" id="{A94D6397-D553-8FC1-4FA4-38F154CF1743}"/>
              </a:ext>
            </a:extLst>
          </p:cNvPr>
          <p:cNvGrpSpPr/>
          <p:nvPr/>
        </p:nvGrpSpPr>
        <p:grpSpPr>
          <a:xfrm>
            <a:off x="7297489" y="1927085"/>
            <a:ext cx="2726542" cy="3358301"/>
            <a:chOff x="3570512" y="747714"/>
            <a:chExt cx="4694131" cy="5781794"/>
          </a:xfrm>
        </p:grpSpPr>
        <p:pic>
          <p:nvPicPr>
            <p:cNvPr id="53" name="Picture 52">
              <a:extLst>
                <a:ext uri="{FF2B5EF4-FFF2-40B4-BE49-F238E27FC236}">
                  <a16:creationId xmlns:a16="http://schemas.microsoft.com/office/drawing/2014/main" id="{D72B804F-5FD0-A517-3442-743C69DFE1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570512" y="747714"/>
              <a:ext cx="4694131" cy="5781794"/>
            </a:xfrm>
            <a:prstGeom prst="rect">
              <a:avLst/>
            </a:prstGeom>
          </p:spPr>
        </p:pic>
        <p:sp>
          <p:nvSpPr>
            <p:cNvPr id="54" name="Rectangle 53">
              <a:extLst>
                <a:ext uri="{FF2B5EF4-FFF2-40B4-BE49-F238E27FC236}">
                  <a16:creationId xmlns:a16="http://schemas.microsoft.com/office/drawing/2014/main" id="{B51A0827-5345-C7CB-5BDB-7A8792D7714F}"/>
                </a:ext>
              </a:extLst>
            </p:cNvPr>
            <p:cNvSpPr/>
            <p:nvPr/>
          </p:nvSpPr>
          <p:spPr>
            <a:xfrm>
              <a:off x="3700959" y="2859314"/>
              <a:ext cx="1146812"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ucida Sans" panose="020B0602030504020204" pitchFamily="34" charset="0"/>
                <a:ea typeface="+mn-ea"/>
                <a:cs typeface="+mn-cs"/>
              </a:endParaRPr>
            </a:p>
          </p:txBody>
        </p:sp>
      </p:grpSp>
      <p:sp>
        <p:nvSpPr>
          <p:cNvPr id="2" name="AutoShape 94">
            <a:extLst>
              <a:ext uri="{FF2B5EF4-FFF2-40B4-BE49-F238E27FC236}">
                <a16:creationId xmlns:a16="http://schemas.microsoft.com/office/drawing/2014/main" id="{1F8114BC-7E0E-FFD7-44D3-142C246BEE30}"/>
              </a:ext>
            </a:extLst>
          </p:cNvPr>
          <p:cNvSpPr>
            <a:spLocks noChangeAspect="1" noChangeArrowheads="1" noTextEdit="1"/>
          </p:cNvSpPr>
          <p:nvPr/>
        </p:nvSpPr>
        <p:spPr bwMode="auto">
          <a:xfrm>
            <a:off x="1524057" y="277836"/>
            <a:ext cx="9144001" cy="665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52" tIns="45718" rIns="91152" bIns="45718" numCol="1" anchor="t" anchorCtr="0" compatLnSpc="1">
            <a:prstTxWarp prst="textNoShape">
              <a:avLst/>
            </a:prstTxWarp>
          </a:bodyPr>
          <a:lstStyle/>
          <a:p>
            <a:pPr marL="0" marR="0" lvl="0" indent="0" algn="l" defTabSz="121914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pic>
        <p:nvPicPr>
          <p:cNvPr id="3" name="Picture 2" descr="A black and grey text&#10;&#10;Description automatically generated">
            <a:extLst>
              <a:ext uri="{FF2B5EF4-FFF2-40B4-BE49-F238E27FC236}">
                <a16:creationId xmlns:a16="http://schemas.microsoft.com/office/drawing/2014/main" id="{D07A06BD-49AE-2455-FCD3-4FF4AAC68E26}"/>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29" name="Straight Connector 28">
            <a:extLst>
              <a:ext uri="{FF2B5EF4-FFF2-40B4-BE49-F238E27FC236}">
                <a16:creationId xmlns:a16="http://schemas.microsoft.com/office/drawing/2014/main" id="{2B9F6B26-BB9C-522B-FF88-4C1E202F91E1}"/>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DE5D559F-0B55-44BB-07DE-D3D21B8D5221}"/>
              </a:ext>
            </a:extLst>
          </p:cNvPr>
          <p:cNvSpPr>
            <a:spLocks noChangeArrowheads="1"/>
          </p:cNvSpPr>
          <p:nvPr/>
        </p:nvSpPr>
        <p:spPr bwMode="auto">
          <a:xfrm>
            <a:off x="613836" y="375319"/>
            <a:ext cx="109571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rPr>
              <a:t>Economic Opportunity and Social Capital in the </a:t>
            </a:r>
            <a:r>
              <a:rPr lang="en-US" sz="2400" b="1" dirty="0">
                <a:solidFill>
                  <a:prstClr val="black"/>
                </a:solidFill>
                <a:latin typeface="Lucida Bright" panose="02040602050505020304" pitchFamily="18" charset="0"/>
                <a:cs typeface="Arial" pitchFamily="34" charset="0"/>
              </a:rPr>
              <a:t>United Kingdom</a:t>
            </a:r>
            <a:endParaRPr kumimoji="0" lang="en-US" sz="2400" b="1" i="0" u="sng" strike="noStrike" kern="1200" cap="none" spc="0" normalizeH="0" baseline="0" noProof="0" dirty="0">
              <a:ln>
                <a:noFill/>
              </a:ln>
              <a:solidFill>
                <a:prstClr val="black"/>
              </a:solidFill>
              <a:effectLst/>
              <a:uLnTx/>
              <a:uFillTx/>
              <a:latin typeface="Lucida Bright" panose="02040602050505020304" pitchFamily="18" charset="0"/>
              <a:ea typeface="+mn-ea"/>
              <a:cs typeface="Arial" pitchFamily="34" charset="0"/>
            </a:endParaRPr>
          </a:p>
        </p:txBody>
      </p:sp>
      <p:sp>
        <p:nvSpPr>
          <p:cNvPr id="9" name="Text Placeholder 9">
            <a:extLst>
              <a:ext uri="{FF2B5EF4-FFF2-40B4-BE49-F238E27FC236}">
                <a16:creationId xmlns:a16="http://schemas.microsoft.com/office/drawing/2014/main" id="{6E939D59-60BC-8F6A-7E0F-A0FB075D83C5}"/>
              </a:ext>
            </a:extLst>
          </p:cNvPr>
          <p:cNvSpPr txBox="1">
            <a:spLocks/>
          </p:cNvSpPr>
          <p:nvPr/>
        </p:nvSpPr>
        <p:spPr>
          <a:xfrm>
            <a:off x="1435388" y="1256788"/>
            <a:ext cx="3256127" cy="4088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Upward Mobility</a:t>
            </a:r>
          </a:p>
        </p:txBody>
      </p:sp>
      <p:sp>
        <p:nvSpPr>
          <p:cNvPr id="13" name="Text Placeholder 9">
            <a:extLst>
              <a:ext uri="{FF2B5EF4-FFF2-40B4-BE49-F238E27FC236}">
                <a16:creationId xmlns:a16="http://schemas.microsoft.com/office/drawing/2014/main" id="{93666C23-AD06-89D1-944E-A1B9C217770A}"/>
              </a:ext>
            </a:extLst>
          </p:cNvPr>
          <p:cNvSpPr txBox="1">
            <a:spLocks/>
          </p:cNvSpPr>
          <p:nvPr/>
        </p:nvSpPr>
        <p:spPr>
          <a:xfrm>
            <a:off x="7384421" y="1256788"/>
            <a:ext cx="2999090" cy="4088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Lucida Bright" panose="02040602050505020304" pitchFamily="18" charset="0"/>
                <a:ea typeface="+mn-ea"/>
                <a:cs typeface="+mn-cs"/>
              </a:rPr>
              <a:t>Economic Connectedness Based on Facebook Data</a:t>
            </a:r>
          </a:p>
        </p:txBody>
      </p:sp>
      <p:sp>
        <p:nvSpPr>
          <p:cNvPr id="87" name="TextBox 86">
            <a:extLst>
              <a:ext uri="{FF2B5EF4-FFF2-40B4-BE49-F238E27FC236}">
                <a16:creationId xmlns:a16="http://schemas.microsoft.com/office/drawing/2014/main" id="{49D29750-228F-860C-E1FF-FBF183753DFD}"/>
              </a:ext>
            </a:extLst>
          </p:cNvPr>
          <p:cNvSpPr txBox="1"/>
          <p:nvPr/>
        </p:nvSpPr>
        <p:spPr>
          <a:xfrm>
            <a:off x="433321" y="5373461"/>
            <a:ext cx="5260260" cy="480131"/>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Mean Income Rank at Age 28 for Men Born to Low-Income (Free School Lunch) Families</a:t>
            </a:r>
          </a:p>
        </p:txBody>
      </p:sp>
      <p:sp>
        <p:nvSpPr>
          <p:cNvPr id="88" name="TextBox 87">
            <a:extLst>
              <a:ext uri="{FF2B5EF4-FFF2-40B4-BE49-F238E27FC236}">
                <a16:creationId xmlns:a16="http://schemas.microsoft.com/office/drawing/2014/main" id="{46187F3F-A9D6-B14E-7754-C0A9A588C979}"/>
              </a:ext>
            </a:extLst>
          </p:cNvPr>
          <p:cNvSpPr txBox="1"/>
          <p:nvPr/>
        </p:nvSpPr>
        <p:spPr>
          <a:xfrm>
            <a:off x="6389390" y="5368681"/>
            <a:ext cx="4989152" cy="286232"/>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Average FB Friend SES Rank</a:t>
            </a:r>
          </a:p>
        </p:txBody>
      </p:sp>
      <p:grpSp>
        <p:nvGrpSpPr>
          <p:cNvPr id="86" name="Group 85">
            <a:extLst>
              <a:ext uri="{FF2B5EF4-FFF2-40B4-BE49-F238E27FC236}">
                <a16:creationId xmlns:a16="http://schemas.microsoft.com/office/drawing/2014/main" id="{C4F27E93-70DC-F97F-6F1F-398E729AA606}"/>
              </a:ext>
            </a:extLst>
          </p:cNvPr>
          <p:cNvGrpSpPr/>
          <p:nvPr/>
        </p:nvGrpSpPr>
        <p:grpSpPr>
          <a:xfrm>
            <a:off x="4193725" y="3500959"/>
            <a:ext cx="1847740" cy="1826075"/>
            <a:chOff x="9146805" y="2498854"/>
            <a:chExt cx="3587533" cy="2795124"/>
          </a:xfrm>
        </p:grpSpPr>
        <p:pic>
          <p:nvPicPr>
            <p:cNvPr id="63" name="Picture 62">
              <a:extLst>
                <a:ext uri="{FF2B5EF4-FFF2-40B4-BE49-F238E27FC236}">
                  <a16:creationId xmlns:a16="http://schemas.microsoft.com/office/drawing/2014/main" id="{090A1175-5ABE-42E0-8673-B71FDE504A61}"/>
                </a:ext>
              </a:extLst>
            </p:cNvPr>
            <p:cNvPicPr>
              <a:picLocks noChangeAspect="1"/>
            </p:cNvPicPr>
            <p:nvPr/>
          </p:nvPicPr>
          <p:blipFill>
            <a:blip r:embed="rId5"/>
            <a:stretch>
              <a:fillRect/>
            </a:stretch>
          </p:blipFill>
          <p:spPr>
            <a:xfrm>
              <a:off x="9146805" y="2498854"/>
              <a:ext cx="2758102" cy="2795124"/>
            </a:xfrm>
            <a:prstGeom prst="rect">
              <a:avLst/>
            </a:prstGeom>
          </p:spPr>
        </p:pic>
        <p:sp>
          <p:nvSpPr>
            <p:cNvPr id="64" name="Rectangle 63">
              <a:extLst>
                <a:ext uri="{FF2B5EF4-FFF2-40B4-BE49-F238E27FC236}">
                  <a16:creationId xmlns:a16="http://schemas.microsoft.com/office/drawing/2014/main" id="{C82F8142-0EF3-5A5A-EE77-70ADD0116EC1}"/>
                </a:ext>
              </a:extLst>
            </p:cNvPr>
            <p:cNvSpPr/>
            <p:nvPr/>
          </p:nvSpPr>
          <p:spPr>
            <a:xfrm>
              <a:off x="10039223" y="2598484"/>
              <a:ext cx="2695115" cy="26148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6" name="TextBox 65">
              <a:extLst>
                <a:ext uri="{FF2B5EF4-FFF2-40B4-BE49-F238E27FC236}">
                  <a16:creationId xmlns:a16="http://schemas.microsoft.com/office/drawing/2014/main" id="{9919AEC6-A0D0-F89A-41A1-2328F9E36E78}"/>
                </a:ext>
              </a:extLst>
            </p:cNvPr>
            <p:cNvSpPr txBox="1"/>
            <p:nvPr/>
          </p:nvSpPr>
          <p:spPr>
            <a:xfrm>
              <a:off x="10022494" y="3123144"/>
              <a:ext cx="2085850" cy="47110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mn-cs"/>
                </a:rPr>
                <a:t>46.1-53.0</a:t>
              </a:r>
            </a:p>
          </p:txBody>
        </p:sp>
        <p:sp>
          <p:nvSpPr>
            <p:cNvPr id="68" name="TextBox 67">
              <a:extLst>
                <a:ext uri="{FF2B5EF4-FFF2-40B4-BE49-F238E27FC236}">
                  <a16:creationId xmlns:a16="http://schemas.microsoft.com/office/drawing/2014/main" id="{B335F6A9-F5E0-812F-F1B6-D9E5BEC505CA}"/>
                </a:ext>
              </a:extLst>
            </p:cNvPr>
            <p:cNvSpPr txBox="1"/>
            <p:nvPr/>
          </p:nvSpPr>
          <p:spPr>
            <a:xfrm>
              <a:off x="10022494" y="3694351"/>
              <a:ext cx="2085850" cy="47110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mn-cs"/>
                </a:rPr>
                <a:t>41.7-43.3</a:t>
              </a:r>
            </a:p>
          </p:txBody>
        </p:sp>
        <p:sp>
          <p:nvSpPr>
            <p:cNvPr id="70" name="TextBox 69">
              <a:extLst>
                <a:ext uri="{FF2B5EF4-FFF2-40B4-BE49-F238E27FC236}">
                  <a16:creationId xmlns:a16="http://schemas.microsoft.com/office/drawing/2014/main" id="{716447C5-E2A9-E8B5-EAA1-9722887684D6}"/>
                </a:ext>
              </a:extLst>
            </p:cNvPr>
            <p:cNvSpPr txBox="1"/>
            <p:nvPr/>
          </p:nvSpPr>
          <p:spPr>
            <a:xfrm>
              <a:off x="10022494" y="4265558"/>
              <a:ext cx="2085850" cy="47110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mn-cs"/>
                </a:rPr>
                <a:t>35.8-39.8</a:t>
              </a:r>
            </a:p>
          </p:txBody>
        </p:sp>
      </p:grpSp>
      <p:grpSp>
        <p:nvGrpSpPr>
          <p:cNvPr id="96" name="Group 95">
            <a:extLst>
              <a:ext uri="{FF2B5EF4-FFF2-40B4-BE49-F238E27FC236}">
                <a16:creationId xmlns:a16="http://schemas.microsoft.com/office/drawing/2014/main" id="{8C5D0EE2-AB9B-1A06-B52D-B65A3AF3A4CA}"/>
              </a:ext>
            </a:extLst>
          </p:cNvPr>
          <p:cNvGrpSpPr/>
          <p:nvPr/>
        </p:nvGrpSpPr>
        <p:grpSpPr>
          <a:xfrm>
            <a:off x="10248453" y="3139000"/>
            <a:ext cx="2196886" cy="2317493"/>
            <a:chOff x="9342366" y="2598484"/>
            <a:chExt cx="2478788" cy="2614871"/>
          </a:xfrm>
        </p:grpSpPr>
        <p:sp>
          <p:nvSpPr>
            <p:cNvPr id="89" name="Rectangle 88">
              <a:extLst>
                <a:ext uri="{FF2B5EF4-FFF2-40B4-BE49-F238E27FC236}">
                  <a16:creationId xmlns:a16="http://schemas.microsoft.com/office/drawing/2014/main" id="{F214C17B-14DA-5924-67F0-2A8413F23EEF}"/>
                </a:ext>
              </a:extLst>
            </p:cNvPr>
            <p:cNvSpPr>
              <a:spLocks/>
            </p:cNvSpPr>
            <p:nvPr/>
          </p:nvSpPr>
          <p:spPr>
            <a:xfrm>
              <a:off x="10039223" y="2598484"/>
              <a:ext cx="1302791" cy="26148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0" name="TextBox 89">
              <a:extLst>
                <a:ext uri="{FF2B5EF4-FFF2-40B4-BE49-F238E27FC236}">
                  <a16:creationId xmlns:a16="http://schemas.microsoft.com/office/drawing/2014/main" id="{9512DB56-884D-2C96-1993-A7AA597BAC42}"/>
                </a:ext>
              </a:extLst>
            </p:cNvPr>
            <p:cNvSpPr txBox="1"/>
            <p:nvPr/>
          </p:nvSpPr>
          <p:spPr>
            <a:xfrm>
              <a:off x="9978511" y="3113618"/>
              <a:ext cx="130279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mn-cs"/>
                </a:rPr>
                <a:t>40</a:t>
              </a:r>
            </a:p>
          </p:txBody>
        </p:sp>
        <p:sp>
          <p:nvSpPr>
            <p:cNvPr id="91" name="TextBox 90">
              <a:extLst>
                <a:ext uri="{FF2B5EF4-FFF2-40B4-BE49-F238E27FC236}">
                  <a16:creationId xmlns:a16="http://schemas.microsoft.com/office/drawing/2014/main" id="{C06279D2-9663-BFE8-BD9F-68B40C2CBB84}"/>
                </a:ext>
              </a:extLst>
            </p:cNvPr>
            <p:cNvSpPr txBox="1"/>
            <p:nvPr/>
          </p:nvSpPr>
          <p:spPr>
            <a:xfrm>
              <a:off x="9978511" y="3605317"/>
              <a:ext cx="130279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mn-cs"/>
                </a:rPr>
                <a:t>50</a:t>
              </a:r>
            </a:p>
          </p:txBody>
        </p:sp>
        <p:sp>
          <p:nvSpPr>
            <p:cNvPr id="92" name="TextBox 91">
              <a:extLst>
                <a:ext uri="{FF2B5EF4-FFF2-40B4-BE49-F238E27FC236}">
                  <a16:creationId xmlns:a16="http://schemas.microsoft.com/office/drawing/2014/main" id="{D32A1FC8-0176-CA54-EFD0-AD164700F0BF}"/>
                </a:ext>
              </a:extLst>
            </p:cNvPr>
            <p:cNvSpPr txBox="1"/>
            <p:nvPr/>
          </p:nvSpPr>
          <p:spPr>
            <a:xfrm>
              <a:off x="9978511" y="4097016"/>
              <a:ext cx="130279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mn-cs"/>
                </a:rPr>
                <a:t>60</a:t>
              </a:r>
            </a:p>
          </p:txBody>
        </p:sp>
        <p:sp>
          <p:nvSpPr>
            <p:cNvPr id="93" name="TextBox 92">
              <a:extLst>
                <a:ext uri="{FF2B5EF4-FFF2-40B4-BE49-F238E27FC236}">
                  <a16:creationId xmlns:a16="http://schemas.microsoft.com/office/drawing/2014/main" id="{B4A30562-0E45-6F03-3F9A-4254ED4F518D}"/>
                </a:ext>
              </a:extLst>
            </p:cNvPr>
            <p:cNvSpPr txBox="1"/>
            <p:nvPr/>
          </p:nvSpPr>
          <p:spPr>
            <a:xfrm>
              <a:off x="9978511" y="4588714"/>
              <a:ext cx="184264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mn-cs"/>
                </a:rPr>
                <a:t>70</a:t>
              </a:r>
            </a:p>
          </p:txBody>
        </p:sp>
        <p:pic>
          <p:nvPicPr>
            <p:cNvPr id="94" name="Picture 93">
              <a:extLst>
                <a:ext uri="{FF2B5EF4-FFF2-40B4-BE49-F238E27FC236}">
                  <a16:creationId xmlns:a16="http://schemas.microsoft.com/office/drawing/2014/main" id="{CE8F25A1-7A13-7FCC-C48B-F90FFF07D15D}"/>
                </a:ext>
              </a:extLst>
            </p:cNvPr>
            <p:cNvPicPr>
              <a:picLocks noChangeAspect="1"/>
            </p:cNvPicPr>
            <p:nvPr/>
          </p:nvPicPr>
          <p:blipFill rotWithShape="1">
            <a:blip r:embed="rId6"/>
            <a:srcRect l="89833" r="3128" b="82895"/>
            <a:stretch/>
          </p:blipFill>
          <p:spPr>
            <a:xfrm>
              <a:off x="9342366" y="3026541"/>
              <a:ext cx="706787" cy="2119410"/>
            </a:xfrm>
            <a:prstGeom prst="rect">
              <a:avLst/>
            </a:prstGeom>
          </p:spPr>
        </p:pic>
      </p:grpSp>
      <p:grpSp>
        <p:nvGrpSpPr>
          <p:cNvPr id="49" name="Group 48">
            <a:extLst>
              <a:ext uri="{FF2B5EF4-FFF2-40B4-BE49-F238E27FC236}">
                <a16:creationId xmlns:a16="http://schemas.microsoft.com/office/drawing/2014/main" id="{76D59CFC-2FC8-8DAA-DDA9-8644AAAB871F}"/>
              </a:ext>
            </a:extLst>
          </p:cNvPr>
          <p:cNvGrpSpPr/>
          <p:nvPr/>
        </p:nvGrpSpPr>
        <p:grpSpPr>
          <a:xfrm>
            <a:off x="1488545" y="1967961"/>
            <a:ext cx="2726542" cy="3400720"/>
            <a:chOff x="3570512" y="711200"/>
            <a:chExt cx="4694131" cy="5854824"/>
          </a:xfrm>
        </p:grpSpPr>
        <p:pic>
          <p:nvPicPr>
            <p:cNvPr id="50" name="Picture 49">
              <a:extLst>
                <a:ext uri="{FF2B5EF4-FFF2-40B4-BE49-F238E27FC236}">
                  <a16:creationId xmlns:a16="http://schemas.microsoft.com/office/drawing/2014/main" id="{67F4EB4A-728A-3AE1-F295-0674FAA67C80}"/>
                </a:ext>
              </a:extLst>
            </p:cNvPr>
            <p:cNvPicPr>
              <a:picLocks noChangeAspect="1"/>
            </p:cNvPicPr>
            <p:nvPr/>
          </p:nvPicPr>
          <p:blipFill>
            <a:blip r:embed="rId7"/>
            <a:stretch>
              <a:fillRect/>
            </a:stretch>
          </p:blipFill>
          <p:spPr>
            <a:xfrm>
              <a:off x="3570512" y="711200"/>
              <a:ext cx="4694131" cy="5854824"/>
            </a:xfrm>
            <a:prstGeom prst="rect">
              <a:avLst/>
            </a:prstGeom>
          </p:spPr>
        </p:pic>
        <p:sp>
          <p:nvSpPr>
            <p:cNvPr id="51" name="Rectangle 50">
              <a:extLst>
                <a:ext uri="{FF2B5EF4-FFF2-40B4-BE49-F238E27FC236}">
                  <a16:creationId xmlns:a16="http://schemas.microsoft.com/office/drawing/2014/main" id="{150A83FD-DFB1-EC2F-99B3-CC182C7D9B77}"/>
                </a:ext>
              </a:extLst>
            </p:cNvPr>
            <p:cNvSpPr/>
            <p:nvPr/>
          </p:nvSpPr>
          <p:spPr>
            <a:xfrm>
              <a:off x="3700959" y="2859314"/>
              <a:ext cx="1146812"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Lucida Sans" panose="020B0602030504020204" pitchFamily="34" charset="0"/>
                <a:ea typeface="+mn-ea"/>
                <a:cs typeface="+mn-cs"/>
              </a:endParaRPr>
            </a:p>
          </p:txBody>
        </p:sp>
      </p:grpSp>
      <p:cxnSp>
        <p:nvCxnSpPr>
          <p:cNvPr id="31" name="Straight Connector 30">
            <a:extLst>
              <a:ext uri="{FF2B5EF4-FFF2-40B4-BE49-F238E27FC236}">
                <a16:creationId xmlns:a16="http://schemas.microsoft.com/office/drawing/2014/main" id="{A0A37D1A-0147-5BF1-9940-FAC4EDED62BA}"/>
              </a:ext>
            </a:extLst>
          </p:cNvPr>
          <p:cNvCxnSpPr>
            <a:cxnSpLocks/>
          </p:cNvCxnSpPr>
          <p:nvPr/>
        </p:nvCxnSpPr>
        <p:spPr>
          <a:xfrm flipV="1">
            <a:off x="5704171" y="1730498"/>
            <a:ext cx="0" cy="3358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E7DECAAA-AD93-6440-BED8-5D7CFF2940A1}"/>
              </a:ext>
            </a:extLst>
          </p:cNvPr>
          <p:cNvSpPr txBox="1"/>
          <p:nvPr/>
        </p:nvSpPr>
        <p:spPr>
          <a:xfrm>
            <a:off x="568591" y="6483107"/>
            <a:ext cx="11149275"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Carneiro, Cattan, Deardon, van der Erve, Krutikova, Macmillan (IFS Working Paper 2023); Rutter et al. (in progress) </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cxnSp>
        <p:nvCxnSpPr>
          <p:cNvPr id="6" name="Straight Connector 5">
            <a:extLst>
              <a:ext uri="{FF2B5EF4-FFF2-40B4-BE49-F238E27FC236}">
                <a16:creationId xmlns:a16="http://schemas.microsoft.com/office/drawing/2014/main" id="{807FE4C0-9E17-A6B4-5B49-8376B0FAEECC}"/>
              </a:ext>
            </a:extLst>
          </p:cNvPr>
          <p:cNvCxnSpPr>
            <a:cxnSpLocks/>
          </p:cNvCxnSpPr>
          <p:nvPr/>
        </p:nvCxnSpPr>
        <p:spPr>
          <a:xfrm>
            <a:off x="620980" y="851188"/>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1057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5B7E9-02A8-53E7-A645-8C183E7FE9FD}"/>
            </a:ext>
          </a:extLst>
        </p:cNvPr>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B18CAD9B-9286-22F3-4ADA-3E2A958EDCC9}"/>
              </a:ext>
            </a:extLst>
          </p:cNvPr>
          <p:cNvCxnSpPr/>
          <p:nvPr/>
        </p:nvCxnSpPr>
        <p:spPr>
          <a:xfrm>
            <a:off x="-3449053" y="192505"/>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C5EE4D1F-29CC-47B7-9700-14EFCCE7BEB9}"/>
              </a:ext>
            </a:extLst>
          </p:cNvPr>
          <p:cNvGrpSpPr/>
          <p:nvPr/>
        </p:nvGrpSpPr>
        <p:grpSpPr>
          <a:xfrm>
            <a:off x="3817613" y="2441581"/>
            <a:ext cx="1390547" cy="3061503"/>
            <a:chOff x="3465993" y="2452075"/>
            <a:chExt cx="1554480" cy="2728311"/>
          </a:xfrm>
        </p:grpSpPr>
        <p:sp>
          <p:nvSpPr>
            <p:cNvPr id="9" name="Rectangle 8">
              <a:extLst>
                <a:ext uri="{FF2B5EF4-FFF2-40B4-BE49-F238E27FC236}">
                  <a16:creationId xmlns:a16="http://schemas.microsoft.com/office/drawing/2014/main" id="{50918AEF-37EC-2841-117F-F0E77AA9568C}"/>
                </a:ext>
              </a:extLst>
            </p:cNvPr>
            <p:cNvSpPr/>
            <p:nvPr/>
          </p:nvSpPr>
          <p:spPr>
            <a:xfrm>
              <a:off x="3465993" y="2829815"/>
              <a:ext cx="1554480" cy="2350571"/>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B85EBD83-E9B7-9B94-89DD-0D1F06988790}"/>
                </a:ext>
              </a:extLst>
            </p:cNvPr>
            <p:cNvSpPr txBox="1"/>
            <p:nvPr/>
          </p:nvSpPr>
          <p:spPr>
            <a:xfrm>
              <a:off x="3700083" y="2452075"/>
              <a:ext cx="1086301" cy="3784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College</a:t>
              </a:r>
            </a:p>
          </p:txBody>
        </p:sp>
      </p:grpSp>
      <p:grpSp>
        <p:nvGrpSpPr>
          <p:cNvPr id="56" name="Group 55">
            <a:extLst>
              <a:ext uri="{FF2B5EF4-FFF2-40B4-BE49-F238E27FC236}">
                <a16:creationId xmlns:a16="http://schemas.microsoft.com/office/drawing/2014/main" id="{9B744E12-4D68-D802-C341-83F25CEDB731}"/>
              </a:ext>
            </a:extLst>
          </p:cNvPr>
          <p:cNvGrpSpPr/>
          <p:nvPr/>
        </p:nvGrpSpPr>
        <p:grpSpPr>
          <a:xfrm>
            <a:off x="2044327" y="3871283"/>
            <a:ext cx="1776470" cy="1631800"/>
            <a:chOff x="1483653" y="3761672"/>
            <a:chExt cx="1985900" cy="1454207"/>
          </a:xfrm>
        </p:grpSpPr>
        <p:sp>
          <p:nvSpPr>
            <p:cNvPr id="2" name="Rectangle 1">
              <a:extLst>
                <a:ext uri="{FF2B5EF4-FFF2-40B4-BE49-F238E27FC236}">
                  <a16:creationId xmlns:a16="http://schemas.microsoft.com/office/drawing/2014/main" id="{5D483D51-CD30-4347-FA3A-6FE5CBE31DB8}"/>
                </a:ext>
              </a:extLst>
            </p:cNvPr>
            <p:cNvSpPr/>
            <p:nvPr/>
          </p:nvSpPr>
          <p:spPr>
            <a:xfrm>
              <a:off x="1699362" y="4142635"/>
              <a:ext cx="1554480" cy="1073244"/>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214EDC9-FC7A-3F38-2124-E44F2792FAD9}"/>
                </a:ext>
              </a:extLst>
            </p:cNvPr>
            <p:cNvSpPr txBox="1"/>
            <p:nvPr/>
          </p:nvSpPr>
          <p:spPr>
            <a:xfrm>
              <a:off x="1483653" y="3761672"/>
              <a:ext cx="1985900" cy="3784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Neighborhood</a:t>
              </a:r>
            </a:p>
          </p:txBody>
        </p:sp>
      </p:grpSp>
      <p:grpSp>
        <p:nvGrpSpPr>
          <p:cNvPr id="54" name="Group 53">
            <a:extLst>
              <a:ext uri="{FF2B5EF4-FFF2-40B4-BE49-F238E27FC236}">
                <a16:creationId xmlns:a16="http://schemas.microsoft.com/office/drawing/2014/main" id="{E16628D2-0F45-E2C2-4152-01072165BB8B}"/>
              </a:ext>
            </a:extLst>
          </p:cNvPr>
          <p:cNvGrpSpPr/>
          <p:nvPr/>
        </p:nvGrpSpPr>
        <p:grpSpPr>
          <a:xfrm>
            <a:off x="5397935" y="2366140"/>
            <a:ext cx="1438216" cy="3136944"/>
            <a:chOff x="5232620" y="2384843"/>
            <a:chExt cx="1607768" cy="2795542"/>
          </a:xfrm>
        </p:grpSpPr>
        <p:sp>
          <p:nvSpPr>
            <p:cNvPr id="10" name="Rectangle 9">
              <a:extLst>
                <a:ext uri="{FF2B5EF4-FFF2-40B4-BE49-F238E27FC236}">
                  <a16:creationId xmlns:a16="http://schemas.microsoft.com/office/drawing/2014/main" id="{A3546255-8F84-1612-A859-85721802CF50}"/>
                </a:ext>
              </a:extLst>
            </p:cNvPr>
            <p:cNvSpPr/>
            <p:nvPr/>
          </p:nvSpPr>
          <p:spPr>
            <a:xfrm>
              <a:off x="5232624" y="2763309"/>
              <a:ext cx="1554482" cy="2417076"/>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93FEDAB6-E36D-753E-9BDF-AC11B0D3E12E}"/>
                </a:ext>
              </a:extLst>
            </p:cNvPr>
            <p:cNvSpPr txBox="1"/>
            <p:nvPr/>
          </p:nvSpPr>
          <p:spPr>
            <a:xfrm>
              <a:off x="5232620" y="2384843"/>
              <a:ext cx="1607768" cy="3784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High School</a:t>
              </a:r>
            </a:p>
          </p:txBody>
        </p:sp>
      </p:grpSp>
      <p:grpSp>
        <p:nvGrpSpPr>
          <p:cNvPr id="53" name="Group 52">
            <a:extLst>
              <a:ext uri="{FF2B5EF4-FFF2-40B4-BE49-F238E27FC236}">
                <a16:creationId xmlns:a16="http://schemas.microsoft.com/office/drawing/2014/main" id="{06D236DD-C55C-E167-1CD5-C30EFDF77865}"/>
              </a:ext>
            </a:extLst>
          </p:cNvPr>
          <p:cNvGrpSpPr/>
          <p:nvPr/>
        </p:nvGrpSpPr>
        <p:grpSpPr>
          <a:xfrm>
            <a:off x="6978263" y="2365664"/>
            <a:ext cx="1390547" cy="3137420"/>
            <a:chOff x="6999255" y="2384422"/>
            <a:chExt cx="1554480" cy="2795965"/>
          </a:xfrm>
        </p:grpSpPr>
        <p:sp>
          <p:nvSpPr>
            <p:cNvPr id="8" name="Rectangle 7">
              <a:extLst>
                <a:ext uri="{FF2B5EF4-FFF2-40B4-BE49-F238E27FC236}">
                  <a16:creationId xmlns:a16="http://schemas.microsoft.com/office/drawing/2014/main" id="{7FF8BBD8-7993-E2C3-28A4-A385E9512C6C}"/>
                </a:ext>
              </a:extLst>
            </p:cNvPr>
            <p:cNvSpPr/>
            <p:nvPr/>
          </p:nvSpPr>
          <p:spPr>
            <a:xfrm>
              <a:off x="6999255" y="2763311"/>
              <a:ext cx="1554480" cy="2417076"/>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07ED8CA1-FE1E-CD89-C20B-555DC39D4F40}"/>
                </a:ext>
              </a:extLst>
            </p:cNvPr>
            <p:cNvSpPr txBox="1"/>
            <p:nvPr/>
          </p:nvSpPr>
          <p:spPr>
            <a:xfrm>
              <a:off x="7049940" y="2384422"/>
              <a:ext cx="1428570" cy="3784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Workplace</a:t>
              </a:r>
            </a:p>
          </p:txBody>
        </p:sp>
      </p:grpSp>
      <p:grpSp>
        <p:nvGrpSpPr>
          <p:cNvPr id="52" name="Group 51">
            <a:extLst>
              <a:ext uri="{FF2B5EF4-FFF2-40B4-BE49-F238E27FC236}">
                <a16:creationId xmlns:a16="http://schemas.microsoft.com/office/drawing/2014/main" id="{6A49A48A-1E00-598C-156C-19320B70B1B0}"/>
              </a:ext>
            </a:extLst>
          </p:cNvPr>
          <p:cNvGrpSpPr/>
          <p:nvPr/>
        </p:nvGrpSpPr>
        <p:grpSpPr>
          <a:xfrm>
            <a:off x="8414152" y="1582937"/>
            <a:ext cx="1691190" cy="3920145"/>
            <a:chOff x="8604423" y="1691056"/>
            <a:chExt cx="1890566" cy="3493505"/>
          </a:xfrm>
        </p:grpSpPr>
        <p:sp>
          <p:nvSpPr>
            <p:cNvPr id="7" name="Rectangle 6">
              <a:extLst>
                <a:ext uri="{FF2B5EF4-FFF2-40B4-BE49-F238E27FC236}">
                  <a16:creationId xmlns:a16="http://schemas.microsoft.com/office/drawing/2014/main" id="{13197F18-C784-7F73-D5CB-370936B383BD}"/>
                </a:ext>
              </a:extLst>
            </p:cNvPr>
            <p:cNvSpPr/>
            <p:nvPr/>
          </p:nvSpPr>
          <p:spPr>
            <a:xfrm>
              <a:off x="8765886" y="2335392"/>
              <a:ext cx="1554480" cy="2849169"/>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5131E2FF-7244-A5A3-37EB-2887305273FE}"/>
                </a:ext>
              </a:extLst>
            </p:cNvPr>
            <p:cNvSpPr txBox="1"/>
            <p:nvPr/>
          </p:nvSpPr>
          <p:spPr>
            <a:xfrm>
              <a:off x="8604423" y="1691056"/>
              <a:ext cx="1890566" cy="6537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Recreational Groups</a:t>
              </a:r>
            </a:p>
          </p:txBody>
        </p:sp>
      </p:grpSp>
      <p:grpSp>
        <p:nvGrpSpPr>
          <p:cNvPr id="51" name="Group 50">
            <a:extLst>
              <a:ext uri="{FF2B5EF4-FFF2-40B4-BE49-F238E27FC236}">
                <a16:creationId xmlns:a16="http://schemas.microsoft.com/office/drawing/2014/main" id="{520B1DE2-BCEB-027C-2855-BB6BC4DE4754}"/>
              </a:ext>
            </a:extLst>
          </p:cNvPr>
          <p:cNvGrpSpPr/>
          <p:nvPr/>
        </p:nvGrpSpPr>
        <p:grpSpPr>
          <a:xfrm>
            <a:off x="10095264" y="1297381"/>
            <a:ext cx="1486610" cy="4203620"/>
            <a:chOff x="10483722" y="1436578"/>
            <a:chExt cx="1661868" cy="3746129"/>
          </a:xfrm>
        </p:grpSpPr>
        <p:sp>
          <p:nvSpPr>
            <p:cNvPr id="5" name="Rectangle 4">
              <a:extLst>
                <a:ext uri="{FF2B5EF4-FFF2-40B4-BE49-F238E27FC236}">
                  <a16:creationId xmlns:a16="http://schemas.microsoft.com/office/drawing/2014/main" id="{BE93AD60-DBC5-E952-A056-137A6BBC8454}"/>
                </a:ext>
              </a:extLst>
            </p:cNvPr>
            <p:cNvSpPr/>
            <p:nvPr/>
          </p:nvSpPr>
          <p:spPr>
            <a:xfrm>
              <a:off x="10532516" y="2071049"/>
              <a:ext cx="1554480" cy="3111658"/>
            </a:xfrm>
            <a:prstGeom prst="rect">
              <a:avLst/>
            </a:prstGeom>
            <a:solidFill>
              <a:srgbClr val="29B6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4166155-D6EC-A017-9BCC-9DDEB18BA507}"/>
                </a:ext>
              </a:extLst>
            </p:cNvPr>
            <p:cNvSpPr txBox="1"/>
            <p:nvPr/>
          </p:nvSpPr>
          <p:spPr>
            <a:xfrm>
              <a:off x="10483722" y="1436578"/>
              <a:ext cx="1661868" cy="6537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Religious Groups</a:t>
              </a:r>
            </a:p>
          </p:txBody>
        </p:sp>
      </p:grpSp>
      <p:sp>
        <p:nvSpPr>
          <p:cNvPr id="38" name="TextBox 37">
            <a:extLst>
              <a:ext uri="{FF2B5EF4-FFF2-40B4-BE49-F238E27FC236}">
                <a16:creationId xmlns:a16="http://schemas.microsoft.com/office/drawing/2014/main" id="{B5B357D3-4457-DBF5-E903-74888FD9B205}"/>
              </a:ext>
            </a:extLst>
          </p:cNvPr>
          <p:cNvSpPr txBox="1"/>
          <p:nvPr/>
        </p:nvSpPr>
        <p:spPr>
          <a:xfrm>
            <a:off x="1219768" y="2084435"/>
            <a:ext cx="468398"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1.0</a:t>
            </a:r>
          </a:p>
        </p:txBody>
      </p:sp>
      <p:sp>
        <p:nvSpPr>
          <p:cNvPr id="45" name="TextBox 44">
            <a:extLst>
              <a:ext uri="{FF2B5EF4-FFF2-40B4-BE49-F238E27FC236}">
                <a16:creationId xmlns:a16="http://schemas.microsoft.com/office/drawing/2014/main" id="{A0DA845C-57EF-B665-9576-60819830DC64}"/>
              </a:ext>
            </a:extLst>
          </p:cNvPr>
          <p:cNvSpPr txBox="1"/>
          <p:nvPr/>
        </p:nvSpPr>
        <p:spPr>
          <a:xfrm>
            <a:off x="1105955" y="3990993"/>
            <a:ext cx="5822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0.85</a:t>
            </a:r>
          </a:p>
        </p:txBody>
      </p:sp>
      <p:sp>
        <p:nvSpPr>
          <p:cNvPr id="46" name="TextBox 45">
            <a:extLst>
              <a:ext uri="{FF2B5EF4-FFF2-40B4-BE49-F238E27FC236}">
                <a16:creationId xmlns:a16="http://schemas.microsoft.com/office/drawing/2014/main" id="{BE018FE5-F6CC-9C2D-B065-5ACDF6FA0C5C}"/>
              </a:ext>
            </a:extLst>
          </p:cNvPr>
          <p:cNvSpPr txBox="1"/>
          <p:nvPr/>
        </p:nvSpPr>
        <p:spPr>
          <a:xfrm>
            <a:off x="1105955" y="5253676"/>
            <a:ext cx="5822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0.75</a:t>
            </a:r>
          </a:p>
        </p:txBody>
      </p:sp>
      <p:cxnSp>
        <p:nvCxnSpPr>
          <p:cNvPr id="19" name="Straight Connector 18">
            <a:extLst>
              <a:ext uri="{FF2B5EF4-FFF2-40B4-BE49-F238E27FC236}">
                <a16:creationId xmlns:a16="http://schemas.microsoft.com/office/drawing/2014/main" id="{5F989DE9-D2B1-A3DD-E0A6-64C2D2489375}"/>
              </a:ext>
            </a:extLst>
          </p:cNvPr>
          <p:cNvCxnSpPr/>
          <p:nvPr/>
        </p:nvCxnSpPr>
        <p:spPr>
          <a:xfrm>
            <a:off x="1775332" y="2122171"/>
            <a:ext cx="0" cy="334686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0DAB194-D9BB-59EE-002C-9F9E3F740EAD}"/>
              </a:ext>
            </a:extLst>
          </p:cNvPr>
          <p:cNvCxnSpPr>
            <a:cxnSpLocks/>
          </p:cNvCxnSpPr>
          <p:nvPr/>
        </p:nvCxnSpPr>
        <p:spPr>
          <a:xfrm>
            <a:off x="1614959" y="2228498"/>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63F381A-17E7-89EE-1D5A-88B8B1505D2C}"/>
              </a:ext>
            </a:extLst>
          </p:cNvPr>
          <p:cNvCxnSpPr>
            <a:cxnSpLocks/>
          </p:cNvCxnSpPr>
          <p:nvPr/>
        </p:nvCxnSpPr>
        <p:spPr>
          <a:xfrm>
            <a:off x="1614959" y="4139360"/>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E29D46F-ECD7-ADC7-898B-F9ABA7DAB787}"/>
              </a:ext>
            </a:extLst>
          </p:cNvPr>
          <p:cNvCxnSpPr>
            <a:cxnSpLocks/>
          </p:cNvCxnSpPr>
          <p:nvPr/>
        </p:nvCxnSpPr>
        <p:spPr>
          <a:xfrm>
            <a:off x="1614959" y="5413270"/>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7266">
            <a:extLst>
              <a:ext uri="{FF2B5EF4-FFF2-40B4-BE49-F238E27FC236}">
                <a16:creationId xmlns:a16="http://schemas.microsoft.com/office/drawing/2014/main" id="{284B881B-AA8C-0ED9-00A7-11862F7955DA}"/>
              </a:ext>
            </a:extLst>
          </p:cNvPr>
          <p:cNvSpPr>
            <a:spLocks noChangeArrowheads="1"/>
          </p:cNvSpPr>
          <p:nvPr/>
        </p:nvSpPr>
        <p:spPr bwMode="auto">
          <a:xfrm rot="16200000">
            <a:off x="-1256228" y="3481213"/>
            <a:ext cx="411856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High-Income vs. Low-Income Friendships Formed Conditional On Exposure</a:t>
            </a:r>
          </a:p>
        </p:txBody>
      </p:sp>
      <p:sp>
        <p:nvSpPr>
          <p:cNvPr id="4" name="Rectangle 183">
            <a:extLst>
              <a:ext uri="{FF2B5EF4-FFF2-40B4-BE49-F238E27FC236}">
                <a16:creationId xmlns:a16="http://schemas.microsoft.com/office/drawing/2014/main" id="{7E15526A-A879-0A07-76A9-01C434F31D9F}"/>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12" name="TextBox 11">
            <a:extLst>
              <a:ext uri="{FF2B5EF4-FFF2-40B4-BE49-F238E27FC236}">
                <a16:creationId xmlns:a16="http://schemas.microsoft.com/office/drawing/2014/main" id="{44EC81E7-F87D-A698-5A8D-1F982870B24B}"/>
              </a:ext>
            </a:extLst>
          </p:cNvPr>
          <p:cNvSpPr txBox="1"/>
          <p:nvPr/>
        </p:nvSpPr>
        <p:spPr>
          <a:xfrm>
            <a:off x="566211" y="648215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Jackson, Kuchler, Stroebel et al.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3">
                  <a:extLst>
                    <a:ext uri="{A12FA001-AC4F-418D-AE19-62706E023703}">
                      <ahyp:hlinkClr xmlns:ahyp="http://schemas.microsoft.com/office/drawing/2018/hyperlinkcolor" val="tx"/>
                    </a:ext>
                  </a:extLst>
                </a:hlinkClick>
              </a:rPr>
              <a:t>Nature 2022a,b</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pic>
        <p:nvPicPr>
          <p:cNvPr id="17" name="Picture 16" descr="A black and grey text&#10;&#10;Description automatically generated">
            <a:extLst>
              <a:ext uri="{FF2B5EF4-FFF2-40B4-BE49-F238E27FC236}">
                <a16:creationId xmlns:a16="http://schemas.microsoft.com/office/drawing/2014/main" id="{4E58223E-D6A2-BE00-08FD-45D2B2D0BBF0}"/>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20" name="Straight Connector 19">
            <a:extLst>
              <a:ext uri="{FF2B5EF4-FFF2-40B4-BE49-F238E27FC236}">
                <a16:creationId xmlns:a16="http://schemas.microsoft.com/office/drawing/2014/main" id="{98F1F3E9-4046-F80C-E0A9-2C51CF4BB958}"/>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BBE450E-8A44-7440-E43B-249E4ED8B533}"/>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01BD79B-BCB5-9FA6-5250-F64E68A5F459}"/>
              </a:ext>
            </a:extLst>
          </p:cNvPr>
          <p:cNvCxnSpPr>
            <a:cxnSpLocks/>
          </p:cNvCxnSpPr>
          <p:nvPr/>
        </p:nvCxnSpPr>
        <p:spPr>
          <a:xfrm>
            <a:off x="1614959" y="4776314"/>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2C264AB-4041-7BEA-5497-6C176709B55D}"/>
              </a:ext>
            </a:extLst>
          </p:cNvPr>
          <p:cNvCxnSpPr>
            <a:cxnSpLocks/>
          </p:cNvCxnSpPr>
          <p:nvPr/>
        </p:nvCxnSpPr>
        <p:spPr>
          <a:xfrm>
            <a:off x="1614959" y="3502406"/>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4F6D693-EE62-64AC-5EB4-4086A9178A58}"/>
              </a:ext>
            </a:extLst>
          </p:cNvPr>
          <p:cNvCxnSpPr>
            <a:cxnSpLocks/>
          </p:cNvCxnSpPr>
          <p:nvPr/>
        </p:nvCxnSpPr>
        <p:spPr>
          <a:xfrm>
            <a:off x="1614959" y="2865452"/>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627E687-3C99-9C69-3931-3150F9A4B899}"/>
              </a:ext>
            </a:extLst>
          </p:cNvPr>
          <p:cNvSpPr txBox="1"/>
          <p:nvPr/>
        </p:nvSpPr>
        <p:spPr>
          <a:xfrm>
            <a:off x="1219768" y="4613068"/>
            <a:ext cx="468398"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0.8</a:t>
            </a:r>
          </a:p>
        </p:txBody>
      </p:sp>
      <p:sp>
        <p:nvSpPr>
          <p:cNvPr id="26" name="TextBox 25">
            <a:extLst>
              <a:ext uri="{FF2B5EF4-FFF2-40B4-BE49-F238E27FC236}">
                <a16:creationId xmlns:a16="http://schemas.microsoft.com/office/drawing/2014/main" id="{591913D0-BD3A-786A-3C63-1749E22A7F93}"/>
              </a:ext>
            </a:extLst>
          </p:cNvPr>
          <p:cNvSpPr txBox="1"/>
          <p:nvPr/>
        </p:nvSpPr>
        <p:spPr>
          <a:xfrm>
            <a:off x="1105955" y="2711563"/>
            <a:ext cx="5822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0.95</a:t>
            </a:r>
          </a:p>
        </p:txBody>
      </p:sp>
      <p:sp>
        <p:nvSpPr>
          <p:cNvPr id="27" name="TextBox 26">
            <a:extLst>
              <a:ext uri="{FF2B5EF4-FFF2-40B4-BE49-F238E27FC236}">
                <a16:creationId xmlns:a16="http://schemas.microsoft.com/office/drawing/2014/main" id="{F42DCCAC-4268-E2EC-42A5-7C3035F24131}"/>
              </a:ext>
            </a:extLst>
          </p:cNvPr>
          <p:cNvSpPr txBox="1"/>
          <p:nvPr/>
        </p:nvSpPr>
        <p:spPr>
          <a:xfrm>
            <a:off x="1219768" y="3354279"/>
            <a:ext cx="468398"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mn-cs"/>
              </a:rPr>
              <a:t>0.9</a:t>
            </a:r>
          </a:p>
        </p:txBody>
      </p:sp>
      <p:sp>
        <p:nvSpPr>
          <p:cNvPr id="22" name="Rectangle 21">
            <a:extLst>
              <a:ext uri="{FF2B5EF4-FFF2-40B4-BE49-F238E27FC236}">
                <a16:creationId xmlns:a16="http://schemas.microsoft.com/office/drawing/2014/main" id="{F2E573E9-8BE0-683E-7A07-F59962F04BAA}"/>
              </a:ext>
            </a:extLst>
          </p:cNvPr>
          <p:cNvSpPr>
            <a:spLocks noChangeArrowheads="1"/>
          </p:cNvSpPr>
          <p:nvPr/>
        </p:nvSpPr>
        <p:spPr bwMode="auto">
          <a:xfrm>
            <a:off x="609074" y="375319"/>
            <a:ext cx="11310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Friending Bias: Cross-Class Friendships Formed Conditional on Exposure</a:t>
            </a:r>
          </a:p>
        </p:txBody>
      </p:sp>
    </p:spTree>
    <p:extLst>
      <p:ext uri="{BB962C8B-B14F-4D97-AF65-F5344CB8AC3E}">
        <p14:creationId xmlns:p14="http://schemas.microsoft.com/office/powerpoint/2010/main" val="1483827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93F350-1FD5-EF60-1F21-52063E2FCA2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818839" y="-510262"/>
            <a:ext cx="10560808" cy="8160625"/>
          </a:xfrm>
          <a:prstGeom prst="rect">
            <a:avLst/>
          </a:prstGeom>
        </p:spPr>
      </p:pic>
      <p:sp>
        <p:nvSpPr>
          <p:cNvPr id="59" name="Rectangle 58">
            <a:extLst>
              <a:ext uri="{FF2B5EF4-FFF2-40B4-BE49-F238E27FC236}">
                <a16:creationId xmlns:a16="http://schemas.microsoft.com/office/drawing/2014/main" id="{C6E8DCF4-0A91-9BAC-45CA-6CAEE58086F9}"/>
              </a:ext>
            </a:extLst>
          </p:cNvPr>
          <p:cNvSpPr/>
          <p:nvPr/>
        </p:nvSpPr>
        <p:spPr>
          <a:xfrm>
            <a:off x="818838" y="683262"/>
            <a:ext cx="1699209" cy="529885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srgbClr val="262626"/>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689D6A4F-7791-930C-EF80-5D8B1ADF79FD}"/>
              </a:ext>
            </a:extLst>
          </p:cNvPr>
          <p:cNvSpPr/>
          <p:nvPr/>
        </p:nvSpPr>
        <p:spPr>
          <a:xfrm>
            <a:off x="2288845" y="5687570"/>
            <a:ext cx="8636070" cy="92399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73"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srgbClr val="262626"/>
              </a:solidFill>
              <a:effectLst/>
              <a:uLnTx/>
              <a:uFillTx/>
              <a:latin typeface="Calibri" panose="020F0502020204030204"/>
              <a:ea typeface="+mn-ea"/>
              <a:cs typeface="+mn-cs"/>
            </a:endParaRPr>
          </a:p>
        </p:txBody>
      </p:sp>
      <p:sp>
        <p:nvSpPr>
          <p:cNvPr id="73" name="Rectangle 11247">
            <a:extLst>
              <a:ext uri="{FF2B5EF4-FFF2-40B4-BE49-F238E27FC236}">
                <a16:creationId xmlns:a16="http://schemas.microsoft.com/office/drawing/2014/main" id="{13B1D31A-4720-1B6D-A40B-883286581D83}"/>
              </a:ext>
            </a:extLst>
          </p:cNvPr>
          <p:cNvSpPr>
            <a:spLocks noGrp="1" noRot="1" noMove="1" noResize="1" noEditPoints="1" noAdjustHandles="1" noChangeArrowheads="1" noChangeShapeType="1"/>
          </p:cNvSpPr>
          <p:nvPr/>
        </p:nvSpPr>
        <p:spPr bwMode="auto">
          <a:xfrm rot="16200000">
            <a:off x="131264" y="2111692"/>
            <a:ext cx="14010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1" u="none" strike="noStrike" kern="1200" cap="none" spc="0" normalizeH="0" baseline="0" noProof="0" dirty="0">
                <a:ln>
                  <a:noFill/>
                </a:ln>
                <a:solidFill>
                  <a:srgbClr val="29B6A4"/>
                </a:solidFill>
                <a:effectLst/>
                <a:uLnTx/>
                <a:uFillTx/>
                <a:latin typeface="Lucida Sans" panose="020B0602030504020204" pitchFamily="34" charset="0"/>
                <a:ea typeface="+mn-ea"/>
                <a:cs typeface="Arial" pitchFamily="34" charset="0"/>
              </a:rPr>
              <a:t>Less friending bias</a:t>
            </a:r>
            <a:endParaRPr kumimoji="0" lang="en-US" altLang="en-US" sz="1200" b="0" i="1" u="none" strike="noStrike" kern="1200" cap="none" spc="0" normalizeH="0" baseline="0" noProof="0" dirty="0">
              <a:ln>
                <a:noFill/>
              </a:ln>
              <a:solidFill>
                <a:srgbClr val="29B6A4"/>
              </a:solidFill>
              <a:effectLst/>
              <a:uLnTx/>
              <a:uFillTx/>
              <a:latin typeface="Arial" panose="020B0604020202020204" pitchFamily="34" charset="0"/>
              <a:ea typeface="+mn-ea"/>
              <a:cs typeface="Arial" pitchFamily="34" charset="0"/>
            </a:endParaRPr>
          </a:p>
        </p:txBody>
      </p:sp>
      <p:sp>
        <p:nvSpPr>
          <p:cNvPr id="75" name="Rectangle 11247">
            <a:extLst>
              <a:ext uri="{FF2B5EF4-FFF2-40B4-BE49-F238E27FC236}">
                <a16:creationId xmlns:a16="http://schemas.microsoft.com/office/drawing/2014/main" id="{AC5F7AA5-C84A-189D-CFC7-EF94B3E466C8}"/>
              </a:ext>
            </a:extLst>
          </p:cNvPr>
          <p:cNvSpPr>
            <a:spLocks noGrp="1" noRot="1" noMove="1" noResize="1" noEditPoints="1" noAdjustHandles="1" noChangeArrowheads="1" noChangeShapeType="1"/>
          </p:cNvSpPr>
          <p:nvPr/>
        </p:nvSpPr>
        <p:spPr bwMode="auto">
          <a:xfrm>
            <a:off x="8619858" y="6228548"/>
            <a:ext cx="109004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1" u="none" strike="noStrike" kern="1200" cap="none" spc="0" normalizeH="0" baseline="0" noProof="0" dirty="0">
                <a:ln>
                  <a:noFill/>
                </a:ln>
                <a:solidFill>
                  <a:srgbClr val="29B6A4"/>
                </a:solidFill>
                <a:effectLst/>
                <a:uLnTx/>
                <a:uFillTx/>
                <a:latin typeface="Lucida Sans" panose="020B0602030504020204" pitchFamily="34" charset="0"/>
                <a:ea typeface="+mn-ea"/>
                <a:cs typeface="Arial" pitchFamily="34" charset="0"/>
              </a:rPr>
              <a:t>More exposure</a:t>
            </a:r>
            <a:endParaRPr kumimoji="0" lang="en-US" altLang="en-US" sz="1200" b="0" i="1" u="none" strike="noStrike" kern="1200" cap="none" spc="0" normalizeH="0" baseline="0" noProof="0" dirty="0">
              <a:ln>
                <a:noFill/>
              </a:ln>
              <a:solidFill>
                <a:srgbClr val="29B6A4"/>
              </a:solidFill>
              <a:effectLst/>
              <a:uLnTx/>
              <a:uFillTx/>
              <a:latin typeface="Arial" panose="020B0604020202020204" pitchFamily="34" charset="0"/>
              <a:ea typeface="+mn-ea"/>
              <a:cs typeface="Arial" pitchFamily="34" charset="0"/>
            </a:endParaRPr>
          </a:p>
        </p:txBody>
      </p:sp>
      <p:grpSp>
        <p:nvGrpSpPr>
          <p:cNvPr id="7" name="Group 6">
            <a:extLst>
              <a:ext uri="{FF2B5EF4-FFF2-40B4-BE49-F238E27FC236}">
                <a16:creationId xmlns:a16="http://schemas.microsoft.com/office/drawing/2014/main" id="{844B6002-E4C0-D675-54BE-40383238AA59}"/>
              </a:ext>
            </a:extLst>
          </p:cNvPr>
          <p:cNvGrpSpPr/>
          <p:nvPr/>
        </p:nvGrpSpPr>
        <p:grpSpPr>
          <a:xfrm>
            <a:off x="952685" y="989740"/>
            <a:ext cx="9047339" cy="5306368"/>
            <a:chOff x="952685" y="989740"/>
            <a:chExt cx="9047339" cy="5306368"/>
          </a:xfrm>
        </p:grpSpPr>
        <p:sp>
          <p:nvSpPr>
            <p:cNvPr id="48" name="Line 113">
              <a:extLst>
                <a:ext uri="{FF2B5EF4-FFF2-40B4-BE49-F238E27FC236}">
                  <a16:creationId xmlns:a16="http://schemas.microsoft.com/office/drawing/2014/main" id="{272D687F-740A-00F1-A422-088335307E1D}"/>
                </a:ext>
              </a:extLst>
            </p:cNvPr>
            <p:cNvSpPr>
              <a:spLocks/>
            </p:cNvSpPr>
            <p:nvPr/>
          </p:nvSpPr>
          <p:spPr bwMode="auto">
            <a:xfrm flipV="1">
              <a:off x="2341136" y="989740"/>
              <a:ext cx="0" cy="4717088"/>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49" name="Line 114">
              <a:extLst>
                <a:ext uri="{FF2B5EF4-FFF2-40B4-BE49-F238E27FC236}">
                  <a16:creationId xmlns:a16="http://schemas.microsoft.com/office/drawing/2014/main" id="{87C8E99E-C985-403A-9D2B-4F4C97B75D42}"/>
                </a:ext>
              </a:extLst>
            </p:cNvPr>
            <p:cNvSpPr>
              <a:spLocks/>
            </p:cNvSpPr>
            <p:nvPr/>
          </p:nvSpPr>
          <p:spPr bwMode="auto">
            <a:xfrm flipH="1">
              <a:off x="2243316" y="5475230"/>
              <a:ext cx="97918" cy="0"/>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50" name="Line 116">
              <a:extLst>
                <a:ext uri="{FF2B5EF4-FFF2-40B4-BE49-F238E27FC236}">
                  <a16:creationId xmlns:a16="http://schemas.microsoft.com/office/drawing/2014/main" id="{F5C6D107-D84E-FD70-19B0-27F87C85885B}"/>
                </a:ext>
              </a:extLst>
            </p:cNvPr>
            <p:cNvSpPr>
              <a:spLocks/>
            </p:cNvSpPr>
            <p:nvPr/>
          </p:nvSpPr>
          <p:spPr bwMode="auto">
            <a:xfrm flipH="1">
              <a:off x="2243316" y="4189099"/>
              <a:ext cx="97918" cy="0"/>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51" name="Line 118">
              <a:extLst>
                <a:ext uri="{FF2B5EF4-FFF2-40B4-BE49-F238E27FC236}">
                  <a16:creationId xmlns:a16="http://schemas.microsoft.com/office/drawing/2014/main" id="{B1C048FF-57D9-A9C4-3994-22F980D8016E}"/>
                </a:ext>
              </a:extLst>
            </p:cNvPr>
            <p:cNvSpPr>
              <a:spLocks/>
            </p:cNvSpPr>
            <p:nvPr/>
          </p:nvSpPr>
          <p:spPr bwMode="auto">
            <a:xfrm flipH="1">
              <a:off x="2243316" y="2927235"/>
              <a:ext cx="97918" cy="0"/>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52" name="Line 120">
              <a:extLst>
                <a:ext uri="{FF2B5EF4-FFF2-40B4-BE49-F238E27FC236}">
                  <a16:creationId xmlns:a16="http://schemas.microsoft.com/office/drawing/2014/main" id="{3958447E-9F67-8289-130E-7F422FD46D5D}"/>
                </a:ext>
              </a:extLst>
            </p:cNvPr>
            <p:cNvSpPr>
              <a:spLocks/>
            </p:cNvSpPr>
            <p:nvPr/>
          </p:nvSpPr>
          <p:spPr bwMode="auto">
            <a:xfrm flipH="1">
              <a:off x="2243316" y="1638976"/>
              <a:ext cx="97918" cy="0"/>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54" name="Line 124">
              <a:extLst>
                <a:ext uri="{FF2B5EF4-FFF2-40B4-BE49-F238E27FC236}">
                  <a16:creationId xmlns:a16="http://schemas.microsoft.com/office/drawing/2014/main" id="{5861956F-6840-9ECD-7F21-A1780544D721}"/>
                </a:ext>
              </a:extLst>
            </p:cNvPr>
            <p:cNvSpPr>
              <a:spLocks/>
            </p:cNvSpPr>
            <p:nvPr/>
          </p:nvSpPr>
          <p:spPr bwMode="auto">
            <a:xfrm>
              <a:off x="3718373" y="5706925"/>
              <a:ext cx="0" cy="97918"/>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55" name="Line 126">
              <a:extLst>
                <a:ext uri="{FF2B5EF4-FFF2-40B4-BE49-F238E27FC236}">
                  <a16:creationId xmlns:a16="http://schemas.microsoft.com/office/drawing/2014/main" id="{90791E9F-5FF7-2C10-EC9A-3CD6CAA070A7}"/>
                </a:ext>
              </a:extLst>
            </p:cNvPr>
            <p:cNvSpPr>
              <a:spLocks/>
            </p:cNvSpPr>
            <p:nvPr/>
          </p:nvSpPr>
          <p:spPr bwMode="auto">
            <a:xfrm>
              <a:off x="5590307" y="5706925"/>
              <a:ext cx="0" cy="97918"/>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56" name="Line 128">
              <a:extLst>
                <a:ext uri="{FF2B5EF4-FFF2-40B4-BE49-F238E27FC236}">
                  <a16:creationId xmlns:a16="http://schemas.microsoft.com/office/drawing/2014/main" id="{486AA1F5-2A9E-F9A9-58A1-BED4D2F45CBC}"/>
                </a:ext>
              </a:extLst>
            </p:cNvPr>
            <p:cNvSpPr>
              <a:spLocks/>
            </p:cNvSpPr>
            <p:nvPr/>
          </p:nvSpPr>
          <p:spPr bwMode="auto">
            <a:xfrm>
              <a:off x="7459262" y="5706925"/>
              <a:ext cx="0" cy="97918"/>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57" name="Line 130">
              <a:extLst>
                <a:ext uri="{FF2B5EF4-FFF2-40B4-BE49-F238E27FC236}">
                  <a16:creationId xmlns:a16="http://schemas.microsoft.com/office/drawing/2014/main" id="{8BB06527-9BBA-DDE0-F424-A347EE9E364D}"/>
                </a:ext>
              </a:extLst>
            </p:cNvPr>
            <p:cNvSpPr>
              <a:spLocks/>
            </p:cNvSpPr>
            <p:nvPr/>
          </p:nvSpPr>
          <p:spPr bwMode="auto">
            <a:xfrm>
              <a:off x="9335453" y="5706925"/>
              <a:ext cx="0" cy="97918"/>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53" name="Line 123">
              <a:extLst>
                <a:ext uri="{FF2B5EF4-FFF2-40B4-BE49-F238E27FC236}">
                  <a16:creationId xmlns:a16="http://schemas.microsoft.com/office/drawing/2014/main" id="{31ABAEA3-71BC-D8A0-132B-207999AD0733}"/>
                </a:ext>
              </a:extLst>
            </p:cNvPr>
            <p:cNvSpPr>
              <a:spLocks/>
            </p:cNvSpPr>
            <p:nvPr/>
          </p:nvSpPr>
          <p:spPr bwMode="auto">
            <a:xfrm>
              <a:off x="2341141" y="5706826"/>
              <a:ext cx="7658883" cy="0"/>
            </a:xfrm>
            <a:prstGeom prst="line">
              <a:avLst/>
            </a:prstGeom>
            <a:noFill/>
            <a:ln w="6350">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121725" tIns="60862" rIns="121725" bIns="60862" numCol="1" anchor="t" anchorCtr="0" compatLnSpc="1">
              <a:prstTxWarp prst="textNoShape">
                <a:avLst/>
              </a:prstTxWarp>
            </a:bodyPr>
            <a:lstStyle/>
            <a:p>
              <a:pPr marL="0" marR="0" lvl="0" indent="0" algn="l" defTabSz="91274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endParaRPr>
            </a:p>
          </p:txBody>
        </p:sp>
        <p:sp>
          <p:nvSpPr>
            <p:cNvPr id="64" name="Rectangle 115">
              <a:extLst>
                <a:ext uri="{FF2B5EF4-FFF2-40B4-BE49-F238E27FC236}">
                  <a16:creationId xmlns:a16="http://schemas.microsoft.com/office/drawing/2014/main" id="{6DA5448D-8561-4CA3-D53B-3A45DEADF24D}"/>
                </a:ext>
              </a:extLst>
            </p:cNvPr>
            <p:cNvSpPr>
              <a:spLocks noChangeArrowheads="1"/>
            </p:cNvSpPr>
            <p:nvPr/>
          </p:nvSpPr>
          <p:spPr bwMode="auto">
            <a:xfrm>
              <a:off x="1933091" y="5358517"/>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20</a:t>
              </a:r>
            </a:p>
          </p:txBody>
        </p:sp>
        <p:sp>
          <p:nvSpPr>
            <p:cNvPr id="65" name="Rectangle 115">
              <a:extLst>
                <a:ext uri="{FF2B5EF4-FFF2-40B4-BE49-F238E27FC236}">
                  <a16:creationId xmlns:a16="http://schemas.microsoft.com/office/drawing/2014/main" id="{B84DB927-FE16-45C6-BDDF-B4E5AF5C5DF6}"/>
                </a:ext>
              </a:extLst>
            </p:cNvPr>
            <p:cNvSpPr>
              <a:spLocks noChangeArrowheads="1"/>
            </p:cNvSpPr>
            <p:nvPr/>
          </p:nvSpPr>
          <p:spPr bwMode="auto">
            <a:xfrm>
              <a:off x="1933091" y="4079626"/>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10</a:t>
              </a:r>
            </a:p>
          </p:txBody>
        </p:sp>
        <p:sp>
          <p:nvSpPr>
            <p:cNvPr id="66" name="Rectangle 115">
              <a:extLst>
                <a:ext uri="{FF2B5EF4-FFF2-40B4-BE49-F238E27FC236}">
                  <a16:creationId xmlns:a16="http://schemas.microsoft.com/office/drawing/2014/main" id="{F67A6073-D124-7BA0-02C3-6C23F557AAE8}"/>
                </a:ext>
              </a:extLst>
            </p:cNvPr>
            <p:cNvSpPr>
              <a:spLocks noChangeArrowheads="1"/>
            </p:cNvSpPr>
            <p:nvPr/>
          </p:nvSpPr>
          <p:spPr bwMode="auto">
            <a:xfrm>
              <a:off x="2062933" y="2822817"/>
              <a:ext cx="1298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0</a:t>
              </a:r>
            </a:p>
          </p:txBody>
        </p:sp>
        <p:sp>
          <p:nvSpPr>
            <p:cNvPr id="67" name="Rectangle 115">
              <a:extLst>
                <a:ext uri="{FF2B5EF4-FFF2-40B4-BE49-F238E27FC236}">
                  <a16:creationId xmlns:a16="http://schemas.microsoft.com/office/drawing/2014/main" id="{E849618A-B264-D381-6011-0AA46B78376F}"/>
                </a:ext>
              </a:extLst>
            </p:cNvPr>
            <p:cNvSpPr>
              <a:spLocks noChangeArrowheads="1"/>
            </p:cNvSpPr>
            <p:nvPr/>
          </p:nvSpPr>
          <p:spPr bwMode="auto">
            <a:xfrm>
              <a:off x="1865764" y="1543859"/>
              <a:ext cx="3270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-10</a:t>
              </a:r>
            </a:p>
          </p:txBody>
        </p:sp>
        <p:sp>
          <p:nvSpPr>
            <p:cNvPr id="68" name="Rectangle 125">
              <a:extLst>
                <a:ext uri="{FF2B5EF4-FFF2-40B4-BE49-F238E27FC236}">
                  <a16:creationId xmlns:a16="http://schemas.microsoft.com/office/drawing/2014/main" id="{886AB61D-0017-CB2F-F103-366779337762}"/>
                </a:ext>
              </a:extLst>
            </p:cNvPr>
            <p:cNvSpPr>
              <a:spLocks noChangeArrowheads="1"/>
            </p:cNvSpPr>
            <p:nvPr/>
          </p:nvSpPr>
          <p:spPr bwMode="auto">
            <a:xfrm>
              <a:off x="3567975" y="5838542"/>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20</a:t>
              </a:r>
            </a:p>
          </p:txBody>
        </p:sp>
        <p:sp>
          <p:nvSpPr>
            <p:cNvPr id="69" name="Rectangle 125">
              <a:extLst>
                <a:ext uri="{FF2B5EF4-FFF2-40B4-BE49-F238E27FC236}">
                  <a16:creationId xmlns:a16="http://schemas.microsoft.com/office/drawing/2014/main" id="{F0538092-AC34-8DF4-759E-7F03CD13B7E4}"/>
                </a:ext>
              </a:extLst>
            </p:cNvPr>
            <p:cNvSpPr>
              <a:spLocks noChangeArrowheads="1"/>
            </p:cNvSpPr>
            <p:nvPr/>
          </p:nvSpPr>
          <p:spPr bwMode="auto">
            <a:xfrm>
              <a:off x="5433604" y="5838542"/>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40</a:t>
              </a:r>
            </a:p>
          </p:txBody>
        </p:sp>
        <p:sp>
          <p:nvSpPr>
            <p:cNvPr id="70" name="Rectangle 125">
              <a:extLst>
                <a:ext uri="{FF2B5EF4-FFF2-40B4-BE49-F238E27FC236}">
                  <a16:creationId xmlns:a16="http://schemas.microsoft.com/office/drawing/2014/main" id="{388D45E8-109C-40CB-0F4A-64A3367CFE2E}"/>
                </a:ext>
              </a:extLst>
            </p:cNvPr>
            <p:cNvSpPr>
              <a:spLocks noChangeArrowheads="1"/>
            </p:cNvSpPr>
            <p:nvPr/>
          </p:nvSpPr>
          <p:spPr bwMode="auto">
            <a:xfrm>
              <a:off x="7292037" y="5838542"/>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60</a:t>
              </a:r>
            </a:p>
          </p:txBody>
        </p:sp>
        <p:sp>
          <p:nvSpPr>
            <p:cNvPr id="71" name="Rectangle 125">
              <a:extLst>
                <a:ext uri="{FF2B5EF4-FFF2-40B4-BE49-F238E27FC236}">
                  <a16:creationId xmlns:a16="http://schemas.microsoft.com/office/drawing/2014/main" id="{3E76517C-607C-533B-FE0C-5176D1C70EBB}"/>
                </a:ext>
              </a:extLst>
            </p:cNvPr>
            <p:cNvSpPr>
              <a:spLocks noChangeArrowheads="1"/>
            </p:cNvSpPr>
            <p:nvPr/>
          </p:nvSpPr>
          <p:spPr bwMode="auto">
            <a:xfrm>
              <a:off x="9157666" y="5838542"/>
              <a:ext cx="259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80</a:t>
              </a:r>
            </a:p>
          </p:txBody>
        </p:sp>
        <p:sp>
          <p:nvSpPr>
            <p:cNvPr id="72" name="Rectangle 132">
              <a:extLst>
                <a:ext uri="{FF2B5EF4-FFF2-40B4-BE49-F238E27FC236}">
                  <a16:creationId xmlns:a16="http://schemas.microsoft.com/office/drawing/2014/main" id="{AD92DBFD-2A67-237E-3CB6-7095B7E95D76}"/>
                </a:ext>
              </a:extLst>
            </p:cNvPr>
            <p:cNvSpPr>
              <a:spLocks noChangeArrowheads="1"/>
            </p:cNvSpPr>
            <p:nvPr/>
          </p:nvSpPr>
          <p:spPr bwMode="auto">
            <a:xfrm>
              <a:off x="4203320" y="6049887"/>
              <a:ext cx="400473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marL="457200" eaLnBrk="0" hangingPunct="0">
                <a:defRPr>
                  <a:solidFill>
                    <a:schemeClr val="tx1"/>
                  </a:solidFill>
                  <a:latin typeface="Arial" panose="020B0604020202020204" pitchFamily="34" charset="0"/>
                </a:defRPr>
              </a:lvl2pPr>
              <a:lvl3pPr marL="914400" eaLnBrk="0" hangingPunct="0">
                <a:defRPr>
                  <a:solidFill>
                    <a:schemeClr val="tx1"/>
                  </a:solidFill>
                  <a:latin typeface="Arial" panose="020B0604020202020204" pitchFamily="34" charset="0"/>
                </a:defRPr>
              </a:lvl3pPr>
              <a:lvl4pPr marL="1371600" eaLnBrk="0" hangingPunct="0">
                <a:defRPr>
                  <a:solidFill>
                    <a:schemeClr val="tx1"/>
                  </a:solidFill>
                  <a:latin typeface="Arial" panose="020B0604020202020204" pitchFamily="34" charset="0"/>
                </a:defRPr>
              </a:lvl4pPr>
              <a:lvl5pPr marL="1828800" eaLnBrk="0" hangingPunct="0">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5030" rtl="0" eaLnBrk="0" fontAlgn="auto" latinLnBrk="0" hangingPunct="0">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Share of High-Parental-SES Students (%)</a:t>
              </a:r>
            </a:p>
          </p:txBody>
        </p:sp>
        <p:sp>
          <p:nvSpPr>
            <p:cNvPr id="74" name="Rectangle 11249">
              <a:extLst>
                <a:ext uri="{FF2B5EF4-FFF2-40B4-BE49-F238E27FC236}">
                  <a16:creationId xmlns:a16="http://schemas.microsoft.com/office/drawing/2014/main" id="{EB9B5FC6-E16D-D962-E0E9-44FBE7D6E389}"/>
                </a:ext>
              </a:extLst>
            </p:cNvPr>
            <p:cNvSpPr>
              <a:spLocks noChangeArrowheads="1"/>
            </p:cNvSpPr>
            <p:nvPr/>
          </p:nvSpPr>
          <p:spPr bwMode="auto">
            <a:xfrm rot="16200000">
              <a:off x="-434567" y="2873005"/>
              <a:ext cx="360064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Friending Bias among</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262626"/>
                  </a:solidFill>
                  <a:effectLst/>
                  <a:uLnTx/>
                  <a:uFillTx/>
                  <a:latin typeface="Lucida Sans" panose="020B0602030504020204" pitchFamily="34" charset="0"/>
                  <a:ea typeface="+mn-ea"/>
                  <a:cs typeface="Arial" pitchFamily="34" charset="0"/>
                </a:rPr>
                <a:t>Low-Parental-SES Students (%) </a:t>
              </a:r>
              <a:endParaRPr kumimoji="0" lang="en-US" altLang="en-US" sz="1600" b="0" i="0" u="none" strike="noStrike" kern="1200" cap="none" spc="0" normalizeH="0" baseline="0" noProof="0" dirty="0">
                <a:ln>
                  <a:noFill/>
                </a:ln>
                <a:solidFill>
                  <a:srgbClr val="262626"/>
                </a:solidFill>
                <a:effectLst/>
                <a:uLnTx/>
                <a:uFillTx/>
                <a:latin typeface="Arial" panose="020B0604020202020204" pitchFamily="34" charset="0"/>
                <a:ea typeface="+mn-ea"/>
                <a:cs typeface="Arial" pitchFamily="34" charset="0"/>
              </a:endParaRPr>
            </a:p>
          </p:txBody>
        </p:sp>
        <p:cxnSp>
          <p:nvCxnSpPr>
            <p:cNvPr id="77" name="Straight Arrow Connector 76">
              <a:extLst>
                <a:ext uri="{FF2B5EF4-FFF2-40B4-BE49-F238E27FC236}">
                  <a16:creationId xmlns:a16="http://schemas.microsoft.com/office/drawing/2014/main" id="{10F0E607-E0DA-B360-E497-C26906516CB4}"/>
                </a:ext>
              </a:extLst>
            </p:cNvPr>
            <p:cNvCxnSpPr>
              <a:cxnSpLocks/>
            </p:cNvCxnSpPr>
            <p:nvPr/>
          </p:nvCxnSpPr>
          <p:spPr>
            <a:xfrm flipV="1">
              <a:off x="952685" y="1411020"/>
              <a:ext cx="0" cy="1516215"/>
            </a:xfrm>
            <a:prstGeom prst="straightConnector1">
              <a:avLst/>
            </a:prstGeom>
            <a:ln>
              <a:solidFill>
                <a:srgbClr val="2AB6AC"/>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EE7B4BAA-0D02-6AA4-6F73-021F687F0981}"/>
              </a:ext>
            </a:extLst>
          </p:cNvPr>
          <p:cNvSpPr>
            <a:spLocks noChangeArrowheads="1"/>
          </p:cNvSpPr>
          <p:nvPr/>
        </p:nvSpPr>
        <p:spPr bwMode="auto">
          <a:xfrm>
            <a:off x="613836" y="375319"/>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Friending Bias vs. Exposure to High-SES Students, By High School</a:t>
            </a:r>
          </a:p>
        </p:txBody>
      </p:sp>
      <p:sp>
        <p:nvSpPr>
          <p:cNvPr id="10" name="TextBox 9">
            <a:extLst>
              <a:ext uri="{FF2B5EF4-FFF2-40B4-BE49-F238E27FC236}">
                <a16:creationId xmlns:a16="http://schemas.microsoft.com/office/drawing/2014/main" id="{C6FF69EE-51D6-BD8F-500B-AA82E806D1E3}"/>
              </a:ext>
            </a:extLst>
          </p:cNvPr>
          <p:cNvSpPr txBox="1"/>
          <p:nvPr/>
        </p:nvSpPr>
        <p:spPr>
          <a:xfrm>
            <a:off x="566211" y="648215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Jackson, Kuchler, Stroebel et al. (Nature 2022b)</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pic>
        <p:nvPicPr>
          <p:cNvPr id="11" name="Picture 10" descr="A black and grey text&#10;&#10;Description automatically generated">
            <a:extLst>
              <a:ext uri="{FF2B5EF4-FFF2-40B4-BE49-F238E27FC236}">
                <a16:creationId xmlns:a16="http://schemas.microsoft.com/office/drawing/2014/main" id="{E5BA77D6-9D87-E362-C899-4E3AC7BE570D}"/>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12" name="Straight Connector 11">
            <a:extLst>
              <a:ext uri="{FF2B5EF4-FFF2-40B4-BE49-F238E27FC236}">
                <a16:creationId xmlns:a16="http://schemas.microsoft.com/office/drawing/2014/main" id="{6A3D676E-43AC-4DB3-CCC1-AFA9DEF84079}"/>
              </a:ext>
            </a:extLst>
          </p:cNvPr>
          <p:cNvCxnSpPr>
            <a:cxnSpLocks/>
          </p:cNvCxnSpPr>
          <p:nvPr/>
        </p:nvCxnSpPr>
        <p:spPr>
          <a:xfrm>
            <a:off x="620980" y="6483107"/>
            <a:ext cx="10953649" cy="0"/>
          </a:xfrm>
          <a:prstGeom prst="line">
            <a:avLst/>
          </a:prstGeom>
          <a:noFill/>
          <a:ln w="12700" cap="flat" cmpd="sng" algn="ctr">
            <a:solidFill>
              <a:sysClr val="windowText" lastClr="000000"/>
            </a:solidFill>
            <a:prstDash val="solid"/>
            <a:miter lim="800000"/>
          </a:ln>
          <a:effectLst/>
        </p:spPr>
      </p:cxnSp>
      <p:cxnSp>
        <p:nvCxnSpPr>
          <p:cNvPr id="3" name="Straight Arrow Connector 2">
            <a:extLst>
              <a:ext uri="{FF2B5EF4-FFF2-40B4-BE49-F238E27FC236}">
                <a16:creationId xmlns:a16="http://schemas.microsoft.com/office/drawing/2014/main" id="{312E34F1-93F7-C6B5-EC9D-51A04200B6BD}"/>
              </a:ext>
            </a:extLst>
          </p:cNvPr>
          <p:cNvCxnSpPr>
            <a:cxnSpLocks/>
          </p:cNvCxnSpPr>
          <p:nvPr/>
        </p:nvCxnSpPr>
        <p:spPr>
          <a:xfrm rot="5400000" flipV="1">
            <a:off x="9367311" y="5655107"/>
            <a:ext cx="0" cy="1516215"/>
          </a:xfrm>
          <a:prstGeom prst="straightConnector1">
            <a:avLst/>
          </a:prstGeom>
          <a:ln>
            <a:solidFill>
              <a:srgbClr val="2AB6AC"/>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4C0CE6B-E0FA-CC22-A9D1-267826E6D359}"/>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578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268CDF10-316B-4725-B1CE-114DA8951D2C}"/>
              </a:ext>
            </a:extLst>
          </p:cNvPr>
          <p:cNvCxnSpPr/>
          <p:nvPr/>
        </p:nvCxnSpPr>
        <p:spPr>
          <a:xfrm>
            <a:off x="-3449053" y="192505"/>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B8AA748C-41F1-AA77-9B96-90D69A69F222}"/>
              </a:ext>
            </a:extLst>
          </p:cNvPr>
          <p:cNvGrpSpPr>
            <a:grpSpLocks noChangeAspect="1"/>
          </p:cNvGrpSpPr>
          <p:nvPr/>
        </p:nvGrpSpPr>
        <p:grpSpPr>
          <a:xfrm>
            <a:off x="594468" y="2055886"/>
            <a:ext cx="10987406" cy="3444284"/>
            <a:chOff x="-137131" y="2079533"/>
            <a:chExt cx="12282721" cy="3850330"/>
          </a:xfrm>
        </p:grpSpPr>
        <p:grpSp>
          <p:nvGrpSpPr>
            <p:cNvPr id="55" name="Group 54">
              <a:extLst>
                <a:ext uri="{FF2B5EF4-FFF2-40B4-BE49-F238E27FC236}">
                  <a16:creationId xmlns:a16="http://schemas.microsoft.com/office/drawing/2014/main" id="{725D2E3F-F195-40CD-AC7F-EB246DCEDD12}"/>
                </a:ext>
              </a:extLst>
            </p:cNvPr>
            <p:cNvGrpSpPr/>
            <p:nvPr/>
          </p:nvGrpSpPr>
          <p:grpSpPr>
            <a:xfrm>
              <a:off x="3465993" y="3064690"/>
              <a:ext cx="1554480" cy="2119872"/>
              <a:chOff x="3465993" y="3060514"/>
              <a:chExt cx="1554480" cy="2119872"/>
            </a:xfrm>
          </p:grpSpPr>
          <p:sp>
            <p:nvSpPr>
              <p:cNvPr id="9" name="Rectangle 8">
                <a:extLst>
                  <a:ext uri="{FF2B5EF4-FFF2-40B4-BE49-F238E27FC236}">
                    <a16:creationId xmlns:a16="http://schemas.microsoft.com/office/drawing/2014/main" id="{76DE2DF2-8D90-48CE-9643-90AD112B2CBC}"/>
                  </a:ext>
                </a:extLst>
              </p:cNvPr>
              <p:cNvSpPr/>
              <p:nvPr/>
            </p:nvSpPr>
            <p:spPr>
              <a:xfrm>
                <a:off x="3465993" y="3539479"/>
                <a:ext cx="1554480" cy="1640907"/>
              </a:xfrm>
              <a:prstGeom prst="rect">
                <a:avLst/>
              </a:prstGeom>
              <a:solidFill>
                <a:srgbClr val="6BBE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2C645C4F-D6B6-4766-B5FF-35D05C00AA5E}"/>
                  </a:ext>
                </a:extLst>
              </p:cNvPr>
              <p:cNvSpPr txBox="1"/>
              <p:nvPr/>
            </p:nvSpPr>
            <p:spPr>
              <a:xfrm>
                <a:off x="3714028" y="3060514"/>
                <a:ext cx="1086301" cy="3784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College</a:t>
                </a:r>
              </a:p>
            </p:txBody>
          </p:sp>
        </p:grpSp>
        <p:grpSp>
          <p:nvGrpSpPr>
            <p:cNvPr id="56" name="Group 55">
              <a:extLst>
                <a:ext uri="{FF2B5EF4-FFF2-40B4-BE49-F238E27FC236}">
                  <a16:creationId xmlns:a16="http://schemas.microsoft.com/office/drawing/2014/main" id="{629BDE4A-ACC1-4A89-B39B-C0F6070EF4B7}"/>
                </a:ext>
              </a:extLst>
            </p:cNvPr>
            <p:cNvGrpSpPr/>
            <p:nvPr/>
          </p:nvGrpSpPr>
          <p:grpSpPr>
            <a:xfrm>
              <a:off x="1504125" y="2079533"/>
              <a:ext cx="1985900" cy="3105029"/>
              <a:chOff x="1504125" y="2110850"/>
              <a:chExt cx="1985900" cy="3105029"/>
            </a:xfrm>
          </p:grpSpPr>
          <p:sp>
            <p:nvSpPr>
              <p:cNvPr id="2" name="Rectangle 1">
                <a:extLst>
                  <a:ext uri="{FF2B5EF4-FFF2-40B4-BE49-F238E27FC236}">
                    <a16:creationId xmlns:a16="http://schemas.microsoft.com/office/drawing/2014/main" id="{DF4D77CE-CFD6-4D09-9DF7-543C35A61D37}"/>
                  </a:ext>
                </a:extLst>
              </p:cNvPr>
              <p:cNvSpPr/>
              <p:nvPr/>
            </p:nvSpPr>
            <p:spPr>
              <a:xfrm>
                <a:off x="1699362" y="2585413"/>
                <a:ext cx="1554480" cy="2630466"/>
              </a:xfrm>
              <a:prstGeom prst="rect">
                <a:avLst/>
              </a:prstGeom>
              <a:solidFill>
                <a:srgbClr val="28B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18A7C887-BDAA-47CC-857A-58186DECE022}"/>
                  </a:ext>
                </a:extLst>
              </p:cNvPr>
              <p:cNvSpPr txBox="1"/>
              <p:nvPr/>
            </p:nvSpPr>
            <p:spPr>
              <a:xfrm>
                <a:off x="1504125" y="2110850"/>
                <a:ext cx="1985900" cy="3784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Neighborhood</a:t>
                </a:r>
              </a:p>
            </p:txBody>
          </p:sp>
        </p:grpSp>
        <p:grpSp>
          <p:nvGrpSpPr>
            <p:cNvPr id="54" name="Group 53">
              <a:extLst>
                <a:ext uri="{FF2B5EF4-FFF2-40B4-BE49-F238E27FC236}">
                  <a16:creationId xmlns:a16="http://schemas.microsoft.com/office/drawing/2014/main" id="{31631D35-315A-4917-85EB-EBC5A581FF45}"/>
                </a:ext>
              </a:extLst>
            </p:cNvPr>
            <p:cNvGrpSpPr/>
            <p:nvPr/>
          </p:nvGrpSpPr>
          <p:grpSpPr>
            <a:xfrm>
              <a:off x="5232624" y="3799468"/>
              <a:ext cx="1615476" cy="1385094"/>
              <a:chOff x="5232624" y="3795291"/>
              <a:chExt cx="1615476" cy="1385094"/>
            </a:xfrm>
          </p:grpSpPr>
          <p:sp>
            <p:nvSpPr>
              <p:cNvPr id="10" name="Rectangle 9">
                <a:extLst>
                  <a:ext uri="{FF2B5EF4-FFF2-40B4-BE49-F238E27FC236}">
                    <a16:creationId xmlns:a16="http://schemas.microsoft.com/office/drawing/2014/main" id="{966F0321-D217-4001-86DD-A71E679F1057}"/>
                  </a:ext>
                </a:extLst>
              </p:cNvPr>
              <p:cNvSpPr/>
              <p:nvPr/>
            </p:nvSpPr>
            <p:spPr>
              <a:xfrm>
                <a:off x="5232624" y="4274342"/>
                <a:ext cx="1554480" cy="906043"/>
              </a:xfrm>
              <a:prstGeom prst="rect">
                <a:avLst/>
              </a:prstGeom>
              <a:solidFill>
                <a:srgbClr val="005A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F402577E-81BB-403A-A714-6DBA6902979B}"/>
                  </a:ext>
                </a:extLst>
              </p:cNvPr>
              <p:cNvSpPr txBox="1"/>
              <p:nvPr/>
            </p:nvSpPr>
            <p:spPr>
              <a:xfrm>
                <a:off x="5240332" y="3795291"/>
                <a:ext cx="1607768" cy="3784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High School</a:t>
                </a:r>
              </a:p>
            </p:txBody>
          </p:sp>
        </p:grpSp>
        <p:grpSp>
          <p:nvGrpSpPr>
            <p:cNvPr id="53" name="Group 52">
              <a:extLst>
                <a:ext uri="{FF2B5EF4-FFF2-40B4-BE49-F238E27FC236}">
                  <a16:creationId xmlns:a16="http://schemas.microsoft.com/office/drawing/2014/main" id="{90EBEC8C-889B-4C4F-AF2F-40FAB24EDA7E}"/>
                </a:ext>
              </a:extLst>
            </p:cNvPr>
            <p:cNvGrpSpPr/>
            <p:nvPr/>
          </p:nvGrpSpPr>
          <p:grpSpPr>
            <a:xfrm>
              <a:off x="6999255" y="4236976"/>
              <a:ext cx="1554480" cy="947586"/>
              <a:chOff x="6999255" y="4232801"/>
              <a:chExt cx="1554480" cy="947586"/>
            </a:xfrm>
          </p:grpSpPr>
          <p:sp>
            <p:nvSpPr>
              <p:cNvPr id="8" name="Rectangle 7">
                <a:extLst>
                  <a:ext uri="{FF2B5EF4-FFF2-40B4-BE49-F238E27FC236}">
                    <a16:creationId xmlns:a16="http://schemas.microsoft.com/office/drawing/2014/main" id="{1FD15649-F249-43E7-B26C-BDDAEFA986E9}"/>
                  </a:ext>
                </a:extLst>
              </p:cNvPr>
              <p:cNvSpPr/>
              <p:nvPr/>
            </p:nvSpPr>
            <p:spPr>
              <a:xfrm>
                <a:off x="6999255" y="4702313"/>
                <a:ext cx="1554480" cy="478074"/>
              </a:xfrm>
              <a:prstGeom prst="rect">
                <a:avLst/>
              </a:prstGeom>
              <a:solidFill>
                <a:srgbClr val="7F49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2121F10B-4471-4A64-8FD0-D5FB75989B7C}"/>
                  </a:ext>
                </a:extLst>
              </p:cNvPr>
              <p:cNvSpPr txBox="1"/>
              <p:nvPr/>
            </p:nvSpPr>
            <p:spPr>
              <a:xfrm>
                <a:off x="7051085" y="4232801"/>
                <a:ext cx="1428570" cy="3784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Workplace</a:t>
                </a:r>
              </a:p>
            </p:txBody>
          </p:sp>
        </p:grpSp>
        <p:grpSp>
          <p:nvGrpSpPr>
            <p:cNvPr id="52" name="Group 51">
              <a:extLst>
                <a:ext uri="{FF2B5EF4-FFF2-40B4-BE49-F238E27FC236}">
                  <a16:creationId xmlns:a16="http://schemas.microsoft.com/office/drawing/2014/main" id="{2462000F-D1CF-458E-8569-14FD73454A8C}"/>
                </a:ext>
              </a:extLst>
            </p:cNvPr>
            <p:cNvGrpSpPr/>
            <p:nvPr/>
          </p:nvGrpSpPr>
          <p:grpSpPr>
            <a:xfrm>
              <a:off x="8604423" y="4131385"/>
              <a:ext cx="1890566" cy="1053177"/>
              <a:chOff x="8604423" y="4131385"/>
              <a:chExt cx="1890566" cy="1053177"/>
            </a:xfrm>
          </p:grpSpPr>
          <p:sp>
            <p:nvSpPr>
              <p:cNvPr id="7" name="Rectangle 6">
                <a:extLst>
                  <a:ext uri="{FF2B5EF4-FFF2-40B4-BE49-F238E27FC236}">
                    <a16:creationId xmlns:a16="http://schemas.microsoft.com/office/drawing/2014/main" id="{8A5D1151-6594-4921-AD94-7C44086AB670}"/>
                  </a:ext>
                </a:extLst>
              </p:cNvPr>
              <p:cNvSpPr/>
              <p:nvPr/>
            </p:nvSpPr>
            <p:spPr>
              <a:xfrm>
                <a:off x="8765886" y="4846359"/>
                <a:ext cx="1554480" cy="338203"/>
              </a:xfrm>
              <a:prstGeom prst="rect">
                <a:avLst/>
              </a:prstGeom>
              <a:solidFill>
                <a:srgbClr val="E74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C9CD9391-BA46-4C23-A383-04A680EF81D4}"/>
                  </a:ext>
                </a:extLst>
              </p:cNvPr>
              <p:cNvSpPr txBox="1"/>
              <p:nvPr/>
            </p:nvSpPr>
            <p:spPr>
              <a:xfrm>
                <a:off x="8604423" y="4131385"/>
                <a:ext cx="1890566" cy="6537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Recreational Groups</a:t>
                </a:r>
              </a:p>
            </p:txBody>
          </p:sp>
        </p:grpSp>
        <p:grpSp>
          <p:nvGrpSpPr>
            <p:cNvPr id="51" name="Group 50">
              <a:extLst>
                <a:ext uri="{FF2B5EF4-FFF2-40B4-BE49-F238E27FC236}">
                  <a16:creationId xmlns:a16="http://schemas.microsoft.com/office/drawing/2014/main" id="{D500EDAB-894A-4AAD-8CC0-39ECC9F515CD}"/>
                </a:ext>
              </a:extLst>
            </p:cNvPr>
            <p:cNvGrpSpPr/>
            <p:nvPr/>
          </p:nvGrpSpPr>
          <p:grpSpPr>
            <a:xfrm>
              <a:off x="10483722" y="4514809"/>
              <a:ext cx="1661868" cy="1415054"/>
              <a:chOff x="10483722" y="4514809"/>
              <a:chExt cx="1661868" cy="1415054"/>
            </a:xfrm>
          </p:grpSpPr>
          <p:sp>
            <p:nvSpPr>
              <p:cNvPr id="5" name="Rectangle 4">
                <a:extLst>
                  <a:ext uri="{FF2B5EF4-FFF2-40B4-BE49-F238E27FC236}">
                    <a16:creationId xmlns:a16="http://schemas.microsoft.com/office/drawing/2014/main" id="{B6C7441C-B686-4987-8F8B-3703CCDA0E03}"/>
                  </a:ext>
                </a:extLst>
              </p:cNvPr>
              <p:cNvSpPr/>
              <p:nvPr/>
            </p:nvSpPr>
            <p:spPr>
              <a:xfrm>
                <a:off x="10532516" y="5215879"/>
                <a:ext cx="1554480" cy="713984"/>
              </a:xfrm>
              <a:prstGeom prst="rect">
                <a:avLst/>
              </a:prstGeom>
              <a:solidFill>
                <a:srgbClr val="FFD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CCC3CF0-85E4-4FD3-9DA6-680C9D6CFF7B}"/>
                  </a:ext>
                </a:extLst>
              </p:cNvPr>
              <p:cNvSpPr txBox="1"/>
              <p:nvPr/>
            </p:nvSpPr>
            <p:spPr>
              <a:xfrm>
                <a:off x="10483722" y="4514809"/>
                <a:ext cx="1661868" cy="6537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Religious Groups</a:t>
                </a:r>
              </a:p>
            </p:txBody>
          </p:sp>
        </p:grpSp>
        <p:sp>
          <p:nvSpPr>
            <p:cNvPr id="38" name="TextBox 37">
              <a:extLst>
                <a:ext uri="{FF2B5EF4-FFF2-40B4-BE49-F238E27FC236}">
                  <a16:creationId xmlns:a16="http://schemas.microsoft.com/office/drawing/2014/main" id="{23418285-0F0E-4AA8-A781-E2C32CBB2767}"/>
                </a:ext>
              </a:extLst>
            </p:cNvPr>
            <p:cNvSpPr txBox="1"/>
            <p:nvPr/>
          </p:nvSpPr>
          <p:spPr>
            <a:xfrm>
              <a:off x="516472" y="2135365"/>
              <a:ext cx="595297" cy="34406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20%</a:t>
              </a:r>
            </a:p>
          </p:txBody>
        </p:sp>
        <p:sp>
          <p:nvSpPr>
            <p:cNvPr id="45" name="TextBox 44">
              <a:extLst>
                <a:ext uri="{FF2B5EF4-FFF2-40B4-BE49-F238E27FC236}">
                  <a16:creationId xmlns:a16="http://schemas.microsoft.com/office/drawing/2014/main" id="{B116C7D4-CE44-44C9-8BC0-9C82CBE3D8BE}"/>
                </a:ext>
              </a:extLst>
            </p:cNvPr>
            <p:cNvSpPr txBox="1"/>
            <p:nvPr/>
          </p:nvSpPr>
          <p:spPr>
            <a:xfrm>
              <a:off x="472529" y="3544010"/>
              <a:ext cx="595297" cy="34406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10%</a:t>
              </a:r>
            </a:p>
          </p:txBody>
        </p:sp>
        <p:sp>
          <p:nvSpPr>
            <p:cNvPr id="46" name="TextBox 45">
              <a:extLst>
                <a:ext uri="{FF2B5EF4-FFF2-40B4-BE49-F238E27FC236}">
                  <a16:creationId xmlns:a16="http://schemas.microsoft.com/office/drawing/2014/main" id="{02295532-6EC3-4ED2-AB6D-74F7425235A2}"/>
                </a:ext>
              </a:extLst>
            </p:cNvPr>
            <p:cNvSpPr txBox="1"/>
            <p:nvPr/>
          </p:nvSpPr>
          <p:spPr>
            <a:xfrm>
              <a:off x="600118" y="4962298"/>
              <a:ext cx="468065" cy="34406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0%</a:t>
              </a:r>
            </a:p>
          </p:txBody>
        </p:sp>
        <p:grpSp>
          <p:nvGrpSpPr>
            <p:cNvPr id="49" name="Group 48">
              <a:extLst>
                <a:ext uri="{FF2B5EF4-FFF2-40B4-BE49-F238E27FC236}">
                  <a16:creationId xmlns:a16="http://schemas.microsoft.com/office/drawing/2014/main" id="{5B51B281-3BE0-4D1B-8A8F-890A86849EFE}"/>
                </a:ext>
              </a:extLst>
            </p:cNvPr>
            <p:cNvGrpSpPr/>
            <p:nvPr/>
          </p:nvGrpSpPr>
          <p:grpSpPr>
            <a:xfrm>
              <a:off x="1011606" y="2171603"/>
              <a:ext cx="173689" cy="2982619"/>
              <a:chOff x="851480" y="2171603"/>
              <a:chExt cx="173689" cy="2982619"/>
            </a:xfrm>
          </p:grpSpPr>
          <p:grpSp>
            <p:nvGrpSpPr>
              <p:cNvPr id="37" name="Group 36">
                <a:extLst>
                  <a:ext uri="{FF2B5EF4-FFF2-40B4-BE49-F238E27FC236}">
                    <a16:creationId xmlns:a16="http://schemas.microsoft.com/office/drawing/2014/main" id="{8A424F38-15A0-4A7C-A95A-B7D01E13CDE6}"/>
                  </a:ext>
                </a:extLst>
              </p:cNvPr>
              <p:cNvGrpSpPr/>
              <p:nvPr/>
            </p:nvGrpSpPr>
            <p:grpSpPr>
              <a:xfrm>
                <a:off x="851564" y="2171603"/>
                <a:ext cx="173605" cy="2982619"/>
                <a:chOff x="419764" y="2158903"/>
                <a:chExt cx="173605" cy="2982619"/>
              </a:xfrm>
            </p:grpSpPr>
            <p:cxnSp>
              <p:nvCxnSpPr>
                <p:cNvPr id="19" name="Straight Connector 18">
                  <a:extLst>
                    <a:ext uri="{FF2B5EF4-FFF2-40B4-BE49-F238E27FC236}">
                      <a16:creationId xmlns:a16="http://schemas.microsoft.com/office/drawing/2014/main" id="{738A69B7-B5C0-4928-A31D-94AB63C947C3}"/>
                    </a:ext>
                  </a:extLst>
                </p:cNvPr>
                <p:cNvCxnSpPr/>
                <p:nvPr/>
              </p:nvCxnSpPr>
              <p:spPr>
                <a:xfrm>
                  <a:off x="591020" y="2158903"/>
                  <a:ext cx="0" cy="2982619"/>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FF4525D-A1F3-4AB3-B4F0-B7FCBDFAC18C}"/>
                    </a:ext>
                  </a:extLst>
                </p:cNvPr>
                <p:cNvCxnSpPr>
                  <a:cxnSpLocks/>
                </p:cNvCxnSpPr>
                <p:nvPr/>
              </p:nvCxnSpPr>
              <p:spPr>
                <a:xfrm>
                  <a:off x="419764" y="2296100"/>
                  <a:ext cx="17098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C1903D1-00BA-421A-B741-6BC6724964BE}"/>
                    </a:ext>
                  </a:extLst>
                </p:cNvPr>
                <p:cNvCxnSpPr>
                  <a:cxnSpLocks/>
                </p:cNvCxnSpPr>
                <p:nvPr/>
              </p:nvCxnSpPr>
              <p:spPr>
                <a:xfrm>
                  <a:off x="422389" y="3725514"/>
                  <a:ext cx="17098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a:extLst>
                  <a:ext uri="{FF2B5EF4-FFF2-40B4-BE49-F238E27FC236}">
                    <a16:creationId xmlns:a16="http://schemas.microsoft.com/office/drawing/2014/main" id="{BEE85311-992B-41BC-9EC8-11A478D1B5AA}"/>
                  </a:ext>
                </a:extLst>
              </p:cNvPr>
              <p:cNvCxnSpPr>
                <a:cxnSpLocks/>
              </p:cNvCxnSpPr>
              <p:nvPr/>
            </p:nvCxnSpPr>
            <p:spPr>
              <a:xfrm>
                <a:off x="851480" y="5146964"/>
                <a:ext cx="17098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9" name="Rectangle 7266">
              <a:extLst>
                <a:ext uri="{FF2B5EF4-FFF2-40B4-BE49-F238E27FC236}">
                  <a16:creationId xmlns:a16="http://schemas.microsoft.com/office/drawing/2014/main" id="{4CCEFB55-B72D-4938-B021-20D7CC6583E5}"/>
                </a:ext>
              </a:extLst>
            </p:cNvPr>
            <p:cNvSpPr>
              <a:spLocks noChangeArrowheads="1"/>
            </p:cNvSpPr>
            <p:nvPr/>
          </p:nvSpPr>
          <p:spPr bwMode="auto">
            <a:xfrm rot="16200000">
              <a:off x="-1302993" y="3432960"/>
              <a:ext cx="2641379" cy="309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More Friending Bias</a:t>
              </a:r>
            </a:p>
          </p:txBody>
        </p:sp>
        <p:cxnSp>
          <p:nvCxnSpPr>
            <p:cNvPr id="40" name="Straight Arrow Connector 39">
              <a:extLst>
                <a:ext uri="{FF2B5EF4-FFF2-40B4-BE49-F238E27FC236}">
                  <a16:creationId xmlns:a16="http://schemas.microsoft.com/office/drawing/2014/main" id="{9747583E-FC66-41D3-86D4-9C3CE3290D85}"/>
                </a:ext>
              </a:extLst>
            </p:cNvPr>
            <p:cNvCxnSpPr>
              <a:cxnSpLocks/>
            </p:cNvCxnSpPr>
            <p:nvPr/>
          </p:nvCxnSpPr>
          <p:spPr>
            <a:xfrm flipV="1">
              <a:off x="312079" y="2863634"/>
              <a:ext cx="0" cy="15933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183">
            <a:extLst>
              <a:ext uri="{FF2B5EF4-FFF2-40B4-BE49-F238E27FC236}">
                <a16:creationId xmlns:a16="http://schemas.microsoft.com/office/drawing/2014/main" id="{7ED6040A-B1AE-6ECF-F28A-4C04B52E857B}"/>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12" name="TextBox 11">
            <a:extLst>
              <a:ext uri="{FF2B5EF4-FFF2-40B4-BE49-F238E27FC236}">
                <a16:creationId xmlns:a16="http://schemas.microsoft.com/office/drawing/2014/main" id="{6712692A-8962-16D7-8CA4-354D6E7335A6}"/>
              </a:ext>
            </a:extLst>
          </p:cNvPr>
          <p:cNvSpPr txBox="1"/>
          <p:nvPr/>
        </p:nvSpPr>
        <p:spPr>
          <a:xfrm>
            <a:off x="566211" y="6482157"/>
            <a:ext cx="8839200" cy="307756"/>
          </a:xfrm>
          <a:prstGeom prst="rect">
            <a:avLst/>
          </a:prstGeom>
          <a:noFill/>
        </p:spPr>
        <p:txBody>
          <a:bodyPr wrap="square" lIns="91034" tIns="45710" rIns="91034" bIns="45710" rtlCol="0">
            <a:spAutoFit/>
          </a:bodyPr>
          <a:lstStyle/>
          <a:p>
            <a:pPr marL="0" marR="0" lvl="0" indent="0" algn="l" defTabSz="121779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Jackson, Kuchler, Stroebel et al.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3">
                  <a:extLst>
                    <a:ext uri="{A12FA001-AC4F-418D-AE19-62706E023703}">
                      <ahyp:hlinkClr xmlns:ahyp="http://schemas.microsoft.com/office/drawing/2018/hyperlinkcolor" val="tx"/>
                    </a:ext>
                  </a:extLst>
                </a:hlinkClick>
              </a:rPr>
              <a:t>Nature 2022a,b</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pic>
        <p:nvPicPr>
          <p:cNvPr id="17" name="Picture 16" descr="A black and grey text&#10;&#10;Description automatically generated">
            <a:extLst>
              <a:ext uri="{FF2B5EF4-FFF2-40B4-BE49-F238E27FC236}">
                <a16:creationId xmlns:a16="http://schemas.microsoft.com/office/drawing/2014/main" id="{1F53D6BD-EE4D-886A-4DF1-459F9B7C3C8A}"/>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sp>
        <p:nvSpPr>
          <p:cNvPr id="18" name="Rectangle 17">
            <a:extLst>
              <a:ext uri="{FF2B5EF4-FFF2-40B4-BE49-F238E27FC236}">
                <a16:creationId xmlns:a16="http://schemas.microsoft.com/office/drawing/2014/main" id="{D99AE1E1-A6B4-345A-B2F0-6445F5700C19}"/>
              </a:ext>
            </a:extLst>
          </p:cNvPr>
          <p:cNvSpPr>
            <a:spLocks noChangeArrowheads="1"/>
          </p:cNvSpPr>
          <p:nvPr/>
        </p:nvSpPr>
        <p:spPr bwMode="auto">
          <a:xfrm>
            <a:off x="609074" y="375319"/>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Friending Bias Among Low-SES People, By Setting</a:t>
            </a:r>
          </a:p>
        </p:txBody>
      </p:sp>
      <p:cxnSp>
        <p:nvCxnSpPr>
          <p:cNvPr id="20" name="Straight Connector 19">
            <a:extLst>
              <a:ext uri="{FF2B5EF4-FFF2-40B4-BE49-F238E27FC236}">
                <a16:creationId xmlns:a16="http://schemas.microsoft.com/office/drawing/2014/main" id="{FB8A4F9C-93D1-77D3-3042-77A309B53040}"/>
              </a:ext>
            </a:extLst>
          </p:cNvPr>
          <p:cNvCxnSpPr>
            <a:cxnSpLocks/>
          </p:cNvCxnSpPr>
          <p:nvPr/>
        </p:nvCxnSpPr>
        <p:spPr>
          <a:xfrm>
            <a:off x="620980" y="6483107"/>
            <a:ext cx="109536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A309D2B-DE04-015E-B284-95DE3E3EE332}"/>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10142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5B7E9-02A8-53E7-A645-8C183E7FE9FD}"/>
            </a:ext>
          </a:extLst>
        </p:cNvPr>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B18CAD9B-9286-22F3-4ADA-3E2A958EDCC9}"/>
              </a:ext>
            </a:extLst>
          </p:cNvPr>
          <p:cNvCxnSpPr/>
          <p:nvPr/>
        </p:nvCxnSpPr>
        <p:spPr>
          <a:xfrm>
            <a:off x="-3449053" y="192505"/>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C5EE4D1F-29CC-47B7-9700-14EFCCE7BEB9}"/>
              </a:ext>
            </a:extLst>
          </p:cNvPr>
          <p:cNvGrpSpPr/>
          <p:nvPr/>
        </p:nvGrpSpPr>
        <p:grpSpPr>
          <a:xfrm>
            <a:off x="3817613" y="2441581"/>
            <a:ext cx="1390547" cy="3061503"/>
            <a:chOff x="3465993" y="2452075"/>
            <a:chExt cx="1554480" cy="2728311"/>
          </a:xfrm>
        </p:grpSpPr>
        <p:sp>
          <p:nvSpPr>
            <p:cNvPr id="9" name="Rectangle 8">
              <a:extLst>
                <a:ext uri="{FF2B5EF4-FFF2-40B4-BE49-F238E27FC236}">
                  <a16:creationId xmlns:a16="http://schemas.microsoft.com/office/drawing/2014/main" id="{50918AEF-37EC-2841-117F-F0E77AA9568C}"/>
                </a:ext>
              </a:extLst>
            </p:cNvPr>
            <p:cNvSpPr/>
            <p:nvPr/>
          </p:nvSpPr>
          <p:spPr>
            <a:xfrm>
              <a:off x="3465993" y="2829815"/>
              <a:ext cx="1554480" cy="2350571"/>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B85EBD83-E9B7-9B94-89DD-0D1F06988790}"/>
                </a:ext>
              </a:extLst>
            </p:cNvPr>
            <p:cNvSpPr txBox="1"/>
            <p:nvPr/>
          </p:nvSpPr>
          <p:spPr>
            <a:xfrm>
              <a:off x="3700083" y="2452075"/>
              <a:ext cx="1086301" cy="3784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College</a:t>
              </a:r>
            </a:p>
          </p:txBody>
        </p:sp>
      </p:grpSp>
      <p:grpSp>
        <p:nvGrpSpPr>
          <p:cNvPr id="56" name="Group 55">
            <a:extLst>
              <a:ext uri="{FF2B5EF4-FFF2-40B4-BE49-F238E27FC236}">
                <a16:creationId xmlns:a16="http://schemas.microsoft.com/office/drawing/2014/main" id="{9B744E12-4D68-D802-C341-83F25CEDB731}"/>
              </a:ext>
            </a:extLst>
          </p:cNvPr>
          <p:cNvGrpSpPr/>
          <p:nvPr/>
        </p:nvGrpSpPr>
        <p:grpSpPr>
          <a:xfrm>
            <a:off x="2044327" y="3871283"/>
            <a:ext cx="1776470" cy="1631800"/>
            <a:chOff x="1483653" y="3761672"/>
            <a:chExt cx="1985900" cy="1454207"/>
          </a:xfrm>
        </p:grpSpPr>
        <p:sp>
          <p:nvSpPr>
            <p:cNvPr id="2" name="Rectangle 1">
              <a:extLst>
                <a:ext uri="{FF2B5EF4-FFF2-40B4-BE49-F238E27FC236}">
                  <a16:creationId xmlns:a16="http://schemas.microsoft.com/office/drawing/2014/main" id="{5D483D51-CD30-4347-FA3A-6FE5CBE31DB8}"/>
                </a:ext>
              </a:extLst>
            </p:cNvPr>
            <p:cNvSpPr/>
            <p:nvPr/>
          </p:nvSpPr>
          <p:spPr>
            <a:xfrm>
              <a:off x="1699362" y="4142635"/>
              <a:ext cx="1554480" cy="1073244"/>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214EDC9-FC7A-3F38-2124-E44F2792FAD9}"/>
                </a:ext>
              </a:extLst>
            </p:cNvPr>
            <p:cNvSpPr txBox="1"/>
            <p:nvPr/>
          </p:nvSpPr>
          <p:spPr>
            <a:xfrm>
              <a:off x="1483653" y="3761672"/>
              <a:ext cx="1985900" cy="37846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Neighborhood</a:t>
              </a:r>
            </a:p>
          </p:txBody>
        </p:sp>
      </p:grpSp>
      <p:grpSp>
        <p:nvGrpSpPr>
          <p:cNvPr id="54" name="Group 53">
            <a:extLst>
              <a:ext uri="{FF2B5EF4-FFF2-40B4-BE49-F238E27FC236}">
                <a16:creationId xmlns:a16="http://schemas.microsoft.com/office/drawing/2014/main" id="{E16628D2-0F45-E2C2-4152-01072165BB8B}"/>
              </a:ext>
            </a:extLst>
          </p:cNvPr>
          <p:cNvGrpSpPr/>
          <p:nvPr/>
        </p:nvGrpSpPr>
        <p:grpSpPr>
          <a:xfrm>
            <a:off x="5397935" y="2366140"/>
            <a:ext cx="1438216" cy="3136944"/>
            <a:chOff x="5232620" y="2384843"/>
            <a:chExt cx="1607768" cy="2795542"/>
          </a:xfrm>
        </p:grpSpPr>
        <p:sp>
          <p:nvSpPr>
            <p:cNvPr id="10" name="Rectangle 9">
              <a:extLst>
                <a:ext uri="{FF2B5EF4-FFF2-40B4-BE49-F238E27FC236}">
                  <a16:creationId xmlns:a16="http://schemas.microsoft.com/office/drawing/2014/main" id="{A3546255-8F84-1612-A859-85721802CF50}"/>
                </a:ext>
              </a:extLst>
            </p:cNvPr>
            <p:cNvSpPr/>
            <p:nvPr/>
          </p:nvSpPr>
          <p:spPr>
            <a:xfrm>
              <a:off x="5232624" y="2763309"/>
              <a:ext cx="1554482" cy="2417076"/>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93FEDAB6-E36D-753E-9BDF-AC11B0D3E12E}"/>
                </a:ext>
              </a:extLst>
            </p:cNvPr>
            <p:cNvSpPr txBox="1"/>
            <p:nvPr/>
          </p:nvSpPr>
          <p:spPr>
            <a:xfrm>
              <a:off x="5232620" y="2384843"/>
              <a:ext cx="1607768" cy="3784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High School</a:t>
              </a:r>
            </a:p>
          </p:txBody>
        </p:sp>
      </p:grpSp>
      <p:grpSp>
        <p:nvGrpSpPr>
          <p:cNvPr id="53" name="Group 52">
            <a:extLst>
              <a:ext uri="{FF2B5EF4-FFF2-40B4-BE49-F238E27FC236}">
                <a16:creationId xmlns:a16="http://schemas.microsoft.com/office/drawing/2014/main" id="{06D236DD-C55C-E167-1CD5-C30EFDF77865}"/>
              </a:ext>
            </a:extLst>
          </p:cNvPr>
          <p:cNvGrpSpPr/>
          <p:nvPr/>
        </p:nvGrpSpPr>
        <p:grpSpPr>
          <a:xfrm>
            <a:off x="6978263" y="2365664"/>
            <a:ext cx="1390547" cy="3137420"/>
            <a:chOff x="6999255" y="2384422"/>
            <a:chExt cx="1554480" cy="2795965"/>
          </a:xfrm>
        </p:grpSpPr>
        <p:sp>
          <p:nvSpPr>
            <p:cNvPr id="8" name="Rectangle 7">
              <a:extLst>
                <a:ext uri="{FF2B5EF4-FFF2-40B4-BE49-F238E27FC236}">
                  <a16:creationId xmlns:a16="http://schemas.microsoft.com/office/drawing/2014/main" id="{7FF8BBD8-7993-E2C3-28A4-A385E9512C6C}"/>
                </a:ext>
              </a:extLst>
            </p:cNvPr>
            <p:cNvSpPr/>
            <p:nvPr/>
          </p:nvSpPr>
          <p:spPr>
            <a:xfrm>
              <a:off x="6999255" y="2763311"/>
              <a:ext cx="1554480" cy="2417076"/>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07ED8CA1-FE1E-CD89-C20B-555DC39D4F40}"/>
                </a:ext>
              </a:extLst>
            </p:cNvPr>
            <p:cNvSpPr txBox="1"/>
            <p:nvPr/>
          </p:nvSpPr>
          <p:spPr>
            <a:xfrm>
              <a:off x="7049940" y="2384422"/>
              <a:ext cx="1428570" cy="3784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Workplace</a:t>
              </a:r>
            </a:p>
          </p:txBody>
        </p:sp>
      </p:grpSp>
      <p:grpSp>
        <p:nvGrpSpPr>
          <p:cNvPr id="52" name="Group 51">
            <a:extLst>
              <a:ext uri="{FF2B5EF4-FFF2-40B4-BE49-F238E27FC236}">
                <a16:creationId xmlns:a16="http://schemas.microsoft.com/office/drawing/2014/main" id="{6A49A48A-1E00-598C-156C-19320B70B1B0}"/>
              </a:ext>
            </a:extLst>
          </p:cNvPr>
          <p:cNvGrpSpPr/>
          <p:nvPr/>
        </p:nvGrpSpPr>
        <p:grpSpPr>
          <a:xfrm>
            <a:off x="8414152" y="1582937"/>
            <a:ext cx="1691190" cy="3920145"/>
            <a:chOff x="8604423" y="1691056"/>
            <a:chExt cx="1890566" cy="3493505"/>
          </a:xfrm>
        </p:grpSpPr>
        <p:sp>
          <p:nvSpPr>
            <p:cNvPr id="7" name="Rectangle 6">
              <a:extLst>
                <a:ext uri="{FF2B5EF4-FFF2-40B4-BE49-F238E27FC236}">
                  <a16:creationId xmlns:a16="http://schemas.microsoft.com/office/drawing/2014/main" id="{13197F18-C784-7F73-D5CB-370936B383BD}"/>
                </a:ext>
              </a:extLst>
            </p:cNvPr>
            <p:cNvSpPr/>
            <p:nvPr/>
          </p:nvSpPr>
          <p:spPr>
            <a:xfrm>
              <a:off x="8765886" y="2335392"/>
              <a:ext cx="1554480" cy="2849169"/>
            </a:xfrm>
            <a:prstGeom prst="rect">
              <a:avLst/>
            </a:prstGeom>
            <a:solidFill>
              <a:srgbClr val="B2B5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5131E2FF-7244-A5A3-37EB-2887305273FE}"/>
                </a:ext>
              </a:extLst>
            </p:cNvPr>
            <p:cNvSpPr txBox="1"/>
            <p:nvPr/>
          </p:nvSpPr>
          <p:spPr>
            <a:xfrm>
              <a:off x="8604423" y="1691056"/>
              <a:ext cx="1890566" cy="6537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Recreational Groups</a:t>
              </a:r>
            </a:p>
          </p:txBody>
        </p:sp>
      </p:grpSp>
      <p:grpSp>
        <p:nvGrpSpPr>
          <p:cNvPr id="51" name="Group 50">
            <a:extLst>
              <a:ext uri="{FF2B5EF4-FFF2-40B4-BE49-F238E27FC236}">
                <a16:creationId xmlns:a16="http://schemas.microsoft.com/office/drawing/2014/main" id="{520B1DE2-BCEB-027C-2855-BB6BC4DE4754}"/>
              </a:ext>
            </a:extLst>
          </p:cNvPr>
          <p:cNvGrpSpPr/>
          <p:nvPr/>
        </p:nvGrpSpPr>
        <p:grpSpPr>
          <a:xfrm>
            <a:off x="10095264" y="1297381"/>
            <a:ext cx="1486610" cy="4203620"/>
            <a:chOff x="10483722" y="1436578"/>
            <a:chExt cx="1661868" cy="3746129"/>
          </a:xfrm>
        </p:grpSpPr>
        <p:sp>
          <p:nvSpPr>
            <p:cNvPr id="5" name="Rectangle 4">
              <a:extLst>
                <a:ext uri="{FF2B5EF4-FFF2-40B4-BE49-F238E27FC236}">
                  <a16:creationId xmlns:a16="http://schemas.microsoft.com/office/drawing/2014/main" id="{BE93AD60-DBC5-E952-A056-137A6BBC8454}"/>
                </a:ext>
              </a:extLst>
            </p:cNvPr>
            <p:cNvSpPr/>
            <p:nvPr/>
          </p:nvSpPr>
          <p:spPr>
            <a:xfrm>
              <a:off x="10532516" y="2071049"/>
              <a:ext cx="1554480" cy="3111658"/>
            </a:xfrm>
            <a:prstGeom prst="rect">
              <a:avLst/>
            </a:prstGeom>
            <a:solidFill>
              <a:srgbClr val="29B6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4166155-D6EC-A017-9BCC-9DDEB18BA507}"/>
                </a:ext>
              </a:extLst>
            </p:cNvPr>
            <p:cNvSpPr txBox="1"/>
            <p:nvPr/>
          </p:nvSpPr>
          <p:spPr>
            <a:xfrm>
              <a:off x="10483722" y="1436578"/>
              <a:ext cx="1661868" cy="65371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Religious Groups</a:t>
              </a:r>
            </a:p>
          </p:txBody>
        </p:sp>
      </p:grpSp>
      <p:sp>
        <p:nvSpPr>
          <p:cNvPr id="38" name="TextBox 37">
            <a:extLst>
              <a:ext uri="{FF2B5EF4-FFF2-40B4-BE49-F238E27FC236}">
                <a16:creationId xmlns:a16="http://schemas.microsoft.com/office/drawing/2014/main" id="{B5B357D3-4457-DBF5-E903-74888FD9B205}"/>
              </a:ext>
            </a:extLst>
          </p:cNvPr>
          <p:cNvSpPr txBox="1"/>
          <p:nvPr/>
        </p:nvSpPr>
        <p:spPr>
          <a:xfrm>
            <a:off x="1219768" y="2084435"/>
            <a:ext cx="468398"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1.0</a:t>
            </a:r>
          </a:p>
        </p:txBody>
      </p:sp>
      <p:sp>
        <p:nvSpPr>
          <p:cNvPr id="45" name="TextBox 44">
            <a:extLst>
              <a:ext uri="{FF2B5EF4-FFF2-40B4-BE49-F238E27FC236}">
                <a16:creationId xmlns:a16="http://schemas.microsoft.com/office/drawing/2014/main" id="{A0DA845C-57EF-B665-9576-60819830DC64}"/>
              </a:ext>
            </a:extLst>
          </p:cNvPr>
          <p:cNvSpPr txBox="1"/>
          <p:nvPr/>
        </p:nvSpPr>
        <p:spPr>
          <a:xfrm>
            <a:off x="1105955" y="3990993"/>
            <a:ext cx="5822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0.85</a:t>
            </a:r>
          </a:p>
        </p:txBody>
      </p:sp>
      <p:sp>
        <p:nvSpPr>
          <p:cNvPr id="46" name="TextBox 45">
            <a:extLst>
              <a:ext uri="{FF2B5EF4-FFF2-40B4-BE49-F238E27FC236}">
                <a16:creationId xmlns:a16="http://schemas.microsoft.com/office/drawing/2014/main" id="{BE018FE5-F6CC-9C2D-B065-5ACDF6FA0C5C}"/>
              </a:ext>
            </a:extLst>
          </p:cNvPr>
          <p:cNvSpPr txBox="1"/>
          <p:nvPr/>
        </p:nvSpPr>
        <p:spPr>
          <a:xfrm>
            <a:off x="1105955" y="5253676"/>
            <a:ext cx="5822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0.75</a:t>
            </a:r>
          </a:p>
        </p:txBody>
      </p:sp>
      <p:cxnSp>
        <p:nvCxnSpPr>
          <p:cNvPr id="19" name="Straight Connector 18">
            <a:extLst>
              <a:ext uri="{FF2B5EF4-FFF2-40B4-BE49-F238E27FC236}">
                <a16:creationId xmlns:a16="http://schemas.microsoft.com/office/drawing/2014/main" id="{5F989DE9-D2B1-A3DD-E0A6-64C2D2489375}"/>
              </a:ext>
            </a:extLst>
          </p:cNvPr>
          <p:cNvCxnSpPr/>
          <p:nvPr/>
        </p:nvCxnSpPr>
        <p:spPr>
          <a:xfrm>
            <a:off x="1775332" y="2122171"/>
            <a:ext cx="0" cy="334686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0DAB194-D9BB-59EE-002C-9F9E3F740EAD}"/>
              </a:ext>
            </a:extLst>
          </p:cNvPr>
          <p:cNvCxnSpPr>
            <a:cxnSpLocks/>
          </p:cNvCxnSpPr>
          <p:nvPr/>
        </p:nvCxnSpPr>
        <p:spPr>
          <a:xfrm>
            <a:off x="1614959" y="2228498"/>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63F381A-17E7-89EE-1D5A-88B8B1505D2C}"/>
              </a:ext>
            </a:extLst>
          </p:cNvPr>
          <p:cNvCxnSpPr>
            <a:cxnSpLocks/>
          </p:cNvCxnSpPr>
          <p:nvPr/>
        </p:nvCxnSpPr>
        <p:spPr>
          <a:xfrm>
            <a:off x="1614959" y="4139360"/>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E29D46F-ECD7-ADC7-898B-F9ABA7DAB787}"/>
              </a:ext>
            </a:extLst>
          </p:cNvPr>
          <p:cNvCxnSpPr>
            <a:cxnSpLocks/>
          </p:cNvCxnSpPr>
          <p:nvPr/>
        </p:nvCxnSpPr>
        <p:spPr>
          <a:xfrm>
            <a:off x="1614959" y="5413270"/>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7266">
            <a:extLst>
              <a:ext uri="{FF2B5EF4-FFF2-40B4-BE49-F238E27FC236}">
                <a16:creationId xmlns:a16="http://schemas.microsoft.com/office/drawing/2014/main" id="{284B881B-AA8C-0ED9-00A7-11862F7955DA}"/>
              </a:ext>
            </a:extLst>
          </p:cNvPr>
          <p:cNvSpPr>
            <a:spLocks noChangeArrowheads="1"/>
          </p:cNvSpPr>
          <p:nvPr/>
        </p:nvSpPr>
        <p:spPr bwMode="auto">
          <a:xfrm rot="16200000">
            <a:off x="-1256228" y="3481213"/>
            <a:ext cx="411856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High-Income vs. Low-Income Friendships Formed Conditional On Exposure</a:t>
            </a:r>
          </a:p>
        </p:txBody>
      </p:sp>
      <p:sp>
        <p:nvSpPr>
          <p:cNvPr id="4" name="Rectangle 183">
            <a:extLst>
              <a:ext uri="{FF2B5EF4-FFF2-40B4-BE49-F238E27FC236}">
                <a16:creationId xmlns:a16="http://schemas.microsoft.com/office/drawing/2014/main" id="{7E15526A-A879-0A07-76A9-01C434F31D9F}"/>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12" name="TextBox 11">
            <a:extLst>
              <a:ext uri="{FF2B5EF4-FFF2-40B4-BE49-F238E27FC236}">
                <a16:creationId xmlns:a16="http://schemas.microsoft.com/office/drawing/2014/main" id="{44EC81E7-F87D-A698-5A8D-1F982870B24B}"/>
              </a:ext>
            </a:extLst>
          </p:cNvPr>
          <p:cNvSpPr txBox="1"/>
          <p:nvPr/>
        </p:nvSpPr>
        <p:spPr>
          <a:xfrm>
            <a:off x="566211" y="6482157"/>
            <a:ext cx="8839200" cy="307756"/>
          </a:xfrm>
          <a:prstGeom prst="rect">
            <a:avLst/>
          </a:prstGeom>
          <a:noFill/>
        </p:spPr>
        <p:txBody>
          <a:bodyPr wrap="square" lIns="91034" tIns="45710" rIns="91034" bIns="45710" rtlCol="0">
            <a:spAutoFit/>
          </a:bodyPr>
          <a:lstStyle/>
          <a:p>
            <a:pPr marL="0" marR="0" lvl="0" indent="0" algn="l" defTabSz="121779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Source: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Chetty, Jackson, Kuchler, Stroebel et al. (</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hlinkClick r:id="rId3">
                  <a:extLst>
                    <a:ext uri="{A12FA001-AC4F-418D-AE19-62706E023703}">
                      <ahyp:hlinkClr xmlns:ahyp="http://schemas.microsoft.com/office/drawing/2018/hyperlinkcolor" val="tx"/>
                    </a:ext>
                  </a:extLst>
                </a:hlinkClick>
              </a:rPr>
              <a:t>Nature 2022a,b</a:t>
            </a:r>
            <a:r>
              <a:rPr kumimoji="0" lang="nb-NO"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rPr>
              <a:t>)</a:t>
            </a:r>
            <a:endPar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Lato" panose="020F0502020204030203" pitchFamily="34" charset="0"/>
              <a:cs typeface="Arial" pitchFamily="34" charset="0"/>
            </a:endParaRPr>
          </a:p>
        </p:txBody>
      </p:sp>
      <p:pic>
        <p:nvPicPr>
          <p:cNvPr id="17" name="Picture 16" descr="A black and grey text&#10;&#10;Description automatically generated">
            <a:extLst>
              <a:ext uri="{FF2B5EF4-FFF2-40B4-BE49-F238E27FC236}">
                <a16:creationId xmlns:a16="http://schemas.microsoft.com/office/drawing/2014/main" id="{4E58223E-D6A2-BE00-08FD-45D2B2D0BBF0}"/>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r="81947"/>
          <a:stretch/>
        </p:blipFill>
        <p:spPr>
          <a:xfrm>
            <a:off x="11835183" y="6480880"/>
            <a:ext cx="315482" cy="304226"/>
          </a:xfrm>
          <a:prstGeom prst="rect">
            <a:avLst/>
          </a:prstGeom>
        </p:spPr>
      </p:pic>
      <p:cxnSp>
        <p:nvCxnSpPr>
          <p:cNvPr id="20" name="Straight Connector 19">
            <a:extLst>
              <a:ext uri="{FF2B5EF4-FFF2-40B4-BE49-F238E27FC236}">
                <a16:creationId xmlns:a16="http://schemas.microsoft.com/office/drawing/2014/main" id="{98F1F3E9-4046-F80C-E0A9-2C51CF4BB958}"/>
              </a:ext>
            </a:extLst>
          </p:cNvPr>
          <p:cNvCxnSpPr>
            <a:cxnSpLocks/>
          </p:cNvCxnSpPr>
          <p:nvPr/>
        </p:nvCxnSpPr>
        <p:spPr>
          <a:xfrm>
            <a:off x="620980" y="6483107"/>
            <a:ext cx="1095364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BBE450E-8A44-7440-E43B-249E4ED8B533}"/>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01BD79B-BCB5-9FA6-5250-F64E68A5F459}"/>
              </a:ext>
            </a:extLst>
          </p:cNvPr>
          <p:cNvCxnSpPr>
            <a:cxnSpLocks/>
          </p:cNvCxnSpPr>
          <p:nvPr/>
        </p:nvCxnSpPr>
        <p:spPr>
          <a:xfrm>
            <a:off x="1614959" y="4776314"/>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2C264AB-4041-7BEA-5497-6C176709B55D}"/>
              </a:ext>
            </a:extLst>
          </p:cNvPr>
          <p:cNvCxnSpPr>
            <a:cxnSpLocks/>
          </p:cNvCxnSpPr>
          <p:nvPr/>
        </p:nvCxnSpPr>
        <p:spPr>
          <a:xfrm>
            <a:off x="1614959" y="3502406"/>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4F6D693-EE62-64AC-5EB4-4086A9178A58}"/>
              </a:ext>
            </a:extLst>
          </p:cNvPr>
          <p:cNvCxnSpPr>
            <a:cxnSpLocks/>
          </p:cNvCxnSpPr>
          <p:nvPr/>
        </p:nvCxnSpPr>
        <p:spPr>
          <a:xfrm>
            <a:off x="1614959" y="2865452"/>
            <a:ext cx="152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627E687-3C99-9C69-3931-3150F9A4B899}"/>
              </a:ext>
            </a:extLst>
          </p:cNvPr>
          <p:cNvSpPr txBox="1"/>
          <p:nvPr/>
        </p:nvSpPr>
        <p:spPr>
          <a:xfrm>
            <a:off x="1219768" y="4613068"/>
            <a:ext cx="468398"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0.8</a:t>
            </a:r>
          </a:p>
        </p:txBody>
      </p:sp>
      <p:sp>
        <p:nvSpPr>
          <p:cNvPr id="26" name="TextBox 25">
            <a:extLst>
              <a:ext uri="{FF2B5EF4-FFF2-40B4-BE49-F238E27FC236}">
                <a16:creationId xmlns:a16="http://schemas.microsoft.com/office/drawing/2014/main" id="{591913D0-BD3A-786A-3C63-1749E22A7F93}"/>
              </a:ext>
            </a:extLst>
          </p:cNvPr>
          <p:cNvSpPr txBox="1"/>
          <p:nvPr/>
        </p:nvSpPr>
        <p:spPr>
          <a:xfrm>
            <a:off x="1105955" y="2711563"/>
            <a:ext cx="5822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0.95</a:t>
            </a:r>
          </a:p>
        </p:txBody>
      </p:sp>
      <p:sp>
        <p:nvSpPr>
          <p:cNvPr id="27" name="TextBox 26">
            <a:extLst>
              <a:ext uri="{FF2B5EF4-FFF2-40B4-BE49-F238E27FC236}">
                <a16:creationId xmlns:a16="http://schemas.microsoft.com/office/drawing/2014/main" id="{F42DCCAC-4268-E2EC-42A5-7C3035F24131}"/>
              </a:ext>
            </a:extLst>
          </p:cNvPr>
          <p:cNvSpPr txBox="1"/>
          <p:nvPr/>
        </p:nvSpPr>
        <p:spPr>
          <a:xfrm>
            <a:off x="1219768" y="3354279"/>
            <a:ext cx="468398"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panose="020B0602030504020204" pitchFamily="34" charset="0"/>
                <a:ea typeface="+mn-ea"/>
                <a:cs typeface="Arial" pitchFamily="34" charset="0"/>
              </a:rPr>
              <a:t>0.9</a:t>
            </a:r>
          </a:p>
        </p:txBody>
      </p:sp>
      <p:sp>
        <p:nvSpPr>
          <p:cNvPr id="22" name="Rectangle 21">
            <a:extLst>
              <a:ext uri="{FF2B5EF4-FFF2-40B4-BE49-F238E27FC236}">
                <a16:creationId xmlns:a16="http://schemas.microsoft.com/office/drawing/2014/main" id="{F2E573E9-8BE0-683E-7A07-F59962F04BAA}"/>
              </a:ext>
            </a:extLst>
          </p:cNvPr>
          <p:cNvSpPr>
            <a:spLocks noChangeArrowheads="1"/>
          </p:cNvSpPr>
          <p:nvPr/>
        </p:nvSpPr>
        <p:spPr bwMode="auto">
          <a:xfrm>
            <a:off x="609074" y="375319"/>
            <a:ext cx="11310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rPr>
              <a:t>Friending Bias: Cross-Class Friendships Formed Conditional on Exposure</a:t>
            </a:r>
          </a:p>
        </p:txBody>
      </p:sp>
    </p:spTree>
    <p:extLst>
      <p:ext uri="{BB962C8B-B14F-4D97-AF65-F5344CB8AC3E}">
        <p14:creationId xmlns:p14="http://schemas.microsoft.com/office/powerpoint/2010/main" val="898742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7_Office Theme">
  <a:themeElements>
    <a:clrScheme name="OI Colors">
      <a:dk1>
        <a:srgbClr val="FFFFFF"/>
      </a:dk1>
      <a:lt1>
        <a:srgbClr val="262626"/>
      </a:lt1>
      <a:dk2>
        <a:srgbClr val="29B6A4"/>
      </a:dk2>
      <a:lt2>
        <a:srgbClr val="2B8F43"/>
      </a:lt2>
      <a:accent1>
        <a:srgbClr val="6BBD43"/>
      </a:accent1>
      <a:accent2>
        <a:srgbClr val="015B59"/>
      </a:accent2>
      <a:accent3>
        <a:srgbClr val="7BCDCE"/>
      </a:accent3>
      <a:accent4>
        <a:srgbClr val="0073A2"/>
      </a:accent4>
      <a:accent5>
        <a:srgbClr val="7F4892"/>
      </a:accent5>
      <a:accent6>
        <a:srgbClr val="E54060"/>
      </a:accent6>
      <a:hlink>
        <a:srgbClr val="FAA523"/>
      </a:hlink>
      <a:folHlink>
        <a:srgbClr val="FFD4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1630</Words>
  <Application>Microsoft Office PowerPoint</Application>
  <PresentationFormat>Widescreen</PresentationFormat>
  <Paragraphs>346</Paragraphs>
  <Slides>26</Slides>
  <Notes>24</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26</vt:i4>
      </vt:variant>
    </vt:vector>
  </HeadingPairs>
  <TitlesOfParts>
    <vt:vector size="40" baseType="lpstr">
      <vt:lpstr>Lucida Sans</vt:lpstr>
      <vt:lpstr>Courier New</vt:lpstr>
      <vt:lpstr>Aptos</vt:lpstr>
      <vt:lpstr>Arial</vt:lpstr>
      <vt:lpstr>Source Sans Pro</vt:lpstr>
      <vt:lpstr>Calibri Light</vt:lpstr>
      <vt:lpstr>Calibri</vt:lpstr>
      <vt:lpstr>Wingdings</vt:lpstr>
      <vt:lpstr>Aptos Display</vt:lpstr>
      <vt:lpstr>Lucida Bright</vt:lpstr>
      <vt:lpstr>Office Theme</vt:lpstr>
      <vt:lpstr>7_Office Theme</vt:lpstr>
      <vt:lpstr>5_Office Theme</vt:lpstr>
      <vt:lpstr>13_Office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Harvard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Leff, Emily C</dc:creator>
  <cp:lastModifiedBy>Leff, Emily C</cp:lastModifiedBy>
  <cp:revision>7</cp:revision>
  <dcterms:created xsi:type="dcterms:W3CDTF">2025-05-29T10:40:58Z</dcterms:created>
  <dcterms:modified xsi:type="dcterms:W3CDTF">2026-05-06T15:54:45Z</dcterms:modified>
</cp:coreProperties>
</file>