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sldIdLst>
    <p:sldId id="3878" r:id="rId2"/>
  </p:sldIdLst>
  <p:sldSz cx="12192000" cy="6858000"/>
  <p:notesSz cx="6858000" cy="9144000"/>
  <p:embeddedFontLst>
    <p:embeddedFont>
      <p:font typeface="Lucida Bright" panose="02040602050505020304" pitchFamily="18" charset="0"/>
      <p:regular r:id="rId4"/>
      <p:bold r:id="rId5"/>
      <p:italic r:id="rId6"/>
      <p:boldItalic r:id="rId7"/>
    </p:embeddedFont>
    <p:embeddedFont>
      <p:font typeface="Lucida Sans" panose="020B0602030504020204" pitchFamily="34" charset="0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7109C-ACDE-4C45-A147-97E463DB071B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2208F5-6E7A-455C-ACFC-426735641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299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/>
              <a:t>India, Pakistan, Afghanistan, Nepal, Bhutan, Bangladesh and Sri Lanka</a:t>
            </a:r>
            <a:endParaRPr lang="en-US" dirty="0"/>
          </a:p>
          <a:p>
            <a:endParaRPr lang="en-US" strike="noStrike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712CF3-E26A-4AC6-973D-B772AF8330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4998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CDF68-FA1C-E104-08B9-2AF0C030D7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947329-268D-E24A-21F4-AE6F89CB3D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C4F59-E154-22B8-EC95-0209D7BDD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78BED-A263-4D6C-A851-81DB4264D69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3FD91-028E-E7AB-566A-DA745C688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5F3B0-DAC8-6960-7EF5-BEF5147BF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47079-4AFD-405B-8EA7-F33327A02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10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91A2B-DC22-8245-D3D4-760CC81AF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79C59-6302-FA3F-F6F1-B1A5C326C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0DBA9-90D9-C885-2236-C51571E23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78BED-A263-4D6C-A851-81DB4264D69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D5E02-124F-FF94-EA02-BCC83DF21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B0FA9-0771-74F4-62B8-3E3C4E0F2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47079-4AFD-405B-8EA7-F33327A02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34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09F16-9F16-204D-6CEB-AA2C965C6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A52B8-5A13-F140-E0BD-67341639B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27395-CE54-813B-A5C7-48793605B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78BED-A263-4D6C-A851-81DB4264D69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8D988-D7A8-7E5E-28FC-C9E1CF63E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92DE2-3505-A536-ACC6-14DF07DAF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47079-4AFD-405B-8EA7-F33327A02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47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93211-6077-B6DC-FAA4-2F78835D3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7B6DC-8AA3-DF47-B963-E8FA845DA4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1484E6-6293-289D-C274-F095FD662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B0EF0-6711-A796-F2D2-00D256A55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78BED-A263-4D6C-A851-81DB4264D69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7C147-F61B-27EA-425C-099EA6F14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D5CAA-D818-8C2D-139C-3E4512D44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47079-4AFD-405B-8EA7-F33327A02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94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25DE2-E35C-5183-BFA0-D6D83D397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30A7A-AFD2-24F2-64EE-FDBBE029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85FFDC-1834-5B3E-1016-ABE4871531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AD6247-2070-C9A4-A789-3522F0EDFB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A62DB0-A895-B16F-BFAB-F020F010C9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9BD360-5638-D65D-6E0D-DE3338FB5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78BED-A263-4D6C-A851-81DB4264D69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C4CEEA-A70C-1B16-28AB-2BC31DEA2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3FBE24-A140-C810-2A0C-3F38E4528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47079-4AFD-405B-8EA7-F33327A02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569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F65C7-76F5-1ECE-6D94-68FBC4D50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E7D63F-CF8C-F6B6-0962-FCDF3FEE4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78BED-A263-4D6C-A851-81DB4264D69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558A34-283A-C40A-25C7-7084AE8A5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C302A-2C56-387F-EAB6-8383D63DA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47079-4AFD-405B-8EA7-F33327A02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222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1B6099-F3CA-8904-24EE-999EE7FB1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78BED-A263-4D6C-A851-81DB4264D69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820880-C95A-48F4-5CEF-6F114E5F6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2B9EB-83D1-E6CF-975F-2BE64879A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47079-4AFD-405B-8EA7-F33327A02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43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31EBF-CB1F-6575-83D2-438869CEC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60EE6-1A8C-D437-BE32-5D0B02985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FAACF1-07D0-92EB-7B75-BD6744880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63EBF-CA71-413A-F755-2898080B7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78BED-A263-4D6C-A851-81DB4264D69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9033FA-C21B-E8F0-B727-17639C9ED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F798E-00B3-DD24-9A20-6D3398B56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47079-4AFD-405B-8EA7-F33327A02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139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C821-87AC-785E-DAAB-E713B4E39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2E906B-9801-5397-C6BF-105404C4E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13A084-F2EA-850D-836C-D4981158D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8CBA56-9BCA-32C3-C18F-7E3218C67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78BED-A263-4D6C-A851-81DB4264D69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531A0D-BEC9-7C77-7089-817C87C9C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00B3E-174D-A0DE-E6FF-DBEAAE94E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47079-4AFD-405B-8EA7-F33327A02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854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AB4E4-970E-7217-708C-26A45A3A8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EC944E-E183-EF56-05F5-FE02DC39EF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B9FE4-7FD5-B77B-99E2-0F4525713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78BED-A263-4D6C-A851-81DB4264D69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D274-56C8-8A97-4C19-9CDBD2887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6D476-A0B7-1F6F-36FD-DDF958A13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47079-4AFD-405B-8EA7-F33327A02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853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535E55-E801-251A-9568-92AAAFE672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075AA-936B-AA60-E995-84D1AC1A7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932D7-71F0-5A53-F72E-EF1DC3EED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78BED-A263-4D6C-A851-81DB4264D69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F30F9-01AE-4B65-07B9-32EAD7943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AAC89-6A21-1F2C-7A44-451FBCD44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47079-4AFD-405B-8EA7-F33327A02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072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678D8B-A1E1-6D9A-32EF-EE02BF5C5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883EE-755F-0902-889D-87278DAD2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28DF2-C2EE-913D-3172-DE8476769D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78BED-A263-4D6C-A851-81DB4264D69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EB7E7-35DD-8DD4-B925-C8BD4A9056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90C41-5693-8C5B-9C1F-655B094BE2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847079-4AFD-405B-8EA7-F33327A02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562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emf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emf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38113410-A3B6-4797-B66B-52FC78251ED3}"/>
              </a:ext>
            </a:extLst>
          </p:cNvPr>
          <p:cNvSpPr txBox="1"/>
          <p:nvPr/>
        </p:nvSpPr>
        <p:spPr>
          <a:xfrm>
            <a:off x="1441433" y="910110"/>
            <a:ext cx="13144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Lucida Bright" panose="02040602050505020304" pitchFamily="18" charset="0"/>
                <a:cs typeface="Arial" panose="020B0604020202020204" pitchFamily="34" charset="0"/>
              </a:rPr>
              <a:t>Sweden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Lucida Bright" panose="02040602050505020304" pitchFamily="18" charset="0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7C3C1B6-8D61-4FC9-A3B8-6B21FB72BBF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63" r="38324"/>
          <a:stretch/>
        </p:blipFill>
        <p:spPr>
          <a:xfrm>
            <a:off x="1609133" y="1218637"/>
            <a:ext cx="979050" cy="226214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1E5C4BF-76AF-4B91-90E0-AE47929012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500" t="28562" r="28240" b="25036"/>
          <a:stretch/>
        </p:blipFill>
        <p:spPr>
          <a:xfrm>
            <a:off x="6068310" y="1408807"/>
            <a:ext cx="2332552" cy="1723102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123EA4FF-3A0E-40C0-9B83-ACBD7C1A6EB0}"/>
              </a:ext>
            </a:extLst>
          </p:cNvPr>
          <p:cNvSpPr txBox="1"/>
          <p:nvPr/>
        </p:nvSpPr>
        <p:spPr>
          <a:xfrm>
            <a:off x="6644892" y="910110"/>
            <a:ext cx="11793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Lucida Bright" panose="02040602050505020304" pitchFamily="18" charset="0"/>
                <a:cs typeface="Arial" panose="020B0604020202020204" pitchFamily="34" charset="0"/>
              </a:rPr>
              <a:t>Spain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Lucida Bright" panose="02040602050505020304" pitchFamily="18" charset="0"/>
              <a:cs typeface="Arial" panose="020B0604020202020204" pitchFamily="34" charset="0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6D4FAAA9-4176-4B80-9978-48FD6EC3C8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58647" y="4012756"/>
            <a:ext cx="2151878" cy="20672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E1B794-5513-4A19-A4D9-5E5CC3FA75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322" y="3988393"/>
            <a:ext cx="2456672" cy="2179306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975DF8BC-F945-4564-AC9B-136159775858}"/>
              </a:ext>
            </a:extLst>
          </p:cNvPr>
          <p:cNvSpPr txBox="1"/>
          <p:nvPr/>
        </p:nvSpPr>
        <p:spPr>
          <a:xfrm>
            <a:off x="1508964" y="3522400"/>
            <a:ext cx="11793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Lucida Bright" panose="02040602050505020304" pitchFamily="18" charset="0"/>
                <a:cs typeface="Arial" panose="020B0604020202020204" pitchFamily="34" charset="0"/>
              </a:rPr>
              <a:t>Africa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Lucida Bright" panose="02040602050505020304" pitchFamily="18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BEA41C8-7D0E-4614-9843-129F1A113F0E}"/>
              </a:ext>
            </a:extLst>
          </p:cNvPr>
          <p:cNvSpPr txBox="1"/>
          <p:nvPr/>
        </p:nvSpPr>
        <p:spPr>
          <a:xfrm>
            <a:off x="6644892" y="3522400"/>
            <a:ext cx="14014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Lucida Bright" panose="02040602050505020304" pitchFamily="18" charset="0"/>
                <a:cs typeface="Arial" panose="020B0604020202020204" pitchFamily="34" charset="0"/>
              </a:rPr>
              <a:t>South Asia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50000"/>
                </a:srgbClr>
              </a:solidFill>
              <a:effectLst/>
              <a:uLnTx/>
              <a:uFillTx/>
              <a:latin typeface="Lucida Bright" panose="02040602050505020304" pitchFamily="18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3AE700-CF2C-4987-896A-69665B840843}"/>
              </a:ext>
            </a:extLst>
          </p:cNvPr>
          <p:cNvSpPr/>
          <p:nvPr/>
        </p:nvSpPr>
        <p:spPr>
          <a:xfrm>
            <a:off x="7585784" y="3854886"/>
            <a:ext cx="540553" cy="8524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ACC5EB8-ADF4-4AAE-AAD4-0FD69857E42F}"/>
              </a:ext>
            </a:extLst>
          </p:cNvPr>
          <p:cNvSpPr/>
          <p:nvPr/>
        </p:nvSpPr>
        <p:spPr>
          <a:xfrm>
            <a:off x="7755965" y="3857670"/>
            <a:ext cx="540553" cy="6110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2BF039B-5394-4488-8C8B-C67F783F2149}"/>
              </a:ext>
            </a:extLst>
          </p:cNvPr>
          <p:cNvSpPr/>
          <p:nvPr/>
        </p:nvSpPr>
        <p:spPr>
          <a:xfrm>
            <a:off x="994576" y="5024687"/>
            <a:ext cx="1051947" cy="1192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47437D54-96AC-46EA-83DB-05E89F6E03A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850" t="37916" r="11893" b="22361"/>
          <a:stretch/>
        </p:blipFill>
        <p:spPr>
          <a:xfrm>
            <a:off x="3363578" y="1872921"/>
            <a:ext cx="105327" cy="1526596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4A8E09BB-85C6-4F8E-B106-4B1558246C27}"/>
              </a:ext>
            </a:extLst>
          </p:cNvPr>
          <p:cNvSpPr txBox="1"/>
          <p:nvPr/>
        </p:nvSpPr>
        <p:spPr>
          <a:xfrm>
            <a:off x="3460390" y="1816335"/>
            <a:ext cx="1676942" cy="260292"/>
          </a:xfrm>
          <a:prstGeom prst="rect">
            <a:avLst/>
          </a:prstGeom>
          <a:noFill/>
        </p:spPr>
        <p:txBody>
          <a:bodyPr wrap="square" lIns="91071" tIns="45711" rIns="91071" bIns="45711" rtlCol="0">
            <a:spAutoFit/>
          </a:bodyPr>
          <a:lstStyle/>
          <a:p>
            <a:pPr marL="0" marR="0" lvl="0" indent="0" algn="l" defTabSz="1218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&gt; 255,000 SEK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665D23E-259B-4973-8447-0603753E63E0}"/>
              </a:ext>
            </a:extLst>
          </p:cNvPr>
          <p:cNvSpPr txBox="1"/>
          <p:nvPr/>
        </p:nvSpPr>
        <p:spPr>
          <a:xfrm>
            <a:off x="3460390" y="3097114"/>
            <a:ext cx="1676942" cy="260292"/>
          </a:xfrm>
          <a:prstGeom prst="rect">
            <a:avLst/>
          </a:prstGeom>
          <a:noFill/>
        </p:spPr>
        <p:txBody>
          <a:bodyPr wrap="square" lIns="91071" tIns="45711" rIns="91071" bIns="45711" rtlCol="0">
            <a:spAutoFit/>
          </a:bodyPr>
          <a:lstStyle/>
          <a:p>
            <a:pPr marL="0" marR="0" lvl="0" indent="0" algn="l" defTabSz="1218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&lt; 235,000 SEK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4B85567-9856-46A0-8A4B-C0DB09166DE5}"/>
              </a:ext>
            </a:extLst>
          </p:cNvPr>
          <p:cNvSpPr txBox="1"/>
          <p:nvPr/>
        </p:nvSpPr>
        <p:spPr>
          <a:xfrm>
            <a:off x="3224498" y="1229357"/>
            <a:ext cx="2955483" cy="442508"/>
          </a:xfrm>
          <a:prstGeom prst="rect">
            <a:avLst/>
          </a:prstGeom>
          <a:noFill/>
        </p:spPr>
        <p:txBody>
          <a:bodyPr wrap="square" lIns="91071" tIns="45711" rIns="91071" bIns="45711" rtlCol="0">
            <a:spAutoFit/>
          </a:bodyPr>
          <a:lstStyle/>
          <a:p>
            <a:pPr marL="0" marR="0" lvl="0" indent="0" algn="l" defTabSz="1218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Annual Individual Income </a:t>
            </a:r>
          </a:p>
          <a:p>
            <a:pPr marL="0" marR="0" lvl="0" indent="0" algn="l" defTabSz="1218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at Age 32-34 (2010) </a:t>
            </a:r>
          </a:p>
        </p:txBody>
      </p:sp>
      <p:pic>
        <p:nvPicPr>
          <p:cNvPr id="58" name="Picture 57" descr="A close up of a map&#10;&#10;Description automatically generated">
            <a:extLst>
              <a:ext uri="{FF2B5EF4-FFF2-40B4-BE49-F238E27FC236}">
                <a16:creationId xmlns:a16="http://schemas.microsoft.com/office/drawing/2014/main" id="{BAA7181E-BE4E-4CB6-AE3A-4DA3EAC1C41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5733" t="3708" r="35810" b="94082"/>
          <a:stretch/>
        </p:blipFill>
        <p:spPr>
          <a:xfrm rot="16200000">
            <a:off x="8141731" y="2673364"/>
            <a:ext cx="1429665" cy="178705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22361393-29C0-4CED-A4A7-393AF5A247B1}"/>
              </a:ext>
            </a:extLst>
          </p:cNvPr>
          <p:cNvSpPr txBox="1"/>
          <p:nvPr/>
        </p:nvSpPr>
        <p:spPr>
          <a:xfrm>
            <a:off x="8695009" y="1229357"/>
            <a:ext cx="3180362" cy="738646"/>
          </a:xfrm>
          <a:prstGeom prst="rect">
            <a:avLst/>
          </a:prstGeom>
          <a:noFill/>
        </p:spPr>
        <p:txBody>
          <a:bodyPr wrap="square" lIns="91071" tIns="45711" rIns="91071" bIns="45711" rtlCol="0">
            <a:spAutoFit/>
          </a:bodyPr>
          <a:lstStyle/>
          <a:p>
            <a:pPr marL="0" marR="0" lvl="0" indent="0" algn="l" defTabSz="1218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Median Income at Age 31 for </a:t>
            </a:r>
          </a:p>
          <a:p>
            <a:pPr marL="0" marR="0" lvl="0" indent="0" algn="l" defTabSz="1218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Children from Low-Income Households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58FFD7F-51B6-4758-9647-1352936240D4}"/>
              </a:ext>
            </a:extLst>
          </p:cNvPr>
          <p:cNvSpPr txBox="1"/>
          <p:nvPr/>
        </p:nvSpPr>
        <p:spPr>
          <a:xfrm>
            <a:off x="8906966" y="1991460"/>
            <a:ext cx="1727512" cy="268142"/>
          </a:xfrm>
          <a:prstGeom prst="rect">
            <a:avLst/>
          </a:prstGeom>
          <a:noFill/>
        </p:spPr>
        <p:txBody>
          <a:bodyPr wrap="square" lIns="91071" tIns="45711" rIns="91071" bIns="45711" rtlCol="0">
            <a:spAutoFit/>
          </a:bodyPr>
          <a:lstStyle/>
          <a:p>
            <a:pPr marL="0" marR="0" lvl="0" indent="0" algn="l" defTabSz="1218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&gt; 23.692 EUR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1915874-821A-494F-9B2D-B63B815FFFC6}"/>
              </a:ext>
            </a:extLst>
          </p:cNvPr>
          <p:cNvSpPr txBox="1"/>
          <p:nvPr/>
        </p:nvSpPr>
        <p:spPr>
          <a:xfrm>
            <a:off x="8906966" y="3186611"/>
            <a:ext cx="1727512" cy="268142"/>
          </a:xfrm>
          <a:prstGeom prst="rect">
            <a:avLst/>
          </a:prstGeom>
          <a:noFill/>
        </p:spPr>
        <p:txBody>
          <a:bodyPr wrap="square" lIns="91071" tIns="45711" rIns="91071" bIns="45711" rtlCol="0">
            <a:spAutoFit/>
          </a:bodyPr>
          <a:lstStyle/>
          <a:p>
            <a:pPr marL="0" marR="0" lvl="0" indent="0" algn="l" defTabSz="1218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&lt; 13.001 EUR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9A35E3A-4D1B-4015-A19F-F68F71B1FAA2}"/>
              </a:ext>
            </a:extLst>
          </p:cNvPr>
          <p:cNvSpPr/>
          <p:nvPr/>
        </p:nvSpPr>
        <p:spPr>
          <a:xfrm>
            <a:off x="9489516" y="5604743"/>
            <a:ext cx="232887" cy="1645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0B797F0-4995-4362-8997-C34B84C0E413}"/>
              </a:ext>
            </a:extLst>
          </p:cNvPr>
          <p:cNvSpPr/>
          <p:nvPr/>
        </p:nvSpPr>
        <p:spPr>
          <a:xfrm>
            <a:off x="9366042" y="5944359"/>
            <a:ext cx="258525" cy="1645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7598E363-71B9-475C-845C-2717D8AE01F4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2" r="1922"/>
          <a:stretch/>
        </p:blipFill>
        <p:spPr>
          <a:xfrm>
            <a:off x="8775024" y="4356833"/>
            <a:ext cx="161707" cy="1702719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C74A2730-DF51-4008-835D-71E97A0145EE}"/>
              </a:ext>
            </a:extLst>
          </p:cNvPr>
          <p:cNvSpPr txBox="1"/>
          <p:nvPr/>
        </p:nvSpPr>
        <p:spPr>
          <a:xfrm>
            <a:off x="9001161" y="4326672"/>
            <a:ext cx="856724" cy="275239"/>
          </a:xfrm>
          <a:prstGeom prst="rect">
            <a:avLst/>
          </a:prstGeom>
          <a:noFill/>
        </p:spPr>
        <p:txBody>
          <a:bodyPr wrap="square" lIns="91071" tIns="45711" rIns="91071" bIns="45711" rtlCol="0">
            <a:spAutoFit/>
          </a:bodyPr>
          <a:lstStyle/>
          <a:p>
            <a:pPr marL="0" marR="0" lvl="0" indent="0" algn="l" defTabSz="1218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58.0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0182C0A-7EEF-4F13-9A80-539E646D57BD}"/>
              </a:ext>
            </a:extLst>
          </p:cNvPr>
          <p:cNvSpPr txBox="1"/>
          <p:nvPr/>
        </p:nvSpPr>
        <p:spPr>
          <a:xfrm>
            <a:off x="9001161" y="5731645"/>
            <a:ext cx="976709" cy="275239"/>
          </a:xfrm>
          <a:prstGeom prst="rect">
            <a:avLst/>
          </a:prstGeom>
          <a:noFill/>
        </p:spPr>
        <p:txBody>
          <a:bodyPr wrap="square" lIns="91071" tIns="45711" rIns="91071" bIns="45711" rtlCol="0">
            <a:spAutoFit/>
          </a:bodyPr>
          <a:lstStyle/>
          <a:p>
            <a:pPr marL="0" marR="0" lvl="0" indent="0" algn="l" defTabSz="1218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27.0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04B00F9-5C41-4BDB-B1C9-2BB533019109}"/>
              </a:ext>
            </a:extLst>
          </p:cNvPr>
          <p:cNvSpPr txBox="1"/>
          <p:nvPr/>
        </p:nvSpPr>
        <p:spPr>
          <a:xfrm>
            <a:off x="8695008" y="3873186"/>
            <a:ext cx="31803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8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Mean Education Rank for Children with Less-Educated Parents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A91206B5-921E-43F8-92C4-73087AAF5E19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1396" t="56629" r="63275" b="5404"/>
          <a:stretch/>
        </p:blipFill>
        <p:spPr>
          <a:xfrm>
            <a:off x="3271817" y="4400864"/>
            <a:ext cx="1260581" cy="1641852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CB500907-5D98-4643-9565-F5CB077D62DD}"/>
              </a:ext>
            </a:extLst>
          </p:cNvPr>
          <p:cNvSpPr txBox="1"/>
          <p:nvPr/>
        </p:nvSpPr>
        <p:spPr>
          <a:xfrm>
            <a:off x="3224498" y="3873186"/>
            <a:ext cx="2130809" cy="27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8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Upward Mobility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548F5A0-870C-4C88-BBB2-F7B882D425B3}"/>
              </a:ext>
            </a:extLst>
          </p:cNvPr>
          <p:cNvSpPr txBox="1"/>
          <p:nvPr/>
        </p:nvSpPr>
        <p:spPr>
          <a:xfrm>
            <a:off x="4120423" y="4335817"/>
            <a:ext cx="2269506" cy="27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8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(lowest)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AA9FCC-1C69-817D-9E45-AE1A53A324B1}"/>
              </a:ext>
            </a:extLst>
          </p:cNvPr>
          <p:cNvSpPr txBox="1"/>
          <p:nvPr/>
        </p:nvSpPr>
        <p:spPr>
          <a:xfrm>
            <a:off x="4120423" y="5730590"/>
            <a:ext cx="2269506" cy="27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8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anose="020B0604020202020204" pitchFamily="34" charset="0"/>
              </a:rPr>
              <a:t>(highest)</a:t>
            </a:r>
          </a:p>
        </p:txBody>
      </p:sp>
      <p:sp>
        <p:nvSpPr>
          <p:cNvPr id="11" name="Rectangle 183">
            <a:extLst>
              <a:ext uri="{FF2B5EF4-FFF2-40B4-BE49-F238E27FC236}">
                <a16:creationId xmlns:a16="http://schemas.microsoft.com/office/drawing/2014/main" id="{291DF8C8-A364-0E45-728F-961DBCBBA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3968" y="1049290"/>
            <a:ext cx="6572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1E2D53"/>
                </a:solidFill>
                <a:effectLst/>
                <a:uLnTx/>
                <a:uFillTx/>
                <a:latin typeface="Lucida Sans" panose="020B0602030504020204" pitchFamily="34" charset="0"/>
                <a:cs typeface="Arial" pitchFamily="34" charset="0"/>
              </a:rPr>
              <a:t> </a:t>
            </a:r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cs typeface="Arial" pitchFamily="34" charset="0"/>
            </a:endParaRPr>
          </a:p>
        </p:txBody>
      </p:sp>
      <p:sp>
        <p:nvSpPr>
          <p:cNvPr id="12" name="Rectangle 183">
            <a:extLst>
              <a:ext uri="{FF2B5EF4-FFF2-40B4-BE49-F238E27FC236}">
                <a16:creationId xmlns:a16="http://schemas.microsoft.com/office/drawing/2014/main" id="{974E2354-3C20-D55A-FB34-E7E822C5F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3968" y="1049290"/>
            <a:ext cx="6572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Lucida Sans" panose="020B0602030504020204" pitchFamily="34" charset="0"/>
                <a:cs typeface="Arial" pitchFamily="34" charset="0"/>
              </a:rPr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BAE178-E816-42B5-CA00-4FB505950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36" y="375319"/>
            <a:ext cx="108770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Bright" panose="02040602050505020304" pitchFamily="18" charset="0"/>
                <a:cs typeface="Arial" pitchFamily="34" charset="0"/>
              </a:rPr>
              <a:t>The Geography of Economic Opportunity Around the World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839FF0-4DD6-713B-0912-658D833707FA}"/>
              </a:ext>
            </a:extLst>
          </p:cNvPr>
          <p:cNvSpPr txBox="1"/>
          <p:nvPr/>
        </p:nvSpPr>
        <p:spPr>
          <a:xfrm>
            <a:off x="568591" y="6311014"/>
            <a:ext cx="11266592" cy="523200"/>
          </a:xfrm>
          <a:prstGeom prst="rect">
            <a:avLst/>
          </a:prstGeom>
          <a:noFill/>
        </p:spPr>
        <p:txBody>
          <a:bodyPr wrap="square" lIns="91034" tIns="45710" rIns="91034" bIns="45710" rtlCol="0">
            <a:spAutoFit/>
          </a:bodyPr>
          <a:lstStyle/>
          <a:p>
            <a:pPr marL="0" marR="0" lvl="0" indent="0" algn="l" defTabSz="1217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Source: </a:t>
            </a:r>
            <a:r>
              <a:rPr kumimoji="0" lang="nb-NO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Heidrich (2017); Atlas de Oportunidades (2020); Alesina, Hohmann, Michalopoulos, Papaioannou (2021); </a:t>
            </a:r>
            <a:r>
              <a:rPr kumimoji="0" lang="en-US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Asher, Bhowmick, </a:t>
            </a:r>
            <a:r>
              <a:rPr kumimoji="0" lang="en-US" sz="1400" b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Bussolo</a:t>
            </a:r>
            <a:r>
              <a:rPr kumimoji="0" lang="en-US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Sans" panose="020B0602030504020204" pitchFamily="34" charset="0"/>
                <a:ea typeface="Lato" panose="020F0502020204030203" pitchFamily="34" charset="0"/>
                <a:cs typeface="Arial" pitchFamily="34" charset="0"/>
              </a:rPr>
              <a:t>, and Novosad (2023)</a:t>
            </a:r>
          </a:p>
        </p:txBody>
      </p:sp>
      <p:pic>
        <p:nvPicPr>
          <p:cNvPr id="15" name="Picture 14" descr="A black and grey text&#10;&#10;Description automatically generated">
            <a:extLst>
              <a:ext uri="{FF2B5EF4-FFF2-40B4-BE49-F238E27FC236}">
                <a16:creationId xmlns:a16="http://schemas.microsoft.com/office/drawing/2014/main" id="{93F4A398-B745-7791-464E-9594B93AD2D4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40A8CB-C838-CD6E-9A49-24FE280E3B61}"/>
              </a:ext>
            </a:extLst>
          </p:cNvPr>
          <p:cNvCxnSpPr>
            <a:cxnSpLocks/>
          </p:cNvCxnSpPr>
          <p:nvPr/>
        </p:nvCxnSpPr>
        <p:spPr>
          <a:xfrm>
            <a:off x="620980" y="6311014"/>
            <a:ext cx="109536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F9C62A3-C9D2-0D36-A920-C4AE85AEE143}"/>
              </a:ext>
            </a:extLst>
          </p:cNvPr>
          <p:cNvCxnSpPr>
            <a:cxnSpLocks/>
          </p:cNvCxnSpPr>
          <p:nvPr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2725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Microsoft Office PowerPoint</Application>
  <PresentationFormat>Widescreen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 Display</vt:lpstr>
      <vt:lpstr>Calibri</vt:lpstr>
      <vt:lpstr>Aptos</vt:lpstr>
      <vt:lpstr>Lucida Sans</vt:lpstr>
      <vt:lpstr>Lucida Bright</vt:lpstr>
      <vt:lpstr>Arial</vt:lpstr>
      <vt:lpstr>Office Theme</vt:lpstr>
      <vt:lpstr>PowerPoint Presentation</vt:lpstr>
    </vt:vector>
  </TitlesOfParts>
  <Company>Harvard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Leff, Emily C</dc:creator>
  <cp:lastModifiedBy>Leff, Emily C</cp:lastModifiedBy>
  <cp:revision>1</cp:revision>
  <dcterms:created xsi:type="dcterms:W3CDTF">2025-05-29T14:13:23Z</dcterms:created>
  <dcterms:modified xsi:type="dcterms:W3CDTF">2025-05-29T16:07:50Z</dcterms:modified>
</cp:coreProperties>
</file>