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9080" r:id="rId2"/>
    <p:sldId id="9457" r:id="rId3"/>
    <p:sldId id="9676" r:id="rId4"/>
  </p:sldIdLst>
  <p:sldSz cx="12192000" cy="6858000"/>
  <p:notesSz cx="6858000" cy="9144000"/>
  <p:embeddedFontLst>
    <p:embeddedFont>
      <p:font typeface="Lucida Bright" panose="02040602050505020304" pitchFamily="18" charset="0"/>
      <p:regular r:id="rId6"/>
      <p:bold r:id="rId7"/>
      <p:italic r:id="rId8"/>
      <p:boldItalic r:id="rId9"/>
    </p:embeddedFont>
    <p:embeddedFont>
      <p:font typeface="Lucida Sans" panose="020B06020305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viewProps" Target="viewProp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3AC59D-6362-4D3A-9F18-E685F745AC0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F1AA3F-4409-4149-9446-DE85FC8ADF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688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trike="noStrike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DDC76D-2269-4DE0-B678-715B442BD5C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440742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noStrike" dirty="0"/>
              <a:t>Optional depending on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65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0712CF3-E26A-4AC6-973D-B772AF83308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pPr marL="0" marR="0" lvl="0" indent="0" algn="r" defTabSz="9652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7822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C7138-F9D3-AD5E-292A-1A203EB636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EE2D4-5B97-8983-898D-56F838448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408FA-8F85-D1B8-AFD0-EA5DE9F8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EFE5F5-9D51-5CE9-3D9B-825223C51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72A42-6C45-A725-E46F-DBBD7CCB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49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3E02-D7C9-054C-4365-2836E581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8979E-870F-37A0-7FC7-09B95AABB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272FD-9A59-AB97-2877-0BE22B007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A3267-A0D2-4D87-2E0E-F698D1C0B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52D0-DF90-C010-9D55-4771F0B69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23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52E57-A34E-D612-BE49-C49956036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A52DB-979E-ABF0-9B8C-8A2FC7697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6700-2D02-6785-A794-7155CC525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209A6-702B-00B3-C7D5-9AE8FA484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0A1A2-B18F-A4A0-CD67-26FC494DE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3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B9DB3-F08F-5C55-C2FC-A461207BD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2CA83-29B0-A9A8-288C-DACB950F3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3D876-AC54-2F53-6A3F-D3851B2264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1B6ED-29CD-C41C-DAD3-634E90CD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885100-D756-FB62-023D-E7ABFE85A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C96F2-0B62-A20E-B6E4-10BBFF810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58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B689-DA8C-FED0-DB26-5C1294E24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2EB48-A438-B882-D47F-2A104DAFF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9A480-3680-130C-C820-D01E049A9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093809-4FE9-E719-A3E6-D88BCC95F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74D08C-851E-4C39-B00B-6106F5F930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9DA3E-994C-E5E8-EFE8-923DD981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5C9C47-61F4-E6BE-2E43-11CFCB82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B8F069-5C6E-60BB-B3C7-E854DC53E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7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C528E-B101-B148-CB74-E700E202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036700-424F-3BD7-0150-094C1D8CB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FF666-6FAA-22C7-17E9-36A3BF67F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25638-C817-32C1-3083-963E9A4C4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20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383CD2-1AC9-F0C1-2AF7-6AB350D52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C8EEAB-DA15-34ED-A12F-5031C6A0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D5893-5F37-ACE1-0311-4CC67103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511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D9B6E-1E81-A47C-D2E9-5C3F5B51A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18C53-7F5B-8A5F-67DB-E88A6E022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06E98D-5797-F5D3-A9ED-E3BE3C6F16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A5DA0F-A2D2-874D-9220-229ED9508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6618B-815A-DFA1-3BE2-D1405CE9F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771CD7-7095-1CA5-BA44-1F1426B2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9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6C2F4-4547-6BAA-E5E7-AB0A9067C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C0A92-6E02-1565-E6AB-C01EE5B3C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A9421-0DB4-B5DE-DBF3-25AC13120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B3D94-1BB4-C5ED-3BDA-7770E924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9975C-DDEF-9D51-A6C3-79C73346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0DE61-230B-258C-19AC-E7795E5AE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1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4E0F-31B4-9FCC-B892-C55876412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597F2-140D-9898-EFEB-3A522602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6BF79-FE74-4F60-0D53-60537D65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3B411-0D8F-D7B0-6D85-E205C14F8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D8E54B-8C6D-85D2-33CF-260DC19E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30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C3EE3-8B47-BEFA-254D-2B1FA416AA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013AB-11A5-2556-0E01-E25AF9C21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D058B-036C-CF79-EBA0-A4B97B89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E9EA-1D39-C2BC-6CE3-934A4EB21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44C42-5E5B-0019-6A41-E7E8E19FB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90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A53072-D9D5-2E76-B0AE-BA76B8D8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565A5-16EB-3836-CDC4-F3CC667CA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86357-FE9D-5130-84B2-2169844A45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D55DE7-DA02-487C-A5F3-B044C3A03F72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CB8EA-01CF-1961-5780-83E844C1D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839F8E-0EBE-A972-994F-437A24E74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BE05D-D4D4-471F-82A8-DBBA0264D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153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13" Type="http://schemas.openxmlformats.org/officeDocument/2006/relationships/hyperlink" Target="https://x.com/OppInsights" TargetMode="External"/><Relationship Id="rId18" Type="http://schemas.openxmlformats.org/officeDocument/2006/relationships/hyperlink" Target="https://www.nytimes.com/interactive/projects/college-mobility/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12" Type="http://schemas.openxmlformats.org/officeDocument/2006/relationships/image" Target="../media/image19.svg"/><Relationship Id="rId17" Type="http://schemas.openxmlformats.org/officeDocument/2006/relationships/hyperlink" Target="https://socialcapital.org/" TargetMode="External"/><Relationship Id="rId2" Type="http://schemas.openxmlformats.org/officeDocument/2006/relationships/image" Target="../media/image12.png"/><Relationship Id="rId16" Type="http://schemas.openxmlformats.org/officeDocument/2006/relationships/hyperlink" Target="https://www.opportunityatlas.org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opportunityinsights.org/resources/" TargetMode="External"/><Relationship Id="rId11" Type="http://schemas.openxmlformats.org/officeDocument/2006/relationships/image" Target="../media/image18.png"/><Relationship Id="rId5" Type="http://schemas.openxmlformats.org/officeDocument/2006/relationships/image" Target="../media/image15.svg"/><Relationship Id="rId15" Type="http://schemas.openxmlformats.org/officeDocument/2006/relationships/hyperlink" Target="https://www.linkedin.com/company/opportunityinsights/" TargetMode="External"/><Relationship Id="rId10" Type="http://schemas.openxmlformats.org/officeDocument/2006/relationships/hyperlink" Target="https://calendly.com/opportunityinsights-info/office-hours" TargetMode="External"/><Relationship Id="rId19" Type="http://schemas.openxmlformats.org/officeDocument/2006/relationships/hyperlink" Target="https://www.tracktherecovery.org/" TargetMode="External"/><Relationship Id="rId4" Type="http://schemas.openxmlformats.org/officeDocument/2006/relationships/image" Target="../media/image14.png"/><Relationship Id="rId9" Type="http://schemas.openxmlformats.org/officeDocument/2006/relationships/hyperlink" Target="mailto:info@opportunityinsights.org" TargetMode="External"/><Relationship Id="rId14" Type="http://schemas.openxmlformats.org/officeDocument/2006/relationships/hyperlink" Target="https://bsky.app/profile/oppinsights.bsky.soc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climbing a mountain&#10;&#10;Description automatically generated with medium confidence">
            <a:extLst>
              <a:ext uri="{FF2B5EF4-FFF2-40B4-BE49-F238E27FC236}">
                <a16:creationId xmlns:a16="http://schemas.microsoft.com/office/drawing/2014/main" id="{95D4BEDA-F655-6A93-B3B3-C463E8B7E6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7306"/>
          <a:stretch/>
        </p:blipFill>
        <p:spPr>
          <a:xfrm>
            <a:off x="0" y="0"/>
            <a:ext cx="12192001" cy="68618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1EC4EA2-48EA-418C-AE12-6FDDE0F96F00}"/>
              </a:ext>
            </a:extLst>
          </p:cNvPr>
          <p:cNvSpPr/>
          <p:nvPr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E625FA-128E-4679-B4B5-A594CC5BBCD4}"/>
              </a:ext>
            </a:extLst>
          </p:cNvPr>
          <p:cNvSpPr/>
          <p:nvPr/>
        </p:nvSpPr>
        <p:spPr>
          <a:xfrm>
            <a:off x="2554969" y="4433182"/>
            <a:ext cx="9014461" cy="2215987"/>
          </a:xfrm>
          <a:prstGeom prst="rect">
            <a:avLst/>
          </a:prstGeom>
          <a:noFill/>
          <a:effectLst/>
        </p:spPr>
        <p:txBody>
          <a:bodyPr wrap="square" lIns="91306" tIns="45718" rIns="91306" bIns="45718" anchor="ctr">
            <a:spAutoFit/>
          </a:bodyPr>
          <a:lstStyle/>
          <a:p>
            <a:pPr marL="0" marR="0" lvl="0" indent="0" algn="r" defTabSz="91417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Cambria" panose="02040503050406030204" pitchFamily="18" charset="0"/>
                <a:cs typeface="+mn-cs"/>
              </a:rPr>
              <a:t>Creating Opportunity in </a:t>
            </a:r>
            <a:r>
              <a:rPr lang="en-US" sz="3200" b="1" dirty="0">
                <a:solidFill>
                  <a:prstClr val="black"/>
                </a:solidFill>
                <a:latin typeface="Lucida Bright" panose="02040602050505020304" pitchFamily="18" charset="0"/>
                <a:ea typeface="Cambria" panose="02040503050406030204" pitchFamily="18" charset="0"/>
              </a:rPr>
              <a:t>[PLACE]</a:t>
            </a:r>
            <a:br>
              <a:rPr lang="en-US" sz="3200" b="1" dirty="0">
                <a:solidFill>
                  <a:prstClr val="black"/>
                </a:solidFill>
                <a:latin typeface="Lucida Bright" panose="02040602050505020304" pitchFamily="18" charset="0"/>
                <a:ea typeface="Cambria" panose="02040503050406030204" pitchFamily="18" charset="0"/>
              </a:rPr>
            </a:b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Bright" panose="02040602050505020304" pitchFamily="18" charset="0"/>
                <a:ea typeface="Cambria" panose="02040503050406030204" pitchFamily="18" charset="0"/>
                <a:cs typeface="+mn-cs"/>
              </a:rPr>
              <a:t>New Insights from Big Data</a:t>
            </a:r>
          </a:p>
          <a:p>
            <a:pPr marL="0" marR="0" lvl="0" indent="0" algn="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Calibri" panose="020F0502020204030204"/>
              <a:ea typeface="ＭＳ Ｐゴシック" pitchFamily="34" charset="-128"/>
              <a:cs typeface="+mn-cs"/>
            </a:endParaRPr>
          </a:p>
          <a:p>
            <a:pPr marL="0" marR="0" lvl="0" indent="0" algn="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t>Raj Chetty</a:t>
            </a:r>
          </a:p>
          <a:p>
            <a:pPr marL="0" marR="0" lvl="0" indent="0" algn="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t>Harvard University</a:t>
            </a:r>
          </a:p>
          <a:p>
            <a:pPr marL="0" marR="0" lvl="0" indent="0" algn="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  <a:p>
            <a:pPr marL="0" marR="0" lvl="0" indent="0" algn="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" panose="020B0602030504020204" pitchFamily="34" charset="0"/>
                <a:ea typeface="ＭＳ Ｐゴシック" pitchFamily="34" charset="-128"/>
                <a:cs typeface="+mn-cs"/>
              </a:rPr>
              <a:t>[EVENT NAME] | </a:t>
            </a:r>
            <a:r>
              <a:rPr lang="en-US" sz="1200" b="1">
                <a:solidFill>
                  <a:prstClr val="black"/>
                </a:solidFill>
                <a:latin typeface="Lucida Sans" panose="020B0602030504020204" pitchFamily="34" charset="0"/>
                <a:ea typeface="ＭＳ Ｐゴシック" pitchFamily="34" charset="-128"/>
              </a:rPr>
              <a:t>[MONTH] [YEAR]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ＭＳ Ｐゴシック" pitchFamily="34" charset="-128"/>
              <a:cs typeface="+mn-cs"/>
            </a:endParaRPr>
          </a:p>
        </p:txBody>
      </p:sp>
      <p:pic>
        <p:nvPicPr>
          <p:cNvPr id="8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1325F09F-71B1-446D-894E-1D0A6A536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604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94"/>
          <p:cNvSpPr>
            <a:spLocks noChangeAspect="1" noChangeArrowheads="1" noTextEdit="1"/>
          </p:cNvSpPr>
          <p:nvPr/>
        </p:nvSpPr>
        <p:spPr bwMode="auto">
          <a:xfrm>
            <a:off x="1524057" y="277836"/>
            <a:ext cx="9144001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152" tIns="45718" rIns="91152" bIns="45718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1219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3" name="Rectangle 183"/>
          <p:cNvSpPr>
            <a:spLocks noChangeArrowheads="1"/>
          </p:cNvSpPr>
          <p:nvPr/>
        </p:nvSpPr>
        <p:spPr bwMode="auto">
          <a:xfrm>
            <a:off x="6462351" y="598576"/>
            <a:ext cx="0" cy="3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121914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1E2D53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rPr>
              <a:t> </a:t>
            </a:r>
            <a:endParaRPr kumimoji="0" lang="en-US" altLang="en-US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" panose="020B0602030504020204" pitchFamily="34" charset="0"/>
              <a:ea typeface="+mn-ea"/>
              <a:cs typeface="Arial" pitchFamily="34" charset="0"/>
            </a:endParaRPr>
          </a:p>
        </p:txBody>
      </p:sp>
      <p:pic>
        <p:nvPicPr>
          <p:cNvPr id="14" name="Picture 13" descr="A black and grey text&#10;&#10;Description automatically generated">
            <a:extLst>
              <a:ext uri="{FF2B5EF4-FFF2-40B4-BE49-F238E27FC236}">
                <a16:creationId xmlns:a16="http://schemas.microsoft.com/office/drawing/2014/main" id="{AF21E452-DCAE-DA58-0AB7-0C6962FEED6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2E8E20-EEB7-A9A2-3AD6-7C9AF9813FBA}"/>
              </a:ext>
            </a:extLst>
          </p:cNvPr>
          <p:cNvSpPr/>
          <p:nvPr/>
        </p:nvSpPr>
        <p:spPr>
          <a:xfrm rot="5400000">
            <a:off x="3952423" y="2596443"/>
            <a:ext cx="4140800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05A19A-6C38-D5B9-1575-5E5967B38B5A}"/>
              </a:ext>
            </a:extLst>
          </p:cNvPr>
          <p:cNvSpPr/>
          <p:nvPr/>
        </p:nvSpPr>
        <p:spPr>
          <a:xfrm rot="5400000">
            <a:off x="7164670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455D5-54E8-44A5-20E8-31AC365E0C17}"/>
              </a:ext>
            </a:extLst>
          </p:cNvPr>
          <p:cNvSpPr/>
          <p:nvPr/>
        </p:nvSpPr>
        <p:spPr>
          <a:xfrm rot="5400000">
            <a:off x="695553" y="2596444"/>
            <a:ext cx="4140801" cy="2479950"/>
          </a:xfrm>
          <a:prstGeom prst="rect">
            <a:avLst/>
          </a:prstGeom>
          <a:solidFill>
            <a:srgbClr val="F2F2F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4D5452-0624-5C86-AE20-AFAB2259A42F}"/>
              </a:ext>
            </a:extLst>
          </p:cNvPr>
          <p:cNvSpPr/>
          <p:nvPr/>
        </p:nvSpPr>
        <p:spPr>
          <a:xfrm>
            <a:off x="4814876" y="1870537"/>
            <a:ext cx="24158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Social Communities as Unit of Change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626365"/>
              </a:solidFill>
              <a:effectLst/>
              <a:uLnTx/>
              <a:uFillTx/>
              <a:latin typeface="Lucida Bright" panose="02040602050505020304" pitchFamily="18" charset="0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00781-9EFF-FE92-F2C3-0CB407AEA05E}"/>
              </a:ext>
            </a:extLst>
          </p:cNvPr>
          <p:cNvSpPr/>
          <p:nvPr/>
        </p:nvSpPr>
        <p:spPr>
          <a:xfrm>
            <a:off x="1619752" y="1870537"/>
            <a:ext cx="22924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Focus on Childhood Environment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7C03BB-FAF3-F059-870C-792F83350BE3}"/>
              </a:ext>
            </a:extLst>
          </p:cNvPr>
          <p:cNvSpPr/>
          <p:nvPr/>
        </p:nvSpPr>
        <p:spPr>
          <a:xfrm>
            <a:off x="7995095" y="1870537"/>
            <a:ext cx="247995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+mn-cs"/>
              </a:rPr>
              <a:t>Invest in Social Capital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DC2058E-271A-4964-6CAC-720CBE9373F2}"/>
              </a:ext>
            </a:extLst>
          </p:cNvPr>
          <p:cNvCxnSpPr>
            <a:cxnSpLocks/>
          </p:cNvCxnSpPr>
          <p:nvPr/>
        </p:nvCxnSpPr>
        <p:spPr>
          <a:xfrm>
            <a:off x="7615411" y="4398957"/>
            <a:ext cx="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7038330E-EF39-BB74-F67E-6B009BD897BD}"/>
              </a:ext>
            </a:extLst>
          </p:cNvPr>
          <p:cNvSpPr/>
          <p:nvPr/>
        </p:nvSpPr>
        <p:spPr>
          <a:xfrm>
            <a:off x="1652380" y="4741389"/>
            <a:ext cx="222714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Provide opportunity-rich environments from birth to adulthood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D882A60-AB07-80A5-4B4C-204F32B31C72}"/>
              </a:ext>
            </a:extLst>
          </p:cNvPr>
          <p:cNvSpPr/>
          <p:nvPr/>
        </p:nvSpPr>
        <p:spPr>
          <a:xfrm>
            <a:off x="4928549" y="4741389"/>
            <a:ext cx="218854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Target communities that have historically lacked opportunity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AA8238-63D5-7126-2EB8-822B9D7BE1D0}"/>
              </a:ext>
            </a:extLst>
          </p:cNvPr>
          <p:cNvSpPr/>
          <p:nvPr/>
        </p:nvSpPr>
        <p:spPr>
          <a:xfrm>
            <a:off x="8143512" y="4741389"/>
            <a:ext cx="21831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9B6A4"/>
              </a:buClr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Connec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26365"/>
                </a:solidFill>
                <a:effectLst/>
                <a:uLnTx/>
                <a:uFillTx/>
                <a:latin typeface="Lucida Sans" panose="020B0602030504020204" pitchFamily="34" charset="0"/>
                <a:ea typeface="+mn-ea"/>
                <a:cs typeface="+mn-cs"/>
              </a:rPr>
              <a:t>t those who don’t have opportunity to those who do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7F0E29B-24E0-B024-F07F-0CF9743A90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8712581" y="3155792"/>
            <a:ext cx="1044979" cy="835983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9F1B3A5-3A9F-A273-EC79-E035E995C8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74" y="375319"/>
            <a:ext cx="104994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Lucida Bright" panose="02040602050505020304" pitchFamily="18" charset="0"/>
                <a:ea typeface="+mn-ea"/>
                <a:cs typeface="Arial" pitchFamily="34" charset="0"/>
              </a:rPr>
              <a:t>Takeaways for Increasing Opportunity Going Forward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B30CB2B-792E-766C-27AD-CE98D8F8E310}"/>
              </a:ext>
            </a:extLst>
          </p:cNvPr>
          <p:cNvCxnSpPr>
            <a:cxnSpLocks/>
          </p:cNvCxnSpPr>
          <p:nvPr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BD7D877-0596-87FF-95EC-58506EAE7DA0}"/>
              </a:ext>
            </a:extLst>
          </p:cNvPr>
          <p:cNvGrpSpPr/>
          <p:nvPr/>
        </p:nvGrpSpPr>
        <p:grpSpPr>
          <a:xfrm>
            <a:off x="2134924" y="3226135"/>
            <a:ext cx="1262058" cy="832104"/>
            <a:chOff x="1961283" y="3428999"/>
            <a:chExt cx="1262058" cy="832104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462BF188-28B9-BE49-7393-ABF1AC06E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61283" y="3805700"/>
              <a:ext cx="341551" cy="455403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8B84BCE2-27CB-035F-5EC6-82A78947D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87225" y="3428999"/>
              <a:ext cx="936116" cy="832104"/>
            </a:xfrm>
            <a:prstGeom prst="rect">
              <a:avLst/>
            </a:prstGeom>
          </p:spPr>
        </p:pic>
      </p:grpSp>
      <p:pic>
        <p:nvPicPr>
          <p:cNvPr id="31" name="Graphic 30">
            <a:extLst>
              <a:ext uri="{FF2B5EF4-FFF2-40B4-BE49-F238E27FC236}">
                <a16:creationId xmlns:a16="http://schemas.microsoft.com/office/drawing/2014/main" id="{8F2CF096-0B13-388C-5C67-54CA513EF32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554765" y="3159671"/>
            <a:ext cx="936117" cy="83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50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6D60940-DB90-8981-ED97-4C350EAC8568}"/>
              </a:ext>
            </a:extLst>
          </p:cNvPr>
          <p:cNvGrpSpPr/>
          <p:nvPr/>
        </p:nvGrpSpPr>
        <p:grpSpPr>
          <a:xfrm>
            <a:off x="7857651" y="1751402"/>
            <a:ext cx="3744863" cy="3744863"/>
            <a:chOff x="7151252" y="741150"/>
            <a:chExt cx="2858394" cy="2858394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24EE16D-16AF-D33D-3E13-5AE04CAA3ACB}"/>
                </a:ext>
              </a:extLst>
            </p:cNvPr>
            <p:cNvSpPr/>
            <p:nvPr/>
          </p:nvSpPr>
          <p:spPr>
            <a:xfrm>
              <a:off x="7151252" y="741150"/>
              <a:ext cx="2858394" cy="2858394"/>
            </a:xfrm>
            <a:prstGeom prst="rect">
              <a:avLst/>
            </a:prstGeom>
            <a:solidFill>
              <a:srgbClr val="19B7A4"/>
            </a:solidFill>
            <a:ln>
              <a:solidFill>
                <a:srgbClr val="29B6A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F32BEC06-C890-48C6-1366-5085B55CB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55336" y="845234"/>
              <a:ext cx="2650227" cy="2650227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E713469-1E76-D602-7096-BE2F8A8EBDC9}"/>
              </a:ext>
            </a:extLst>
          </p:cNvPr>
          <p:cNvSpPr txBox="1"/>
          <p:nvPr/>
        </p:nvSpPr>
        <p:spPr>
          <a:xfrm>
            <a:off x="8224316" y="1375443"/>
            <a:ext cx="30115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Lucida Sans" panose="020B0602030504020204" pitchFamily="34" charset="0"/>
              </a:rPr>
              <a:t>Scan to explore our resources:</a:t>
            </a:r>
            <a:endParaRPr lang="en-US" sz="1400" b="1" dirty="0">
              <a:solidFill>
                <a:schemeClr val="tx1"/>
              </a:solidFill>
              <a:latin typeface="Lucida Sans" panose="020B0602030504020204" pitchFamily="34" charset="0"/>
            </a:endParaRPr>
          </a:p>
        </p:txBody>
      </p:sp>
      <p:pic>
        <p:nvPicPr>
          <p:cNvPr id="58" name="Picture 57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56473013-92ED-83AE-B8C5-F49E285D3DE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822" y="6465066"/>
            <a:ext cx="1828802" cy="320040"/>
          </a:xfrm>
          <a:prstGeom prst="rect">
            <a:avLst/>
          </a:prstGeom>
        </p:spPr>
      </p:pic>
      <p:pic>
        <p:nvPicPr>
          <p:cNvPr id="59" name="Picture 2">
            <a:extLst>
              <a:ext uri="{FF2B5EF4-FFF2-40B4-BE49-F238E27FC236}">
                <a16:creationId xmlns:a16="http://schemas.microsoft.com/office/drawing/2014/main" id="{C9BA9DB5-8A76-B31B-7BEF-7A48BBD95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 bwMode="auto">
          <a:xfrm>
            <a:off x="10928198" y="6465066"/>
            <a:ext cx="1222467" cy="3200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05AFE75-1B1E-8733-CD8A-2E868B290EDF}"/>
              </a:ext>
            </a:extLst>
          </p:cNvPr>
          <p:cNvSpPr/>
          <p:nvPr/>
        </p:nvSpPr>
        <p:spPr>
          <a:xfrm>
            <a:off x="0" y="0"/>
            <a:ext cx="12192000" cy="283581"/>
          </a:xfrm>
          <a:prstGeom prst="rect">
            <a:avLst/>
          </a:prstGeom>
          <a:solidFill>
            <a:srgbClr val="19B7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56" tIns="45718" rIns="91356" bIns="45718" rtlCol="0" anchor="ctr"/>
          <a:lstStyle/>
          <a:p>
            <a:pPr marL="0" marR="0" lvl="0" indent="0" algn="ctr" defTabSz="91319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1C0E53-83CC-1EFD-9B8F-C5CCF67A9064}"/>
              </a:ext>
            </a:extLst>
          </p:cNvPr>
          <p:cNvSpPr/>
          <p:nvPr/>
        </p:nvSpPr>
        <p:spPr>
          <a:xfrm>
            <a:off x="692081" y="662436"/>
            <a:ext cx="6242119" cy="5910123"/>
          </a:xfrm>
          <a:prstGeom prst="rect">
            <a:avLst/>
          </a:prstGeom>
          <a:noFill/>
          <a:ln>
            <a:solidFill>
              <a:srgbClr val="29B6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A12BB14-5B35-35FE-3115-BC978264C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5681" y="723690"/>
            <a:ext cx="18288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9B6A4"/>
                </a:solidFill>
                <a:effectLst/>
                <a:uLnTx/>
                <a:uFillTx/>
                <a:latin typeface="Lucida Bright" panose="02040602050505020304" pitchFamily="18" charset="0"/>
                <a:cs typeface="Arial" pitchFamily="34" charset="0"/>
              </a:rPr>
              <a:t>Thank You</a:t>
            </a:r>
          </a:p>
        </p:txBody>
      </p:sp>
      <p:sp>
        <p:nvSpPr>
          <p:cNvPr id="3" name="TextBox 2">
            <a:hlinkClick r:id="rId6"/>
            <a:extLst>
              <a:ext uri="{FF2B5EF4-FFF2-40B4-BE49-F238E27FC236}">
                <a16:creationId xmlns:a16="http://schemas.microsoft.com/office/drawing/2014/main" id="{15388B25-9785-B537-9E94-A467BEE40345}"/>
              </a:ext>
            </a:extLst>
          </p:cNvPr>
          <p:cNvSpPr txBox="1"/>
          <p:nvPr/>
        </p:nvSpPr>
        <p:spPr>
          <a:xfrm>
            <a:off x="8243571" y="5513907"/>
            <a:ext cx="29730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u="sng" dirty="0">
                <a:latin typeface="Lucida Sans" panose="020B0602030504020204" pitchFamily="34" charset="0"/>
              </a:rPr>
              <a:t>opportunityinsights.org/resources/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9993707-FA66-28A8-4CEA-3CCF9FB87438}"/>
              </a:ext>
            </a:extLst>
          </p:cNvPr>
          <p:cNvGrpSpPr/>
          <p:nvPr/>
        </p:nvGrpSpPr>
        <p:grpSpPr>
          <a:xfrm>
            <a:off x="1073833" y="3163098"/>
            <a:ext cx="7647380" cy="1241245"/>
            <a:chOff x="5138185" y="4403558"/>
            <a:chExt cx="7647380" cy="1241245"/>
          </a:xfrm>
        </p:grpSpPr>
        <p:pic>
          <p:nvPicPr>
            <p:cNvPr id="5" name="Graphic 4" descr="Envelope">
              <a:extLst>
                <a:ext uri="{FF2B5EF4-FFF2-40B4-BE49-F238E27FC236}">
                  <a16:creationId xmlns:a16="http://schemas.microsoft.com/office/drawing/2014/main" id="{4198CF3C-E5E5-5072-F037-596A347C7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38185" y="4403558"/>
              <a:ext cx="914400" cy="914400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4B0F0A-CCE4-C445-703D-12CCFFC3A399}"/>
                </a:ext>
              </a:extLst>
            </p:cNvPr>
            <p:cNvSpPr txBox="1"/>
            <p:nvPr/>
          </p:nvSpPr>
          <p:spPr>
            <a:xfrm>
              <a:off x="6095999" y="4522220"/>
              <a:ext cx="6689566" cy="1122583"/>
            </a:xfrm>
            <a:prstGeom prst="rect">
              <a:avLst/>
            </a:prstGeom>
            <a:noFill/>
          </p:spPr>
          <p:txBody>
            <a:bodyPr wrap="square" lIns="121888" tIns="60944" rIns="121888" bIns="60944" rtlCol="0">
              <a:sp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Arial" pitchFamily="34" charset="0"/>
                </a:rPr>
                <a:t>Questions? </a:t>
              </a:r>
            </a:p>
            <a:p>
              <a:pPr marL="0" marR="0" lvl="0" indent="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Email us at </a:t>
              </a:r>
              <a:r>
                <a:rPr kumimoji="0" lang="en-US" sz="1600" b="1" i="0" u="sng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  <a:hlinkClick r:id="rId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info@opportunityinsights.org</a:t>
              </a:r>
              <a:endParaRPr kumimoji="0" lang="en-US" sz="16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endParaRPr>
            </a:p>
            <a:p>
              <a:pPr marL="0" marR="0" lvl="0" indent="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Sign up for </a:t>
              </a:r>
              <a:r>
                <a:rPr kumimoji="0" lang="en-US" sz="1600" b="1" i="0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  <a:hlinkClick r:id="rId10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office hours</a:t>
              </a:r>
              <a:endParaRPr kumimoji="0" lang="en-US" sz="1600" b="1" i="0" u="sng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D1894E8-57B7-321A-8A97-9B6F9A2D7198}"/>
              </a:ext>
            </a:extLst>
          </p:cNvPr>
          <p:cNvGrpSpPr/>
          <p:nvPr/>
        </p:nvGrpSpPr>
        <p:grpSpPr>
          <a:xfrm>
            <a:off x="1073833" y="4879868"/>
            <a:ext cx="6720573" cy="1905238"/>
            <a:chOff x="5136681" y="3107833"/>
            <a:chExt cx="6720573" cy="1905238"/>
          </a:xfrm>
        </p:grpSpPr>
        <p:pic>
          <p:nvPicPr>
            <p:cNvPr id="8" name="Graphic 7" descr="Chat bubble">
              <a:extLst>
                <a:ext uri="{FF2B5EF4-FFF2-40B4-BE49-F238E27FC236}">
                  <a16:creationId xmlns:a16="http://schemas.microsoft.com/office/drawing/2014/main" id="{5BC31C20-C103-E0D6-9406-6A2E6BFEF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136681" y="3107833"/>
              <a:ext cx="917409" cy="91740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F62F48-AEC1-B896-1E1F-278513983208}"/>
                </a:ext>
              </a:extLst>
            </p:cNvPr>
            <p:cNvSpPr txBox="1"/>
            <p:nvPr/>
          </p:nvSpPr>
          <p:spPr>
            <a:xfrm>
              <a:off x="6096000" y="3227999"/>
              <a:ext cx="5761254" cy="1785072"/>
            </a:xfrm>
            <a:prstGeom prst="rect">
              <a:avLst/>
            </a:prstGeom>
            <a:noFill/>
          </p:spPr>
          <p:txBody>
            <a:bodyPr wrap="square" lIns="121888" tIns="60944" rIns="121888" bIns="60944" rtlCol="0">
              <a:sp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Arial" pitchFamily="34" charset="0"/>
                </a:rPr>
                <a:t>Follow our latest work</a:t>
              </a:r>
            </a:p>
            <a:p>
              <a:pPr marL="0" marR="0" lvl="0" indent="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X (Formerly Twitter)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@OppInsights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endParaRPr>
            </a:p>
            <a:p>
              <a:pPr defTabSz="913765">
                <a:lnSpc>
                  <a:spcPct val="150000"/>
                </a:lnSpc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BlueSky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  <a:hlinkClick r:id="rId1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@Oppinsights.bsky.social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endParaRPr>
            </a:p>
            <a:p>
              <a:pPr defTabSz="913765">
                <a:lnSpc>
                  <a:spcPct val="150000"/>
                </a:lnSpc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LinkedIn </a:t>
              </a: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  <a:hlinkClick r:id="rId1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@Opportunity Insights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endParaRPr>
            </a:p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600" b="1" dirty="0">
                <a:latin typeface="Lucida Sans" panose="020B0602030504020204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0D40426-0B16-7310-9AD3-DA1F88431DC6}"/>
              </a:ext>
            </a:extLst>
          </p:cNvPr>
          <p:cNvGrpSpPr/>
          <p:nvPr/>
        </p:nvGrpSpPr>
        <p:grpSpPr>
          <a:xfrm>
            <a:off x="1073833" y="826326"/>
            <a:ext cx="6741908" cy="1861246"/>
            <a:chOff x="5138185" y="1837321"/>
            <a:chExt cx="6741908" cy="1861246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6E65058-81F5-8BF6-BAD6-2CDF494A8D88}"/>
                </a:ext>
              </a:extLst>
            </p:cNvPr>
            <p:cNvSpPr txBox="1"/>
            <p:nvPr/>
          </p:nvSpPr>
          <p:spPr>
            <a:xfrm>
              <a:off x="6095998" y="1837321"/>
              <a:ext cx="5784095" cy="1861246"/>
            </a:xfrm>
            <a:prstGeom prst="rect">
              <a:avLst/>
            </a:prstGeom>
            <a:noFill/>
          </p:spPr>
          <p:txBody>
            <a:bodyPr wrap="square" lIns="121888" tIns="60944" rIns="121888" bIns="60944" rtlCol="0">
              <a:spAutoFit/>
            </a:bodyPr>
            <a:lstStyle/>
            <a:p>
              <a:pPr marL="0" marR="0" lvl="0" indent="0" algn="l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Bright" panose="02040602050505020304" pitchFamily="18" charset="0"/>
                  <a:ea typeface="+mn-ea"/>
                  <a:cs typeface="Arial" pitchFamily="34" charset="0"/>
                </a:rPr>
                <a:t>Explore your community’s data</a:t>
              </a:r>
            </a:p>
            <a:p>
              <a:pPr marL="0" marR="0" lvl="0" indent="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  <a:hlinkClick r:id="rId1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Opportunity Atlas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Lucida Sans" panose="020B0602030504020204" pitchFamily="34" charset="0"/>
                <a:ea typeface="+mn-ea"/>
                <a:cs typeface="Arial" pitchFamily="34" charset="0"/>
              </a:endParaRPr>
            </a:p>
            <a:p>
              <a:pPr marL="0" marR="0" lvl="0" indent="0" algn="l" defTabSz="913765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  <a:hlinkClick r:id="rId17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Social Capital Atlas</a:t>
              </a:r>
              <a:br>
                <a:rPr lang="en-US" sz="1600" dirty="0">
                  <a:latin typeface="Lucida Sans" panose="020B0602030504020204" pitchFamily="34" charset="0"/>
                  <a:cs typeface="Arial" pitchFamily="34" charset="0"/>
                </a:rPr>
              </a:br>
              <a:r>
                <a:rPr lang="en-US" sz="1600" b="1" dirty="0">
                  <a:latin typeface="Lucida Sans" panose="020B0602030504020204" pitchFamily="34" charset="0"/>
                  <a:cs typeface="Arial" pitchFamily="34" charset="0"/>
                  <a:hlinkClick r:id="rId18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Mobility Report Cards</a:t>
              </a:r>
              <a:br>
                <a:rPr lang="en-US" sz="1600" dirty="0">
                  <a:latin typeface="Lucida Sans" panose="020B0602030504020204" pitchFamily="34" charset="0"/>
                  <a:cs typeface="Arial" pitchFamily="34" charset="0"/>
                </a:rPr>
              </a:b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  <a:hlinkClick r:id="rId19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Economic Tracker</a:t>
              </a: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Lucida Sans" panose="020B0602030504020204" pitchFamily="34" charset="0"/>
                  <a:ea typeface="+mn-ea"/>
                  <a:cs typeface="Arial" pitchFamily="34" charset="0"/>
                </a:rPr>
                <a:t>	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9CD7DBA-B176-675A-9929-2A34184042C0}"/>
                </a:ext>
              </a:extLst>
            </p:cNvPr>
            <p:cNvGrpSpPr/>
            <p:nvPr/>
          </p:nvGrpSpPr>
          <p:grpSpPr>
            <a:xfrm>
              <a:off x="5138185" y="1841769"/>
              <a:ext cx="914400" cy="914400"/>
              <a:chOff x="5188449" y="1730642"/>
              <a:chExt cx="914400" cy="914400"/>
            </a:xfrm>
          </p:grpSpPr>
          <p:pic>
            <p:nvPicPr>
              <p:cNvPr id="23" name="Picture 22" descr="A close up of a sign&#10;&#10;Description generated with very high confidence">
                <a:extLst>
                  <a:ext uri="{FF2B5EF4-FFF2-40B4-BE49-F238E27FC236}">
                    <a16:creationId xmlns:a16="http://schemas.microsoft.com/office/drawing/2014/main" id="{F2A671F3-619E-EAAB-D92F-474EA6C4E2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82696"/>
              <a:stretch/>
            </p:blipFill>
            <p:spPr>
              <a:xfrm>
                <a:off x="5329192" y="1867802"/>
                <a:ext cx="632915" cy="640080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D696FD4-8D62-D4B7-3692-77956C440400}"/>
                  </a:ext>
                </a:extLst>
              </p:cNvPr>
              <p:cNvSpPr/>
              <p:nvPr/>
            </p:nvSpPr>
            <p:spPr>
              <a:xfrm>
                <a:off x="5188449" y="1730642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173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Lucida Sans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8960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</Words>
  <Application>Microsoft Office PowerPoint</Application>
  <PresentationFormat>Widescreen</PresentationFormat>
  <Paragraphs>30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 Display</vt:lpstr>
      <vt:lpstr>Calibri</vt:lpstr>
      <vt:lpstr>Aptos</vt:lpstr>
      <vt:lpstr>Lucida Sans</vt:lpstr>
      <vt:lpstr>Lucida Bright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Leff, Emily C</dc:creator>
  <cp:lastModifiedBy>Leff, Emily C</cp:lastModifiedBy>
  <cp:revision>1</cp:revision>
  <dcterms:created xsi:type="dcterms:W3CDTF">2025-05-29T10:58:19Z</dcterms:created>
  <dcterms:modified xsi:type="dcterms:W3CDTF">2025-05-29T16:10:14Z</dcterms:modified>
</cp:coreProperties>
</file>