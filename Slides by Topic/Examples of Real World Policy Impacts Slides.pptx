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9"/>
  </p:notesMasterIdLst>
  <p:sldIdLst>
    <p:sldId id="9486" r:id="rId2"/>
    <p:sldId id="9470" r:id="rId3"/>
    <p:sldId id="9421" r:id="rId4"/>
    <p:sldId id="9503" r:id="rId5"/>
    <p:sldId id="9288" r:id="rId6"/>
    <p:sldId id="9207" r:id="rId7"/>
    <p:sldId id="9209" r:id="rId8"/>
  </p:sldIdLst>
  <p:sldSz cx="12192000" cy="6858000"/>
  <p:notesSz cx="6858000" cy="9144000"/>
  <p:embeddedFontLst>
    <p:embeddedFont>
      <p:font typeface="Lucida Bright" panose="02040602050505020304" pitchFamily="18" charset="0"/>
      <p:regular r:id="rId10"/>
      <p:bold r:id="rId11"/>
      <p:italic r:id="rId12"/>
      <p:boldItalic r:id="rId13"/>
    </p:embeddedFont>
    <p:embeddedFont>
      <p:font typeface="Lucida Sans" panose="020B0602030504020204" pitchFamily="34" charset="0"/>
      <p:regular r:id="rId14"/>
      <p:bold r:id="rId15"/>
      <p:italic r:id="rId16"/>
      <p:boldItalic r:id="rId17"/>
    </p:embeddedFont>
    <p:embeddedFont>
      <p:font typeface="Poppins" panose="00000500000000000000" pitchFamily="2" charset="0"/>
      <p:regular r:id="rId18"/>
      <p:bold r:id="rId19"/>
      <p:italic r:id="rId20"/>
    </p:embeddedFont>
    <p:embeddedFont>
      <p:font typeface="Source Sans Pro" panose="020B0503030403020204" pitchFamily="34" charset="0"/>
      <p:regular r:id="rId21"/>
      <p:bold r:id="rId22"/>
      <p:italic r:id="rId23"/>
      <p:boldItalic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5C3A66-2960-41A3-A93B-3692E31F462E}" v="1" dt="2025-05-29T11:15:32.9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309" autoAdjust="0"/>
    <p:restoredTop sz="94660"/>
  </p:normalViewPr>
  <p:slideViewPr>
    <p:cSldViewPr snapToGrid="0">
      <p:cViewPr varScale="1">
        <p:scale>
          <a:sx n="56" d="100"/>
          <a:sy n="56" d="100"/>
        </p:scale>
        <p:origin x="720"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font" Target="fonts/font11.fntdata"/><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24" Type="http://schemas.openxmlformats.org/officeDocument/2006/relationships/font" Target="fonts/font15.fntdata"/><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font" Target="fonts/font14.fntdata"/><Relationship Id="rId28" Type="http://schemas.openxmlformats.org/officeDocument/2006/relationships/tableStyles" Target="tableStyles.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font" Target="fonts/font13.fntdata"/><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ff, Emily C" userId="bd8dcee0-2e5a-4398-9aec-89b2bd080e78" providerId="ADAL" clId="{E25C3A66-2960-41A3-A93B-3692E31F462E}"/>
    <pc:docChg chg="addSld modSld">
      <pc:chgData name="Leff, Emily C" userId="bd8dcee0-2e5a-4398-9aec-89b2bd080e78" providerId="ADAL" clId="{E25C3A66-2960-41A3-A93B-3692E31F462E}" dt="2025-05-29T11:15:32.970" v="0"/>
      <pc:docMkLst>
        <pc:docMk/>
      </pc:docMkLst>
      <pc:sldChg chg="add">
        <pc:chgData name="Leff, Emily C" userId="bd8dcee0-2e5a-4398-9aec-89b2bd080e78" providerId="ADAL" clId="{E25C3A66-2960-41A3-A93B-3692E31F462E}" dt="2025-05-29T11:15:32.970" v="0"/>
        <pc:sldMkLst>
          <pc:docMk/>
          <pc:sldMk cId="3801282201" sldId="94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6011D1-387F-43CE-A790-C842463507D4}" type="datetimeFigureOut">
              <a:rPr lang="en-US" smtClean="0"/>
              <a:t>5/29/2025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56375F-9763-4F57-8A8E-A586E7C9905B}" type="slidenum">
              <a:rPr lang="en-US" smtClean="0"/>
              <a:t>‹#›</a:t>
            </a:fld>
            <a:endParaRPr lang="en-US"/>
          </a:p>
        </p:txBody>
      </p:sp>
    </p:spTree>
    <p:extLst>
      <p:ext uri="{BB962C8B-B14F-4D97-AF65-F5344CB8AC3E}">
        <p14:creationId xmlns:p14="http://schemas.microsoft.com/office/powerpoint/2010/main" val="10187806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strike="noStrike" dirty="0"/>
          </a:p>
        </p:txBody>
      </p:sp>
      <p:sp>
        <p:nvSpPr>
          <p:cNvPr id="4" name="Slide Number Placeholder 3"/>
          <p:cNvSpPr>
            <a:spLocks noGrp="1"/>
          </p:cNvSpPr>
          <p:nvPr>
            <p:ph type="sldNum" sz="quarter" idx="10"/>
          </p:nvPr>
        </p:nvSpPr>
        <p:spPr/>
        <p:txBody>
          <a:bodyPr/>
          <a:lstStyle/>
          <a:p>
            <a:pPr marL="0" marR="0" lvl="0" indent="0" algn="r" defTabSz="965200" rtl="0" eaLnBrk="0" fontAlgn="base" latinLnBrk="0" hangingPunct="0">
              <a:lnSpc>
                <a:spcPct val="100000"/>
              </a:lnSpc>
              <a:spcBef>
                <a:spcPct val="0"/>
              </a:spcBef>
              <a:spcAft>
                <a:spcPct val="0"/>
              </a:spcAft>
              <a:buClrTx/>
              <a:buSzTx/>
              <a:buFontTx/>
              <a:buNone/>
              <a:tabLst/>
              <a:defRPr/>
            </a:pPr>
            <a:fld id="{00712CF3-E26A-4AC6-973D-B772AF83308B}" type="slidenum">
              <a:rPr kumimoji="0" lang="en-US" sz="1200" b="0" i="0" u="none" strike="noStrike" kern="1200" cap="none" spc="0" normalizeH="0" baseline="0" noProof="0" smtClean="0">
                <a:ln>
                  <a:noFill/>
                </a:ln>
                <a:solidFill>
                  <a:prstClr val="black"/>
                </a:solidFill>
                <a:effectLst/>
                <a:uLnTx/>
                <a:uFillTx/>
                <a:latin typeface="Lucida Sans" panose="020B0602030504020204" pitchFamily="34" charset="0"/>
                <a:ea typeface="ＭＳ Ｐゴシック" pitchFamily="34" charset="-128"/>
                <a:cs typeface="+mn-cs"/>
              </a:rPr>
              <a:pPr marL="0" marR="0" lvl="0" indent="0" algn="r" defTabSz="965200" rtl="0" eaLnBrk="0" fontAlgn="base" latinLnBrk="0" hangingPunct="0">
                <a:lnSpc>
                  <a:spcPct val="100000"/>
                </a:lnSpc>
                <a:spcBef>
                  <a:spcPct val="0"/>
                </a:spcBef>
                <a:spcAft>
                  <a:spcPct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Lucida Sans" panose="020B0602030504020204" pitchFamily="34" charset="0"/>
              <a:ea typeface="ＭＳ Ｐゴシック" pitchFamily="34" charset="-128"/>
              <a:cs typeface="+mn-cs"/>
            </a:endParaRPr>
          </a:p>
        </p:txBody>
      </p:sp>
    </p:spTree>
    <p:extLst>
      <p:ext uri="{BB962C8B-B14F-4D97-AF65-F5344CB8AC3E}">
        <p14:creationId xmlns:p14="http://schemas.microsoft.com/office/powerpoint/2010/main" val="34859041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strike="noStrike" dirty="0"/>
          </a:p>
        </p:txBody>
      </p:sp>
      <p:sp>
        <p:nvSpPr>
          <p:cNvPr id="4" name="Slide Number Placeholder 3"/>
          <p:cNvSpPr>
            <a:spLocks noGrp="1"/>
          </p:cNvSpPr>
          <p:nvPr>
            <p:ph type="sldNum" sz="quarter" idx="10"/>
          </p:nvPr>
        </p:nvSpPr>
        <p:spPr/>
        <p:txBody>
          <a:bodyPr/>
          <a:lstStyle/>
          <a:p>
            <a:pPr marL="0" marR="0" lvl="0" indent="0" algn="r" defTabSz="965200" rtl="0" eaLnBrk="0" fontAlgn="base" latinLnBrk="0" hangingPunct="0">
              <a:lnSpc>
                <a:spcPct val="100000"/>
              </a:lnSpc>
              <a:spcBef>
                <a:spcPct val="0"/>
              </a:spcBef>
              <a:spcAft>
                <a:spcPct val="0"/>
              </a:spcAft>
              <a:buClrTx/>
              <a:buSzTx/>
              <a:buFontTx/>
              <a:buNone/>
              <a:tabLst/>
              <a:defRPr/>
            </a:pPr>
            <a:fld id="{00712CF3-E26A-4AC6-973D-B772AF83308B}" type="slidenum">
              <a:rPr kumimoji="0" lang="en-US" sz="1200" b="0" i="0" u="none" strike="noStrike" kern="1200" cap="none" spc="0" normalizeH="0" baseline="0" noProof="0" smtClean="0">
                <a:ln>
                  <a:noFill/>
                </a:ln>
                <a:solidFill>
                  <a:prstClr val="black"/>
                </a:solidFill>
                <a:effectLst/>
                <a:uLnTx/>
                <a:uFillTx/>
                <a:latin typeface="Lucida Sans" panose="020B0602030504020204" pitchFamily="34" charset="0"/>
                <a:ea typeface="ＭＳ Ｐゴシック" pitchFamily="34" charset="-128"/>
                <a:cs typeface="+mn-cs"/>
              </a:rPr>
              <a:pPr marL="0" marR="0" lvl="0" indent="0" algn="r" defTabSz="965200" rtl="0" eaLnBrk="0" fontAlgn="base" latinLnBrk="0" hangingPunct="0">
                <a:lnSpc>
                  <a:spcPct val="100000"/>
                </a:lnSpc>
                <a:spcBef>
                  <a:spcPct val="0"/>
                </a:spcBef>
                <a:spcAft>
                  <a:spcPct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Lucida Sans" panose="020B0602030504020204" pitchFamily="34" charset="0"/>
              <a:ea typeface="ＭＳ Ｐゴシック" pitchFamily="34" charset="-128"/>
              <a:cs typeface="+mn-cs"/>
            </a:endParaRPr>
          </a:p>
        </p:txBody>
      </p:sp>
    </p:spTree>
    <p:extLst>
      <p:ext uri="{BB962C8B-B14F-4D97-AF65-F5344CB8AC3E}">
        <p14:creationId xmlns:p14="http://schemas.microsoft.com/office/powerpoint/2010/main" val="9327554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64262-1493-234D-33DD-6F26D19AF8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5ED257-9FFE-70AB-7C68-3227CD1458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1307E1-3739-284C-7823-6A1BA4080B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CDBBA8-46AA-B46F-AC83-71F5A91FD20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5F28BB-527A-43F5-BBC4-02A2E50EEEA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096695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71C4E-B4D7-AD12-C5CC-A430936C96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BA2F9E-F8C6-B2FF-1973-074FC5BBA59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5A6E0B9-506E-ADB6-CA88-509C828F95CF}"/>
              </a:ext>
            </a:extLst>
          </p:cNvPr>
          <p:cNvSpPr>
            <a:spLocks noGrp="1"/>
          </p:cNvSpPr>
          <p:nvPr>
            <p:ph type="body" idx="1"/>
          </p:nvPr>
        </p:nvSpPr>
        <p:spPr/>
        <p:txBody>
          <a:bodyPr/>
          <a:lstStyle/>
          <a:p>
            <a:endParaRPr lang="en-US" strike="noStrike" dirty="0"/>
          </a:p>
          <a:p>
            <a:endParaRPr lang="en-US" strike="noStrike" dirty="0"/>
          </a:p>
        </p:txBody>
      </p:sp>
      <p:sp>
        <p:nvSpPr>
          <p:cNvPr id="4" name="Slide Number Placeholder 3">
            <a:extLst>
              <a:ext uri="{FF2B5EF4-FFF2-40B4-BE49-F238E27FC236}">
                <a16:creationId xmlns:a16="http://schemas.microsoft.com/office/drawing/2014/main" id="{3C0E64B4-DD4D-5FDA-1218-81143C4044A2}"/>
              </a:ext>
            </a:extLst>
          </p:cNvPr>
          <p:cNvSpPr>
            <a:spLocks noGrp="1"/>
          </p:cNvSpPr>
          <p:nvPr>
            <p:ph type="sldNum" sz="quarter" idx="10"/>
          </p:nvPr>
        </p:nvSpPr>
        <p:spPr/>
        <p:txBody>
          <a:bodyPr/>
          <a:lstStyle/>
          <a:p>
            <a:pPr marL="0" marR="0" lvl="0" indent="0" algn="r" defTabSz="965200" rtl="0" eaLnBrk="0" fontAlgn="base" latinLnBrk="0" hangingPunct="0">
              <a:lnSpc>
                <a:spcPct val="100000"/>
              </a:lnSpc>
              <a:spcBef>
                <a:spcPct val="0"/>
              </a:spcBef>
              <a:spcAft>
                <a:spcPct val="0"/>
              </a:spcAft>
              <a:buClrTx/>
              <a:buSzTx/>
              <a:buFontTx/>
              <a:buNone/>
              <a:tabLst/>
              <a:defRPr/>
            </a:pPr>
            <a:fld id="{00712CF3-E26A-4AC6-973D-B772AF83308B}" type="slidenum">
              <a:rPr kumimoji="0" lang="en-US" sz="1200" b="0" i="0" u="none" strike="noStrike" kern="1200" cap="none" spc="0" normalizeH="0" baseline="0" noProof="0" smtClean="0">
                <a:ln>
                  <a:noFill/>
                </a:ln>
                <a:solidFill>
                  <a:prstClr val="black"/>
                </a:solidFill>
                <a:effectLst/>
                <a:uLnTx/>
                <a:uFillTx/>
                <a:latin typeface="Lucida Sans" panose="020B0602030504020204" pitchFamily="34" charset="0"/>
                <a:ea typeface="ＭＳ Ｐゴシック" pitchFamily="34" charset="-128"/>
                <a:cs typeface="+mn-cs"/>
              </a:rPr>
              <a:pPr marL="0" marR="0" lvl="0" indent="0" algn="r" defTabSz="965200" rtl="0" eaLnBrk="0" fontAlgn="base" latinLnBrk="0" hangingPunct="0">
                <a:lnSpc>
                  <a:spcPct val="100000"/>
                </a:lnSpc>
                <a:spcBef>
                  <a:spcPct val="0"/>
                </a:spcBef>
                <a:spcAft>
                  <a:spcPct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Lucida Sans" panose="020B0602030504020204" pitchFamily="34" charset="0"/>
              <a:ea typeface="ＭＳ Ｐゴシック" pitchFamily="34" charset="-128"/>
              <a:cs typeface="+mn-cs"/>
            </a:endParaRPr>
          </a:p>
        </p:txBody>
      </p:sp>
    </p:spTree>
    <p:extLst>
      <p:ext uri="{BB962C8B-B14F-4D97-AF65-F5344CB8AC3E}">
        <p14:creationId xmlns:p14="http://schemas.microsoft.com/office/powerpoint/2010/main" val="39195116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5F28BB-527A-43F5-BBC4-02A2E50EEEA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701393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173" rtl="0" eaLnBrk="1" fontAlgn="auto" latinLnBrk="0" hangingPunct="1">
              <a:lnSpc>
                <a:spcPct val="100000"/>
              </a:lnSpc>
              <a:spcBef>
                <a:spcPts val="0"/>
              </a:spcBef>
              <a:spcAft>
                <a:spcPts val="0"/>
              </a:spcAft>
              <a:buClrTx/>
              <a:buSzTx/>
              <a:buFontTx/>
              <a:buNone/>
              <a:tabLst/>
              <a:defRPr/>
            </a:pPr>
            <a:endParaRPr lang="en-US" strike="noStrike" dirty="0"/>
          </a:p>
        </p:txBody>
      </p:sp>
      <p:sp>
        <p:nvSpPr>
          <p:cNvPr id="4" name="Slide Number Placeholder 3"/>
          <p:cNvSpPr>
            <a:spLocks noGrp="1"/>
          </p:cNvSpPr>
          <p:nvPr>
            <p:ph type="sldNum" sz="quarter" idx="10"/>
          </p:nvPr>
        </p:nvSpPr>
        <p:spPr/>
        <p:txBody>
          <a:bodyPr/>
          <a:lstStyle/>
          <a:p>
            <a:pPr marL="0" marR="0" lvl="0" indent="0" algn="r" defTabSz="965200" rtl="0" eaLnBrk="0" fontAlgn="base" latinLnBrk="0" hangingPunct="0">
              <a:lnSpc>
                <a:spcPct val="100000"/>
              </a:lnSpc>
              <a:spcBef>
                <a:spcPct val="0"/>
              </a:spcBef>
              <a:spcAft>
                <a:spcPct val="0"/>
              </a:spcAft>
              <a:buClrTx/>
              <a:buSzTx/>
              <a:buFontTx/>
              <a:buNone/>
              <a:tabLst/>
              <a:defRPr/>
            </a:pPr>
            <a:fld id="{00712CF3-E26A-4AC6-973D-B772AF83308B}" type="slidenum">
              <a:rPr kumimoji="0" lang="en-US" sz="1200" b="0" i="0" u="none" strike="noStrike" kern="1200" cap="none" spc="0" normalizeH="0" baseline="0" noProof="0" smtClean="0">
                <a:ln>
                  <a:noFill/>
                </a:ln>
                <a:solidFill>
                  <a:prstClr val="black"/>
                </a:solidFill>
                <a:effectLst/>
                <a:uLnTx/>
                <a:uFillTx/>
                <a:latin typeface="Lucida Sans" panose="020B0602030504020204" pitchFamily="34" charset="0"/>
                <a:ea typeface="ＭＳ Ｐゴシック" pitchFamily="34" charset="-128"/>
                <a:cs typeface="+mn-cs"/>
              </a:rPr>
              <a:pPr marL="0" marR="0" lvl="0" indent="0" algn="r" defTabSz="965200" rtl="0" eaLnBrk="0" fontAlgn="base" latinLnBrk="0" hangingPunct="0">
                <a:lnSpc>
                  <a:spcPct val="100000"/>
                </a:lnSpc>
                <a:spcBef>
                  <a:spcPct val="0"/>
                </a:spcBef>
                <a:spcAft>
                  <a:spcPct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Lucida Sans" panose="020B0602030504020204" pitchFamily="34" charset="0"/>
              <a:ea typeface="ＭＳ Ｐゴシック" pitchFamily="34" charset="-128"/>
              <a:cs typeface="+mn-cs"/>
            </a:endParaRPr>
          </a:p>
        </p:txBody>
      </p:sp>
    </p:spTree>
    <p:extLst>
      <p:ext uri="{BB962C8B-B14F-4D97-AF65-F5344CB8AC3E}">
        <p14:creationId xmlns:p14="http://schemas.microsoft.com/office/powerpoint/2010/main" val="9880469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173" rtl="0" eaLnBrk="1" fontAlgn="auto" latinLnBrk="0" hangingPunct="1">
              <a:lnSpc>
                <a:spcPct val="100000"/>
              </a:lnSpc>
              <a:spcBef>
                <a:spcPts val="0"/>
              </a:spcBef>
              <a:spcAft>
                <a:spcPts val="0"/>
              </a:spcAft>
              <a:buClrTx/>
              <a:buSzTx/>
              <a:buFontTx/>
              <a:buNone/>
              <a:tabLst/>
              <a:defRPr/>
            </a:pPr>
            <a:endParaRPr lang="en-US" strike="noStrike" dirty="0"/>
          </a:p>
        </p:txBody>
      </p:sp>
      <p:sp>
        <p:nvSpPr>
          <p:cNvPr id="4" name="Slide Number Placeholder 3"/>
          <p:cNvSpPr>
            <a:spLocks noGrp="1"/>
          </p:cNvSpPr>
          <p:nvPr>
            <p:ph type="sldNum" sz="quarter" idx="10"/>
          </p:nvPr>
        </p:nvSpPr>
        <p:spPr/>
        <p:txBody>
          <a:bodyPr/>
          <a:lstStyle/>
          <a:p>
            <a:pPr marL="0" marR="0" lvl="0" indent="0" algn="r" defTabSz="965200" rtl="0" eaLnBrk="0" fontAlgn="base" latinLnBrk="0" hangingPunct="0">
              <a:lnSpc>
                <a:spcPct val="100000"/>
              </a:lnSpc>
              <a:spcBef>
                <a:spcPct val="0"/>
              </a:spcBef>
              <a:spcAft>
                <a:spcPct val="0"/>
              </a:spcAft>
              <a:buClrTx/>
              <a:buSzTx/>
              <a:buFontTx/>
              <a:buNone/>
              <a:tabLst/>
              <a:defRPr/>
            </a:pPr>
            <a:fld id="{00712CF3-E26A-4AC6-973D-B772AF83308B}" type="slidenum">
              <a:rPr kumimoji="0" lang="en-US" sz="1200" b="0" i="0" u="none" strike="noStrike" kern="1200" cap="none" spc="0" normalizeH="0" baseline="0" noProof="0" smtClean="0">
                <a:ln>
                  <a:noFill/>
                </a:ln>
                <a:solidFill>
                  <a:prstClr val="black"/>
                </a:solidFill>
                <a:effectLst/>
                <a:uLnTx/>
                <a:uFillTx/>
                <a:latin typeface="Lucida Sans" panose="020B0602030504020204" pitchFamily="34" charset="0"/>
                <a:ea typeface="ＭＳ Ｐゴシック" pitchFamily="34" charset="-128"/>
                <a:cs typeface="+mn-cs"/>
              </a:rPr>
              <a:pPr marL="0" marR="0" lvl="0" indent="0" algn="r" defTabSz="965200" rtl="0" eaLnBrk="0" fontAlgn="base" latinLnBrk="0" hangingPunct="0">
                <a:lnSpc>
                  <a:spcPct val="100000"/>
                </a:lnSpc>
                <a:spcBef>
                  <a:spcPct val="0"/>
                </a:spcBef>
                <a:spcAft>
                  <a:spcPct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Lucida Sans" panose="020B0602030504020204" pitchFamily="34" charset="0"/>
              <a:ea typeface="ＭＳ Ｐゴシック" pitchFamily="34" charset="-128"/>
              <a:cs typeface="+mn-cs"/>
            </a:endParaRPr>
          </a:p>
        </p:txBody>
      </p:sp>
    </p:spTree>
    <p:extLst>
      <p:ext uri="{BB962C8B-B14F-4D97-AF65-F5344CB8AC3E}">
        <p14:creationId xmlns:p14="http://schemas.microsoft.com/office/powerpoint/2010/main" val="23525073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89BD6-4B43-EC1B-DE6F-966F5E3FB2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CF6E3AC-8048-F3CE-5CB3-2215297F89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043E7DD-DAB3-F209-6AB1-BF77C11D18B8}"/>
              </a:ext>
            </a:extLst>
          </p:cNvPr>
          <p:cNvSpPr>
            <a:spLocks noGrp="1"/>
          </p:cNvSpPr>
          <p:nvPr>
            <p:ph type="dt" sz="half" idx="10"/>
          </p:nvPr>
        </p:nvSpPr>
        <p:spPr/>
        <p:txBody>
          <a:bodyPr/>
          <a:lstStyle/>
          <a:p>
            <a:fld id="{0DB4C106-FEBA-4657-9A6A-175A521277B3}" type="datetimeFigureOut">
              <a:rPr lang="en-US" smtClean="0"/>
              <a:t>5/29/2025</a:t>
            </a:fld>
            <a:endParaRPr lang="en-US"/>
          </a:p>
        </p:txBody>
      </p:sp>
      <p:sp>
        <p:nvSpPr>
          <p:cNvPr id="5" name="Footer Placeholder 4">
            <a:extLst>
              <a:ext uri="{FF2B5EF4-FFF2-40B4-BE49-F238E27FC236}">
                <a16:creationId xmlns:a16="http://schemas.microsoft.com/office/drawing/2014/main" id="{EB776412-E821-D742-AB4B-0A68E2B6B3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1FF12C-E5E1-2A93-73BA-ACC1325F6BB9}"/>
              </a:ext>
            </a:extLst>
          </p:cNvPr>
          <p:cNvSpPr>
            <a:spLocks noGrp="1"/>
          </p:cNvSpPr>
          <p:nvPr>
            <p:ph type="sldNum" sz="quarter" idx="12"/>
          </p:nvPr>
        </p:nvSpPr>
        <p:spPr/>
        <p:txBody>
          <a:bodyPr/>
          <a:lstStyle/>
          <a:p>
            <a:fld id="{79CB0F35-F868-473E-A346-62C97CF54E04}" type="slidenum">
              <a:rPr lang="en-US" smtClean="0"/>
              <a:t>‹#›</a:t>
            </a:fld>
            <a:endParaRPr lang="en-US"/>
          </a:p>
        </p:txBody>
      </p:sp>
    </p:spTree>
    <p:extLst>
      <p:ext uri="{BB962C8B-B14F-4D97-AF65-F5344CB8AC3E}">
        <p14:creationId xmlns:p14="http://schemas.microsoft.com/office/powerpoint/2010/main" val="3682199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4B789-5DE2-B21D-E96F-B61F6D064BC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1E548B-A9CC-E603-7AFE-327F5B0F7B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1FFEBE-551B-1CE6-FFBB-36F68FE707CC}"/>
              </a:ext>
            </a:extLst>
          </p:cNvPr>
          <p:cNvSpPr>
            <a:spLocks noGrp="1"/>
          </p:cNvSpPr>
          <p:nvPr>
            <p:ph type="dt" sz="half" idx="10"/>
          </p:nvPr>
        </p:nvSpPr>
        <p:spPr/>
        <p:txBody>
          <a:bodyPr/>
          <a:lstStyle/>
          <a:p>
            <a:fld id="{0DB4C106-FEBA-4657-9A6A-175A521277B3}" type="datetimeFigureOut">
              <a:rPr lang="en-US" smtClean="0"/>
              <a:t>5/29/2025</a:t>
            </a:fld>
            <a:endParaRPr lang="en-US"/>
          </a:p>
        </p:txBody>
      </p:sp>
      <p:sp>
        <p:nvSpPr>
          <p:cNvPr id="5" name="Footer Placeholder 4">
            <a:extLst>
              <a:ext uri="{FF2B5EF4-FFF2-40B4-BE49-F238E27FC236}">
                <a16:creationId xmlns:a16="http://schemas.microsoft.com/office/drawing/2014/main" id="{7616749F-A22D-8860-3E4A-245B201251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E5BE14-E639-BF10-4C49-2417BDA077EE}"/>
              </a:ext>
            </a:extLst>
          </p:cNvPr>
          <p:cNvSpPr>
            <a:spLocks noGrp="1"/>
          </p:cNvSpPr>
          <p:nvPr>
            <p:ph type="sldNum" sz="quarter" idx="12"/>
          </p:nvPr>
        </p:nvSpPr>
        <p:spPr/>
        <p:txBody>
          <a:bodyPr/>
          <a:lstStyle/>
          <a:p>
            <a:fld id="{79CB0F35-F868-473E-A346-62C97CF54E04}" type="slidenum">
              <a:rPr lang="en-US" smtClean="0"/>
              <a:t>‹#›</a:t>
            </a:fld>
            <a:endParaRPr lang="en-US"/>
          </a:p>
        </p:txBody>
      </p:sp>
    </p:spTree>
    <p:extLst>
      <p:ext uri="{BB962C8B-B14F-4D97-AF65-F5344CB8AC3E}">
        <p14:creationId xmlns:p14="http://schemas.microsoft.com/office/powerpoint/2010/main" val="3412360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C1842-4F5C-BF0A-526C-0A8BC40AF48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A57D8AD-A3BB-C478-FF12-1EF8868750E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DB2A44-A399-1FFD-44BE-B5FE64F32915}"/>
              </a:ext>
            </a:extLst>
          </p:cNvPr>
          <p:cNvSpPr>
            <a:spLocks noGrp="1"/>
          </p:cNvSpPr>
          <p:nvPr>
            <p:ph type="dt" sz="half" idx="10"/>
          </p:nvPr>
        </p:nvSpPr>
        <p:spPr/>
        <p:txBody>
          <a:bodyPr/>
          <a:lstStyle/>
          <a:p>
            <a:fld id="{0DB4C106-FEBA-4657-9A6A-175A521277B3}" type="datetimeFigureOut">
              <a:rPr lang="en-US" smtClean="0"/>
              <a:t>5/29/2025</a:t>
            </a:fld>
            <a:endParaRPr lang="en-US"/>
          </a:p>
        </p:txBody>
      </p:sp>
      <p:sp>
        <p:nvSpPr>
          <p:cNvPr id="5" name="Footer Placeholder 4">
            <a:extLst>
              <a:ext uri="{FF2B5EF4-FFF2-40B4-BE49-F238E27FC236}">
                <a16:creationId xmlns:a16="http://schemas.microsoft.com/office/drawing/2014/main" id="{66D2AD9D-5AD1-0377-6B40-DB65B09702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341693-8CFF-02D0-877D-7F94A5F819B6}"/>
              </a:ext>
            </a:extLst>
          </p:cNvPr>
          <p:cNvSpPr>
            <a:spLocks noGrp="1"/>
          </p:cNvSpPr>
          <p:nvPr>
            <p:ph type="sldNum" sz="quarter" idx="12"/>
          </p:nvPr>
        </p:nvSpPr>
        <p:spPr/>
        <p:txBody>
          <a:bodyPr/>
          <a:lstStyle/>
          <a:p>
            <a:fld id="{79CB0F35-F868-473E-A346-62C97CF54E04}" type="slidenum">
              <a:rPr lang="en-US" smtClean="0"/>
              <a:t>‹#›</a:t>
            </a:fld>
            <a:endParaRPr lang="en-US"/>
          </a:p>
        </p:txBody>
      </p:sp>
    </p:spTree>
    <p:extLst>
      <p:ext uri="{BB962C8B-B14F-4D97-AF65-F5344CB8AC3E}">
        <p14:creationId xmlns:p14="http://schemas.microsoft.com/office/powerpoint/2010/main" val="2563614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C0A4F-391B-9431-28AA-BCE383E2D6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99C29C-0D46-BC4C-655C-5461E9CE09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6E34121-8DF0-0DD5-AA8A-3F6DBC53D9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B237105-5BFF-859E-7D50-34B3F8A6CFA2}"/>
              </a:ext>
            </a:extLst>
          </p:cNvPr>
          <p:cNvSpPr>
            <a:spLocks noGrp="1"/>
          </p:cNvSpPr>
          <p:nvPr>
            <p:ph type="dt" sz="half" idx="10"/>
          </p:nvPr>
        </p:nvSpPr>
        <p:spPr/>
        <p:txBody>
          <a:bodyPr/>
          <a:lstStyle/>
          <a:p>
            <a:fld id="{0DB4C106-FEBA-4657-9A6A-175A521277B3}" type="datetimeFigureOut">
              <a:rPr lang="en-US" smtClean="0"/>
              <a:t>5/29/2025</a:t>
            </a:fld>
            <a:endParaRPr lang="en-US"/>
          </a:p>
        </p:txBody>
      </p:sp>
      <p:sp>
        <p:nvSpPr>
          <p:cNvPr id="6" name="Footer Placeholder 5">
            <a:extLst>
              <a:ext uri="{FF2B5EF4-FFF2-40B4-BE49-F238E27FC236}">
                <a16:creationId xmlns:a16="http://schemas.microsoft.com/office/drawing/2014/main" id="{D1791467-B797-752C-F7E8-2E2B54379A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3F7E22-74CA-D5C4-3F5C-A6D811D3489E}"/>
              </a:ext>
            </a:extLst>
          </p:cNvPr>
          <p:cNvSpPr>
            <a:spLocks noGrp="1"/>
          </p:cNvSpPr>
          <p:nvPr>
            <p:ph type="sldNum" sz="quarter" idx="12"/>
          </p:nvPr>
        </p:nvSpPr>
        <p:spPr/>
        <p:txBody>
          <a:bodyPr/>
          <a:lstStyle/>
          <a:p>
            <a:fld id="{79CB0F35-F868-473E-A346-62C97CF54E04}" type="slidenum">
              <a:rPr lang="en-US" smtClean="0"/>
              <a:t>‹#›</a:t>
            </a:fld>
            <a:endParaRPr lang="en-US"/>
          </a:p>
        </p:txBody>
      </p:sp>
    </p:spTree>
    <p:extLst>
      <p:ext uri="{BB962C8B-B14F-4D97-AF65-F5344CB8AC3E}">
        <p14:creationId xmlns:p14="http://schemas.microsoft.com/office/powerpoint/2010/main" val="2069996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9696E-E3B9-CB2D-31B7-11C39E049D5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41A21C3-20BD-9F17-9079-4F916C1EC3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B43C33-9855-DF61-A1C6-075497EFC05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5CFD878-9F16-C5DC-37FB-4B79F81BCF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722163-2342-1DC3-1663-A3BDB53FCC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D4883E-C285-E5E7-FB3C-827D04F53FAD}"/>
              </a:ext>
            </a:extLst>
          </p:cNvPr>
          <p:cNvSpPr>
            <a:spLocks noGrp="1"/>
          </p:cNvSpPr>
          <p:nvPr>
            <p:ph type="dt" sz="half" idx="10"/>
          </p:nvPr>
        </p:nvSpPr>
        <p:spPr/>
        <p:txBody>
          <a:bodyPr/>
          <a:lstStyle/>
          <a:p>
            <a:fld id="{0DB4C106-FEBA-4657-9A6A-175A521277B3}" type="datetimeFigureOut">
              <a:rPr lang="en-US" smtClean="0"/>
              <a:t>5/29/2025</a:t>
            </a:fld>
            <a:endParaRPr lang="en-US"/>
          </a:p>
        </p:txBody>
      </p:sp>
      <p:sp>
        <p:nvSpPr>
          <p:cNvPr id="8" name="Footer Placeholder 7">
            <a:extLst>
              <a:ext uri="{FF2B5EF4-FFF2-40B4-BE49-F238E27FC236}">
                <a16:creationId xmlns:a16="http://schemas.microsoft.com/office/drawing/2014/main" id="{F212B21E-592F-3011-2FC9-830F308AE32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72C12F0-B27B-9614-D7EE-23B9C444C6E6}"/>
              </a:ext>
            </a:extLst>
          </p:cNvPr>
          <p:cNvSpPr>
            <a:spLocks noGrp="1"/>
          </p:cNvSpPr>
          <p:nvPr>
            <p:ph type="sldNum" sz="quarter" idx="12"/>
          </p:nvPr>
        </p:nvSpPr>
        <p:spPr/>
        <p:txBody>
          <a:bodyPr/>
          <a:lstStyle/>
          <a:p>
            <a:fld id="{79CB0F35-F868-473E-A346-62C97CF54E04}" type="slidenum">
              <a:rPr lang="en-US" smtClean="0"/>
              <a:t>‹#›</a:t>
            </a:fld>
            <a:endParaRPr lang="en-US"/>
          </a:p>
        </p:txBody>
      </p:sp>
    </p:spTree>
    <p:extLst>
      <p:ext uri="{BB962C8B-B14F-4D97-AF65-F5344CB8AC3E}">
        <p14:creationId xmlns:p14="http://schemas.microsoft.com/office/powerpoint/2010/main" val="41491907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12B8D-70D6-910B-2280-33FFDE2380B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16803DB-EF74-E702-2A3E-FDA44D2928C4}"/>
              </a:ext>
            </a:extLst>
          </p:cNvPr>
          <p:cNvSpPr>
            <a:spLocks noGrp="1"/>
          </p:cNvSpPr>
          <p:nvPr>
            <p:ph type="dt" sz="half" idx="10"/>
          </p:nvPr>
        </p:nvSpPr>
        <p:spPr/>
        <p:txBody>
          <a:bodyPr/>
          <a:lstStyle/>
          <a:p>
            <a:fld id="{0DB4C106-FEBA-4657-9A6A-175A521277B3}" type="datetimeFigureOut">
              <a:rPr lang="en-US" smtClean="0"/>
              <a:t>5/29/2025</a:t>
            </a:fld>
            <a:endParaRPr lang="en-US"/>
          </a:p>
        </p:txBody>
      </p:sp>
      <p:sp>
        <p:nvSpPr>
          <p:cNvPr id="4" name="Footer Placeholder 3">
            <a:extLst>
              <a:ext uri="{FF2B5EF4-FFF2-40B4-BE49-F238E27FC236}">
                <a16:creationId xmlns:a16="http://schemas.microsoft.com/office/drawing/2014/main" id="{5328B739-BDF1-7555-C701-51CF55FF90A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303A0C-54D2-524F-3147-1BD973C1EFEB}"/>
              </a:ext>
            </a:extLst>
          </p:cNvPr>
          <p:cNvSpPr>
            <a:spLocks noGrp="1"/>
          </p:cNvSpPr>
          <p:nvPr>
            <p:ph type="sldNum" sz="quarter" idx="12"/>
          </p:nvPr>
        </p:nvSpPr>
        <p:spPr/>
        <p:txBody>
          <a:bodyPr/>
          <a:lstStyle/>
          <a:p>
            <a:fld id="{79CB0F35-F868-473E-A346-62C97CF54E04}" type="slidenum">
              <a:rPr lang="en-US" smtClean="0"/>
              <a:t>‹#›</a:t>
            </a:fld>
            <a:endParaRPr lang="en-US"/>
          </a:p>
        </p:txBody>
      </p:sp>
    </p:spTree>
    <p:extLst>
      <p:ext uri="{BB962C8B-B14F-4D97-AF65-F5344CB8AC3E}">
        <p14:creationId xmlns:p14="http://schemas.microsoft.com/office/powerpoint/2010/main" val="9823060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E4C101-5A45-76D8-5500-01E74822B019}"/>
              </a:ext>
            </a:extLst>
          </p:cNvPr>
          <p:cNvSpPr>
            <a:spLocks noGrp="1"/>
          </p:cNvSpPr>
          <p:nvPr>
            <p:ph type="dt" sz="half" idx="10"/>
          </p:nvPr>
        </p:nvSpPr>
        <p:spPr/>
        <p:txBody>
          <a:bodyPr/>
          <a:lstStyle/>
          <a:p>
            <a:fld id="{0DB4C106-FEBA-4657-9A6A-175A521277B3}" type="datetimeFigureOut">
              <a:rPr lang="en-US" smtClean="0"/>
              <a:t>5/29/2025</a:t>
            </a:fld>
            <a:endParaRPr lang="en-US"/>
          </a:p>
        </p:txBody>
      </p:sp>
      <p:sp>
        <p:nvSpPr>
          <p:cNvPr id="3" name="Footer Placeholder 2">
            <a:extLst>
              <a:ext uri="{FF2B5EF4-FFF2-40B4-BE49-F238E27FC236}">
                <a16:creationId xmlns:a16="http://schemas.microsoft.com/office/drawing/2014/main" id="{941E125C-A419-BBE1-E19B-B65CEDB865F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E9F2499-F662-A62B-E87D-D908CE516319}"/>
              </a:ext>
            </a:extLst>
          </p:cNvPr>
          <p:cNvSpPr>
            <a:spLocks noGrp="1"/>
          </p:cNvSpPr>
          <p:nvPr>
            <p:ph type="sldNum" sz="quarter" idx="12"/>
          </p:nvPr>
        </p:nvSpPr>
        <p:spPr/>
        <p:txBody>
          <a:bodyPr/>
          <a:lstStyle/>
          <a:p>
            <a:fld id="{79CB0F35-F868-473E-A346-62C97CF54E04}" type="slidenum">
              <a:rPr lang="en-US" smtClean="0"/>
              <a:t>‹#›</a:t>
            </a:fld>
            <a:endParaRPr lang="en-US"/>
          </a:p>
        </p:txBody>
      </p:sp>
    </p:spTree>
    <p:extLst>
      <p:ext uri="{BB962C8B-B14F-4D97-AF65-F5344CB8AC3E}">
        <p14:creationId xmlns:p14="http://schemas.microsoft.com/office/powerpoint/2010/main" val="2191143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3B44A-F4AF-D38E-FE1A-B3DE19AAC0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B04BCA5-67D8-651B-1DEF-27916E170A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DE98D45-8CB0-2D75-42A0-1B54CC577C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CE79C7-C6AE-DA29-5E5F-FAD81E166467}"/>
              </a:ext>
            </a:extLst>
          </p:cNvPr>
          <p:cNvSpPr>
            <a:spLocks noGrp="1"/>
          </p:cNvSpPr>
          <p:nvPr>
            <p:ph type="dt" sz="half" idx="10"/>
          </p:nvPr>
        </p:nvSpPr>
        <p:spPr/>
        <p:txBody>
          <a:bodyPr/>
          <a:lstStyle/>
          <a:p>
            <a:fld id="{0DB4C106-FEBA-4657-9A6A-175A521277B3}" type="datetimeFigureOut">
              <a:rPr lang="en-US" smtClean="0"/>
              <a:t>5/29/2025</a:t>
            </a:fld>
            <a:endParaRPr lang="en-US"/>
          </a:p>
        </p:txBody>
      </p:sp>
      <p:sp>
        <p:nvSpPr>
          <p:cNvPr id="6" name="Footer Placeholder 5">
            <a:extLst>
              <a:ext uri="{FF2B5EF4-FFF2-40B4-BE49-F238E27FC236}">
                <a16:creationId xmlns:a16="http://schemas.microsoft.com/office/drawing/2014/main" id="{E1AB1B8B-9B40-94F0-59F7-18CAA5A1A0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BF1489-F6E7-503E-E90E-B4741F5E7A47}"/>
              </a:ext>
            </a:extLst>
          </p:cNvPr>
          <p:cNvSpPr>
            <a:spLocks noGrp="1"/>
          </p:cNvSpPr>
          <p:nvPr>
            <p:ph type="sldNum" sz="quarter" idx="12"/>
          </p:nvPr>
        </p:nvSpPr>
        <p:spPr/>
        <p:txBody>
          <a:bodyPr/>
          <a:lstStyle/>
          <a:p>
            <a:fld id="{79CB0F35-F868-473E-A346-62C97CF54E04}" type="slidenum">
              <a:rPr lang="en-US" smtClean="0"/>
              <a:t>‹#›</a:t>
            </a:fld>
            <a:endParaRPr lang="en-US"/>
          </a:p>
        </p:txBody>
      </p:sp>
    </p:spTree>
    <p:extLst>
      <p:ext uri="{BB962C8B-B14F-4D97-AF65-F5344CB8AC3E}">
        <p14:creationId xmlns:p14="http://schemas.microsoft.com/office/powerpoint/2010/main" val="492174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58C54-5AE0-61BD-8B0F-4BF348D2CC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195687C-CE2E-0D84-E972-8BF492538A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AA35177-979F-7605-9F91-B51156A62E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E76CB6-E054-3659-B634-1349A5A85F59}"/>
              </a:ext>
            </a:extLst>
          </p:cNvPr>
          <p:cNvSpPr>
            <a:spLocks noGrp="1"/>
          </p:cNvSpPr>
          <p:nvPr>
            <p:ph type="dt" sz="half" idx="10"/>
          </p:nvPr>
        </p:nvSpPr>
        <p:spPr/>
        <p:txBody>
          <a:bodyPr/>
          <a:lstStyle/>
          <a:p>
            <a:fld id="{0DB4C106-FEBA-4657-9A6A-175A521277B3}" type="datetimeFigureOut">
              <a:rPr lang="en-US" smtClean="0"/>
              <a:t>5/29/2025</a:t>
            </a:fld>
            <a:endParaRPr lang="en-US"/>
          </a:p>
        </p:txBody>
      </p:sp>
      <p:sp>
        <p:nvSpPr>
          <p:cNvPr id="6" name="Footer Placeholder 5">
            <a:extLst>
              <a:ext uri="{FF2B5EF4-FFF2-40B4-BE49-F238E27FC236}">
                <a16:creationId xmlns:a16="http://schemas.microsoft.com/office/drawing/2014/main" id="{112FB357-B492-53B8-8D04-CD07323188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3EC56B-A410-9B97-F097-F1C878A8AA30}"/>
              </a:ext>
            </a:extLst>
          </p:cNvPr>
          <p:cNvSpPr>
            <a:spLocks noGrp="1"/>
          </p:cNvSpPr>
          <p:nvPr>
            <p:ph type="sldNum" sz="quarter" idx="12"/>
          </p:nvPr>
        </p:nvSpPr>
        <p:spPr/>
        <p:txBody>
          <a:bodyPr/>
          <a:lstStyle/>
          <a:p>
            <a:fld id="{79CB0F35-F868-473E-A346-62C97CF54E04}" type="slidenum">
              <a:rPr lang="en-US" smtClean="0"/>
              <a:t>‹#›</a:t>
            </a:fld>
            <a:endParaRPr lang="en-US"/>
          </a:p>
        </p:txBody>
      </p:sp>
    </p:spTree>
    <p:extLst>
      <p:ext uri="{BB962C8B-B14F-4D97-AF65-F5344CB8AC3E}">
        <p14:creationId xmlns:p14="http://schemas.microsoft.com/office/powerpoint/2010/main" val="11089462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2B726-AFC0-01A9-E267-01C95078507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011CA7-26A3-59D7-F3A7-BBCB574F791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60A165-A494-F47A-3C45-725FF0C00772}"/>
              </a:ext>
            </a:extLst>
          </p:cNvPr>
          <p:cNvSpPr>
            <a:spLocks noGrp="1"/>
          </p:cNvSpPr>
          <p:nvPr>
            <p:ph type="dt" sz="half" idx="10"/>
          </p:nvPr>
        </p:nvSpPr>
        <p:spPr/>
        <p:txBody>
          <a:bodyPr/>
          <a:lstStyle/>
          <a:p>
            <a:fld id="{0DB4C106-FEBA-4657-9A6A-175A521277B3}" type="datetimeFigureOut">
              <a:rPr lang="en-US" smtClean="0"/>
              <a:t>5/29/2025</a:t>
            </a:fld>
            <a:endParaRPr lang="en-US"/>
          </a:p>
        </p:txBody>
      </p:sp>
      <p:sp>
        <p:nvSpPr>
          <p:cNvPr id="5" name="Footer Placeholder 4">
            <a:extLst>
              <a:ext uri="{FF2B5EF4-FFF2-40B4-BE49-F238E27FC236}">
                <a16:creationId xmlns:a16="http://schemas.microsoft.com/office/drawing/2014/main" id="{5071BF44-DDE1-81DD-9E3F-67A15FB5AF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A8C29B-C2BC-3468-69B5-E1F2E6D14295}"/>
              </a:ext>
            </a:extLst>
          </p:cNvPr>
          <p:cNvSpPr>
            <a:spLocks noGrp="1"/>
          </p:cNvSpPr>
          <p:nvPr>
            <p:ph type="sldNum" sz="quarter" idx="12"/>
          </p:nvPr>
        </p:nvSpPr>
        <p:spPr/>
        <p:txBody>
          <a:bodyPr/>
          <a:lstStyle/>
          <a:p>
            <a:fld id="{79CB0F35-F868-473E-A346-62C97CF54E04}" type="slidenum">
              <a:rPr lang="en-US" smtClean="0"/>
              <a:t>‹#›</a:t>
            </a:fld>
            <a:endParaRPr lang="en-US"/>
          </a:p>
        </p:txBody>
      </p:sp>
    </p:spTree>
    <p:extLst>
      <p:ext uri="{BB962C8B-B14F-4D97-AF65-F5344CB8AC3E}">
        <p14:creationId xmlns:p14="http://schemas.microsoft.com/office/powerpoint/2010/main" val="7921554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D743FE-7102-1E4F-AE94-CCAFD5AA423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B6CDCD5-0177-D4AC-66E2-29143524A2B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F1C7CD-3ADC-C365-5348-8107BA087551}"/>
              </a:ext>
            </a:extLst>
          </p:cNvPr>
          <p:cNvSpPr>
            <a:spLocks noGrp="1"/>
          </p:cNvSpPr>
          <p:nvPr>
            <p:ph type="dt" sz="half" idx="10"/>
          </p:nvPr>
        </p:nvSpPr>
        <p:spPr/>
        <p:txBody>
          <a:bodyPr/>
          <a:lstStyle/>
          <a:p>
            <a:fld id="{0DB4C106-FEBA-4657-9A6A-175A521277B3}" type="datetimeFigureOut">
              <a:rPr lang="en-US" smtClean="0"/>
              <a:t>5/29/2025</a:t>
            </a:fld>
            <a:endParaRPr lang="en-US"/>
          </a:p>
        </p:txBody>
      </p:sp>
      <p:sp>
        <p:nvSpPr>
          <p:cNvPr id="5" name="Footer Placeholder 4">
            <a:extLst>
              <a:ext uri="{FF2B5EF4-FFF2-40B4-BE49-F238E27FC236}">
                <a16:creationId xmlns:a16="http://schemas.microsoft.com/office/drawing/2014/main" id="{DF7CCF2F-3EB9-190C-186C-07EFABAA89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7234C4-AC90-A4CE-4B1B-F540E3AA0B47}"/>
              </a:ext>
            </a:extLst>
          </p:cNvPr>
          <p:cNvSpPr>
            <a:spLocks noGrp="1"/>
          </p:cNvSpPr>
          <p:nvPr>
            <p:ph type="sldNum" sz="quarter" idx="12"/>
          </p:nvPr>
        </p:nvSpPr>
        <p:spPr/>
        <p:txBody>
          <a:bodyPr/>
          <a:lstStyle/>
          <a:p>
            <a:fld id="{79CB0F35-F868-473E-A346-62C97CF54E04}" type="slidenum">
              <a:rPr lang="en-US" smtClean="0"/>
              <a:t>‹#›</a:t>
            </a:fld>
            <a:endParaRPr lang="en-US"/>
          </a:p>
        </p:txBody>
      </p:sp>
    </p:spTree>
    <p:extLst>
      <p:ext uri="{BB962C8B-B14F-4D97-AF65-F5344CB8AC3E}">
        <p14:creationId xmlns:p14="http://schemas.microsoft.com/office/powerpoint/2010/main" val="596242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149B07-CB90-1655-5FF9-7A008DA8BF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4CB6AC1-FBCC-BF51-DCF9-DAE0052415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CC0217-7087-2216-1178-4BE8D8929F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DB4C106-FEBA-4657-9A6A-175A521277B3}" type="datetimeFigureOut">
              <a:rPr lang="en-US" smtClean="0"/>
              <a:t>5/29/2025</a:t>
            </a:fld>
            <a:endParaRPr lang="en-US"/>
          </a:p>
        </p:txBody>
      </p:sp>
      <p:sp>
        <p:nvSpPr>
          <p:cNvPr id="5" name="Footer Placeholder 4">
            <a:extLst>
              <a:ext uri="{FF2B5EF4-FFF2-40B4-BE49-F238E27FC236}">
                <a16:creationId xmlns:a16="http://schemas.microsoft.com/office/drawing/2014/main" id="{16C5D44C-FDAF-02A0-E93F-62598443BA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DAC9CDE-F863-0129-4E55-02878CC391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9CB0F35-F868-473E-A346-62C97CF54E04}" type="slidenum">
              <a:rPr lang="en-US" smtClean="0"/>
              <a:t>‹#›</a:t>
            </a:fld>
            <a:endParaRPr lang="en-US"/>
          </a:p>
        </p:txBody>
      </p:sp>
    </p:spTree>
    <p:extLst>
      <p:ext uri="{BB962C8B-B14F-4D97-AF65-F5344CB8AC3E}">
        <p14:creationId xmlns:p14="http://schemas.microsoft.com/office/powerpoint/2010/main" val="40177508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hyperlink" Target="https://www.congress.gov/bill/115th-congress/senate-bill/2945/actions?s=1&amp;r=16" TargetMode="Externa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image" Target="../media/image4.png"/><Relationship Id="rId12"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hyperlink" Target="https://www.leadingonopportunity.org/" TargetMode="External"/><Relationship Id="rId11" Type="http://schemas.openxmlformats.org/officeDocument/2006/relationships/image" Target="../media/image8.png"/><Relationship Id="rId5" Type="http://schemas.openxmlformats.org/officeDocument/2006/relationships/hyperlink" Target="https://www.equityclt.org/" TargetMode="External"/><Relationship Id="rId10" Type="http://schemas.openxmlformats.org/officeDocument/2006/relationships/image" Target="../media/image7.png"/><Relationship Id="rId4" Type="http://schemas.openxmlformats.org/officeDocument/2006/relationships/hyperlink" Target="https://about.bankofamerica.com/en/making-an-impact/tech-jobs-without-degree" TargetMode="External"/><Relationship Id="rId9"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hyperlink" Target="https://www.vox.com/future-perfect/2023/4/3/23647615/raj-chetty-housing-vouchers-cmto-seattle" TargetMode="External"/><Relationship Id="rId3" Type="http://schemas.openxmlformats.org/officeDocument/2006/relationships/image" Target="../media/image1.png"/><Relationship Id="rId7" Type="http://schemas.openxmlformats.org/officeDocument/2006/relationships/image" Target="../media/image10.png"/><Relationship Id="rId12" Type="http://schemas.openxmlformats.org/officeDocument/2006/relationships/hyperlink" Target="https://www.npr.org/2019/08/05/747610085/in-seattle-a-move-across-town-could-be-a-path-out-of-poverty?utm_campaign=storyshare&amp;utm_source=twitter.com&amp;utm_medium=social" TargetMode="External"/><Relationship Id="rId17" Type="http://schemas.openxmlformats.org/officeDocument/2006/relationships/image" Target="../media/image17.png"/><Relationship Id="rId2" Type="http://schemas.openxmlformats.org/officeDocument/2006/relationships/notesSlide" Target="../notesSlides/notesSlide3.xml"/><Relationship Id="rId16"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hyperlink" Target="https://www.congress.gov/bill/118th-congress/senate-bill/1257" TargetMode="External"/><Relationship Id="rId11" Type="http://schemas.openxmlformats.org/officeDocument/2006/relationships/hyperlink" Target="https://www.nytimes.com/2019/08/03/opinion/sunday/poverty-seattle.html" TargetMode="External"/><Relationship Id="rId5" Type="http://schemas.openxmlformats.org/officeDocument/2006/relationships/hyperlink" Target="https://www.hud.gov/program_offices/public_indian_housing/programs/hcv/communitychoicedemo" TargetMode="External"/><Relationship Id="rId15" Type="http://schemas.openxmlformats.org/officeDocument/2006/relationships/image" Target="../media/image15.png"/><Relationship Id="rId10" Type="http://schemas.openxmlformats.org/officeDocument/2006/relationships/image" Target="../media/image13.png"/><Relationship Id="rId4" Type="http://schemas.openxmlformats.org/officeDocument/2006/relationships/hyperlink" Target="https://opportunityinsights.org/paper/cmto/" TargetMode="External"/><Relationship Id="rId9" Type="http://schemas.openxmlformats.org/officeDocument/2006/relationships/image" Target="../media/image12.png"/><Relationship Id="rId14"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hyperlink" Target="https://www.washingtonpost.com/education/2024/03/05/brown-university-reinstates-sat-act-requirement/" TargetMode="External"/><Relationship Id="rId13" Type="http://schemas.openxmlformats.org/officeDocument/2006/relationships/hyperlink" Target="https://admissions.yale.edu/test-flexible-counselors" TargetMode="External"/><Relationship Id="rId18" Type="http://schemas.openxmlformats.org/officeDocument/2006/relationships/image" Target="../media/image19.png"/><Relationship Id="rId26" Type="http://schemas.openxmlformats.org/officeDocument/2006/relationships/image" Target="../media/image27.jpeg"/><Relationship Id="rId3" Type="http://schemas.openxmlformats.org/officeDocument/2006/relationships/image" Target="../media/image1.png"/><Relationship Id="rId21" Type="http://schemas.openxmlformats.org/officeDocument/2006/relationships/image" Target="../media/image22.png"/><Relationship Id="rId7" Type="http://schemas.openxmlformats.org/officeDocument/2006/relationships/hyperlink" Target="https://www.politico.com/newsletters/morning-education/2018/09/10/us-news-updates-rankings-with-emphasis-on-social-mobility-334392" TargetMode="External"/><Relationship Id="rId12" Type="http://schemas.openxmlformats.org/officeDocument/2006/relationships/hyperlink" Target="https://www.nytimes.com/2024/06/08/us/stanford-standardized-tests.html" TargetMode="External"/><Relationship Id="rId17" Type="http://schemas.openxmlformats.org/officeDocument/2006/relationships/image" Target="../media/image18.png"/><Relationship Id="rId25" Type="http://schemas.openxmlformats.org/officeDocument/2006/relationships/image" Target="../media/image26.png"/><Relationship Id="rId2" Type="http://schemas.openxmlformats.org/officeDocument/2006/relationships/notesSlide" Target="../notesSlides/notesSlide4.xml"/><Relationship Id="rId16" Type="http://schemas.openxmlformats.org/officeDocument/2006/relationships/hyperlink" Target="https://www.mprnews.org/story/2024/03/12/proposed-bill-would-ban-legacy-admissions-at-all-minnesota-colleges" TargetMode="External"/><Relationship Id="rId20" Type="http://schemas.openxmlformats.org/officeDocument/2006/relationships/image" Target="../media/image21.png"/><Relationship Id="rId29"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hyperlink" Target="https://www.forbes.com/sites/michaeltnietzel/2023/07/24/how-the-admission-practices-of-elite-colleges-perpetuate-the-advantages-of-the-wealthy/" TargetMode="External"/><Relationship Id="rId11" Type="http://schemas.openxmlformats.org/officeDocument/2006/relationships/hyperlink" Target="https://news.harvard.edu/gazette/story/2024/04/harvard-announces-return-to-required-testing/" TargetMode="External"/><Relationship Id="rId24" Type="http://schemas.openxmlformats.org/officeDocument/2006/relationships/image" Target="../media/image25.png"/><Relationship Id="rId5" Type="http://schemas.openxmlformats.org/officeDocument/2006/relationships/hyperlink" Target="https://www.nytimes.com/2024/01/07/briefing/the-misguided-war-on-the-sat.html" TargetMode="External"/><Relationship Id="rId15" Type="http://schemas.openxmlformats.org/officeDocument/2006/relationships/hyperlink" Target="https://legacylis.virginia.gov/cgi-bin/legp604.exe?241+ful+HB48" TargetMode="External"/><Relationship Id="rId23" Type="http://schemas.openxmlformats.org/officeDocument/2006/relationships/image" Target="../media/image24.png"/><Relationship Id="rId28" Type="http://schemas.openxmlformats.org/officeDocument/2006/relationships/image" Target="../media/image29.png"/><Relationship Id="rId10" Type="http://schemas.openxmlformats.org/officeDocument/2006/relationships/hyperlink" Target="https://www.nytimes.com/2024/02/05/briefing/dartmouth-sat.html?partner=slack&amp;smid=sl-share" TargetMode="External"/><Relationship Id="rId19" Type="http://schemas.openxmlformats.org/officeDocument/2006/relationships/image" Target="../media/image20.png"/><Relationship Id="rId4" Type="http://schemas.openxmlformats.org/officeDocument/2006/relationships/hyperlink" Target="https://www.nytimes.com/interactive/2017/01/18/upshot/some-colleges-have-more-students-from-the-top-1-percent-than-the-bottom-60.html" TargetMode="External"/><Relationship Id="rId9" Type="http://schemas.openxmlformats.org/officeDocument/2006/relationships/hyperlink" Target="https://www.insidehighered.com/news/admissions/traditional-age/2024/04/12/sudden-move-harvard-caltech-return-test-requirements" TargetMode="External"/><Relationship Id="rId14" Type="http://schemas.openxmlformats.org/officeDocument/2006/relationships/hyperlink" Target="https://leginfo.legislature.ca.gov/faces/billCompareClient.xhtml?bill_id=202320240AB1780&amp;showamends=false" TargetMode="External"/><Relationship Id="rId22" Type="http://schemas.openxmlformats.org/officeDocument/2006/relationships/image" Target="../media/image23.png"/><Relationship Id="rId27" Type="http://schemas.openxmlformats.org/officeDocument/2006/relationships/image" Target="../media/image28.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3.jpe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37.jpeg"/><Relationship Id="rId5" Type="http://schemas.openxmlformats.org/officeDocument/2006/relationships/image" Target="../media/image36.pn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Rectangle 183"/>
          <p:cNvSpPr>
            <a:spLocks noChangeArrowheads="1"/>
          </p:cNvSpPr>
          <p:nvPr/>
        </p:nvSpPr>
        <p:spPr bwMode="auto">
          <a:xfrm>
            <a:off x="6462351" y="598576"/>
            <a:ext cx="0" cy="357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9140" rtl="0" eaLnBrk="0" fontAlgn="base" latinLnBrk="0" hangingPunct="0">
              <a:lnSpc>
                <a:spcPct val="100000"/>
              </a:lnSpc>
              <a:spcBef>
                <a:spcPct val="0"/>
              </a:spcBef>
              <a:spcAft>
                <a:spcPct val="0"/>
              </a:spcAft>
              <a:buClrTx/>
              <a:buSzTx/>
              <a:buFontTx/>
              <a:buNone/>
              <a:tabLst/>
              <a:defRPr/>
            </a:pPr>
            <a:r>
              <a:rPr kumimoji="0" lang="en-US" altLang="en-US" sz="2500" b="0" i="0" u="none" strike="noStrike" kern="1200" cap="none" spc="0" normalizeH="0" baseline="0" noProof="0" dirty="0">
                <a:ln>
                  <a:noFill/>
                </a:ln>
                <a:solidFill>
                  <a:srgbClr val="1E2D53"/>
                </a:solidFill>
                <a:effectLst/>
                <a:uLnTx/>
                <a:uFillTx/>
                <a:latin typeface="Lucida Sans" panose="020B0602030504020204" pitchFamily="34" charset="0"/>
                <a:ea typeface="+mn-ea"/>
                <a:cs typeface="Arial" pitchFamily="34" charset="0"/>
              </a:rPr>
              <a:t> </a:t>
            </a:r>
            <a:endParaRPr kumimoji="0" lang="en-US" altLang="en-US" sz="19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endParaRPr>
          </a:p>
        </p:txBody>
      </p:sp>
      <p:pic>
        <p:nvPicPr>
          <p:cNvPr id="14" name="Picture 13" descr="A black and grey text&#10;&#10;Description automatically generated">
            <a:extLst>
              <a:ext uri="{FF2B5EF4-FFF2-40B4-BE49-F238E27FC236}">
                <a16:creationId xmlns:a16="http://schemas.microsoft.com/office/drawing/2014/main" id="{AF21E452-DCAE-DA58-0AB7-0C6962FEED62}"/>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r="81947"/>
          <a:stretch/>
        </p:blipFill>
        <p:spPr>
          <a:xfrm>
            <a:off x="11835183" y="6480880"/>
            <a:ext cx="315482" cy="304226"/>
          </a:xfrm>
          <a:prstGeom prst="rect">
            <a:avLst/>
          </a:prstGeom>
        </p:spPr>
      </p:pic>
      <p:pic>
        <p:nvPicPr>
          <p:cNvPr id="2" name="Picture 1">
            <a:extLst>
              <a:ext uri="{FF2B5EF4-FFF2-40B4-BE49-F238E27FC236}">
                <a16:creationId xmlns:a16="http://schemas.microsoft.com/office/drawing/2014/main" id="{21E3B4D5-D9C6-3781-71F4-853D0806D98B}"/>
              </a:ext>
            </a:extLst>
          </p:cNvPr>
          <p:cNvPicPr>
            <a:picLocks noChangeAspect="1"/>
          </p:cNvPicPr>
          <p:nvPr/>
        </p:nvPicPr>
        <p:blipFill>
          <a:blip r:embed="rId4"/>
          <a:stretch>
            <a:fillRect/>
          </a:stretch>
        </p:blipFill>
        <p:spPr>
          <a:xfrm>
            <a:off x="1677108" y="2228609"/>
            <a:ext cx="3159256" cy="3454553"/>
          </a:xfrm>
          <a:prstGeom prst="rect">
            <a:avLst/>
          </a:prstGeom>
          <a:ln>
            <a:solidFill>
              <a:schemeClr val="tx1"/>
            </a:solidFill>
          </a:ln>
        </p:spPr>
      </p:pic>
      <p:sp>
        <p:nvSpPr>
          <p:cNvPr id="8" name="TextBox 7">
            <a:extLst>
              <a:ext uri="{FF2B5EF4-FFF2-40B4-BE49-F238E27FC236}">
                <a16:creationId xmlns:a16="http://schemas.microsoft.com/office/drawing/2014/main" id="{BCF23C28-6930-07E6-BF2F-25A29CF76023}"/>
              </a:ext>
            </a:extLst>
          </p:cNvPr>
          <p:cNvSpPr txBox="1"/>
          <p:nvPr/>
        </p:nvSpPr>
        <p:spPr>
          <a:xfrm>
            <a:off x="1677108" y="1338359"/>
            <a:ext cx="3344947" cy="800219"/>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2018</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Arial" pitchFamily="34" charset="0"/>
              </a:rPr>
              <a:t>Housing Choice Voucher Mobility Demonstration Act</a:t>
            </a:r>
            <a:endParaRPr kumimoji="0" lang="en-US" sz="1600" b="0" i="0" u="none" strike="noStrike" kern="1200" cap="none" spc="0" normalizeH="0" baseline="0" noProof="0" dirty="0">
              <a:ln>
                <a:noFill/>
              </a:ln>
              <a:solidFill>
                <a:prstClr val="black"/>
              </a:solidFill>
              <a:effectLst/>
              <a:uLnTx/>
              <a:uFillTx/>
              <a:latin typeface="Lucida Bright" panose="02040602050505020304" pitchFamily="18" charset="0"/>
              <a:ea typeface="+mn-ea"/>
              <a:cs typeface="Arial" pitchFamily="34" charset="0"/>
            </a:endParaRPr>
          </a:p>
        </p:txBody>
      </p:sp>
      <p:grpSp>
        <p:nvGrpSpPr>
          <p:cNvPr id="11" name="Group 10">
            <a:extLst>
              <a:ext uri="{FF2B5EF4-FFF2-40B4-BE49-F238E27FC236}">
                <a16:creationId xmlns:a16="http://schemas.microsoft.com/office/drawing/2014/main" id="{DDA52A2D-632A-E56D-5800-A3D6FDEB4920}"/>
              </a:ext>
            </a:extLst>
          </p:cNvPr>
          <p:cNvGrpSpPr/>
          <p:nvPr/>
        </p:nvGrpSpPr>
        <p:grpSpPr>
          <a:xfrm>
            <a:off x="6791882" y="1338359"/>
            <a:ext cx="3342721" cy="4344804"/>
            <a:chOff x="6791882" y="1338359"/>
            <a:chExt cx="3342721" cy="4344804"/>
          </a:xfrm>
        </p:grpSpPr>
        <p:pic>
          <p:nvPicPr>
            <p:cNvPr id="4" name="Picture 3">
              <a:extLst>
                <a:ext uri="{FF2B5EF4-FFF2-40B4-BE49-F238E27FC236}">
                  <a16:creationId xmlns:a16="http://schemas.microsoft.com/office/drawing/2014/main" id="{1A48AB0C-C13F-2115-6816-0F1D9E8D2D96}"/>
                </a:ext>
              </a:extLst>
            </p:cNvPr>
            <p:cNvPicPr>
              <a:picLocks noChangeAspect="1"/>
            </p:cNvPicPr>
            <p:nvPr/>
          </p:nvPicPr>
          <p:blipFill rotWithShape="1">
            <a:blip r:embed="rId5"/>
            <a:srcRect r="1674"/>
            <a:stretch/>
          </p:blipFill>
          <p:spPr>
            <a:xfrm>
              <a:off x="6791882" y="2228610"/>
              <a:ext cx="3157153" cy="3454553"/>
            </a:xfrm>
            <a:prstGeom prst="rect">
              <a:avLst/>
            </a:prstGeom>
            <a:ln>
              <a:solidFill>
                <a:schemeClr val="tx1"/>
              </a:solidFill>
            </a:ln>
          </p:spPr>
        </p:pic>
        <p:sp>
          <p:nvSpPr>
            <p:cNvPr id="9" name="TextBox 8">
              <a:extLst>
                <a:ext uri="{FF2B5EF4-FFF2-40B4-BE49-F238E27FC236}">
                  <a16:creationId xmlns:a16="http://schemas.microsoft.com/office/drawing/2014/main" id="{B59BEC1B-F2F8-8F55-60F6-A620015FA42C}"/>
                </a:ext>
              </a:extLst>
            </p:cNvPr>
            <p:cNvSpPr txBox="1"/>
            <p:nvPr/>
          </p:nvSpPr>
          <p:spPr>
            <a:xfrm>
              <a:off x="6791883" y="1338359"/>
              <a:ext cx="3342720" cy="800219"/>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2023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Arial" pitchFamily="34" charset="0"/>
                </a:rPr>
                <a:t>Family Stability and Opportunity Vouchers Act</a:t>
              </a:r>
              <a:endParaRPr kumimoji="0" lang="en-US" sz="1600" b="0" i="0" u="none" strike="noStrike" kern="1200" cap="none" spc="0" normalizeH="0" baseline="0" noProof="0" dirty="0">
                <a:ln>
                  <a:noFill/>
                </a:ln>
                <a:solidFill>
                  <a:prstClr val="black"/>
                </a:solidFill>
                <a:effectLst/>
                <a:uLnTx/>
                <a:uFillTx/>
                <a:latin typeface="Lucida Bright" panose="02040602050505020304" pitchFamily="18" charset="0"/>
                <a:ea typeface="+mn-ea"/>
                <a:cs typeface="Arial" pitchFamily="34" charset="0"/>
              </a:endParaRPr>
            </a:p>
          </p:txBody>
        </p:sp>
      </p:grpSp>
      <p:sp>
        <p:nvSpPr>
          <p:cNvPr id="7" name="TextBox 6">
            <a:extLst>
              <a:ext uri="{FF2B5EF4-FFF2-40B4-BE49-F238E27FC236}">
                <a16:creationId xmlns:a16="http://schemas.microsoft.com/office/drawing/2014/main" id="{2C31B0A4-7FD2-AA61-44DF-20B80AD1F417}"/>
              </a:ext>
            </a:extLst>
          </p:cNvPr>
          <p:cNvSpPr txBox="1"/>
          <p:nvPr/>
        </p:nvSpPr>
        <p:spPr>
          <a:xfrm>
            <a:off x="568592" y="6483107"/>
            <a:ext cx="8839200" cy="307756"/>
          </a:xfrm>
          <a:prstGeom prst="rect">
            <a:avLst/>
          </a:prstGeom>
          <a:noFill/>
        </p:spPr>
        <p:txBody>
          <a:bodyPr wrap="square" lIns="91034" tIns="45710" rIns="91034" bIns="45710" rtlCol="0">
            <a:spAutoFit/>
          </a:bodyPr>
          <a:lstStyle/>
          <a:p>
            <a:pPr marL="0" marR="0" lvl="0" indent="0" algn="l" defTabSz="121779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Source: </a:t>
            </a: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hlinkClick r:id="rId6">
                  <a:extLst>
                    <a:ext uri="{A12FA001-AC4F-418D-AE19-62706E023703}">
                      <ahyp:hlinkClr xmlns:ahyp="http://schemas.microsoft.com/office/drawing/2018/hyperlinkcolor" val="tx"/>
                    </a:ext>
                  </a:extLst>
                </a:hlinkClick>
              </a:rPr>
              <a:t>Congress.gov</a:t>
            </a: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 </a:t>
            </a:r>
            <a:r>
              <a:rPr kumimoji="0" lang="nb-NO"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Rapid Cycle Evaluation Report (HUD 2024) </a:t>
            </a: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endParaRPr>
          </a:p>
        </p:txBody>
      </p:sp>
      <p:sp>
        <p:nvSpPr>
          <p:cNvPr id="3" name="Rectangle 2">
            <a:extLst>
              <a:ext uri="{FF2B5EF4-FFF2-40B4-BE49-F238E27FC236}">
                <a16:creationId xmlns:a16="http://schemas.microsoft.com/office/drawing/2014/main" id="{F57E4E6A-0D53-881D-C0C6-2E1F7A858BB0}"/>
              </a:ext>
            </a:extLst>
          </p:cNvPr>
          <p:cNvSpPr>
            <a:spLocks noChangeArrowheads="1"/>
          </p:cNvSpPr>
          <p:nvPr/>
        </p:nvSpPr>
        <p:spPr bwMode="auto">
          <a:xfrm>
            <a:off x="613836" y="375319"/>
            <a:ext cx="10499449"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Arial" pitchFamily="34" charset="0"/>
              </a:rPr>
              <a:t>From Research to Policy</a:t>
            </a:r>
          </a:p>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626365"/>
                </a:solidFill>
                <a:effectLst/>
                <a:uLnTx/>
                <a:uFillTx/>
                <a:latin typeface="Lucida Sans"/>
                <a:ea typeface="+mn-ea"/>
                <a:cs typeface="Arial" pitchFamily="34" charset="0"/>
              </a:rPr>
              <a:t>Impacts on Federal Affordable Housing Policies</a:t>
            </a:r>
          </a:p>
        </p:txBody>
      </p:sp>
      <p:cxnSp>
        <p:nvCxnSpPr>
          <p:cNvPr id="5" name="Straight Connector 4">
            <a:extLst>
              <a:ext uri="{FF2B5EF4-FFF2-40B4-BE49-F238E27FC236}">
                <a16:creationId xmlns:a16="http://schemas.microsoft.com/office/drawing/2014/main" id="{82266E9C-3FD1-F0BC-FDF3-C52F8D3B3454}"/>
              </a:ext>
            </a:extLst>
          </p:cNvPr>
          <p:cNvCxnSpPr>
            <a:cxnSpLocks/>
          </p:cNvCxnSpPr>
          <p:nvPr/>
        </p:nvCxnSpPr>
        <p:spPr>
          <a:xfrm>
            <a:off x="620980" y="1000920"/>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E597D2E4-20BA-AC57-F9E4-4ABA4D836196}"/>
              </a:ext>
            </a:extLst>
          </p:cNvPr>
          <p:cNvSpPr txBox="1"/>
          <p:nvPr/>
        </p:nvSpPr>
        <p:spPr>
          <a:xfrm>
            <a:off x="1632005" y="5759823"/>
            <a:ext cx="3435151" cy="584775"/>
          </a:xfrm>
          <a:prstGeom prst="rect">
            <a:avLst/>
          </a:prstGeom>
          <a:noFill/>
          <a:ln>
            <a:noFill/>
          </a:ln>
        </p:spPr>
        <p:txBody>
          <a:bodyPr wrap="square" rtlCol="0">
            <a:spAutoFit/>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Social support increased moves to high-opportunity areas by </a:t>
            </a:r>
            <a:r>
              <a:rPr kumimoji="0" lang="en-US" sz="1600" b="1" i="0" u="none" strike="noStrike" kern="1200" cap="none" spc="0" normalizeH="0" baseline="0" noProof="0" dirty="0">
                <a:ln>
                  <a:noFill/>
                </a:ln>
                <a:solidFill>
                  <a:srgbClr val="29B6A4"/>
                </a:solidFill>
                <a:effectLst/>
                <a:uLnTx/>
                <a:uFillTx/>
                <a:latin typeface="Lucida Sans" panose="020B0602030504020204" pitchFamily="34" charset="0"/>
                <a:ea typeface="+mn-ea"/>
                <a:cs typeface="Arial" pitchFamily="34" charset="0"/>
              </a:rPr>
              <a:t>6x</a:t>
            </a:r>
          </a:p>
        </p:txBody>
      </p:sp>
      <p:cxnSp>
        <p:nvCxnSpPr>
          <p:cNvPr id="6" name="Straight Connector 5">
            <a:extLst>
              <a:ext uri="{FF2B5EF4-FFF2-40B4-BE49-F238E27FC236}">
                <a16:creationId xmlns:a16="http://schemas.microsoft.com/office/drawing/2014/main" id="{5DF223FF-3BA9-6D98-663A-5B9966521EE9}"/>
              </a:ext>
            </a:extLst>
          </p:cNvPr>
          <p:cNvCxnSpPr>
            <a:cxnSpLocks/>
          </p:cNvCxnSpPr>
          <p:nvPr/>
        </p:nvCxnSpPr>
        <p:spPr>
          <a:xfrm>
            <a:off x="620980" y="6483107"/>
            <a:ext cx="1095364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1282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94"/>
          <p:cNvSpPr>
            <a:spLocks noChangeAspect="1" noChangeArrowheads="1" noTextEdit="1"/>
          </p:cNvSpPr>
          <p:nvPr/>
        </p:nvSpPr>
        <p:spPr bwMode="auto">
          <a:xfrm>
            <a:off x="1524057" y="277836"/>
            <a:ext cx="9144001" cy="665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152" tIns="45718" rIns="91152" bIns="45718" numCol="1" anchor="t" anchorCtr="0" compatLnSpc="1">
            <a:prstTxWarp prst="textNoShape">
              <a:avLst/>
            </a:prstTxWarp>
          </a:bodyPr>
          <a:lstStyle/>
          <a:p>
            <a:pPr marL="0" marR="0" lvl="0" indent="0" algn="l" defTabSz="121914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
        <p:nvSpPr>
          <p:cNvPr id="83" name="Rectangle 183"/>
          <p:cNvSpPr>
            <a:spLocks noChangeArrowheads="1"/>
          </p:cNvSpPr>
          <p:nvPr/>
        </p:nvSpPr>
        <p:spPr bwMode="auto">
          <a:xfrm>
            <a:off x="6462351" y="598576"/>
            <a:ext cx="0" cy="357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9140" rtl="0" eaLnBrk="0" fontAlgn="base" latinLnBrk="0" hangingPunct="0">
              <a:lnSpc>
                <a:spcPct val="100000"/>
              </a:lnSpc>
              <a:spcBef>
                <a:spcPct val="0"/>
              </a:spcBef>
              <a:spcAft>
                <a:spcPct val="0"/>
              </a:spcAft>
              <a:buClrTx/>
              <a:buSzTx/>
              <a:buFontTx/>
              <a:buNone/>
              <a:tabLst/>
              <a:defRPr/>
            </a:pPr>
            <a:r>
              <a:rPr kumimoji="0" lang="en-US" altLang="en-US" sz="2500" b="0" i="0" u="none" strike="noStrike" kern="1200" cap="none" spc="0" normalizeH="0" baseline="0" noProof="0" dirty="0">
                <a:ln>
                  <a:noFill/>
                </a:ln>
                <a:solidFill>
                  <a:srgbClr val="1E2D53"/>
                </a:solidFill>
                <a:effectLst/>
                <a:uLnTx/>
                <a:uFillTx/>
                <a:latin typeface="Lucida Sans" panose="020B0602030504020204" pitchFamily="34" charset="0"/>
                <a:ea typeface="+mn-ea"/>
                <a:cs typeface="Arial" pitchFamily="34" charset="0"/>
              </a:rPr>
              <a:t> </a:t>
            </a:r>
            <a:endParaRPr kumimoji="0" lang="en-US" altLang="en-US" sz="19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endParaRPr>
          </a:p>
        </p:txBody>
      </p:sp>
      <p:pic>
        <p:nvPicPr>
          <p:cNvPr id="14" name="Picture 13" descr="A black and grey text&#10;&#10;Description automatically generated">
            <a:extLst>
              <a:ext uri="{FF2B5EF4-FFF2-40B4-BE49-F238E27FC236}">
                <a16:creationId xmlns:a16="http://schemas.microsoft.com/office/drawing/2014/main" id="{AF21E452-DCAE-DA58-0AB7-0C6962FEED62}"/>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r="81947"/>
          <a:stretch/>
        </p:blipFill>
        <p:spPr>
          <a:xfrm>
            <a:off x="11835183" y="6480880"/>
            <a:ext cx="315482" cy="304226"/>
          </a:xfrm>
          <a:prstGeom prst="rect">
            <a:avLst/>
          </a:prstGeom>
        </p:spPr>
      </p:pic>
      <p:sp>
        <p:nvSpPr>
          <p:cNvPr id="24" name="TextBox 23">
            <a:extLst>
              <a:ext uri="{FF2B5EF4-FFF2-40B4-BE49-F238E27FC236}">
                <a16:creationId xmlns:a16="http://schemas.microsoft.com/office/drawing/2014/main" id="{A7D289A0-FEF6-5297-FAB2-277447E6F7F7}"/>
              </a:ext>
            </a:extLst>
          </p:cNvPr>
          <p:cNvSpPr txBox="1"/>
          <p:nvPr/>
        </p:nvSpPr>
        <p:spPr>
          <a:xfrm>
            <a:off x="566210" y="6489777"/>
            <a:ext cx="11145729" cy="307756"/>
          </a:xfrm>
          <a:prstGeom prst="rect">
            <a:avLst/>
          </a:prstGeom>
          <a:noFill/>
        </p:spPr>
        <p:txBody>
          <a:bodyPr wrap="square" lIns="91034" tIns="45710" rIns="91034" bIns="45710" rtlCol="0">
            <a:spAutoFit/>
          </a:bodyPr>
          <a:lstStyle/>
          <a:p>
            <a:pPr marL="0" marR="0" lvl="0" indent="0" algn="l" defTabSz="121779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Source: </a:t>
            </a: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The Charlotte Observer (2018); </a:t>
            </a:r>
            <a:r>
              <a:rPr kumimoji="0" lang="en-US" sz="1400" b="0" i="0" u="none" strike="noStrike" kern="1200" cap="none" spc="0" normalizeH="0" baseline="0" noProof="0" dirty="0" err="1">
                <a:ln>
                  <a:noFill/>
                </a:ln>
                <a:solidFill>
                  <a:prstClr val="black"/>
                </a:solidFill>
                <a:effectLst/>
                <a:uLnTx/>
                <a:uFillTx/>
                <a:latin typeface="Lucida Sans" panose="020B0602030504020204" pitchFamily="34" charset="0"/>
                <a:ea typeface="Lato" panose="020F0502020204030203" pitchFamily="34" charset="0"/>
                <a:cs typeface="Arial" pitchFamily="34" charset="0"/>
                <a:hlinkClick r:id="rId4">
                  <a:extLst>
                    <a:ext uri="{A12FA001-AC4F-418D-AE19-62706E023703}">
                      <ahyp:hlinkClr xmlns:ahyp="http://schemas.microsoft.com/office/drawing/2018/hyperlinkcolor" val="tx"/>
                    </a:ext>
                  </a:extLst>
                </a:hlinkClick>
              </a:rPr>
              <a:t>YearUp</a:t>
            </a: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hlinkClick r:id="rId4">
                  <a:extLst>
                    <a:ext uri="{A12FA001-AC4F-418D-AE19-62706E023703}">
                      <ahyp:hlinkClr xmlns:ahyp="http://schemas.microsoft.com/office/drawing/2018/hyperlinkcolor" val="tx"/>
                    </a:ext>
                  </a:extLst>
                </a:hlinkClick>
              </a:rPr>
              <a:t> &amp; Bank of America</a:t>
            </a: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 | </a:t>
            </a: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hlinkClick r:id="rId5">
                  <a:extLst>
                    <a:ext uri="{A12FA001-AC4F-418D-AE19-62706E023703}">
                      <ahyp:hlinkClr xmlns:ahyp="http://schemas.microsoft.com/office/drawing/2018/hyperlinkcolor" val="tx"/>
                    </a:ext>
                  </a:extLst>
                </a:hlinkClick>
              </a:rPr>
              <a:t>The Mayor’s Initiative</a:t>
            </a: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 | </a:t>
            </a: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hlinkClick r:id="rId6">
                  <a:extLst>
                    <a:ext uri="{A12FA001-AC4F-418D-AE19-62706E023703}">
                      <ahyp:hlinkClr xmlns:ahyp="http://schemas.microsoft.com/office/drawing/2018/hyperlinkcolor" val="tx"/>
                    </a:ext>
                  </a:extLst>
                </a:hlinkClick>
              </a:rPr>
              <a:t>Leading on Opportunity</a:t>
            </a: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 </a:t>
            </a:r>
          </a:p>
        </p:txBody>
      </p:sp>
      <p:sp>
        <p:nvSpPr>
          <p:cNvPr id="5" name="Rectangle 4">
            <a:extLst>
              <a:ext uri="{FF2B5EF4-FFF2-40B4-BE49-F238E27FC236}">
                <a16:creationId xmlns:a16="http://schemas.microsoft.com/office/drawing/2014/main" id="{9F1817C7-ACBD-7542-51A3-1F08556AF000}"/>
              </a:ext>
            </a:extLst>
          </p:cNvPr>
          <p:cNvSpPr>
            <a:spLocks noChangeArrowheads="1"/>
          </p:cNvSpPr>
          <p:nvPr/>
        </p:nvSpPr>
        <p:spPr bwMode="auto">
          <a:xfrm>
            <a:off x="609074" y="375319"/>
            <a:ext cx="111028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262626"/>
                </a:solidFill>
                <a:effectLst/>
                <a:uLnTx/>
                <a:uFillTx/>
                <a:latin typeface="Lucida Bright" panose="02040602050505020304" pitchFamily="18" charset="0"/>
                <a:ea typeface="+mn-ea"/>
                <a:cs typeface="Arial" pitchFamily="34" charset="0"/>
              </a:rPr>
              <a:t>Improving Economic Opportunity in Charlotte</a:t>
            </a:r>
          </a:p>
        </p:txBody>
      </p:sp>
      <p:cxnSp>
        <p:nvCxnSpPr>
          <p:cNvPr id="18" name="Straight Connector 17">
            <a:extLst>
              <a:ext uri="{FF2B5EF4-FFF2-40B4-BE49-F238E27FC236}">
                <a16:creationId xmlns:a16="http://schemas.microsoft.com/office/drawing/2014/main" id="{6F9E59A7-DFB4-AB2D-638A-4CF0966CF7CD}"/>
              </a:ext>
            </a:extLst>
          </p:cNvPr>
          <p:cNvCxnSpPr>
            <a:cxnSpLocks/>
          </p:cNvCxnSpPr>
          <p:nvPr/>
        </p:nvCxnSpPr>
        <p:spPr>
          <a:xfrm>
            <a:off x="620980" y="6483107"/>
            <a:ext cx="109536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FCFD2256-53F4-FDD5-9E7E-909C4958BDD0}"/>
              </a:ext>
            </a:extLst>
          </p:cNvPr>
          <p:cNvSpPr/>
          <p:nvPr/>
        </p:nvSpPr>
        <p:spPr>
          <a:xfrm>
            <a:off x="6210127" y="1627127"/>
            <a:ext cx="5361008" cy="1307592"/>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82880" tIns="182880" rIns="182880" bIns="91440" rtlCol="0" anchor="b"/>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Arial" pitchFamily="34" charset="0"/>
              </a:rPr>
              <a:t>$160M corporate investment in local workforce development</a:t>
            </a:r>
          </a:p>
        </p:txBody>
      </p:sp>
      <p:grpSp>
        <p:nvGrpSpPr>
          <p:cNvPr id="7" name="Group 6">
            <a:extLst>
              <a:ext uri="{FF2B5EF4-FFF2-40B4-BE49-F238E27FC236}">
                <a16:creationId xmlns:a16="http://schemas.microsoft.com/office/drawing/2014/main" id="{E6D496F8-8EB0-F9C7-270C-7FCB05025D6D}"/>
              </a:ext>
            </a:extLst>
          </p:cNvPr>
          <p:cNvGrpSpPr/>
          <p:nvPr/>
        </p:nvGrpSpPr>
        <p:grpSpPr>
          <a:xfrm>
            <a:off x="6398322" y="1689373"/>
            <a:ext cx="1988993" cy="650743"/>
            <a:chOff x="4898231" y="1869244"/>
            <a:chExt cx="2395537" cy="783752"/>
          </a:xfrm>
        </p:grpSpPr>
        <p:pic>
          <p:nvPicPr>
            <p:cNvPr id="15" name="Picture 14">
              <a:extLst>
                <a:ext uri="{FF2B5EF4-FFF2-40B4-BE49-F238E27FC236}">
                  <a16:creationId xmlns:a16="http://schemas.microsoft.com/office/drawing/2014/main" id="{91735684-0430-5DF3-F78B-2A19F0A45586}"/>
                </a:ext>
              </a:extLst>
            </p:cNvPr>
            <p:cNvPicPr>
              <a:picLocks noChangeAspect="1"/>
            </p:cNvPicPr>
            <p:nvPr/>
          </p:nvPicPr>
          <p:blipFill>
            <a:blip r:embed="rId7"/>
            <a:srcRect b="53411"/>
            <a:stretch/>
          </p:blipFill>
          <p:spPr>
            <a:xfrm>
              <a:off x="4898231" y="2291828"/>
              <a:ext cx="2395537" cy="361168"/>
            </a:xfrm>
            <a:prstGeom prst="rect">
              <a:avLst/>
            </a:prstGeom>
          </p:spPr>
        </p:pic>
        <p:pic>
          <p:nvPicPr>
            <p:cNvPr id="16" name="Picture 15">
              <a:extLst>
                <a:ext uri="{FF2B5EF4-FFF2-40B4-BE49-F238E27FC236}">
                  <a16:creationId xmlns:a16="http://schemas.microsoft.com/office/drawing/2014/main" id="{653DE9B7-837D-47CA-997F-6D7752FAB16A}"/>
                </a:ext>
              </a:extLst>
            </p:cNvPr>
            <p:cNvPicPr>
              <a:picLocks noChangeAspect="1"/>
            </p:cNvPicPr>
            <p:nvPr/>
          </p:nvPicPr>
          <p:blipFill>
            <a:blip r:embed="rId8"/>
            <a:stretch>
              <a:fillRect/>
            </a:stretch>
          </p:blipFill>
          <p:spPr>
            <a:xfrm>
              <a:off x="5677699" y="1869244"/>
              <a:ext cx="1205322" cy="425519"/>
            </a:xfrm>
            <a:prstGeom prst="rect">
              <a:avLst/>
            </a:prstGeom>
          </p:spPr>
        </p:pic>
        <p:pic>
          <p:nvPicPr>
            <p:cNvPr id="17" name="Picture 2" descr="Donate to Year Up">
              <a:extLst>
                <a:ext uri="{FF2B5EF4-FFF2-40B4-BE49-F238E27FC236}">
                  <a16:creationId xmlns:a16="http://schemas.microsoft.com/office/drawing/2014/main" id="{98969F3A-365E-DA11-39BC-13AF6D964A60}"/>
                </a:ext>
              </a:extLst>
            </p:cNvPr>
            <p:cNvPicPr>
              <a:picLocks noChangeAspect="1" noChangeArrowheads="1"/>
            </p:cNvPicPr>
            <p:nvPr/>
          </p:nvPicPr>
          <p:blipFill>
            <a:blip r:embed="rId9" cstate="hqprint">
              <a:extLst>
                <a:ext uri="{28A0092B-C50C-407E-A947-70E740481C1C}">
                  <a14:useLocalDpi xmlns:a14="http://schemas.microsoft.com/office/drawing/2010/main" val="0"/>
                </a:ext>
              </a:extLst>
            </a:blip>
            <a:srcRect/>
            <a:stretch>
              <a:fillRect/>
            </a:stretch>
          </p:blipFill>
          <p:spPr bwMode="auto">
            <a:xfrm>
              <a:off x="4898231" y="1955393"/>
              <a:ext cx="692751" cy="245061"/>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Rectangle 3">
            <a:extLst>
              <a:ext uri="{FF2B5EF4-FFF2-40B4-BE49-F238E27FC236}">
                <a16:creationId xmlns:a16="http://schemas.microsoft.com/office/drawing/2014/main" id="{F3EBDD97-9B65-9BC1-555D-BE6C89FC7A2E}"/>
              </a:ext>
            </a:extLst>
          </p:cNvPr>
          <p:cNvSpPr/>
          <p:nvPr/>
        </p:nvSpPr>
        <p:spPr>
          <a:xfrm>
            <a:off x="6210127" y="3062772"/>
            <a:ext cx="5361008" cy="1307592"/>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82880" tIns="182880" rIns="182880" bIns="91440" rtlCol="0" anchor="b"/>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Arial" pitchFamily="34" charset="0"/>
              </a:rPr>
              <a:t>Mayor’s initiative raises $250M to boost opportunity in Charlotte</a:t>
            </a:r>
          </a:p>
        </p:txBody>
      </p:sp>
      <p:pic>
        <p:nvPicPr>
          <p:cNvPr id="20" name="Picture 19">
            <a:extLst>
              <a:ext uri="{FF2B5EF4-FFF2-40B4-BE49-F238E27FC236}">
                <a16:creationId xmlns:a16="http://schemas.microsoft.com/office/drawing/2014/main" id="{EAA26765-7492-C7E7-80E9-98645BA7147E}"/>
              </a:ext>
            </a:extLst>
          </p:cNvPr>
          <p:cNvPicPr>
            <a:picLocks noChangeAspect="1"/>
          </p:cNvPicPr>
          <p:nvPr/>
        </p:nvPicPr>
        <p:blipFill>
          <a:blip r:embed="rId10"/>
          <a:srcRect l="5925"/>
          <a:stretch/>
        </p:blipFill>
        <p:spPr>
          <a:xfrm>
            <a:off x="6382562" y="3126481"/>
            <a:ext cx="2470297" cy="686844"/>
          </a:xfrm>
          <a:prstGeom prst="rect">
            <a:avLst/>
          </a:prstGeom>
        </p:spPr>
      </p:pic>
      <p:sp>
        <p:nvSpPr>
          <p:cNvPr id="6" name="Rectangle 5">
            <a:extLst>
              <a:ext uri="{FF2B5EF4-FFF2-40B4-BE49-F238E27FC236}">
                <a16:creationId xmlns:a16="http://schemas.microsoft.com/office/drawing/2014/main" id="{965389AE-2EF4-37F5-F194-D17225A51F13}"/>
              </a:ext>
            </a:extLst>
          </p:cNvPr>
          <p:cNvSpPr/>
          <p:nvPr/>
        </p:nvSpPr>
        <p:spPr>
          <a:xfrm>
            <a:off x="6210127" y="4498417"/>
            <a:ext cx="5361008" cy="1307592"/>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82880" tIns="182880" rIns="182880" bIns="91440" rtlCol="0" anchor="b"/>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Arial" pitchFamily="34" charset="0"/>
              </a:rPr>
              <a:t>A local data tool developed to monitor opportunity indicators for &gt;100 area nonprofits</a:t>
            </a:r>
          </a:p>
        </p:txBody>
      </p:sp>
      <p:pic>
        <p:nvPicPr>
          <p:cNvPr id="21" name="Picture 2">
            <a:extLst>
              <a:ext uri="{FF2B5EF4-FFF2-40B4-BE49-F238E27FC236}">
                <a16:creationId xmlns:a16="http://schemas.microsoft.com/office/drawing/2014/main" id="{7A0C3E04-4E80-60B0-9442-EB29D10B225F}"/>
              </a:ext>
            </a:extLst>
          </p:cNvPr>
          <p:cNvPicPr>
            <a:picLocks noChangeAspect="1" noChangeArrowheads="1"/>
          </p:cNvPicPr>
          <p:nvPr/>
        </p:nvPicPr>
        <p:blipFill>
          <a:blip r:embed="rId11" cstate="hqprint">
            <a:extLst>
              <a:ext uri="{28A0092B-C50C-407E-A947-70E740481C1C}">
                <a14:useLocalDpi xmlns:a14="http://schemas.microsoft.com/office/drawing/2010/main" val="0"/>
              </a:ext>
            </a:extLst>
          </a:blip>
          <a:srcRect/>
          <a:stretch/>
        </p:blipFill>
        <p:spPr bwMode="auto">
          <a:xfrm>
            <a:off x="6417472" y="4624081"/>
            <a:ext cx="1645920" cy="456651"/>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 7">
            <a:extLst>
              <a:ext uri="{FF2B5EF4-FFF2-40B4-BE49-F238E27FC236}">
                <a16:creationId xmlns:a16="http://schemas.microsoft.com/office/drawing/2014/main" id="{A07D91CD-BBAD-FB8E-A416-D6E84FA8EA80}"/>
              </a:ext>
            </a:extLst>
          </p:cNvPr>
          <p:cNvGrpSpPr/>
          <p:nvPr/>
        </p:nvGrpSpPr>
        <p:grpSpPr>
          <a:xfrm>
            <a:off x="611365" y="1627127"/>
            <a:ext cx="5212080" cy="4181142"/>
            <a:chOff x="788101" y="1627127"/>
            <a:chExt cx="5212080" cy="4181142"/>
          </a:xfrm>
        </p:grpSpPr>
        <p:sp>
          <p:nvSpPr>
            <p:cNvPr id="12" name="Rectangle 11">
              <a:extLst>
                <a:ext uri="{FF2B5EF4-FFF2-40B4-BE49-F238E27FC236}">
                  <a16:creationId xmlns:a16="http://schemas.microsoft.com/office/drawing/2014/main" id="{F182015B-753C-0C90-4F45-F3841EB3BE31}"/>
                </a:ext>
              </a:extLst>
            </p:cNvPr>
            <p:cNvSpPr/>
            <p:nvPr/>
          </p:nvSpPr>
          <p:spPr>
            <a:xfrm>
              <a:off x="788101" y="1627127"/>
              <a:ext cx="5212080" cy="4181142"/>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030" name="Picture 6">
              <a:extLst>
                <a:ext uri="{FF2B5EF4-FFF2-40B4-BE49-F238E27FC236}">
                  <a16:creationId xmlns:a16="http://schemas.microsoft.com/office/drawing/2014/main" id="{AF811DD9-B8A1-7278-C203-8978B3D7721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99944" y="1910269"/>
              <a:ext cx="3558546" cy="410773"/>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609129E1-1A4A-86CF-BEEA-E4C5C2CEF69A}"/>
                </a:ext>
              </a:extLst>
            </p:cNvPr>
            <p:cNvSpPr txBox="1"/>
            <p:nvPr/>
          </p:nvSpPr>
          <p:spPr>
            <a:xfrm>
              <a:off x="788102" y="2443620"/>
              <a:ext cx="5184697" cy="3277820"/>
            </a:xfrm>
            <a:prstGeom prst="rect">
              <a:avLst/>
            </a:prstGeom>
            <a:noFill/>
            <a:ln>
              <a:noFill/>
            </a:ln>
          </p:spPr>
          <p:txBody>
            <a:bodyPr wrap="square" lIns="182880" tIns="182880" rIns="182880" bIns="182880" rtlCol="0">
              <a:spAutoFit/>
            </a:bodyPr>
            <a:lstStyle/>
            <a:p>
              <a:pPr marL="0" marR="0" lvl="0" indent="0" algn="l" defTabSz="914173" rtl="0" eaLnBrk="1" fontAlgn="auto" latinLnBrk="0" hangingPunct="1">
                <a:lnSpc>
                  <a:spcPct val="100000"/>
                </a:lnSpc>
                <a:spcBef>
                  <a:spcPts val="0"/>
                </a:spcBef>
                <a:spcAft>
                  <a:spcPts val="0"/>
                </a:spcAft>
                <a:buClrTx/>
                <a:buSzTx/>
                <a:buFontTx/>
                <a:buNone/>
                <a:tabLst/>
                <a:defRPr/>
              </a:pPr>
              <a:r>
                <a:rPr kumimoji="0" lang="en-US" sz="1600" b="1" i="1" u="none" strike="noStrike" kern="1200" cap="none" spc="0" normalizeH="0" baseline="0" noProof="0" dirty="0">
                  <a:ln>
                    <a:noFill/>
                  </a:ln>
                  <a:solidFill>
                    <a:prstClr val="black"/>
                  </a:solidFill>
                  <a:effectLst/>
                  <a:uLnTx/>
                  <a:uFillTx/>
                  <a:latin typeface="Lucida Bright" panose="02040602050505020304" pitchFamily="18" charset="0"/>
                  <a:ea typeface="+mn-ea"/>
                  <a:cs typeface="+mn-cs"/>
                </a:rPr>
                <a:t>Land of Opportunity? Not by a long shot.</a:t>
              </a:r>
            </a:p>
            <a:p>
              <a:pPr marL="0" marR="0" lvl="0" indent="0" algn="l"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a:p>
              <a:pPr marL="0" marR="0" lvl="0" indent="0" algn="l" defTabSz="91417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Bright" panose="02040602050505020304" pitchFamily="18" charset="0"/>
                  <a:ea typeface="+mn-ea"/>
                  <a:cs typeface="+mn-cs"/>
                </a:rPr>
                <a:t>“When the headline broke about the Harvard University/UC Berkeley study that ranked Charlotte-Mecklenburg 50th out of 50 in upward mobility for children born into our lowest income quintile, many in our community responded with disbelief. How, on the one hand, can we be such a vital and opportunity-rich community, and on the other, be ranked dead last in the odds that our lowest income children and youth will be able to move up the economic ladder as they become adults?”</a:t>
              </a:r>
            </a:p>
            <a:p>
              <a:pPr marL="0" marR="0" lvl="0" indent="0" algn="l" defTabSz="914173"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grpSp>
      <p:sp>
        <p:nvSpPr>
          <p:cNvPr id="30" name="Rectangle 29">
            <a:extLst>
              <a:ext uri="{FF2B5EF4-FFF2-40B4-BE49-F238E27FC236}">
                <a16:creationId xmlns:a16="http://schemas.microsoft.com/office/drawing/2014/main" id="{2C7498C2-B671-7FD4-365D-A26E3E9159E9}"/>
              </a:ext>
            </a:extLst>
          </p:cNvPr>
          <p:cNvSpPr/>
          <p:nvPr/>
        </p:nvSpPr>
        <p:spPr>
          <a:xfrm>
            <a:off x="1955799" y="3604601"/>
            <a:ext cx="2909313" cy="182880"/>
          </a:xfrm>
          <a:prstGeom prst="rect">
            <a:avLst/>
          </a:prstGeom>
          <a:solidFill>
            <a:srgbClr val="2AB6AC">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10" name="Straight Connector 9">
            <a:extLst>
              <a:ext uri="{FF2B5EF4-FFF2-40B4-BE49-F238E27FC236}">
                <a16:creationId xmlns:a16="http://schemas.microsoft.com/office/drawing/2014/main" id="{55BD8BAC-BAD9-42D6-7A5C-D63455E05364}"/>
              </a:ext>
            </a:extLst>
          </p:cNvPr>
          <p:cNvCxnSpPr>
            <a:cxnSpLocks/>
          </p:cNvCxnSpPr>
          <p:nvPr/>
        </p:nvCxnSpPr>
        <p:spPr>
          <a:xfrm>
            <a:off x="620980" y="851188"/>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67325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D2DC7-078C-01EF-C7AB-D3FFDF66E2DE}"/>
            </a:ext>
          </a:extLst>
        </p:cNvPr>
        <p:cNvGrpSpPr/>
        <p:nvPr/>
      </p:nvGrpSpPr>
      <p:grpSpPr>
        <a:xfrm>
          <a:off x="0" y="0"/>
          <a:ext cx="0" cy="0"/>
          <a:chOff x="0" y="0"/>
          <a:chExt cx="0" cy="0"/>
        </a:xfrm>
      </p:grpSpPr>
      <p:sp>
        <p:nvSpPr>
          <p:cNvPr id="40" name="Rectangle 39">
            <a:extLst>
              <a:ext uri="{FF2B5EF4-FFF2-40B4-BE49-F238E27FC236}">
                <a16:creationId xmlns:a16="http://schemas.microsoft.com/office/drawing/2014/main" id="{D210019A-2EBD-18DE-242E-9D7A695723B5}"/>
              </a:ext>
            </a:extLst>
          </p:cNvPr>
          <p:cNvSpPr/>
          <p:nvPr/>
        </p:nvSpPr>
        <p:spPr>
          <a:xfrm>
            <a:off x="788102" y="4148635"/>
            <a:ext cx="5212080" cy="1659632"/>
          </a:xfrm>
          <a:prstGeom prst="rect">
            <a:avLst/>
          </a:prstGeom>
          <a:solidFill>
            <a:srgbClr val="F1F3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4ADED9BA-9792-007D-9B41-68FB393A0BD2}"/>
              </a:ext>
            </a:extLst>
          </p:cNvPr>
          <p:cNvSpPr>
            <a:spLocks noChangeArrowheads="1"/>
          </p:cNvSpPr>
          <p:nvPr/>
        </p:nvSpPr>
        <p:spPr bwMode="auto">
          <a:xfrm>
            <a:off x="613842" y="375323"/>
            <a:ext cx="10790056"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262626"/>
                </a:solidFill>
                <a:effectLst/>
                <a:uLnTx/>
                <a:uFillTx/>
                <a:latin typeface="Lucida Bright" panose="02040602050505020304" pitchFamily="18" charset="0"/>
                <a:ea typeface="+mn-ea"/>
                <a:cs typeface="Arial" pitchFamily="34" charset="0"/>
              </a:rPr>
              <a:t>Housing Policy at the Local and Federal Levels</a:t>
            </a:r>
          </a:p>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626365"/>
                </a:solidFill>
                <a:effectLst/>
                <a:uLnTx/>
                <a:uFillTx/>
                <a:latin typeface="Lucida Sans" panose="020B0602030504020204" pitchFamily="34" charset="0"/>
                <a:ea typeface="+mn-ea"/>
                <a:cs typeface="Arial" pitchFamily="34" charset="0"/>
              </a:rPr>
              <a:t>Expanding families’ access to high opportunity neighborhoods</a:t>
            </a:r>
          </a:p>
        </p:txBody>
      </p:sp>
      <p:pic>
        <p:nvPicPr>
          <p:cNvPr id="7" name="Picture 6" descr="A black and grey text&#10;&#10;Description automatically generated">
            <a:extLst>
              <a:ext uri="{FF2B5EF4-FFF2-40B4-BE49-F238E27FC236}">
                <a16:creationId xmlns:a16="http://schemas.microsoft.com/office/drawing/2014/main" id="{6A36FB6C-0730-D03A-F5B8-AA854FA5BFB8}"/>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r="81947"/>
          <a:stretch/>
        </p:blipFill>
        <p:spPr>
          <a:xfrm>
            <a:off x="11835183" y="6480880"/>
            <a:ext cx="315482" cy="304226"/>
          </a:xfrm>
          <a:prstGeom prst="rect">
            <a:avLst/>
          </a:prstGeom>
        </p:spPr>
      </p:pic>
      <p:cxnSp>
        <p:nvCxnSpPr>
          <p:cNvPr id="8" name="Straight Connector 7">
            <a:extLst>
              <a:ext uri="{FF2B5EF4-FFF2-40B4-BE49-F238E27FC236}">
                <a16:creationId xmlns:a16="http://schemas.microsoft.com/office/drawing/2014/main" id="{365963E0-C6E7-A43D-C48A-D41A0F49C281}"/>
              </a:ext>
            </a:extLst>
          </p:cNvPr>
          <p:cNvCxnSpPr>
            <a:cxnSpLocks/>
          </p:cNvCxnSpPr>
          <p:nvPr/>
        </p:nvCxnSpPr>
        <p:spPr>
          <a:xfrm>
            <a:off x="620980" y="6483107"/>
            <a:ext cx="109536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3748758-C374-4403-8F3B-231401C86B54}"/>
              </a:ext>
            </a:extLst>
          </p:cNvPr>
          <p:cNvSpPr txBox="1"/>
          <p:nvPr/>
        </p:nvSpPr>
        <p:spPr>
          <a:xfrm>
            <a:off x="568592" y="6483107"/>
            <a:ext cx="8839200" cy="307756"/>
          </a:xfrm>
          <a:prstGeom prst="rect">
            <a:avLst/>
          </a:prstGeom>
          <a:noFill/>
        </p:spPr>
        <p:txBody>
          <a:bodyPr wrap="square" lIns="91034" tIns="45710" rIns="91034" bIns="45710" rtlCol="0">
            <a:spAutoFit/>
          </a:bodyPr>
          <a:lstStyle/>
          <a:p>
            <a:pPr marL="0" marR="0" lvl="0" indent="0" algn="l" defTabSz="121779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Source: </a:t>
            </a: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hlinkClick r:id="rId4">
                  <a:extLst>
                    <a:ext uri="{A12FA001-AC4F-418D-AE19-62706E023703}">
                      <ahyp:hlinkClr xmlns:ahyp="http://schemas.microsoft.com/office/drawing/2018/hyperlinkcolor" val="tx"/>
                    </a:ext>
                  </a:extLst>
                </a:hlinkClick>
              </a:rPr>
              <a:t>CMTO</a:t>
            </a: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 | </a:t>
            </a: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hlinkClick r:id="rId5">
                  <a:extLst>
                    <a:ext uri="{A12FA001-AC4F-418D-AE19-62706E023703}">
                      <ahyp:hlinkClr xmlns:ahyp="http://schemas.microsoft.com/office/drawing/2018/hyperlinkcolor" val="tx"/>
                    </a:ext>
                  </a:extLst>
                </a:hlinkClick>
              </a:rPr>
              <a:t>HUD’s Community Choice Demo</a:t>
            </a: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 | </a:t>
            </a: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hlinkClick r:id="rId6">
                  <a:extLst>
                    <a:ext uri="{A12FA001-AC4F-418D-AE19-62706E023703}">
                      <ahyp:hlinkClr xmlns:ahyp="http://schemas.microsoft.com/office/drawing/2018/hyperlinkcolor" val="tx"/>
                    </a:ext>
                  </a:extLst>
                </a:hlinkClick>
              </a:rPr>
              <a:t>U.S. Congress</a:t>
            </a: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endParaRPr>
          </a:p>
        </p:txBody>
      </p:sp>
      <p:sp>
        <p:nvSpPr>
          <p:cNvPr id="11" name="Rectangle 10">
            <a:extLst>
              <a:ext uri="{FF2B5EF4-FFF2-40B4-BE49-F238E27FC236}">
                <a16:creationId xmlns:a16="http://schemas.microsoft.com/office/drawing/2014/main" id="{464FD5BE-310A-D811-0C99-FECC0E399BC0}"/>
              </a:ext>
            </a:extLst>
          </p:cNvPr>
          <p:cNvSpPr/>
          <p:nvPr/>
        </p:nvSpPr>
        <p:spPr>
          <a:xfrm>
            <a:off x="788112" y="1627127"/>
            <a:ext cx="5212080" cy="4181142"/>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E5055F29-F8B7-FFB5-E7B3-F5343DE16CC0}"/>
              </a:ext>
            </a:extLst>
          </p:cNvPr>
          <p:cNvSpPr/>
          <p:nvPr/>
        </p:nvSpPr>
        <p:spPr>
          <a:xfrm>
            <a:off x="6210127" y="1627125"/>
            <a:ext cx="5029200" cy="2029968"/>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TextBox 23">
            <a:extLst>
              <a:ext uri="{FF2B5EF4-FFF2-40B4-BE49-F238E27FC236}">
                <a16:creationId xmlns:a16="http://schemas.microsoft.com/office/drawing/2014/main" id="{359F455B-0B65-4C25-6CA7-7CA0178C93A1}"/>
              </a:ext>
            </a:extLst>
          </p:cNvPr>
          <p:cNvSpPr txBox="1"/>
          <p:nvPr/>
        </p:nvSpPr>
        <p:spPr>
          <a:xfrm>
            <a:off x="6210037" y="2374999"/>
            <a:ext cx="5029200" cy="1292662"/>
          </a:xfrm>
          <a:prstGeom prst="rect">
            <a:avLst/>
          </a:prstGeom>
          <a:noFill/>
        </p:spPr>
        <p:txBody>
          <a:bodyPr wrap="square" lIns="274320" rIns="18288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Arial" pitchFamily="34" charset="0"/>
              </a:rPr>
              <a:t>HUD launches $75M Community Choice Demonstration project in CA, LA, MN, NY, OH, PA, and TN to replicate the Seattle CMTO approach.</a:t>
            </a:r>
            <a:r>
              <a:rPr kumimoji="0" lang="en-US" sz="1400" b="0" i="1"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6" name="Rectangle 15">
            <a:extLst>
              <a:ext uri="{FF2B5EF4-FFF2-40B4-BE49-F238E27FC236}">
                <a16:creationId xmlns:a16="http://schemas.microsoft.com/office/drawing/2014/main" id="{442D6F89-85AB-909C-09E2-B35B1E878C32}"/>
              </a:ext>
            </a:extLst>
          </p:cNvPr>
          <p:cNvSpPr/>
          <p:nvPr/>
        </p:nvSpPr>
        <p:spPr>
          <a:xfrm>
            <a:off x="6210127" y="3753233"/>
            <a:ext cx="5029200" cy="20574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TextBox 33">
            <a:extLst>
              <a:ext uri="{FF2B5EF4-FFF2-40B4-BE49-F238E27FC236}">
                <a16:creationId xmlns:a16="http://schemas.microsoft.com/office/drawing/2014/main" id="{B4CAC940-7B03-405D-CBB5-FEDBF98BAB2E}"/>
              </a:ext>
            </a:extLst>
          </p:cNvPr>
          <p:cNvSpPr txBox="1"/>
          <p:nvPr/>
        </p:nvSpPr>
        <p:spPr>
          <a:xfrm>
            <a:off x="788102" y="2240420"/>
            <a:ext cx="5184697" cy="1692771"/>
          </a:xfrm>
          <a:prstGeom prst="rect">
            <a:avLst/>
          </a:prstGeom>
          <a:noFill/>
          <a:ln>
            <a:noFill/>
          </a:ln>
        </p:spPr>
        <p:txBody>
          <a:bodyPr wrap="square" lIns="182880" tIns="182880" rIns="182880" bIns="182880" rtlCol="0">
            <a:spAutoFit/>
          </a:bodyPr>
          <a:lstStyle/>
          <a:p>
            <a:pPr marL="0" marR="0" lvl="0" indent="0" algn="l" defTabSz="914173"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mn-cs"/>
              </a:rPr>
              <a:t>Creating Moves to Opportunity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    Seattle, WA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CMTO, a pilot program in Seattle, tested strategies to help families with housing choice vouchers move to high-opportunity neighborhoods.</a:t>
            </a:r>
          </a:p>
        </p:txBody>
      </p:sp>
      <p:pic>
        <p:nvPicPr>
          <p:cNvPr id="35" name="Graphic 34" descr="Marker with solid fill">
            <a:extLst>
              <a:ext uri="{FF2B5EF4-FFF2-40B4-BE49-F238E27FC236}">
                <a16:creationId xmlns:a16="http://schemas.microsoft.com/office/drawing/2014/main" id="{6316E99F-541A-51A2-ED73-87AB64D7285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44767" y="2675569"/>
            <a:ext cx="204788" cy="204788"/>
          </a:xfrm>
          <a:prstGeom prst="rect">
            <a:avLst/>
          </a:prstGeom>
        </p:spPr>
      </p:pic>
      <p:pic>
        <p:nvPicPr>
          <p:cNvPr id="1026" name="Picture 2" descr="New York Times Logo and symbol, meaning, history, PNG, brand">
            <a:extLst>
              <a:ext uri="{FF2B5EF4-FFF2-40B4-BE49-F238E27FC236}">
                <a16:creationId xmlns:a16="http://schemas.microsoft.com/office/drawing/2014/main" id="{4B52067C-A80E-6CF9-CB07-16795B48C36F}"/>
              </a:ext>
            </a:extLst>
          </p:cNvPr>
          <p:cNvPicPr>
            <a:picLocks noChangeAspect="1" noChangeArrowheads="1"/>
          </p:cNvPicPr>
          <p:nvPr/>
        </p:nvPicPr>
        <p:blipFill>
          <a:blip r:embed="rId9" cstate="hqprint">
            <a:extLst>
              <a:ext uri="{28A0092B-C50C-407E-A947-70E740481C1C}">
                <a14:useLocalDpi xmlns:a14="http://schemas.microsoft.com/office/drawing/2010/main" val="0"/>
              </a:ext>
            </a:extLst>
          </a:blip>
          <a:srcRect/>
          <a:stretch>
            <a:fillRect/>
          </a:stretch>
        </p:blipFill>
        <p:spPr bwMode="auto">
          <a:xfrm>
            <a:off x="981019" y="4306256"/>
            <a:ext cx="178049" cy="23001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0B2C0187-0AF8-3A50-EEF1-92FE6C54B1AB}"/>
              </a:ext>
            </a:extLst>
          </p:cNvPr>
          <p:cNvPicPr>
            <a:picLocks noChangeAspect="1" noChangeArrowheads="1"/>
          </p:cNvPicPr>
          <p:nvPr/>
        </p:nvPicPr>
        <p:blipFill>
          <a:blip r:embed="rId10" cstate="hqprint">
            <a:extLst>
              <a:ext uri="{28A0092B-C50C-407E-A947-70E740481C1C}">
                <a14:useLocalDpi xmlns:a14="http://schemas.microsoft.com/office/drawing/2010/main" val="0"/>
              </a:ext>
            </a:extLst>
          </a:blip>
          <a:srcRect/>
          <a:stretch>
            <a:fillRect/>
          </a:stretch>
        </p:blipFill>
        <p:spPr bwMode="auto">
          <a:xfrm>
            <a:off x="891865" y="4848651"/>
            <a:ext cx="408964" cy="133712"/>
          </a:xfrm>
          <a:prstGeom prst="rect">
            <a:avLst/>
          </a:prstGeom>
          <a:noFill/>
          <a:extLst>
            <a:ext uri="{909E8E84-426E-40DD-AFC4-6F175D3DCCD1}">
              <a14:hiddenFill xmlns:a14="http://schemas.microsoft.com/office/drawing/2010/main">
                <a:solidFill>
                  <a:srgbClr val="FFFFFF"/>
                </a:solidFill>
              </a14:hiddenFill>
            </a:ext>
          </a:extLst>
        </p:spPr>
      </p:pic>
      <p:sp>
        <p:nvSpPr>
          <p:cNvPr id="37" name="TextBox 36">
            <a:extLst>
              <a:ext uri="{FF2B5EF4-FFF2-40B4-BE49-F238E27FC236}">
                <a16:creationId xmlns:a16="http://schemas.microsoft.com/office/drawing/2014/main" id="{817616B2-DBE7-55A2-7FE0-E8C0A6C3C0EC}"/>
              </a:ext>
            </a:extLst>
          </p:cNvPr>
          <p:cNvSpPr txBox="1"/>
          <p:nvPr/>
        </p:nvSpPr>
        <p:spPr>
          <a:xfrm>
            <a:off x="1290645" y="4285592"/>
            <a:ext cx="4212842" cy="276999"/>
          </a:xfrm>
          <a:prstGeom prst="rect">
            <a:avLst/>
          </a:prstGeom>
          <a:noFill/>
        </p:spPr>
        <p:txBody>
          <a:bodyPr wrap="square">
            <a:spAutoFit/>
          </a:bodyPr>
          <a:lstStyle/>
          <a:p>
            <a:pPr marL="0" marR="0" lvl="0" indent="0" algn="l" defTabSz="914173"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prstClr val="black"/>
                </a:solidFill>
                <a:effectLst/>
                <a:uLnTx/>
                <a:uFillTx/>
                <a:latin typeface="Lucida Bright" panose="02040602050505020304" pitchFamily="18" charset="0"/>
                <a:ea typeface="+mn-ea"/>
                <a:cs typeface="+mn-cs"/>
                <a:hlinkClick r:id="rId11">
                  <a:extLst>
                    <a:ext uri="{A12FA001-AC4F-418D-AE19-62706E023703}">
                      <ahyp:hlinkClr xmlns:ahyp="http://schemas.microsoft.com/office/drawing/2018/hyperlinkcolor" val="tx"/>
                    </a:ext>
                  </a:extLst>
                </a:hlinkClick>
              </a:rPr>
              <a:t>A Better Address Can Change a Child’s Future</a:t>
            </a:r>
            <a:endParaRPr kumimoji="0" lang="en-US" sz="1200" b="1" i="1" u="none" strike="noStrike" kern="1200" cap="none" spc="0" normalizeH="0" baseline="0" noProof="0" dirty="0">
              <a:ln>
                <a:noFill/>
              </a:ln>
              <a:solidFill>
                <a:prstClr val="black"/>
              </a:solidFill>
              <a:effectLst/>
              <a:uLnTx/>
              <a:uFillTx/>
              <a:latin typeface="Lucida Bright" panose="02040602050505020304" pitchFamily="18" charset="0"/>
              <a:ea typeface="+mn-ea"/>
              <a:cs typeface="+mn-cs"/>
            </a:endParaRPr>
          </a:p>
        </p:txBody>
      </p:sp>
      <p:sp>
        <p:nvSpPr>
          <p:cNvPr id="38" name="TextBox 37">
            <a:extLst>
              <a:ext uri="{FF2B5EF4-FFF2-40B4-BE49-F238E27FC236}">
                <a16:creationId xmlns:a16="http://schemas.microsoft.com/office/drawing/2014/main" id="{0793CF5A-9766-D838-9299-1289F52C8DEE}"/>
              </a:ext>
            </a:extLst>
          </p:cNvPr>
          <p:cNvSpPr txBox="1"/>
          <p:nvPr/>
        </p:nvSpPr>
        <p:spPr>
          <a:xfrm>
            <a:off x="1290645" y="4769517"/>
            <a:ext cx="4707554" cy="461665"/>
          </a:xfrm>
          <a:prstGeom prst="rect">
            <a:avLst/>
          </a:prstGeom>
          <a:noFill/>
        </p:spPr>
        <p:txBody>
          <a:bodyPr wrap="square">
            <a:spAutoFit/>
          </a:bodyPr>
          <a:lstStyle/>
          <a:p>
            <a:pPr marL="0" marR="0" lvl="0" indent="0" algn="l" defTabSz="914173"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prstClr val="black"/>
                </a:solidFill>
                <a:effectLst/>
                <a:uLnTx/>
                <a:uFillTx/>
                <a:latin typeface="Lucida Bright" panose="02040602050505020304" pitchFamily="18" charset="0"/>
                <a:ea typeface="+mn-ea"/>
                <a:cs typeface="+mn-cs"/>
                <a:hlinkClick r:id="rId12">
                  <a:extLst>
                    <a:ext uri="{A12FA001-AC4F-418D-AE19-62706E023703}">
                      <ahyp:hlinkClr xmlns:ahyp="http://schemas.microsoft.com/office/drawing/2018/hyperlinkcolor" val="tx"/>
                    </a:ext>
                  </a:extLst>
                </a:hlinkClick>
              </a:rPr>
              <a:t>In Seattle, A Move Across Town Could Be A Path Out Of Poverty</a:t>
            </a:r>
            <a:endParaRPr kumimoji="0" lang="en-US" sz="1200" b="1" i="1" u="none" strike="noStrike" kern="1200" cap="none" spc="0" normalizeH="0" baseline="0" noProof="0" dirty="0">
              <a:ln>
                <a:noFill/>
              </a:ln>
              <a:solidFill>
                <a:prstClr val="black"/>
              </a:solidFill>
              <a:effectLst/>
              <a:uLnTx/>
              <a:uFillTx/>
              <a:latin typeface="Lucida Bright" panose="02040602050505020304" pitchFamily="18" charset="0"/>
              <a:ea typeface="+mn-ea"/>
              <a:cs typeface="+mn-cs"/>
            </a:endParaRPr>
          </a:p>
        </p:txBody>
      </p:sp>
      <p:sp>
        <p:nvSpPr>
          <p:cNvPr id="39" name="TextBox 38">
            <a:extLst>
              <a:ext uri="{FF2B5EF4-FFF2-40B4-BE49-F238E27FC236}">
                <a16:creationId xmlns:a16="http://schemas.microsoft.com/office/drawing/2014/main" id="{E37DCA69-4558-9303-619B-333C98AD856C}"/>
              </a:ext>
            </a:extLst>
          </p:cNvPr>
          <p:cNvSpPr txBox="1"/>
          <p:nvPr/>
        </p:nvSpPr>
        <p:spPr>
          <a:xfrm>
            <a:off x="1290645" y="5293567"/>
            <a:ext cx="4707555" cy="461665"/>
          </a:xfrm>
          <a:prstGeom prst="rect">
            <a:avLst/>
          </a:prstGeom>
          <a:noFill/>
        </p:spPr>
        <p:txBody>
          <a:bodyPr wrap="square">
            <a:spAutoFit/>
          </a:bodyPr>
          <a:lstStyle/>
          <a:p>
            <a:pPr marL="0" marR="0" lvl="0" indent="0" algn="l" defTabSz="914173"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prstClr val="black"/>
                </a:solidFill>
                <a:effectLst/>
                <a:uLnTx/>
                <a:uFillTx/>
                <a:latin typeface="Lucida Bright" panose="02040602050505020304" pitchFamily="18" charset="0"/>
                <a:ea typeface="+mn-ea"/>
                <a:cs typeface="+mn-cs"/>
                <a:hlinkClick r:id="rId13">
                  <a:extLst>
                    <a:ext uri="{A12FA001-AC4F-418D-AE19-62706E023703}">
                      <ahyp:hlinkClr xmlns:ahyp="http://schemas.microsoft.com/office/drawing/2018/hyperlinkcolor" val="tx"/>
                    </a:ext>
                  </a:extLst>
                </a:hlinkClick>
              </a:rPr>
              <a:t>Seattle may have figured out how to get more poor people into better housing</a:t>
            </a:r>
            <a:endParaRPr kumimoji="0" lang="en-US" sz="1200" b="1" i="1" u="none" strike="noStrike" kern="1200" cap="none" spc="0" normalizeH="0" baseline="0" noProof="0" dirty="0">
              <a:ln>
                <a:noFill/>
              </a:ln>
              <a:solidFill>
                <a:prstClr val="black"/>
              </a:solidFill>
              <a:effectLst/>
              <a:uLnTx/>
              <a:uFillTx/>
              <a:latin typeface="Lucida Bright" panose="02040602050505020304" pitchFamily="18" charset="0"/>
              <a:ea typeface="+mn-ea"/>
              <a:cs typeface="+mn-cs"/>
            </a:endParaRPr>
          </a:p>
        </p:txBody>
      </p:sp>
      <p:pic>
        <p:nvPicPr>
          <p:cNvPr id="1032" name="Picture 8" descr="Download Vox Logo in SVG Vector or PNG File Format - Logo.wine">
            <a:extLst>
              <a:ext uri="{FF2B5EF4-FFF2-40B4-BE49-F238E27FC236}">
                <a16:creationId xmlns:a16="http://schemas.microsoft.com/office/drawing/2014/main" id="{3011EED1-F628-5ABB-8B47-DA35960C1654}"/>
              </a:ext>
            </a:extLst>
          </p:cNvPr>
          <p:cNvPicPr>
            <a:picLocks noChangeAspect="1" noChangeArrowheads="1"/>
          </p:cNvPicPr>
          <p:nvPr/>
        </p:nvPicPr>
        <p:blipFill>
          <a:blip r:embed="rId14" cstate="hqprint">
            <a:extLst>
              <a:ext uri="{28A0092B-C50C-407E-A947-70E740481C1C}">
                <a14:useLocalDpi xmlns:a14="http://schemas.microsoft.com/office/drawing/2010/main" val="0"/>
              </a:ext>
            </a:extLst>
          </a:blip>
          <a:srcRect/>
          <a:stretch>
            <a:fillRect/>
          </a:stretch>
        </p:blipFill>
        <p:spPr bwMode="auto">
          <a:xfrm>
            <a:off x="909985" y="5294742"/>
            <a:ext cx="355250" cy="236833"/>
          </a:xfrm>
          <a:prstGeom prst="rect">
            <a:avLst/>
          </a:prstGeom>
          <a:noFill/>
          <a:extLst>
            <a:ext uri="{909E8E84-426E-40DD-AFC4-6F175D3DCCD1}">
              <a14:hiddenFill xmlns:a14="http://schemas.microsoft.com/office/drawing/2010/main">
                <a:solidFill>
                  <a:srgbClr val="FFFFFF"/>
                </a:solidFill>
              </a14:hiddenFill>
            </a:ext>
          </a:extLst>
        </p:spPr>
      </p:pic>
      <p:grpSp>
        <p:nvGrpSpPr>
          <p:cNvPr id="43" name="Group 42">
            <a:extLst>
              <a:ext uri="{FF2B5EF4-FFF2-40B4-BE49-F238E27FC236}">
                <a16:creationId xmlns:a16="http://schemas.microsoft.com/office/drawing/2014/main" id="{E065D2A0-AEF6-2633-0AF1-4E2177865460}"/>
              </a:ext>
            </a:extLst>
          </p:cNvPr>
          <p:cNvGrpSpPr/>
          <p:nvPr/>
        </p:nvGrpSpPr>
        <p:grpSpPr>
          <a:xfrm>
            <a:off x="6446160" y="1721793"/>
            <a:ext cx="3270069" cy="601901"/>
            <a:chOff x="6073112" y="7392731"/>
            <a:chExt cx="3270069" cy="601901"/>
          </a:xfrm>
        </p:grpSpPr>
        <p:pic>
          <p:nvPicPr>
            <p:cNvPr id="44" name="Picture 12" descr="United States Department of Housing and Urban Development - Wikipedia">
              <a:extLst>
                <a:ext uri="{FF2B5EF4-FFF2-40B4-BE49-F238E27FC236}">
                  <a16:creationId xmlns:a16="http://schemas.microsoft.com/office/drawing/2014/main" id="{4EC7E152-19EE-CA58-7C66-28DECFC33EA0}"/>
                </a:ext>
              </a:extLst>
            </p:cNvPr>
            <p:cNvPicPr>
              <a:picLocks noChangeAspect="1" noChangeArrowheads="1"/>
            </p:cNvPicPr>
            <p:nvPr/>
          </p:nvPicPr>
          <p:blipFill>
            <a:blip r:embed="rId15" cstate="hqprint">
              <a:extLst>
                <a:ext uri="{28A0092B-C50C-407E-A947-70E740481C1C}">
                  <a14:useLocalDpi xmlns:a14="http://schemas.microsoft.com/office/drawing/2010/main" val="0"/>
                </a:ext>
              </a:extLst>
            </a:blip>
            <a:srcRect/>
            <a:stretch>
              <a:fillRect/>
            </a:stretch>
          </p:blipFill>
          <p:spPr bwMode="auto">
            <a:xfrm>
              <a:off x="6073112" y="7392731"/>
              <a:ext cx="601901" cy="601901"/>
            </a:xfrm>
            <a:prstGeom prst="rect">
              <a:avLst/>
            </a:prstGeom>
            <a:noFill/>
            <a:extLst>
              <a:ext uri="{909E8E84-426E-40DD-AFC4-6F175D3DCCD1}">
                <a14:hiddenFill xmlns:a14="http://schemas.microsoft.com/office/drawing/2010/main">
                  <a:solidFill>
                    <a:srgbClr val="FFFFFF"/>
                  </a:solidFill>
                </a14:hiddenFill>
              </a:ext>
            </a:extLst>
          </p:spPr>
        </p:pic>
        <p:sp>
          <p:nvSpPr>
            <p:cNvPr id="45" name="Rectangle 44">
              <a:extLst>
                <a:ext uri="{FF2B5EF4-FFF2-40B4-BE49-F238E27FC236}">
                  <a16:creationId xmlns:a16="http://schemas.microsoft.com/office/drawing/2014/main" id="{FDC3E1BD-679E-C6E1-77F0-4AD8C5D2FF29}"/>
                </a:ext>
              </a:extLst>
            </p:cNvPr>
            <p:cNvSpPr>
              <a:spLocks noChangeArrowheads="1"/>
            </p:cNvSpPr>
            <p:nvPr/>
          </p:nvSpPr>
          <p:spPr bwMode="auto">
            <a:xfrm>
              <a:off x="6670590" y="7462848"/>
              <a:ext cx="267259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U.S. Department of Housing and Urban Development</a:t>
              </a:r>
              <a:endParaRPr kumimoji="0" lang="en-US" altLang="en-US" sz="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sp>
        <p:nvSpPr>
          <p:cNvPr id="49" name="Rectangle 48">
            <a:extLst>
              <a:ext uri="{FF2B5EF4-FFF2-40B4-BE49-F238E27FC236}">
                <a16:creationId xmlns:a16="http://schemas.microsoft.com/office/drawing/2014/main" id="{A3F0F9DC-AA06-408F-A20C-937F88ACD44C}"/>
              </a:ext>
            </a:extLst>
          </p:cNvPr>
          <p:cNvSpPr>
            <a:spLocks noChangeArrowheads="1"/>
          </p:cNvSpPr>
          <p:nvPr/>
        </p:nvSpPr>
        <p:spPr bwMode="auto">
          <a:xfrm>
            <a:off x="7064881" y="4050602"/>
            <a:ext cx="267259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U.S. Congress</a:t>
            </a:r>
            <a:endParaRPr kumimoji="0" lang="en-US" altLang="en-US" sz="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50" name="Picture 2" descr="United States Congress - Wikipedia">
            <a:extLst>
              <a:ext uri="{FF2B5EF4-FFF2-40B4-BE49-F238E27FC236}">
                <a16:creationId xmlns:a16="http://schemas.microsoft.com/office/drawing/2014/main" id="{B5E65AD0-F94D-4382-5C03-73740ED3266E}"/>
              </a:ext>
            </a:extLst>
          </p:cNvPr>
          <p:cNvPicPr>
            <a:picLocks noChangeAspect="1" noChangeArrowheads="1"/>
          </p:cNvPicPr>
          <p:nvPr/>
        </p:nvPicPr>
        <p:blipFill>
          <a:blip r:embed="rId16" cstate="hqprint">
            <a:extLst>
              <a:ext uri="{28A0092B-C50C-407E-A947-70E740481C1C}">
                <a14:useLocalDpi xmlns:a14="http://schemas.microsoft.com/office/drawing/2010/main" val="0"/>
              </a:ext>
            </a:extLst>
          </a:blip>
          <a:srcRect/>
          <a:stretch>
            <a:fillRect/>
          </a:stretch>
        </p:blipFill>
        <p:spPr bwMode="auto">
          <a:xfrm>
            <a:off x="6466112" y="3891299"/>
            <a:ext cx="604482" cy="603504"/>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FA11C2F9-2160-77A8-351F-02C088A7ADF9}"/>
              </a:ext>
            </a:extLst>
          </p:cNvPr>
          <p:cNvSpPr txBox="1"/>
          <p:nvPr/>
        </p:nvSpPr>
        <p:spPr>
          <a:xfrm>
            <a:off x="6210037" y="4509909"/>
            <a:ext cx="5000943" cy="1292662"/>
          </a:xfrm>
          <a:prstGeom prst="rect">
            <a:avLst/>
          </a:prstGeom>
          <a:noFill/>
        </p:spPr>
        <p:txBody>
          <a:bodyPr wrap="square" lIns="274320" rIns="18288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Arial" pitchFamily="34" charset="0"/>
              </a:rPr>
              <a:t>Bipartisan bill, Family Stability &amp; Opportunity Vouchers Act, would add 250K vouchers ($5B/yr) to increase stability and geographic choice for families.</a:t>
            </a:r>
            <a:b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Arial" pitchFamily="34" charset="0"/>
              </a:rPr>
            </a:b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pic>
        <p:nvPicPr>
          <p:cNvPr id="4" name="Picture 6">
            <a:extLst>
              <a:ext uri="{FF2B5EF4-FFF2-40B4-BE49-F238E27FC236}">
                <a16:creationId xmlns:a16="http://schemas.microsoft.com/office/drawing/2014/main" id="{EADD44E7-CD53-15A3-2995-239842A26EC3}"/>
              </a:ext>
            </a:extLst>
          </p:cNvPr>
          <p:cNvPicPr>
            <a:picLocks noChangeAspect="1" noChangeArrowheads="1"/>
          </p:cNvPicPr>
          <p:nvPr/>
        </p:nvPicPr>
        <p:blipFill>
          <a:blip r:embed="rId17" cstate="hqprint">
            <a:extLst>
              <a:ext uri="{28A0092B-C50C-407E-A947-70E740481C1C}">
                <a14:useLocalDpi xmlns:a14="http://schemas.microsoft.com/office/drawing/2010/main" val="0"/>
              </a:ext>
            </a:extLst>
          </a:blip>
          <a:srcRect/>
          <a:stretch/>
        </p:blipFill>
        <p:spPr bwMode="auto">
          <a:xfrm>
            <a:off x="974544" y="1783269"/>
            <a:ext cx="1729327" cy="417564"/>
          </a:xfrm>
          <a:prstGeom prst="rect">
            <a:avLst/>
          </a:prstGeom>
          <a:noFill/>
          <a:extLst>
            <a:ext uri="{909E8E84-426E-40DD-AFC4-6F175D3DCCD1}">
              <a14:hiddenFill xmlns:a14="http://schemas.microsoft.com/office/drawing/2010/main">
                <a:solidFill>
                  <a:srgbClr val="FFFFFF"/>
                </a:solidFill>
              </a14:hiddenFill>
            </a:ext>
          </a:extLst>
        </p:spPr>
      </p:pic>
      <p:cxnSp>
        <p:nvCxnSpPr>
          <p:cNvPr id="2" name="Straight Connector 1">
            <a:extLst>
              <a:ext uri="{FF2B5EF4-FFF2-40B4-BE49-F238E27FC236}">
                <a16:creationId xmlns:a16="http://schemas.microsoft.com/office/drawing/2014/main" id="{B1A8C43F-8650-7B92-787E-1395CE1A3A90}"/>
              </a:ext>
            </a:extLst>
          </p:cNvPr>
          <p:cNvCxnSpPr>
            <a:cxnSpLocks/>
          </p:cNvCxnSpPr>
          <p:nvPr/>
        </p:nvCxnSpPr>
        <p:spPr>
          <a:xfrm>
            <a:off x="620980" y="1000920"/>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7363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8DF75-37D9-4310-45E7-14A9621837FC}"/>
            </a:ext>
          </a:extLst>
        </p:cNvPr>
        <p:cNvGrpSpPr/>
        <p:nvPr/>
      </p:nvGrpSpPr>
      <p:grpSpPr>
        <a:xfrm>
          <a:off x="0" y="0"/>
          <a:ext cx="0" cy="0"/>
          <a:chOff x="0" y="0"/>
          <a:chExt cx="0" cy="0"/>
        </a:xfrm>
      </p:grpSpPr>
      <p:sp>
        <p:nvSpPr>
          <p:cNvPr id="83" name="Rectangle 183">
            <a:extLst>
              <a:ext uri="{FF2B5EF4-FFF2-40B4-BE49-F238E27FC236}">
                <a16:creationId xmlns:a16="http://schemas.microsoft.com/office/drawing/2014/main" id="{DA266945-D386-F467-AC30-3E6DEB512673}"/>
              </a:ext>
            </a:extLst>
          </p:cNvPr>
          <p:cNvSpPr>
            <a:spLocks noChangeArrowheads="1"/>
          </p:cNvSpPr>
          <p:nvPr/>
        </p:nvSpPr>
        <p:spPr bwMode="auto">
          <a:xfrm>
            <a:off x="6462351" y="598576"/>
            <a:ext cx="0" cy="357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9140" rtl="0" eaLnBrk="0" fontAlgn="base" latinLnBrk="0" hangingPunct="0">
              <a:lnSpc>
                <a:spcPct val="100000"/>
              </a:lnSpc>
              <a:spcBef>
                <a:spcPct val="0"/>
              </a:spcBef>
              <a:spcAft>
                <a:spcPct val="0"/>
              </a:spcAft>
              <a:buClrTx/>
              <a:buSzTx/>
              <a:buFontTx/>
              <a:buNone/>
              <a:tabLst/>
              <a:defRPr/>
            </a:pPr>
            <a:r>
              <a:rPr kumimoji="0" lang="en-US" altLang="en-US" sz="2500" b="0" i="0" u="none" strike="noStrike" kern="1200" cap="none" spc="0" normalizeH="0" baseline="0" noProof="0" dirty="0">
                <a:ln>
                  <a:noFill/>
                </a:ln>
                <a:solidFill>
                  <a:srgbClr val="1E2D53"/>
                </a:solidFill>
                <a:effectLst/>
                <a:uLnTx/>
                <a:uFillTx/>
                <a:latin typeface="Lucida Sans" panose="020B0602030504020204" pitchFamily="34" charset="0"/>
                <a:ea typeface="+mn-ea"/>
                <a:cs typeface="Arial" pitchFamily="34" charset="0"/>
              </a:rPr>
              <a:t> </a:t>
            </a:r>
            <a:endParaRPr kumimoji="0" lang="en-US" altLang="en-US" sz="19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endParaRPr>
          </a:p>
        </p:txBody>
      </p:sp>
      <p:pic>
        <p:nvPicPr>
          <p:cNvPr id="14" name="Picture 13" descr="A black and grey text&#10;&#10;Description automatically generated">
            <a:extLst>
              <a:ext uri="{FF2B5EF4-FFF2-40B4-BE49-F238E27FC236}">
                <a16:creationId xmlns:a16="http://schemas.microsoft.com/office/drawing/2014/main" id="{DDB26810-6801-C190-2FE6-C90DB2818E2F}"/>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r="81947"/>
          <a:stretch/>
        </p:blipFill>
        <p:spPr>
          <a:xfrm>
            <a:off x="11835183" y="6480880"/>
            <a:ext cx="315482" cy="304226"/>
          </a:xfrm>
          <a:prstGeom prst="rect">
            <a:avLst/>
          </a:prstGeom>
        </p:spPr>
      </p:pic>
      <p:sp>
        <p:nvSpPr>
          <p:cNvPr id="24" name="TextBox 23">
            <a:extLst>
              <a:ext uri="{FF2B5EF4-FFF2-40B4-BE49-F238E27FC236}">
                <a16:creationId xmlns:a16="http://schemas.microsoft.com/office/drawing/2014/main" id="{0BEC81D6-F267-90AC-B3D2-C66294ADC7EA}"/>
              </a:ext>
            </a:extLst>
          </p:cNvPr>
          <p:cNvSpPr txBox="1"/>
          <p:nvPr/>
        </p:nvSpPr>
        <p:spPr>
          <a:xfrm>
            <a:off x="566210" y="6489777"/>
            <a:ext cx="11145729" cy="276979"/>
          </a:xfrm>
          <a:prstGeom prst="rect">
            <a:avLst/>
          </a:prstGeom>
          <a:noFill/>
        </p:spPr>
        <p:txBody>
          <a:bodyPr wrap="square" lIns="91034" tIns="45710" rIns="91034" bIns="45710" rtlCol="0">
            <a:spAutoFit/>
          </a:bodyPr>
          <a:lstStyle/>
          <a:p>
            <a:pPr marL="0" marR="0" lvl="0" indent="0" algn="l" defTabSz="121779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Source:</a:t>
            </a:r>
            <a:r>
              <a:rPr kumimoji="0" lang="en-US" sz="1050" b="0" i="1"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 </a:t>
            </a:r>
            <a:r>
              <a:rPr kumimoji="0" lang="en-US" sz="11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hlinkClick r:id="rId4">
                  <a:extLst>
                    <a:ext uri="{A12FA001-AC4F-418D-AE19-62706E023703}">
                      <ahyp:hlinkClr xmlns:ahyp="http://schemas.microsoft.com/office/drawing/2018/hyperlinkcolor" val="tx"/>
                    </a:ext>
                  </a:extLst>
                </a:hlinkClick>
              </a:rPr>
              <a:t>Upshot </a:t>
            </a:r>
            <a:r>
              <a:rPr kumimoji="0" lang="en-US" sz="11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 </a:t>
            </a:r>
            <a:r>
              <a:rPr kumimoji="0" lang="en-US" sz="11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hlinkClick r:id="rId5">
                  <a:extLst>
                    <a:ext uri="{A12FA001-AC4F-418D-AE19-62706E023703}">
                      <ahyp:hlinkClr xmlns:ahyp="http://schemas.microsoft.com/office/drawing/2018/hyperlinkcolor" val="tx"/>
                    </a:ext>
                  </a:extLst>
                </a:hlinkClick>
              </a:rPr>
              <a:t>NYT</a:t>
            </a:r>
            <a:r>
              <a:rPr kumimoji="0" lang="en-US" sz="11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 | </a:t>
            </a:r>
            <a:r>
              <a:rPr kumimoji="0" lang="en-US" sz="11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hlinkClick r:id="rId6">
                  <a:extLst>
                    <a:ext uri="{A12FA001-AC4F-418D-AE19-62706E023703}">
                      <ahyp:hlinkClr xmlns:ahyp="http://schemas.microsoft.com/office/drawing/2018/hyperlinkcolor" val="tx"/>
                    </a:ext>
                  </a:extLst>
                </a:hlinkClick>
              </a:rPr>
              <a:t>Forbes</a:t>
            </a:r>
            <a:r>
              <a:rPr kumimoji="0" lang="en-US" sz="11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 | </a:t>
            </a:r>
            <a:r>
              <a:rPr kumimoji="0" lang="en-US" sz="11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hlinkClick r:id="rId7">
                  <a:extLst>
                    <a:ext uri="{A12FA001-AC4F-418D-AE19-62706E023703}">
                      <ahyp:hlinkClr xmlns:ahyp="http://schemas.microsoft.com/office/drawing/2018/hyperlinkcolor" val="tx"/>
                    </a:ext>
                  </a:extLst>
                </a:hlinkClick>
              </a:rPr>
              <a:t>Rankings</a:t>
            </a:r>
            <a:r>
              <a:rPr kumimoji="0" lang="en-US" sz="11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 | </a:t>
            </a:r>
            <a:r>
              <a:rPr kumimoji="0" lang="en-US" sz="1100" b="0" i="1"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Testing</a:t>
            </a:r>
            <a:r>
              <a:rPr kumimoji="0" lang="en-US" sz="11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 </a:t>
            </a:r>
            <a:r>
              <a:rPr kumimoji="0" lang="en-US" sz="11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hlinkClick r:id="rId8">
                  <a:extLst>
                    <a:ext uri="{A12FA001-AC4F-418D-AE19-62706E023703}">
                      <ahyp:hlinkClr xmlns:ahyp="http://schemas.microsoft.com/office/drawing/2018/hyperlinkcolor" val="tx"/>
                    </a:ext>
                  </a:extLst>
                </a:hlinkClick>
              </a:rPr>
              <a:t>Brown</a:t>
            </a:r>
            <a:r>
              <a:rPr kumimoji="0" lang="en-US" sz="11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 | </a:t>
            </a:r>
            <a:r>
              <a:rPr kumimoji="0" lang="en-US" sz="11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hlinkClick r:id="rId9">
                  <a:extLst>
                    <a:ext uri="{A12FA001-AC4F-418D-AE19-62706E023703}">
                      <ahyp:hlinkClr xmlns:ahyp="http://schemas.microsoft.com/office/drawing/2018/hyperlinkcolor" val="tx"/>
                    </a:ext>
                  </a:extLst>
                </a:hlinkClick>
              </a:rPr>
              <a:t>Caltech</a:t>
            </a:r>
            <a:r>
              <a:rPr kumimoji="0" lang="en-US" sz="11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 | </a:t>
            </a:r>
            <a:r>
              <a:rPr kumimoji="0" lang="en-US" sz="11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hlinkClick r:id="rId10">
                  <a:extLst>
                    <a:ext uri="{A12FA001-AC4F-418D-AE19-62706E023703}">
                      <ahyp:hlinkClr xmlns:ahyp="http://schemas.microsoft.com/office/drawing/2018/hyperlinkcolor" val="tx"/>
                    </a:ext>
                  </a:extLst>
                </a:hlinkClick>
              </a:rPr>
              <a:t>Dartmouth</a:t>
            </a:r>
            <a:r>
              <a:rPr kumimoji="0" lang="en-US" sz="11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 | </a:t>
            </a:r>
            <a:r>
              <a:rPr kumimoji="0" lang="en-US" sz="11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hlinkClick r:id="rId11">
                  <a:extLst>
                    <a:ext uri="{A12FA001-AC4F-418D-AE19-62706E023703}">
                      <ahyp:hlinkClr xmlns:ahyp="http://schemas.microsoft.com/office/drawing/2018/hyperlinkcolor" val="tx"/>
                    </a:ext>
                  </a:extLst>
                </a:hlinkClick>
              </a:rPr>
              <a:t>Harvard</a:t>
            </a:r>
            <a:r>
              <a:rPr kumimoji="0" lang="en-US" sz="11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 | </a:t>
            </a:r>
            <a:r>
              <a:rPr kumimoji="0" lang="en-US" sz="11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hlinkClick r:id="rId12">
                  <a:extLst>
                    <a:ext uri="{A12FA001-AC4F-418D-AE19-62706E023703}">
                      <ahyp:hlinkClr xmlns:ahyp="http://schemas.microsoft.com/office/drawing/2018/hyperlinkcolor" val="tx"/>
                    </a:ext>
                  </a:extLst>
                </a:hlinkClick>
              </a:rPr>
              <a:t>Stanford</a:t>
            </a:r>
            <a:r>
              <a:rPr kumimoji="0" lang="en-US" sz="11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 | </a:t>
            </a:r>
            <a:r>
              <a:rPr kumimoji="0" lang="en-US" sz="11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hlinkClick r:id="rId13">
                  <a:extLst>
                    <a:ext uri="{A12FA001-AC4F-418D-AE19-62706E023703}">
                      <ahyp:hlinkClr xmlns:ahyp="http://schemas.microsoft.com/office/drawing/2018/hyperlinkcolor" val="tx"/>
                    </a:ext>
                  </a:extLst>
                </a:hlinkClick>
              </a:rPr>
              <a:t>Yale</a:t>
            </a:r>
            <a:r>
              <a:rPr kumimoji="0" lang="en-US" sz="11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 | </a:t>
            </a:r>
            <a:r>
              <a:rPr kumimoji="0" lang="en-US" sz="1100" b="0" i="1"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Admissions</a:t>
            </a:r>
            <a:r>
              <a:rPr kumimoji="0" lang="en-US" sz="11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 </a:t>
            </a:r>
            <a:r>
              <a:rPr kumimoji="0" lang="en-US" sz="11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hlinkClick r:id="rId14">
                  <a:extLst>
                    <a:ext uri="{A12FA001-AC4F-418D-AE19-62706E023703}">
                      <ahyp:hlinkClr xmlns:ahyp="http://schemas.microsoft.com/office/drawing/2018/hyperlinkcolor" val="tx"/>
                    </a:ext>
                  </a:extLst>
                </a:hlinkClick>
              </a:rPr>
              <a:t>California</a:t>
            </a:r>
            <a:r>
              <a:rPr kumimoji="0" lang="en-US" sz="11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 | </a:t>
            </a:r>
            <a:r>
              <a:rPr kumimoji="0" lang="en-US" sz="11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hlinkClick r:id="rId15">
                  <a:extLst>
                    <a:ext uri="{A12FA001-AC4F-418D-AE19-62706E023703}">
                      <ahyp:hlinkClr xmlns:ahyp="http://schemas.microsoft.com/office/drawing/2018/hyperlinkcolor" val="tx"/>
                    </a:ext>
                  </a:extLst>
                </a:hlinkClick>
              </a:rPr>
              <a:t>Virginia</a:t>
            </a:r>
            <a:r>
              <a:rPr kumimoji="0" lang="en-US" sz="11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 | </a:t>
            </a:r>
            <a:r>
              <a:rPr kumimoji="0" lang="en-US" sz="11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hlinkClick r:id="rId16">
                  <a:extLst>
                    <a:ext uri="{A12FA001-AC4F-418D-AE19-62706E023703}">
                      <ahyp:hlinkClr xmlns:ahyp="http://schemas.microsoft.com/office/drawing/2018/hyperlinkcolor" val="tx"/>
                    </a:ext>
                  </a:extLst>
                </a:hlinkClick>
              </a:rPr>
              <a:t>Minnesota</a:t>
            </a: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endParaRPr>
          </a:p>
        </p:txBody>
      </p:sp>
      <p:sp>
        <p:nvSpPr>
          <p:cNvPr id="5" name="Rectangle 4">
            <a:extLst>
              <a:ext uri="{FF2B5EF4-FFF2-40B4-BE49-F238E27FC236}">
                <a16:creationId xmlns:a16="http://schemas.microsoft.com/office/drawing/2014/main" id="{A84E11C6-5580-3B1B-53DB-7FD0A832A406}"/>
              </a:ext>
            </a:extLst>
          </p:cNvPr>
          <p:cNvSpPr>
            <a:spLocks noChangeArrowheads="1"/>
          </p:cNvSpPr>
          <p:nvPr/>
        </p:nvSpPr>
        <p:spPr bwMode="auto">
          <a:xfrm>
            <a:off x="609074" y="375319"/>
            <a:ext cx="1110286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262626"/>
                </a:solidFill>
                <a:effectLst/>
                <a:uLnTx/>
                <a:uFillTx/>
                <a:latin typeface="Lucida Bright" panose="02040602050505020304" pitchFamily="18" charset="0"/>
                <a:ea typeface="+mn-ea"/>
                <a:cs typeface="Arial" pitchFamily="34" charset="0"/>
              </a:rPr>
              <a:t>Higher Education Policies</a:t>
            </a:r>
          </a:p>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626365"/>
                </a:solidFill>
                <a:effectLst/>
                <a:uLnTx/>
                <a:uFillTx/>
                <a:latin typeface="Lucida Sans" panose="020B0602030504020204" pitchFamily="34" charset="0"/>
                <a:ea typeface="+mn-ea"/>
                <a:cs typeface="Arial" pitchFamily="34" charset="0"/>
              </a:rPr>
              <a:t>Shifting policies in college rankings, standardized testing, and admissions</a:t>
            </a:r>
          </a:p>
        </p:txBody>
      </p:sp>
      <p:cxnSp>
        <p:nvCxnSpPr>
          <p:cNvPr id="18" name="Straight Connector 17">
            <a:extLst>
              <a:ext uri="{FF2B5EF4-FFF2-40B4-BE49-F238E27FC236}">
                <a16:creationId xmlns:a16="http://schemas.microsoft.com/office/drawing/2014/main" id="{35FC9A03-D1B6-FB41-BF68-C826B097D8EF}"/>
              </a:ext>
            </a:extLst>
          </p:cNvPr>
          <p:cNvCxnSpPr>
            <a:cxnSpLocks/>
          </p:cNvCxnSpPr>
          <p:nvPr/>
        </p:nvCxnSpPr>
        <p:spPr>
          <a:xfrm>
            <a:off x="620980" y="6483107"/>
            <a:ext cx="109536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A7A0905F-8E57-8388-7F3A-BDB95BCFAD53}"/>
              </a:ext>
            </a:extLst>
          </p:cNvPr>
          <p:cNvCxnSpPr>
            <a:cxnSpLocks/>
            <a:stCxn id="9" idx="3"/>
            <a:endCxn id="3" idx="1"/>
          </p:cNvCxnSpPr>
          <p:nvPr/>
        </p:nvCxnSpPr>
        <p:spPr>
          <a:xfrm>
            <a:off x="6099438" y="1772391"/>
            <a:ext cx="445991" cy="5739"/>
          </a:xfrm>
          <a:prstGeom prst="straightConnector1">
            <a:avLst/>
          </a:prstGeom>
          <a:ln w="3175">
            <a:solidFill>
              <a:schemeClr val="tx1"/>
            </a:solidFill>
            <a:prstDash val="sysDot"/>
            <a:tailEnd type="triangle" w="lg" len="lg"/>
          </a:ln>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09798F75-E580-36D3-98B7-80E009743721}"/>
              </a:ext>
            </a:extLst>
          </p:cNvPr>
          <p:cNvSpPr/>
          <p:nvPr/>
        </p:nvSpPr>
        <p:spPr>
          <a:xfrm>
            <a:off x="6545429" y="1320930"/>
            <a:ext cx="5029200" cy="9144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82880" tIns="182880" rIns="182880" bIns="91440"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Times" panose="02020603050405020304" pitchFamily="18" charset="0"/>
              </a:rPr>
              <a:t>U.S. News updates college rankings to include emphasis on social mobility</a:t>
            </a:r>
          </a:p>
        </p:txBody>
      </p:sp>
      <p:grpSp>
        <p:nvGrpSpPr>
          <p:cNvPr id="76" name="Group 75">
            <a:extLst>
              <a:ext uri="{FF2B5EF4-FFF2-40B4-BE49-F238E27FC236}">
                <a16:creationId xmlns:a16="http://schemas.microsoft.com/office/drawing/2014/main" id="{66931139-3BDB-C47E-1826-A2FACE3AE93C}"/>
              </a:ext>
            </a:extLst>
          </p:cNvPr>
          <p:cNvGrpSpPr/>
          <p:nvPr/>
        </p:nvGrpSpPr>
        <p:grpSpPr>
          <a:xfrm>
            <a:off x="6545429" y="2858372"/>
            <a:ext cx="5029200" cy="914400"/>
            <a:chOff x="6545429" y="3062772"/>
            <a:chExt cx="5029200" cy="1307592"/>
          </a:xfrm>
        </p:grpSpPr>
        <p:sp>
          <p:nvSpPr>
            <p:cNvPr id="4" name="Rectangle 3">
              <a:extLst>
                <a:ext uri="{FF2B5EF4-FFF2-40B4-BE49-F238E27FC236}">
                  <a16:creationId xmlns:a16="http://schemas.microsoft.com/office/drawing/2014/main" id="{F41EB617-BC33-3211-6D6A-3A921A21B4B9}"/>
                </a:ext>
              </a:extLst>
            </p:cNvPr>
            <p:cNvSpPr/>
            <p:nvPr/>
          </p:nvSpPr>
          <p:spPr>
            <a:xfrm>
              <a:off x="6545429" y="3062772"/>
              <a:ext cx="5029200" cy="1307592"/>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82880" tIns="182880" rIns="182880" bIns="91440"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mn-cs"/>
                </a:rPr>
                <a:t>Top colleges reinstate standardized test requirements for admissions</a:t>
              </a:r>
            </a:p>
          </p:txBody>
        </p:sp>
        <p:cxnSp>
          <p:nvCxnSpPr>
            <p:cNvPr id="51" name="Straight Connector 50">
              <a:extLst>
                <a:ext uri="{FF2B5EF4-FFF2-40B4-BE49-F238E27FC236}">
                  <a16:creationId xmlns:a16="http://schemas.microsoft.com/office/drawing/2014/main" id="{B1F181EF-9656-7D18-D946-D027A3D31833}"/>
                </a:ext>
              </a:extLst>
            </p:cNvPr>
            <p:cNvCxnSpPr>
              <a:cxnSpLocks/>
            </p:cNvCxnSpPr>
            <p:nvPr/>
          </p:nvCxnSpPr>
          <p:spPr>
            <a:xfrm>
              <a:off x="7138011" y="3207178"/>
              <a:ext cx="0" cy="261518"/>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7E2F5EC5-0020-1197-2528-CD8D3BF300AB}"/>
                </a:ext>
              </a:extLst>
            </p:cNvPr>
            <p:cNvCxnSpPr>
              <a:cxnSpLocks/>
            </p:cNvCxnSpPr>
            <p:nvPr/>
          </p:nvCxnSpPr>
          <p:spPr>
            <a:xfrm>
              <a:off x="7674341" y="3207178"/>
              <a:ext cx="0" cy="261518"/>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2885DD98-EFD2-D798-CC2B-461B3C3376E9}"/>
                </a:ext>
              </a:extLst>
            </p:cNvPr>
            <p:cNvCxnSpPr>
              <a:cxnSpLocks/>
            </p:cNvCxnSpPr>
            <p:nvPr/>
          </p:nvCxnSpPr>
          <p:spPr>
            <a:xfrm>
              <a:off x="8266196" y="3207178"/>
              <a:ext cx="0" cy="261518"/>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78C6D0A6-4B40-21F2-36B7-1AF3A80DE147}"/>
                </a:ext>
              </a:extLst>
            </p:cNvPr>
            <p:cNvCxnSpPr>
              <a:cxnSpLocks/>
            </p:cNvCxnSpPr>
            <p:nvPr/>
          </p:nvCxnSpPr>
          <p:spPr>
            <a:xfrm>
              <a:off x="8921956" y="3207178"/>
              <a:ext cx="0" cy="261518"/>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741D3E7F-B643-714D-0F0A-CBCCDC0CDDC7}"/>
                </a:ext>
              </a:extLst>
            </p:cNvPr>
            <p:cNvCxnSpPr>
              <a:cxnSpLocks/>
            </p:cNvCxnSpPr>
            <p:nvPr/>
          </p:nvCxnSpPr>
          <p:spPr>
            <a:xfrm>
              <a:off x="9549302" y="3207178"/>
              <a:ext cx="0" cy="261518"/>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7" name="Straight Arrow Connector 56">
            <a:extLst>
              <a:ext uri="{FF2B5EF4-FFF2-40B4-BE49-F238E27FC236}">
                <a16:creationId xmlns:a16="http://schemas.microsoft.com/office/drawing/2014/main" id="{C617946A-CD47-19F5-1465-70DA7101884C}"/>
              </a:ext>
            </a:extLst>
          </p:cNvPr>
          <p:cNvCxnSpPr>
            <a:cxnSpLocks/>
          </p:cNvCxnSpPr>
          <p:nvPr/>
        </p:nvCxnSpPr>
        <p:spPr>
          <a:xfrm>
            <a:off x="6097765" y="4897276"/>
            <a:ext cx="447664" cy="0"/>
          </a:xfrm>
          <a:prstGeom prst="straightConnector1">
            <a:avLst/>
          </a:prstGeom>
          <a:ln w="3175">
            <a:solidFill>
              <a:schemeClr val="tx1"/>
            </a:solidFill>
            <a:prstDash val="sysDot"/>
            <a:tailEnd type="triangle" w="lg" len="lg"/>
          </a:ln>
        </p:spPr>
        <p:style>
          <a:lnRef idx="2">
            <a:schemeClr val="accent1"/>
          </a:lnRef>
          <a:fillRef idx="0">
            <a:schemeClr val="accent1"/>
          </a:fillRef>
          <a:effectRef idx="1">
            <a:schemeClr val="accent1"/>
          </a:effectRef>
          <a:fontRef idx="minor">
            <a:schemeClr val="tx1"/>
          </a:fontRef>
        </p:style>
      </p:cxnSp>
      <p:grpSp>
        <p:nvGrpSpPr>
          <p:cNvPr id="77" name="Group 76">
            <a:extLst>
              <a:ext uri="{FF2B5EF4-FFF2-40B4-BE49-F238E27FC236}">
                <a16:creationId xmlns:a16="http://schemas.microsoft.com/office/drawing/2014/main" id="{9EB0E490-A042-3D29-369A-D42604FA8E11}"/>
              </a:ext>
            </a:extLst>
          </p:cNvPr>
          <p:cNvGrpSpPr/>
          <p:nvPr/>
        </p:nvGrpSpPr>
        <p:grpSpPr>
          <a:xfrm>
            <a:off x="6545429" y="5475176"/>
            <a:ext cx="5029200" cy="914400"/>
            <a:chOff x="6545429" y="4498417"/>
            <a:chExt cx="5029200" cy="1307592"/>
          </a:xfrm>
        </p:grpSpPr>
        <p:sp>
          <p:nvSpPr>
            <p:cNvPr id="6" name="Rectangle 5">
              <a:extLst>
                <a:ext uri="{FF2B5EF4-FFF2-40B4-BE49-F238E27FC236}">
                  <a16:creationId xmlns:a16="http://schemas.microsoft.com/office/drawing/2014/main" id="{B8CA0A55-5FBD-F85B-3F02-7762E32E3792}"/>
                </a:ext>
              </a:extLst>
            </p:cNvPr>
            <p:cNvSpPr/>
            <p:nvPr/>
          </p:nvSpPr>
          <p:spPr>
            <a:xfrm>
              <a:off x="6545429" y="4498417"/>
              <a:ext cx="5029200" cy="1307592"/>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82880" tIns="182880" rIns="182880" bIns="91440"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mn-cs"/>
                </a:rPr>
                <a:t>States pass laws banning legacy and donor preferences in admissions</a:t>
              </a:r>
            </a:p>
          </p:txBody>
        </p:sp>
        <p:cxnSp>
          <p:nvCxnSpPr>
            <p:cNvPr id="66" name="Straight Connector 65">
              <a:extLst>
                <a:ext uri="{FF2B5EF4-FFF2-40B4-BE49-F238E27FC236}">
                  <a16:creationId xmlns:a16="http://schemas.microsoft.com/office/drawing/2014/main" id="{31BE0E5A-45E1-C853-EAA0-A93A55171B8E}"/>
                </a:ext>
              </a:extLst>
            </p:cNvPr>
            <p:cNvCxnSpPr>
              <a:cxnSpLocks/>
            </p:cNvCxnSpPr>
            <p:nvPr/>
          </p:nvCxnSpPr>
          <p:spPr>
            <a:xfrm>
              <a:off x="7348909" y="4648696"/>
              <a:ext cx="0" cy="261518"/>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C2DCDA56-FD1C-0837-5383-1344DA0E0206}"/>
                </a:ext>
              </a:extLst>
            </p:cNvPr>
            <p:cNvCxnSpPr>
              <a:cxnSpLocks/>
            </p:cNvCxnSpPr>
            <p:nvPr/>
          </p:nvCxnSpPr>
          <p:spPr>
            <a:xfrm>
              <a:off x="7998310" y="4648696"/>
              <a:ext cx="0" cy="261518"/>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 name="Straight Connector 1">
            <a:extLst>
              <a:ext uri="{FF2B5EF4-FFF2-40B4-BE49-F238E27FC236}">
                <a16:creationId xmlns:a16="http://schemas.microsoft.com/office/drawing/2014/main" id="{D34004AC-A058-E060-9F3A-CF50665312D9}"/>
              </a:ext>
            </a:extLst>
          </p:cNvPr>
          <p:cNvCxnSpPr>
            <a:cxnSpLocks/>
          </p:cNvCxnSpPr>
          <p:nvPr/>
        </p:nvCxnSpPr>
        <p:spPr>
          <a:xfrm>
            <a:off x="620980" y="1000920"/>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pic>
        <p:nvPicPr>
          <p:cNvPr id="19" name="Picture 4">
            <a:extLst>
              <a:ext uri="{FF2B5EF4-FFF2-40B4-BE49-F238E27FC236}">
                <a16:creationId xmlns:a16="http://schemas.microsoft.com/office/drawing/2014/main" id="{46FF69BD-A0B9-5AAF-BEE7-9F6E41E41925}"/>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705572" y="1405589"/>
            <a:ext cx="645460" cy="164592"/>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Heraldry of Harvard University - Wikipedia">
            <a:extLst>
              <a:ext uri="{FF2B5EF4-FFF2-40B4-BE49-F238E27FC236}">
                <a16:creationId xmlns:a16="http://schemas.microsoft.com/office/drawing/2014/main" id="{1497B449-4AE6-BE22-F739-585F6E0AD435}"/>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507775" y="2907517"/>
            <a:ext cx="285737" cy="278139"/>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 descr="Dartmouth logo">
            <a:extLst>
              <a:ext uri="{FF2B5EF4-FFF2-40B4-BE49-F238E27FC236}">
                <a16:creationId xmlns:a16="http://schemas.microsoft.com/office/drawing/2014/main" id="{36E4AA38-7F8D-9E7C-5D25-D22B5BD601D6}"/>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868448" y="2907517"/>
            <a:ext cx="259725" cy="278139"/>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8">
            <a:extLst>
              <a:ext uri="{FF2B5EF4-FFF2-40B4-BE49-F238E27FC236}">
                <a16:creationId xmlns:a16="http://schemas.microsoft.com/office/drawing/2014/main" id="{2088240A-1773-7AB8-585E-B6ED62413349}"/>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756883" y="2963324"/>
            <a:ext cx="416242" cy="17891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4" descr="Download California Institute of Technology (Caltech) Logo in SVG Vector or  PNG File Format - Logo.wine">
            <a:extLst>
              <a:ext uri="{FF2B5EF4-FFF2-40B4-BE49-F238E27FC236}">
                <a16:creationId xmlns:a16="http://schemas.microsoft.com/office/drawing/2014/main" id="{220EE2D2-100A-0C55-6C77-E732C6EF9984}"/>
              </a:ext>
            </a:extLst>
          </p:cNvPr>
          <p:cNvPicPr>
            <a:picLocks noChangeAspect="1" noChangeArrowheads="1"/>
          </p:cNvPicPr>
          <p:nvPr/>
        </p:nvPicPr>
        <p:blipFill rotWithShape="1">
          <a:blip r:embed="rId21">
            <a:extLst>
              <a:ext uri="{28A0092B-C50C-407E-A947-70E740481C1C}">
                <a14:useLocalDpi xmlns:a14="http://schemas.microsoft.com/office/drawing/2010/main" val="0"/>
              </a:ext>
            </a:extLst>
          </a:blip>
          <a:srcRect l="10078" r="8903"/>
          <a:stretch/>
        </p:blipFill>
        <p:spPr bwMode="auto">
          <a:xfrm>
            <a:off x="7289738" y="2907518"/>
            <a:ext cx="338016" cy="278138"/>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16" descr="Block S with Tree - Identity Guide">
            <a:extLst>
              <a:ext uri="{FF2B5EF4-FFF2-40B4-BE49-F238E27FC236}">
                <a16:creationId xmlns:a16="http://schemas.microsoft.com/office/drawing/2014/main" id="{8384298F-D4EA-4182-2D7C-68D8C1896E59}"/>
              </a:ext>
            </a:extLst>
          </p:cNvPr>
          <p:cNvPicPr>
            <a:picLocks noChangeAspect="1" noChangeArrowheads="1"/>
          </p:cNvPicPr>
          <p:nvPr/>
        </p:nvPicPr>
        <p:blipFill rotWithShape="1">
          <a:blip r:embed="rId22">
            <a:extLst>
              <a:ext uri="{28A0092B-C50C-407E-A947-70E740481C1C}">
                <a14:useLocalDpi xmlns:a14="http://schemas.microsoft.com/office/drawing/2010/main" val="0"/>
              </a:ext>
            </a:extLst>
          </a:blip>
          <a:srcRect l="17815" r="19771"/>
          <a:stretch/>
        </p:blipFill>
        <p:spPr bwMode="auto">
          <a:xfrm>
            <a:off x="9168123" y="2907518"/>
            <a:ext cx="173598" cy="278138"/>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18" descr="Brown University logo transparent PNG - StickPNG">
            <a:extLst>
              <a:ext uri="{FF2B5EF4-FFF2-40B4-BE49-F238E27FC236}">
                <a16:creationId xmlns:a16="http://schemas.microsoft.com/office/drawing/2014/main" id="{51D79D0D-8EBD-E2B2-5690-411102A09C4E}"/>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705572" y="2907517"/>
            <a:ext cx="239063" cy="278139"/>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4" descr="outline drawing of virginia state map. 26573632 PNG">
            <a:extLst>
              <a:ext uri="{FF2B5EF4-FFF2-40B4-BE49-F238E27FC236}">
                <a16:creationId xmlns:a16="http://schemas.microsoft.com/office/drawing/2014/main" id="{5D253213-2967-20ED-DA70-150FF7666855}"/>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493684" y="5589408"/>
            <a:ext cx="338710" cy="164592"/>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 descr="California Distributes $192 Million for More Clean Transit - Spotlight on  Poverty and Opportunity">
            <a:extLst>
              <a:ext uri="{FF2B5EF4-FFF2-40B4-BE49-F238E27FC236}">
                <a16:creationId xmlns:a16="http://schemas.microsoft.com/office/drawing/2014/main" id="{4A861EC3-CCDD-3C7D-3FC5-AF25DA593069}"/>
              </a:ext>
            </a:extLst>
          </p:cNvPr>
          <p:cNvPicPr>
            <a:picLocks noChangeAspect="1" noChangeArrowheads="1"/>
          </p:cNvPicPr>
          <p:nvPr/>
        </p:nvPicPr>
        <p:blipFill rotWithShape="1">
          <a:blip r:embed="rId25">
            <a:extLst>
              <a:ext uri="{28A0092B-C50C-407E-A947-70E740481C1C}">
                <a14:useLocalDpi xmlns:a14="http://schemas.microsoft.com/office/drawing/2010/main" val="0"/>
              </a:ext>
            </a:extLst>
          </a:blip>
          <a:srcRect l="12956" t="29101" b="28953"/>
          <a:stretch/>
        </p:blipFill>
        <p:spPr bwMode="auto">
          <a:xfrm>
            <a:off x="6705572" y="5580265"/>
            <a:ext cx="475567" cy="182879"/>
          </a:xfrm>
          <a:prstGeom prst="rect">
            <a:avLst/>
          </a:prstGeom>
          <a:noFill/>
          <a:ln w="3175">
            <a:noFill/>
          </a:ln>
          <a:extLst>
            <a:ext uri="{909E8E84-426E-40DD-AFC4-6F175D3DCCD1}">
              <a14:hiddenFill xmlns:a14="http://schemas.microsoft.com/office/drawing/2010/main">
                <a:solidFill>
                  <a:srgbClr val="FFFFFF"/>
                </a:solidFill>
              </a14:hiddenFill>
            </a:ext>
          </a:extLst>
        </p:spPr>
      </p:pic>
      <p:pic>
        <p:nvPicPr>
          <p:cNvPr id="30" name="Picture 2" descr="Logos / mn.gov // Minnesota's State Portal">
            <a:extLst>
              <a:ext uri="{FF2B5EF4-FFF2-40B4-BE49-F238E27FC236}">
                <a16:creationId xmlns:a16="http://schemas.microsoft.com/office/drawing/2014/main" id="{38BE2305-9255-851E-D79D-EBA8EC37E5AF}"/>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8131379" y="5604856"/>
            <a:ext cx="1097279" cy="164592"/>
          </a:xfrm>
          <a:prstGeom prst="rect">
            <a:avLst/>
          </a:prstGeom>
          <a:noFill/>
          <a:extLst>
            <a:ext uri="{909E8E84-426E-40DD-AFC4-6F175D3DCCD1}">
              <a14:hiddenFill xmlns:a14="http://schemas.microsoft.com/office/drawing/2010/main">
                <a:solidFill>
                  <a:srgbClr val="FFFFFF"/>
                </a:solidFill>
              </a14:hiddenFill>
            </a:ext>
          </a:extLst>
        </p:spPr>
      </p:pic>
      <p:grpSp>
        <p:nvGrpSpPr>
          <p:cNvPr id="48" name="Group 47">
            <a:extLst>
              <a:ext uri="{FF2B5EF4-FFF2-40B4-BE49-F238E27FC236}">
                <a16:creationId xmlns:a16="http://schemas.microsoft.com/office/drawing/2014/main" id="{80504D3C-8BE7-2EEF-344F-989679DABDF7}"/>
              </a:ext>
            </a:extLst>
          </p:cNvPr>
          <p:cNvGrpSpPr/>
          <p:nvPr/>
        </p:nvGrpSpPr>
        <p:grpSpPr>
          <a:xfrm>
            <a:off x="6545429" y="4382612"/>
            <a:ext cx="5029200" cy="914400"/>
            <a:chOff x="6545429" y="4423248"/>
            <a:chExt cx="5029200" cy="914400"/>
          </a:xfrm>
        </p:grpSpPr>
        <p:sp>
          <p:nvSpPr>
            <p:cNvPr id="32" name="Rectangle 31">
              <a:extLst>
                <a:ext uri="{FF2B5EF4-FFF2-40B4-BE49-F238E27FC236}">
                  <a16:creationId xmlns:a16="http://schemas.microsoft.com/office/drawing/2014/main" id="{A85FF2A1-CA6D-5CA5-E82B-281DBEFB56A7}"/>
                </a:ext>
              </a:extLst>
            </p:cNvPr>
            <p:cNvSpPr/>
            <p:nvPr/>
          </p:nvSpPr>
          <p:spPr>
            <a:xfrm>
              <a:off x="6545429" y="4423248"/>
              <a:ext cx="5029200" cy="9144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82880" tIns="182880" rIns="182880" bIns="91440"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mn-cs"/>
                </a:rPr>
                <a:t>Yale College uses place-based data from Opportunity Atlas in admissions review</a:t>
              </a:r>
            </a:p>
          </p:txBody>
        </p:sp>
        <p:pic>
          <p:nvPicPr>
            <p:cNvPr id="36" name="Picture 8">
              <a:extLst>
                <a:ext uri="{FF2B5EF4-FFF2-40B4-BE49-F238E27FC236}">
                  <a16:creationId xmlns:a16="http://schemas.microsoft.com/office/drawing/2014/main" id="{270F818B-A6A6-F4B3-5EDB-D6B94D3F34CD}"/>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705572" y="4517038"/>
              <a:ext cx="416242" cy="17891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 name="Group 9">
            <a:extLst>
              <a:ext uri="{FF2B5EF4-FFF2-40B4-BE49-F238E27FC236}">
                <a16:creationId xmlns:a16="http://schemas.microsoft.com/office/drawing/2014/main" id="{F64052A5-8829-B128-5957-B024211502CC}"/>
              </a:ext>
            </a:extLst>
          </p:cNvPr>
          <p:cNvGrpSpPr/>
          <p:nvPr/>
        </p:nvGrpSpPr>
        <p:grpSpPr>
          <a:xfrm>
            <a:off x="613038" y="1320930"/>
            <a:ext cx="5486400" cy="1303717"/>
            <a:chOff x="613038" y="1408051"/>
            <a:chExt cx="5212080" cy="1303717"/>
          </a:xfrm>
        </p:grpSpPr>
        <p:sp>
          <p:nvSpPr>
            <p:cNvPr id="13" name="TextBox 12">
              <a:extLst>
                <a:ext uri="{FF2B5EF4-FFF2-40B4-BE49-F238E27FC236}">
                  <a16:creationId xmlns:a16="http://schemas.microsoft.com/office/drawing/2014/main" id="{33F49B0A-47E2-D195-242B-F795504ACA85}"/>
                </a:ext>
              </a:extLst>
            </p:cNvPr>
            <p:cNvSpPr txBox="1"/>
            <p:nvPr/>
          </p:nvSpPr>
          <p:spPr>
            <a:xfrm>
              <a:off x="4036196" y="1408051"/>
              <a:ext cx="1645920" cy="246221"/>
            </a:xfrm>
            <a:prstGeom prst="rect">
              <a:avLst/>
            </a:prstGeom>
            <a:solidFill>
              <a:schemeClr val="tx1"/>
            </a:solidFill>
            <a:ln w="3175">
              <a:solidFill>
                <a:schemeClr val="tx1"/>
              </a:solidFill>
            </a:ln>
          </p:spPr>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Lucida Sans" panose="020B0602030504020204" pitchFamily="34" charset="0"/>
                  <a:ea typeface="+mn-ea"/>
                  <a:cs typeface="+mn-cs"/>
                </a:rPr>
                <a:t>College Rankings</a:t>
              </a:r>
            </a:p>
          </p:txBody>
        </p:sp>
        <p:grpSp>
          <p:nvGrpSpPr>
            <p:cNvPr id="31" name="Group 30">
              <a:extLst>
                <a:ext uri="{FF2B5EF4-FFF2-40B4-BE49-F238E27FC236}">
                  <a16:creationId xmlns:a16="http://schemas.microsoft.com/office/drawing/2014/main" id="{DDA491B0-C42A-70B9-69C1-4160E545CF31}"/>
                </a:ext>
              </a:extLst>
            </p:cNvPr>
            <p:cNvGrpSpPr/>
            <p:nvPr/>
          </p:nvGrpSpPr>
          <p:grpSpPr>
            <a:xfrm>
              <a:off x="613038" y="1408051"/>
              <a:ext cx="5212080" cy="1303717"/>
              <a:chOff x="613038" y="1627126"/>
              <a:chExt cx="5212080" cy="1303717"/>
            </a:xfrm>
          </p:grpSpPr>
          <p:sp>
            <p:nvSpPr>
              <p:cNvPr id="33" name="Rectangle 32">
                <a:extLst>
                  <a:ext uri="{FF2B5EF4-FFF2-40B4-BE49-F238E27FC236}">
                    <a16:creationId xmlns:a16="http://schemas.microsoft.com/office/drawing/2014/main" id="{527AF2F2-838D-5F7F-54DC-7ED46F5B999E}"/>
                  </a:ext>
                </a:extLst>
              </p:cNvPr>
              <p:cNvSpPr/>
              <p:nvPr/>
            </p:nvSpPr>
            <p:spPr>
              <a:xfrm>
                <a:off x="613038" y="1627126"/>
                <a:ext cx="5212080" cy="1303717"/>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82880" tIns="182880" rIns="182880" bIns="91440"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Times" panose="02020603050405020304" pitchFamily="18" charset="0"/>
                  </a:rPr>
                  <a:t>Some Colleges Have More Students From the Top 1 Percent Than the Bottom 60. Find Yours.</a:t>
                </a:r>
              </a:p>
            </p:txBody>
          </p:sp>
          <p:pic>
            <p:nvPicPr>
              <p:cNvPr id="34" name="Picture 6" descr="New York Times: The Upshot - michaelmccaughley.com">
                <a:extLst>
                  <a:ext uri="{FF2B5EF4-FFF2-40B4-BE49-F238E27FC236}">
                    <a16:creationId xmlns:a16="http://schemas.microsoft.com/office/drawing/2014/main" id="{AEA08AE3-69D9-55AE-74B0-604041419058}"/>
                  </a:ext>
                </a:extLst>
              </p:cNvPr>
              <p:cNvPicPr>
                <a:picLocks noChangeAspect="1" noChangeArrowheads="1"/>
              </p:cNvPicPr>
              <p:nvPr/>
            </p:nvPicPr>
            <p:blipFill rotWithShape="1">
              <a:blip r:embed="rId27">
                <a:extLst>
                  <a:ext uri="{28A0092B-C50C-407E-A947-70E740481C1C}">
                    <a14:useLocalDpi xmlns:a14="http://schemas.microsoft.com/office/drawing/2010/main" val="0"/>
                  </a:ext>
                </a:extLst>
              </a:blip>
              <a:srcRect l="10972" t="37544" b="36452"/>
              <a:stretch/>
            </p:blipFill>
            <p:spPr bwMode="auto">
              <a:xfrm>
                <a:off x="804129" y="1814497"/>
                <a:ext cx="2318457" cy="433403"/>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35" name="Group 34">
            <a:extLst>
              <a:ext uri="{FF2B5EF4-FFF2-40B4-BE49-F238E27FC236}">
                <a16:creationId xmlns:a16="http://schemas.microsoft.com/office/drawing/2014/main" id="{F8B439BE-3D1B-50DA-E6C4-2ED6D1F89C00}"/>
              </a:ext>
            </a:extLst>
          </p:cNvPr>
          <p:cNvGrpSpPr/>
          <p:nvPr/>
        </p:nvGrpSpPr>
        <p:grpSpPr>
          <a:xfrm>
            <a:off x="612949" y="2851771"/>
            <a:ext cx="5486400" cy="1303716"/>
            <a:chOff x="612949" y="3062772"/>
            <a:chExt cx="5212080" cy="1303716"/>
          </a:xfrm>
        </p:grpSpPr>
        <p:sp>
          <p:nvSpPr>
            <p:cNvPr id="40" name="Rectangle 39">
              <a:extLst>
                <a:ext uri="{FF2B5EF4-FFF2-40B4-BE49-F238E27FC236}">
                  <a16:creationId xmlns:a16="http://schemas.microsoft.com/office/drawing/2014/main" id="{7CD56DE0-2453-227B-6163-2FBF3336881A}"/>
                </a:ext>
              </a:extLst>
            </p:cNvPr>
            <p:cNvSpPr/>
            <p:nvPr/>
          </p:nvSpPr>
          <p:spPr>
            <a:xfrm>
              <a:off x="612949" y="3062772"/>
              <a:ext cx="5212080" cy="1303716"/>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82880" tIns="182880" rIns="182880" bIns="91440"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Times" panose="02020603050405020304" pitchFamily="18" charset="0"/>
                </a:rPr>
                <a:t>The Misguided War on the SAT</a:t>
              </a:r>
              <a:b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Times" panose="02020603050405020304" pitchFamily="18" charset="0"/>
                </a:rPr>
              </a:br>
              <a:r>
                <a:rPr kumimoji="0" lang="en-US" sz="1200" b="0" i="0" u="none" strike="noStrike" kern="1200" cap="none" spc="0" normalizeH="0" baseline="0" noProof="0" dirty="0">
                  <a:ln>
                    <a:noFill/>
                  </a:ln>
                  <a:solidFill>
                    <a:prstClr val="black"/>
                  </a:solidFill>
                  <a:effectLst/>
                  <a:uLnTx/>
                  <a:uFillTx/>
                  <a:latin typeface="Lucida Bright" panose="02040602050505020304" pitchFamily="18" charset="0"/>
                  <a:ea typeface="+mn-ea"/>
                  <a:cs typeface="Times" panose="02020603050405020304" pitchFamily="18" charset="0"/>
                </a:rPr>
                <a:t>Test scores can be particularly helpful in identifying lower-income students who will thrive. </a:t>
              </a:r>
            </a:p>
          </p:txBody>
        </p:sp>
        <p:pic>
          <p:nvPicPr>
            <p:cNvPr id="41" name="Picture 40">
              <a:extLst>
                <a:ext uri="{FF2B5EF4-FFF2-40B4-BE49-F238E27FC236}">
                  <a16:creationId xmlns:a16="http://schemas.microsoft.com/office/drawing/2014/main" id="{2AC70D11-54A4-2644-012C-DF09626E5D91}"/>
                </a:ext>
              </a:extLst>
            </p:cNvPr>
            <p:cNvPicPr>
              <a:picLocks noChangeAspect="1"/>
            </p:cNvPicPr>
            <p:nvPr/>
          </p:nvPicPr>
          <p:blipFill>
            <a:blip r:embed="rId28"/>
            <a:stretch>
              <a:fillRect/>
            </a:stretch>
          </p:blipFill>
          <p:spPr>
            <a:xfrm>
              <a:off x="777610" y="3166371"/>
              <a:ext cx="2527946" cy="455866"/>
            </a:xfrm>
            <a:prstGeom prst="rect">
              <a:avLst/>
            </a:prstGeom>
          </p:spPr>
        </p:pic>
        <p:sp>
          <p:nvSpPr>
            <p:cNvPr id="42" name="TextBox 41">
              <a:extLst>
                <a:ext uri="{FF2B5EF4-FFF2-40B4-BE49-F238E27FC236}">
                  <a16:creationId xmlns:a16="http://schemas.microsoft.com/office/drawing/2014/main" id="{3FFF4429-1E28-14D9-51F4-3F644CBD9E3D}"/>
                </a:ext>
              </a:extLst>
            </p:cNvPr>
            <p:cNvSpPr txBox="1"/>
            <p:nvPr/>
          </p:nvSpPr>
          <p:spPr>
            <a:xfrm>
              <a:off x="4036196" y="3062772"/>
              <a:ext cx="1645920" cy="246221"/>
            </a:xfrm>
            <a:prstGeom prst="rect">
              <a:avLst/>
            </a:prstGeom>
            <a:solidFill>
              <a:schemeClr val="tx1"/>
            </a:solidFill>
            <a:ln w="3175">
              <a:solidFill>
                <a:schemeClr val="tx1"/>
              </a:solidFill>
            </a:ln>
          </p:spPr>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Lucida Sans" panose="020B0602030504020204" pitchFamily="34" charset="0"/>
                  <a:ea typeface="+mn-ea"/>
                  <a:cs typeface="+mn-cs"/>
                </a:rPr>
                <a:t>Standardized Testing</a:t>
              </a:r>
            </a:p>
          </p:txBody>
        </p:sp>
      </p:grpSp>
      <p:grpSp>
        <p:nvGrpSpPr>
          <p:cNvPr id="43" name="Group 42">
            <a:extLst>
              <a:ext uri="{FF2B5EF4-FFF2-40B4-BE49-F238E27FC236}">
                <a16:creationId xmlns:a16="http://schemas.microsoft.com/office/drawing/2014/main" id="{F1F23415-CD9A-8D52-3457-DA7B968F1644}"/>
              </a:ext>
            </a:extLst>
          </p:cNvPr>
          <p:cNvGrpSpPr/>
          <p:nvPr/>
        </p:nvGrpSpPr>
        <p:grpSpPr>
          <a:xfrm>
            <a:off x="611365" y="4382612"/>
            <a:ext cx="5486400" cy="1303716"/>
            <a:chOff x="611365" y="4504658"/>
            <a:chExt cx="5212080" cy="1303716"/>
          </a:xfrm>
        </p:grpSpPr>
        <p:sp>
          <p:nvSpPr>
            <p:cNvPr id="44" name="Rectangle 43">
              <a:extLst>
                <a:ext uri="{FF2B5EF4-FFF2-40B4-BE49-F238E27FC236}">
                  <a16:creationId xmlns:a16="http://schemas.microsoft.com/office/drawing/2014/main" id="{73D45862-4E3E-1A38-AC42-DD52AAF3EFD3}"/>
                </a:ext>
              </a:extLst>
            </p:cNvPr>
            <p:cNvSpPr/>
            <p:nvPr/>
          </p:nvSpPr>
          <p:spPr>
            <a:xfrm>
              <a:off x="611365" y="4504658"/>
              <a:ext cx="5212080" cy="1303716"/>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82880" tIns="182880" rIns="182880" bIns="91440"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Times" panose="02020603050405020304" pitchFamily="18" charset="0"/>
                </a:rPr>
                <a:t>How The Admission Practices Of Elite Colleges Perpetuate The Advantages Of The Wealthy</a:t>
              </a:r>
            </a:p>
          </p:txBody>
        </p:sp>
        <p:pic>
          <p:nvPicPr>
            <p:cNvPr id="45" name="Picture 2">
              <a:extLst>
                <a:ext uri="{FF2B5EF4-FFF2-40B4-BE49-F238E27FC236}">
                  <a16:creationId xmlns:a16="http://schemas.microsoft.com/office/drawing/2014/main" id="{B65ABFEA-F69C-C6E6-4A9A-89345F332D7B}"/>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777610" y="4673745"/>
              <a:ext cx="1571922" cy="424910"/>
            </a:xfrm>
            <a:prstGeom prst="rect">
              <a:avLst/>
            </a:prstGeom>
            <a:noFill/>
            <a:extLst>
              <a:ext uri="{909E8E84-426E-40DD-AFC4-6F175D3DCCD1}">
                <a14:hiddenFill xmlns:a14="http://schemas.microsoft.com/office/drawing/2010/main">
                  <a:solidFill>
                    <a:srgbClr val="FFFFFF"/>
                  </a:solidFill>
                </a14:hiddenFill>
              </a:ext>
            </a:extLst>
          </p:spPr>
        </p:pic>
        <p:sp>
          <p:nvSpPr>
            <p:cNvPr id="46" name="TextBox 45">
              <a:extLst>
                <a:ext uri="{FF2B5EF4-FFF2-40B4-BE49-F238E27FC236}">
                  <a16:creationId xmlns:a16="http://schemas.microsoft.com/office/drawing/2014/main" id="{3CD3AD6F-D346-BAFC-123B-FCA33FF65FF7}"/>
                </a:ext>
              </a:extLst>
            </p:cNvPr>
            <p:cNvSpPr txBox="1"/>
            <p:nvPr/>
          </p:nvSpPr>
          <p:spPr>
            <a:xfrm>
              <a:off x="4036196" y="4504658"/>
              <a:ext cx="1645920" cy="246221"/>
            </a:xfrm>
            <a:prstGeom prst="rect">
              <a:avLst/>
            </a:prstGeom>
            <a:solidFill>
              <a:schemeClr val="tx1"/>
            </a:solidFill>
            <a:ln w="3175">
              <a:solidFill>
                <a:schemeClr val="tx1"/>
              </a:solidFill>
            </a:ln>
          </p:spPr>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Lucida Sans" panose="020B0602030504020204" pitchFamily="34" charset="0"/>
                  <a:ea typeface="+mn-ea"/>
                  <a:cs typeface="+mn-cs"/>
                </a:rPr>
                <a:t>Admissions Policies</a:t>
              </a:r>
            </a:p>
          </p:txBody>
        </p:sp>
      </p:grpSp>
      <p:cxnSp>
        <p:nvCxnSpPr>
          <p:cNvPr id="49" name="Straight Arrow Connector 48">
            <a:extLst>
              <a:ext uri="{FF2B5EF4-FFF2-40B4-BE49-F238E27FC236}">
                <a16:creationId xmlns:a16="http://schemas.microsoft.com/office/drawing/2014/main" id="{861D196A-4E1C-F638-ADA2-303AECC0AB0C}"/>
              </a:ext>
            </a:extLst>
          </p:cNvPr>
          <p:cNvCxnSpPr>
            <a:cxnSpLocks/>
          </p:cNvCxnSpPr>
          <p:nvPr/>
        </p:nvCxnSpPr>
        <p:spPr>
          <a:xfrm>
            <a:off x="6248400" y="5839500"/>
            <a:ext cx="297029" cy="0"/>
          </a:xfrm>
          <a:prstGeom prst="straightConnector1">
            <a:avLst/>
          </a:prstGeom>
          <a:ln w="3175">
            <a:solidFill>
              <a:schemeClr val="tx1"/>
            </a:solidFill>
            <a:prstDash val="sysDot"/>
            <a:tailEnd type="triangle" w="lg" len="lg"/>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4E63B8D9-B100-0098-E7FE-94C31FDAD896}"/>
              </a:ext>
            </a:extLst>
          </p:cNvPr>
          <p:cNvCxnSpPr/>
          <p:nvPr/>
        </p:nvCxnSpPr>
        <p:spPr>
          <a:xfrm flipV="1">
            <a:off x="6248400" y="5294512"/>
            <a:ext cx="0" cy="54498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783C31AE-B541-093A-0C03-6BBF0C209C3B}"/>
              </a:ext>
            </a:extLst>
          </p:cNvPr>
          <p:cNvCxnSpPr>
            <a:cxnSpLocks/>
          </p:cNvCxnSpPr>
          <p:nvPr/>
        </p:nvCxnSpPr>
        <p:spPr>
          <a:xfrm>
            <a:off x="6097765" y="5294512"/>
            <a:ext cx="150635" cy="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663D8D76-8A72-2425-2F2C-2C5F16F76CC6}"/>
              </a:ext>
            </a:extLst>
          </p:cNvPr>
          <p:cNvCxnSpPr>
            <a:cxnSpLocks/>
          </p:cNvCxnSpPr>
          <p:nvPr/>
        </p:nvCxnSpPr>
        <p:spPr>
          <a:xfrm>
            <a:off x="6096000" y="3356693"/>
            <a:ext cx="445991" cy="5739"/>
          </a:xfrm>
          <a:prstGeom prst="straightConnector1">
            <a:avLst/>
          </a:prstGeom>
          <a:ln w="3175">
            <a:solidFill>
              <a:schemeClr val="tx1"/>
            </a:solidFill>
            <a:prstDash val="sysDot"/>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83809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ack and grey text&#10;&#10;Description automatically generated">
            <a:extLst>
              <a:ext uri="{FF2B5EF4-FFF2-40B4-BE49-F238E27FC236}">
                <a16:creationId xmlns:a16="http://schemas.microsoft.com/office/drawing/2014/main" id="{E77303AC-E3DD-1789-B14E-926D595C71B5}"/>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r="81947"/>
          <a:stretch/>
        </p:blipFill>
        <p:spPr>
          <a:xfrm>
            <a:off x="11835183" y="6480880"/>
            <a:ext cx="315482" cy="304226"/>
          </a:xfrm>
          <a:prstGeom prst="rect">
            <a:avLst/>
          </a:prstGeom>
        </p:spPr>
      </p:pic>
      <p:sp>
        <p:nvSpPr>
          <p:cNvPr id="8" name="Rectangle 7">
            <a:extLst>
              <a:ext uri="{FF2B5EF4-FFF2-40B4-BE49-F238E27FC236}">
                <a16:creationId xmlns:a16="http://schemas.microsoft.com/office/drawing/2014/main" id="{59E32DF6-FA5E-1462-09DF-258433EFF1C4}"/>
              </a:ext>
            </a:extLst>
          </p:cNvPr>
          <p:cNvSpPr/>
          <p:nvPr/>
        </p:nvSpPr>
        <p:spPr>
          <a:xfrm>
            <a:off x="611365" y="1801438"/>
            <a:ext cx="10666235" cy="4550724"/>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82880" tIns="182880" rIns="182880" bIns="18288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nvGrpSpPr>
          <p:cNvPr id="10" name="Group 9">
            <a:extLst>
              <a:ext uri="{FF2B5EF4-FFF2-40B4-BE49-F238E27FC236}">
                <a16:creationId xmlns:a16="http://schemas.microsoft.com/office/drawing/2014/main" id="{BE73C2F2-C60A-CE88-C997-F43B11D0223A}"/>
              </a:ext>
            </a:extLst>
          </p:cNvPr>
          <p:cNvGrpSpPr>
            <a:grpSpLocks noChangeAspect="1"/>
          </p:cNvGrpSpPr>
          <p:nvPr/>
        </p:nvGrpSpPr>
        <p:grpSpPr>
          <a:xfrm>
            <a:off x="741001" y="1909078"/>
            <a:ext cx="7772400" cy="4335444"/>
            <a:chOff x="741001" y="1901837"/>
            <a:chExt cx="8212499" cy="4580930"/>
          </a:xfrm>
        </p:grpSpPr>
        <p:pic>
          <p:nvPicPr>
            <p:cNvPr id="9" name="Picture 8">
              <a:extLst>
                <a:ext uri="{FF2B5EF4-FFF2-40B4-BE49-F238E27FC236}">
                  <a16:creationId xmlns:a16="http://schemas.microsoft.com/office/drawing/2014/main" id="{E1066A40-7D4A-7999-A11F-8DF49E042245}"/>
                </a:ext>
              </a:extLst>
            </p:cNvPr>
            <p:cNvPicPr>
              <a:picLocks noChangeAspect="1"/>
            </p:cNvPicPr>
            <p:nvPr/>
          </p:nvPicPr>
          <p:blipFill>
            <a:blip r:embed="rId4">
              <a:extLst>
                <a:ext uri="{28A0092B-C50C-407E-A947-70E740481C1C}">
                  <a14:useLocalDpi xmlns:a14="http://schemas.microsoft.com/office/drawing/2010/main" val="0"/>
                </a:ext>
              </a:extLst>
            </a:blip>
            <a:srcRect l="2050" r="5395"/>
            <a:stretch/>
          </p:blipFill>
          <p:spPr>
            <a:xfrm>
              <a:off x="741001" y="1901837"/>
              <a:ext cx="8212499" cy="4580930"/>
            </a:xfrm>
            <a:prstGeom prst="rect">
              <a:avLst/>
            </a:prstGeom>
          </p:spPr>
        </p:pic>
        <p:pic>
          <p:nvPicPr>
            <p:cNvPr id="12" name="Picture 11">
              <a:extLst>
                <a:ext uri="{FF2B5EF4-FFF2-40B4-BE49-F238E27FC236}">
                  <a16:creationId xmlns:a16="http://schemas.microsoft.com/office/drawing/2014/main" id="{6CD66557-0F6C-FE39-4A71-6F9A48D546F9}"/>
                </a:ext>
              </a:extLst>
            </p:cNvPr>
            <p:cNvPicPr>
              <a:picLocks noChangeAspect="1"/>
            </p:cNvPicPr>
            <p:nvPr/>
          </p:nvPicPr>
          <p:blipFill>
            <a:blip r:embed="rId5"/>
            <a:srcRect r="17568"/>
            <a:stretch/>
          </p:blipFill>
          <p:spPr>
            <a:xfrm>
              <a:off x="1063084" y="5520597"/>
              <a:ext cx="832392" cy="762106"/>
            </a:xfrm>
            <a:prstGeom prst="rect">
              <a:avLst/>
            </a:prstGeom>
            <a:ln>
              <a:solidFill>
                <a:schemeClr val="tx1"/>
              </a:solidFill>
            </a:ln>
          </p:spPr>
        </p:pic>
      </p:grpSp>
      <p:sp>
        <p:nvSpPr>
          <p:cNvPr id="7" name="TextBox 6">
            <a:extLst>
              <a:ext uri="{FF2B5EF4-FFF2-40B4-BE49-F238E27FC236}">
                <a16:creationId xmlns:a16="http://schemas.microsoft.com/office/drawing/2014/main" id="{773D81C8-7E2C-B904-EA45-129864267776}"/>
              </a:ext>
            </a:extLst>
          </p:cNvPr>
          <p:cNvSpPr txBox="1"/>
          <p:nvPr/>
        </p:nvSpPr>
        <p:spPr>
          <a:xfrm>
            <a:off x="8719161" y="3613736"/>
            <a:ext cx="2558438"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D1C1D"/>
                </a:solidFill>
                <a:effectLst/>
                <a:uLnTx/>
                <a:uFillTx/>
                <a:latin typeface="Lucida Sans" panose="020B0602030504020204" pitchFamily="34" charset="0"/>
                <a:ea typeface="+mn-ea"/>
                <a:cs typeface="+mn-cs"/>
              </a:rPr>
              <a:t>In 2024, Opportunity Insights engaged with 313 organizations across </a:t>
            </a:r>
            <a:r>
              <a:rPr kumimoji="0" lang="en-US" sz="1400" b="1" i="0" u="none" strike="noStrike" kern="1200" cap="none" spc="0" normalizeH="0" baseline="0" noProof="0" dirty="0">
                <a:ln>
                  <a:noFill/>
                </a:ln>
                <a:solidFill>
                  <a:srgbClr val="29B6A4"/>
                </a:solidFill>
                <a:effectLst/>
                <a:uLnTx/>
                <a:uFillTx/>
                <a:latin typeface="Lucida Sans" panose="020B0602030504020204" pitchFamily="34" charset="0"/>
                <a:ea typeface="+mn-ea"/>
                <a:cs typeface="+mn-cs"/>
              </a:rPr>
              <a:t>179</a:t>
            </a:r>
            <a:r>
              <a:rPr kumimoji="0" lang="en-US" sz="1400" b="1" i="0" u="none" strike="noStrike" kern="1200" cap="none" spc="0" normalizeH="0" baseline="0" noProof="0" dirty="0">
                <a:ln>
                  <a:noFill/>
                </a:ln>
                <a:solidFill>
                  <a:srgbClr val="1D1C1D"/>
                </a:solidFill>
                <a:effectLst/>
                <a:uLnTx/>
                <a:uFillTx/>
                <a:latin typeface="Lucida Sans" panose="020B0602030504020204" pitchFamily="34" charset="0"/>
                <a:ea typeface="+mn-ea"/>
                <a:cs typeface="+mn-cs"/>
              </a:rPr>
              <a:t> </a:t>
            </a:r>
            <a:r>
              <a:rPr kumimoji="0" lang="en-US" sz="1400" b="1" i="0" u="none" strike="noStrike" kern="1200" cap="none" spc="0" normalizeH="0" baseline="0" noProof="0" dirty="0">
                <a:ln>
                  <a:noFill/>
                </a:ln>
                <a:solidFill>
                  <a:srgbClr val="29B6A4"/>
                </a:solidFill>
                <a:effectLst/>
                <a:uLnTx/>
                <a:uFillTx/>
                <a:latin typeface="Lucida Sans" panose="020B0602030504020204" pitchFamily="34" charset="0"/>
                <a:ea typeface="+mn-ea"/>
                <a:cs typeface="+mn-cs"/>
              </a:rPr>
              <a:t>cities</a:t>
            </a:r>
            <a:r>
              <a:rPr kumimoji="0" lang="en-US" sz="1400" b="1" i="0" u="none" strike="noStrike" kern="1200" cap="none" spc="0" normalizeH="0" baseline="0" noProof="0" dirty="0">
                <a:ln>
                  <a:noFill/>
                </a:ln>
                <a:solidFill>
                  <a:srgbClr val="1D1C1D"/>
                </a:solidFill>
                <a:effectLst/>
                <a:uLnTx/>
                <a:uFillTx/>
                <a:latin typeface="Lucida Sans" panose="020B0602030504020204" pitchFamily="34" charset="0"/>
                <a:ea typeface="+mn-ea"/>
                <a:cs typeface="+mn-cs"/>
              </a:rPr>
              <a:t> </a:t>
            </a:r>
            <a:r>
              <a:rPr kumimoji="0" lang="en-US" sz="1400" b="0" i="0" u="none" strike="noStrike" kern="1200" cap="none" spc="0" normalizeH="0" baseline="0" noProof="0" dirty="0">
                <a:ln>
                  <a:noFill/>
                </a:ln>
                <a:solidFill>
                  <a:srgbClr val="1D1C1D"/>
                </a:solidFill>
                <a:effectLst/>
                <a:uLnTx/>
                <a:uFillTx/>
                <a:latin typeface="Lucida Sans" panose="020B0602030504020204" pitchFamily="34" charset="0"/>
                <a:ea typeface="+mn-ea"/>
                <a:cs typeface="+mn-cs"/>
              </a:rPr>
              <a:t>in </a:t>
            </a:r>
            <a:r>
              <a:rPr kumimoji="0" lang="en-US" sz="1400" b="1" i="0" u="none" strike="noStrike" kern="1200" cap="none" spc="0" normalizeH="0" baseline="0" noProof="0" dirty="0">
                <a:ln>
                  <a:noFill/>
                </a:ln>
                <a:solidFill>
                  <a:srgbClr val="29B6A4"/>
                </a:solidFill>
                <a:effectLst/>
                <a:uLnTx/>
                <a:uFillTx/>
                <a:latin typeface="Lucida Sans" panose="020B0602030504020204" pitchFamily="34" charset="0"/>
                <a:ea typeface="+mn-ea"/>
                <a:cs typeface="+mn-cs"/>
              </a:rPr>
              <a:t>41 states</a:t>
            </a:r>
            <a:endParaRPr kumimoji="0" lang="en-US" sz="1400" b="0" i="0" u="none" strike="noStrike" kern="1200" cap="none" spc="0" normalizeH="0" baseline="0" noProof="0" dirty="0">
              <a:ln>
                <a:noFill/>
              </a:ln>
              <a:solidFill>
                <a:srgbClr val="1D1C1D"/>
              </a:solidFill>
              <a:effectLst/>
              <a:uLnTx/>
              <a:uFillTx/>
              <a:latin typeface="Lucida Sans" panose="020B0602030504020204" pitchFamily="34" charset="0"/>
              <a:ea typeface="+mn-ea"/>
              <a:cs typeface="+mn-cs"/>
            </a:endParaRPr>
          </a:p>
        </p:txBody>
      </p:sp>
      <p:sp>
        <p:nvSpPr>
          <p:cNvPr id="3" name="Rectangle 183">
            <a:extLst>
              <a:ext uri="{FF2B5EF4-FFF2-40B4-BE49-F238E27FC236}">
                <a16:creationId xmlns:a16="http://schemas.microsoft.com/office/drawing/2014/main" id="{70C9D299-45D0-69FB-0A1D-8092016B3A4A}"/>
              </a:ext>
            </a:extLst>
          </p:cNvPr>
          <p:cNvSpPr>
            <a:spLocks noChangeArrowheads="1"/>
          </p:cNvSpPr>
          <p:nvPr/>
        </p:nvSpPr>
        <p:spPr bwMode="auto">
          <a:xfrm>
            <a:off x="6462351" y="598576"/>
            <a:ext cx="0" cy="357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9140" rtl="0" eaLnBrk="0" fontAlgn="base" latinLnBrk="0" hangingPunct="0">
              <a:lnSpc>
                <a:spcPct val="100000"/>
              </a:lnSpc>
              <a:spcBef>
                <a:spcPct val="0"/>
              </a:spcBef>
              <a:spcAft>
                <a:spcPct val="0"/>
              </a:spcAft>
              <a:buClrTx/>
              <a:buSzTx/>
              <a:buFontTx/>
              <a:buNone/>
              <a:tabLst/>
              <a:defRPr/>
            </a:pPr>
            <a:r>
              <a:rPr kumimoji="0" lang="en-US" altLang="en-US" sz="2500" b="0" i="0" u="none" strike="noStrike" kern="1200" cap="none" spc="0" normalizeH="0" baseline="0" noProof="0" dirty="0">
                <a:ln>
                  <a:noFill/>
                </a:ln>
                <a:solidFill>
                  <a:srgbClr val="1E2D53"/>
                </a:solidFill>
                <a:effectLst/>
                <a:uLnTx/>
                <a:uFillTx/>
                <a:latin typeface="Lucida Sans" panose="020B0602030504020204" pitchFamily="34" charset="0"/>
                <a:ea typeface="+mn-ea"/>
                <a:cs typeface="Arial" pitchFamily="34" charset="0"/>
              </a:rPr>
              <a:t> </a:t>
            </a:r>
            <a:endParaRPr kumimoji="0" lang="en-US" altLang="en-US" sz="19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endParaRPr>
          </a:p>
        </p:txBody>
      </p:sp>
      <p:sp>
        <p:nvSpPr>
          <p:cNvPr id="11" name="Rectangle 10">
            <a:extLst>
              <a:ext uri="{FF2B5EF4-FFF2-40B4-BE49-F238E27FC236}">
                <a16:creationId xmlns:a16="http://schemas.microsoft.com/office/drawing/2014/main" id="{AF0D07C5-D6F9-EA23-BBAE-ED44F341E5B1}"/>
              </a:ext>
            </a:extLst>
          </p:cNvPr>
          <p:cNvSpPr>
            <a:spLocks noChangeArrowheads="1"/>
          </p:cNvSpPr>
          <p:nvPr/>
        </p:nvSpPr>
        <p:spPr bwMode="auto">
          <a:xfrm>
            <a:off x="609074" y="375319"/>
            <a:ext cx="1110286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262626"/>
                </a:solidFill>
                <a:effectLst/>
                <a:uLnTx/>
                <a:uFillTx/>
                <a:latin typeface="Lucida Bright" panose="02040602050505020304" pitchFamily="18" charset="0"/>
                <a:ea typeface="+mn-ea"/>
                <a:cs typeface="Arial" pitchFamily="34" charset="0"/>
              </a:rPr>
              <a:t>Using Data Science to Improve Economic Opportunity Across America</a:t>
            </a:r>
          </a:p>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626365"/>
                </a:solidFill>
                <a:effectLst/>
                <a:uLnTx/>
                <a:uFillTx/>
                <a:latin typeface="Lucida Sans" panose="020B0602030504020204" pitchFamily="34" charset="0"/>
                <a:ea typeface="+mn-ea"/>
                <a:cs typeface="Arial" pitchFamily="34" charset="0"/>
              </a:rPr>
              <a:t>Communities Where Opportunity Insights Worked with Local Stakeholders in 2024 </a:t>
            </a:r>
          </a:p>
        </p:txBody>
      </p:sp>
      <p:cxnSp>
        <p:nvCxnSpPr>
          <p:cNvPr id="13" name="Straight Connector 12">
            <a:extLst>
              <a:ext uri="{FF2B5EF4-FFF2-40B4-BE49-F238E27FC236}">
                <a16:creationId xmlns:a16="http://schemas.microsoft.com/office/drawing/2014/main" id="{E1752066-8887-688B-CB7A-900844D10182}"/>
              </a:ext>
            </a:extLst>
          </p:cNvPr>
          <p:cNvCxnSpPr>
            <a:cxnSpLocks/>
          </p:cNvCxnSpPr>
          <p:nvPr/>
        </p:nvCxnSpPr>
        <p:spPr>
          <a:xfrm>
            <a:off x="620980" y="1000920"/>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4686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94"/>
          <p:cNvSpPr>
            <a:spLocks noChangeAspect="1" noChangeArrowheads="1" noTextEdit="1"/>
          </p:cNvSpPr>
          <p:nvPr/>
        </p:nvSpPr>
        <p:spPr bwMode="auto">
          <a:xfrm>
            <a:off x="1524057" y="277836"/>
            <a:ext cx="9144001" cy="665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152" tIns="45718" rIns="91152" bIns="45718" numCol="1" anchor="t" anchorCtr="0" compatLnSpc="1">
            <a:prstTxWarp prst="textNoShape">
              <a:avLst/>
            </a:prstTxWarp>
          </a:bodyPr>
          <a:lstStyle/>
          <a:p>
            <a:pPr marL="0" marR="0" lvl="0" indent="0" algn="l" defTabSz="121914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
        <p:nvSpPr>
          <p:cNvPr id="83" name="Rectangle 183"/>
          <p:cNvSpPr>
            <a:spLocks noChangeArrowheads="1"/>
          </p:cNvSpPr>
          <p:nvPr/>
        </p:nvSpPr>
        <p:spPr bwMode="auto">
          <a:xfrm>
            <a:off x="6462351" y="598576"/>
            <a:ext cx="0" cy="357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9140" rtl="0" eaLnBrk="0" fontAlgn="base" latinLnBrk="0" hangingPunct="0">
              <a:lnSpc>
                <a:spcPct val="100000"/>
              </a:lnSpc>
              <a:spcBef>
                <a:spcPct val="0"/>
              </a:spcBef>
              <a:spcAft>
                <a:spcPct val="0"/>
              </a:spcAft>
              <a:buClrTx/>
              <a:buSzTx/>
              <a:buFontTx/>
              <a:buNone/>
              <a:tabLst/>
              <a:defRPr/>
            </a:pPr>
            <a:r>
              <a:rPr kumimoji="0" lang="en-US" altLang="en-US" sz="2500" b="0" i="0" u="none" strike="noStrike" kern="1200" cap="none" spc="0" normalizeH="0" baseline="0" noProof="0" dirty="0">
                <a:ln>
                  <a:noFill/>
                </a:ln>
                <a:solidFill>
                  <a:srgbClr val="1E2D53"/>
                </a:solidFill>
                <a:effectLst/>
                <a:uLnTx/>
                <a:uFillTx/>
                <a:latin typeface="Lucida Sans" panose="020B0602030504020204" pitchFamily="34" charset="0"/>
                <a:ea typeface="+mn-ea"/>
                <a:cs typeface="Arial" pitchFamily="34" charset="0"/>
              </a:rPr>
              <a:t> </a:t>
            </a:r>
            <a:endParaRPr kumimoji="0" lang="en-US" altLang="en-US" sz="19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endParaRPr>
          </a:p>
        </p:txBody>
      </p:sp>
      <p:pic>
        <p:nvPicPr>
          <p:cNvPr id="14" name="Picture 13" descr="A black and grey text&#10;&#10;Description automatically generated">
            <a:extLst>
              <a:ext uri="{FF2B5EF4-FFF2-40B4-BE49-F238E27FC236}">
                <a16:creationId xmlns:a16="http://schemas.microsoft.com/office/drawing/2014/main" id="{AF21E452-DCAE-DA58-0AB7-0C6962FEED62}"/>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r="81947"/>
          <a:stretch/>
        </p:blipFill>
        <p:spPr>
          <a:xfrm>
            <a:off x="11835183" y="6480880"/>
            <a:ext cx="315482" cy="304226"/>
          </a:xfrm>
          <a:prstGeom prst="rect">
            <a:avLst/>
          </a:prstGeom>
        </p:spPr>
      </p:pic>
      <p:sp>
        <p:nvSpPr>
          <p:cNvPr id="24" name="TextBox 23">
            <a:extLst>
              <a:ext uri="{FF2B5EF4-FFF2-40B4-BE49-F238E27FC236}">
                <a16:creationId xmlns:a16="http://schemas.microsoft.com/office/drawing/2014/main" id="{A7D289A0-FEF6-5297-FAB2-277447E6F7F7}"/>
              </a:ext>
            </a:extLst>
          </p:cNvPr>
          <p:cNvSpPr txBox="1"/>
          <p:nvPr/>
        </p:nvSpPr>
        <p:spPr>
          <a:xfrm>
            <a:off x="566211" y="6489777"/>
            <a:ext cx="8839200" cy="307756"/>
          </a:xfrm>
          <a:prstGeom prst="rect">
            <a:avLst/>
          </a:prstGeom>
          <a:noFill/>
        </p:spPr>
        <p:txBody>
          <a:bodyPr wrap="square" lIns="91034" tIns="45710" rIns="91034" bIns="45710" rtlCol="0">
            <a:spAutoFit/>
          </a:bodyPr>
          <a:lstStyle/>
          <a:p>
            <a:pPr marL="0" marR="0" lvl="0" indent="0" algn="l" defTabSz="121779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Source: </a:t>
            </a: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The Daily Californian (2017)</a:t>
            </a:r>
          </a:p>
        </p:txBody>
      </p:sp>
      <p:grpSp>
        <p:nvGrpSpPr>
          <p:cNvPr id="32" name="Group 31">
            <a:extLst>
              <a:ext uri="{FF2B5EF4-FFF2-40B4-BE49-F238E27FC236}">
                <a16:creationId xmlns:a16="http://schemas.microsoft.com/office/drawing/2014/main" id="{358002B3-B548-4381-58A8-11BCA8BEE298}"/>
              </a:ext>
            </a:extLst>
          </p:cNvPr>
          <p:cNvGrpSpPr/>
          <p:nvPr/>
        </p:nvGrpSpPr>
        <p:grpSpPr>
          <a:xfrm>
            <a:off x="788102" y="1938183"/>
            <a:ext cx="4876523" cy="4154984"/>
            <a:chOff x="788102" y="1629548"/>
            <a:chExt cx="4876523" cy="4154984"/>
          </a:xfrm>
        </p:grpSpPr>
        <p:sp>
          <p:nvSpPr>
            <p:cNvPr id="8" name="TextBox 7">
              <a:extLst>
                <a:ext uri="{FF2B5EF4-FFF2-40B4-BE49-F238E27FC236}">
                  <a16:creationId xmlns:a16="http://schemas.microsoft.com/office/drawing/2014/main" id="{8DE831DD-F0BC-E7D0-23BE-D745F50048D4}"/>
                </a:ext>
              </a:extLst>
            </p:cNvPr>
            <p:cNvSpPr txBox="1"/>
            <p:nvPr/>
          </p:nvSpPr>
          <p:spPr>
            <a:xfrm>
              <a:off x="788102" y="1629548"/>
              <a:ext cx="4876523" cy="4154984"/>
            </a:xfrm>
            <a:prstGeom prst="rect">
              <a:avLst/>
            </a:prstGeom>
            <a:noFill/>
            <a:ln>
              <a:noFill/>
            </a:ln>
          </p:spPr>
          <p:txBody>
            <a:bodyPr wrap="square" lIns="182880" tIns="182880" rIns="182880" bIns="182880" rtlCol="0">
              <a:spAutoFit/>
            </a:bodyPr>
            <a:lstStyle/>
            <a:p>
              <a:pPr marL="0" marR="0" lvl="0" indent="0" algn="l" defTabSz="914173"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mn-cs"/>
              </a:endParaRPr>
            </a:p>
            <a:p>
              <a:pPr marL="0" marR="0" lvl="0" indent="0" algn="l" defTabSz="914173"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mn-cs"/>
              </a:endParaRPr>
            </a:p>
            <a:p>
              <a:pPr marL="0" marR="0" lvl="0" indent="0" algn="l" defTabSz="914173"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mn-cs"/>
              </a:endParaRPr>
            </a:p>
            <a:p>
              <a:pPr marL="0" marR="0" lvl="0" indent="0" algn="l" defTabSz="914173"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mn-cs"/>
                </a:rPr>
                <a:t>A Structure of Division: Berkeley High School attempts to tackle segregation on campus</a:t>
              </a:r>
            </a:p>
            <a:p>
              <a:pPr marL="0" marR="0" lvl="0" indent="0" algn="l"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a:p>
              <a:pPr marL="0" marR="0" lvl="0" indent="0" algn="l" defTabSz="91417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Bright" panose="02040602050505020304" pitchFamily="18" charset="0"/>
                  <a:ea typeface="+mn-ea"/>
                  <a:cs typeface="+mn-cs"/>
                </a:rPr>
                <a:t>To attempt to address this divisive climate, Berkeley High’s Design Team has proposed the creation of a ninth grade that places incoming students into intentionally diverse communities. Under a universal ninth grade, students would begin their time at Berkeley High in one of various houses, rather than in one of the five learning communities. </a:t>
              </a:r>
            </a:p>
            <a:p>
              <a:pPr marL="0" marR="0" lvl="0" indent="0" algn="l"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prstClr val="black"/>
                </a:solidFill>
                <a:effectLst/>
                <a:uLnTx/>
                <a:uFillTx/>
                <a:latin typeface="Lucida Bright" panose="02040602050505020304" pitchFamily="18" charset="0"/>
                <a:ea typeface="+mn-ea"/>
                <a:cs typeface="+mn-cs"/>
              </a:endParaRPr>
            </a:p>
          </p:txBody>
        </p:sp>
        <p:sp>
          <p:nvSpPr>
            <p:cNvPr id="10" name="Rectangle 9">
              <a:extLst>
                <a:ext uri="{FF2B5EF4-FFF2-40B4-BE49-F238E27FC236}">
                  <a16:creationId xmlns:a16="http://schemas.microsoft.com/office/drawing/2014/main" id="{01AF44BE-A47F-2B98-2E9D-3D10709185EC}"/>
                </a:ext>
              </a:extLst>
            </p:cNvPr>
            <p:cNvSpPr/>
            <p:nvPr/>
          </p:nvSpPr>
          <p:spPr>
            <a:xfrm>
              <a:off x="974543" y="4014143"/>
              <a:ext cx="4022907" cy="182880"/>
            </a:xfrm>
            <a:prstGeom prst="rect">
              <a:avLst/>
            </a:prstGeom>
            <a:solidFill>
              <a:srgbClr val="2AB6AC">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634347D9-14D7-4D40-B546-9BB2C1DE42B9}"/>
                </a:ext>
              </a:extLst>
            </p:cNvPr>
            <p:cNvSpPr/>
            <p:nvPr/>
          </p:nvSpPr>
          <p:spPr>
            <a:xfrm>
              <a:off x="974542" y="4248032"/>
              <a:ext cx="4194358" cy="182880"/>
            </a:xfrm>
            <a:prstGeom prst="rect">
              <a:avLst/>
            </a:prstGeom>
            <a:solidFill>
              <a:srgbClr val="2AB6AC">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5" name="Rectangle 4">
            <a:extLst>
              <a:ext uri="{FF2B5EF4-FFF2-40B4-BE49-F238E27FC236}">
                <a16:creationId xmlns:a16="http://schemas.microsoft.com/office/drawing/2014/main" id="{9F1817C7-ACBD-7542-51A3-1F08556AF000}"/>
              </a:ext>
            </a:extLst>
          </p:cNvPr>
          <p:cNvSpPr>
            <a:spLocks noChangeArrowheads="1"/>
          </p:cNvSpPr>
          <p:nvPr/>
        </p:nvSpPr>
        <p:spPr bwMode="auto">
          <a:xfrm>
            <a:off x="609074" y="375319"/>
            <a:ext cx="10499449"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262626"/>
                </a:solidFill>
                <a:effectLst/>
                <a:uLnTx/>
                <a:uFillTx/>
                <a:latin typeface="Lucida Bright" panose="02040602050505020304" pitchFamily="18" charset="0"/>
                <a:ea typeface="+mn-ea"/>
                <a:cs typeface="Arial" pitchFamily="34" charset="0"/>
              </a:rPr>
              <a:t>Initiatives to Increase Cross-Class Interaction in High Schools</a:t>
            </a:r>
          </a:p>
          <a:p>
            <a:pPr marL="0" marR="0" lvl="0" indent="0" algn="l" defTabSz="121917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626365"/>
              </a:solidFill>
              <a:effectLst/>
              <a:uLnTx/>
              <a:uFillTx/>
              <a:latin typeface="Lucida Sans" panose="020B0602030504020204" pitchFamily="34" charset="0"/>
              <a:ea typeface="+mn-ea"/>
              <a:cs typeface="Arial" pitchFamily="34" charset="0"/>
            </a:endParaRPr>
          </a:p>
        </p:txBody>
      </p:sp>
      <p:cxnSp>
        <p:nvCxnSpPr>
          <p:cNvPr id="18" name="Straight Connector 17">
            <a:extLst>
              <a:ext uri="{FF2B5EF4-FFF2-40B4-BE49-F238E27FC236}">
                <a16:creationId xmlns:a16="http://schemas.microsoft.com/office/drawing/2014/main" id="{6F9E59A7-DFB4-AB2D-638A-4CF0966CF7CD}"/>
              </a:ext>
            </a:extLst>
          </p:cNvPr>
          <p:cNvCxnSpPr>
            <a:cxnSpLocks/>
          </p:cNvCxnSpPr>
          <p:nvPr/>
        </p:nvCxnSpPr>
        <p:spPr>
          <a:xfrm>
            <a:off x="620980" y="6483107"/>
            <a:ext cx="109536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53A5B6AA-2F0D-B721-8A2D-D49EC7B69F06}"/>
              </a:ext>
            </a:extLst>
          </p:cNvPr>
          <p:cNvGrpSpPr/>
          <p:nvPr/>
        </p:nvGrpSpPr>
        <p:grpSpPr>
          <a:xfrm>
            <a:off x="788102" y="1169591"/>
            <a:ext cx="4965281" cy="4943755"/>
            <a:chOff x="788102" y="1553097"/>
            <a:chExt cx="4965281" cy="4943755"/>
          </a:xfrm>
        </p:grpSpPr>
        <p:sp>
          <p:nvSpPr>
            <p:cNvPr id="12" name="Rectangle 11">
              <a:extLst>
                <a:ext uri="{FF2B5EF4-FFF2-40B4-BE49-F238E27FC236}">
                  <a16:creationId xmlns:a16="http://schemas.microsoft.com/office/drawing/2014/main" id="{F182015B-753C-0C90-4F45-F3841EB3BE31}"/>
                </a:ext>
              </a:extLst>
            </p:cNvPr>
            <p:cNvSpPr/>
            <p:nvPr/>
          </p:nvSpPr>
          <p:spPr>
            <a:xfrm>
              <a:off x="788102" y="1627126"/>
              <a:ext cx="4965281" cy="486972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F368FE52-C9BE-A1AA-B572-C25EF005D5F0}"/>
                </a:ext>
              </a:extLst>
            </p:cNvPr>
            <p:cNvSpPr txBox="1"/>
            <p:nvPr/>
          </p:nvSpPr>
          <p:spPr>
            <a:xfrm>
              <a:off x="788102" y="1553097"/>
              <a:ext cx="4873752" cy="584775"/>
            </a:xfrm>
            <a:prstGeom prst="rect">
              <a:avLst/>
            </a:prstGeom>
            <a:noFill/>
            <a:ln>
              <a:noFill/>
            </a:ln>
          </p:spPr>
          <p:txBody>
            <a:bodyPr wrap="square" lIns="182880" tIns="182880" rIns="182880" bIns="182880" rtlCol="0">
              <a:spAutoFit/>
            </a:bodyPr>
            <a:lstStyle/>
            <a:p>
              <a:pPr marL="0" marR="0" lvl="0" indent="0" algn="l" defTabSz="914173"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2017</a:t>
              </a:r>
              <a:endParaRPr kumimoji="0" lang="en-US" sz="1400" b="0" i="0" u="none" strike="noStrike" kern="1200" cap="none" spc="0" normalizeH="0" baseline="0" noProof="0" dirty="0">
                <a:ln>
                  <a:noFill/>
                </a:ln>
                <a:solidFill>
                  <a:prstClr val="black"/>
                </a:solidFill>
                <a:effectLst/>
                <a:uLnTx/>
                <a:uFillTx/>
                <a:latin typeface="Lucida Bright" panose="02040602050505020304" pitchFamily="18" charset="0"/>
                <a:ea typeface="+mn-ea"/>
                <a:cs typeface="+mn-cs"/>
              </a:endParaRPr>
            </a:p>
          </p:txBody>
        </p:sp>
      </p:grpSp>
      <p:pic>
        <p:nvPicPr>
          <p:cNvPr id="13" name="Picture 2" descr="Searching For Reasons Behind Segregation At Berkeley High">
            <a:extLst>
              <a:ext uri="{FF2B5EF4-FFF2-40B4-BE49-F238E27FC236}">
                <a16:creationId xmlns:a16="http://schemas.microsoft.com/office/drawing/2014/main" id="{44D96558-CED6-0167-DC42-8E8232071F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0851" y="1243620"/>
            <a:ext cx="5338371" cy="4003779"/>
          </a:xfrm>
          <a:prstGeom prst="rect">
            <a:avLst/>
          </a:prstGeom>
          <a:noFill/>
          <a:ln>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F2C65A05-54EE-32D4-EA5F-C35C0D735328}"/>
              </a:ext>
            </a:extLst>
          </p:cNvPr>
          <p:cNvSpPr txBox="1"/>
          <p:nvPr/>
        </p:nvSpPr>
        <p:spPr>
          <a:xfrm>
            <a:off x="6001583" y="5330870"/>
            <a:ext cx="6149082" cy="338554"/>
          </a:xfrm>
          <a:prstGeom prst="rect">
            <a:avLst/>
          </a:prstGeom>
          <a:noFill/>
        </p:spPr>
        <p:txBody>
          <a:bodyPr wrap="square">
            <a:spAutoFit/>
          </a:bodyPr>
          <a:lstStyle/>
          <a:p>
            <a:pPr marL="0" marR="0" lvl="0" indent="0" algn="l" defTabSz="914173"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Lucida Sans" panose="020B0602030504020204" pitchFamily="34" charset="0"/>
                <a:ea typeface="Cambria" panose="02040503050406030204" pitchFamily="18" charset="0"/>
                <a:cs typeface="Times New Roman" panose="02020603050405020304" pitchFamily="18" charset="0"/>
              </a:rPr>
              <a:t>Berkeley High School</a:t>
            </a:r>
            <a:endParaRPr kumimoji="0" lang="en-US" sz="16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grpSp>
        <p:nvGrpSpPr>
          <p:cNvPr id="20" name="Group 19">
            <a:extLst>
              <a:ext uri="{FF2B5EF4-FFF2-40B4-BE49-F238E27FC236}">
                <a16:creationId xmlns:a16="http://schemas.microsoft.com/office/drawing/2014/main" id="{946747CF-5B09-2502-E3D6-84142CD5B453}"/>
              </a:ext>
            </a:extLst>
          </p:cNvPr>
          <p:cNvGrpSpPr/>
          <p:nvPr/>
        </p:nvGrpSpPr>
        <p:grpSpPr>
          <a:xfrm>
            <a:off x="785331" y="1694050"/>
            <a:ext cx="4965281" cy="809865"/>
            <a:chOff x="785331" y="1694050"/>
            <a:chExt cx="4965281" cy="809865"/>
          </a:xfrm>
        </p:grpSpPr>
        <p:sp>
          <p:nvSpPr>
            <p:cNvPr id="19" name="Rectangle 18">
              <a:extLst>
                <a:ext uri="{FF2B5EF4-FFF2-40B4-BE49-F238E27FC236}">
                  <a16:creationId xmlns:a16="http://schemas.microsoft.com/office/drawing/2014/main" id="{17E19357-4031-0224-2C9A-6577BC2A8D3D}"/>
                </a:ext>
              </a:extLst>
            </p:cNvPr>
            <p:cNvSpPr/>
            <p:nvPr/>
          </p:nvSpPr>
          <p:spPr>
            <a:xfrm>
              <a:off x="785331" y="1694050"/>
              <a:ext cx="4965281" cy="809865"/>
            </a:xfrm>
            <a:prstGeom prst="rect">
              <a:avLst/>
            </a:prstGeom>
            <a:solidFill>
              <a:srgbClr val="4B9AD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 name="Picture 6">
              <a:extLst>
                <a:ext uri="{FF2B5EF4-FFF2-40B4-BE49-F238E27FC236}">
                  <a16:creationId xmlns:a16="http://schemas.microsoft.com/office/drawing/2014/main" id="{CDE96B14-869F-0E88-6744-E026F9ABDF5B}"/>
                </a:ext>
              </a:extLst>
            </p:cNvPr>
            <p:cNvPicPr>
              <a:picLocks noChangeAspect="1"/>
            </p:cNvPicPr>
            <p:nvPr/>
          </p:nvPicPr>
          <p:blipFill rotWithShape="1">
            <a:blip r:embed="rId5"/>
            <a:srcRect l="5951" t="22255" r="2074" b="16069"/>
            <a:stretch/>
          </p:blipFill>
          <p:spPr>
            <a:xfrm>
              <a:off x="1083591" y="1862726"/>
              <a:ext cx="4566795" cy="463914"/>
            </a:xfrm>
            <a:prstGeom prst="rect">
              <a:avLst/>
            </a:prstGeom>
          </p:spPr>
        </p:pic>
      </p:grpSp>
      <p:cxnSp>
        <p:nvCxnSpPr>
          <p:cNvPr id="3" name="Straight Connector 2">
            <a:extLst>
              <a:ext uri="{FF2B5EF4-FFF2-40B4-BE49-F238E27FC236}">
                <a16:creationId xmlns:a16="http://schemas.microsoft.com/office/drawing/2014/main" id="{42A03203-108B-B673-A4B3-846B996DAB36}"/>
              </a:ext>
            </a:extLst>
          </p:cNvPr>
          <p:cNvCxnSpPr>
            <a:cxnSpLocks/>
          </p:cNvCxnSpPr>
          <p:nvPr/>
        </p:nvCxnSpPr>
        <p:spPr>
          <a:xfrm>
            <a:off x="620980" y="851188"/>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755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94"/>
          <p:cNvSpPr>
            <a:spLocks noChangeAspect="1" noChangeArrowheads="1" noTextEdit="1"/>
          </p:cNvSpPr>
          <p:nvPr/>
        </p:nvSpPr>
        <p:spPr bwMode="auto">
          <a:xfrm>
            <a:off x="1524057" y="277836"/>
            <a:ext cx="9144001" cy="665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152" tIns="45718" rIns="91152" bIns="45718" numCol="1" anchor="t" anchorCtr="0" compatLnSpc="1">
            <a:prstTxWarp prst="textNoShape">
              <a:avLst/>
            </a:prstTxWarp>
          </a:bodyPr>
          <a:lstStyle/>
          <a:p>
            <a:pPr marL="0" marR="0" lvl="0" indent="0" algn="l" defTabSz="121914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
        <p:nvSpPr>
          <p:cNvPr id="83" name="Rectangle 183"/>
          <p:cNvSpPr>
            <a:spLocks noChangeArrowheads="1"/>
          </p:cNvSpPr>
          <p:nvPr/>
        </p:nvSpPr>
        <p:spPr bwMode="auto">
          <a:xfrm>
            <a:off x="6462351" y="598576"/>
            <a:ext cx="0" cy="357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9140" rtl="0" eaLnBrk="0" fontAlgn="base" latinLnBrk="0" hangingPunct="0">
              <a:lnSpc>
                <a:spcPct val="100000"/>
              </a:lnSpc>
              <a:spcBef>
                <a:spcPct val="0"/>
              </a:spcBef>
              <a:spcAft>
                <a:spcPct val="0"/>
              </a:spcAft>
              <a:buClrTx/>
              <a:buSzTx/>
              <a:buFontTx/>
              <a:buNone/>
              <a:tabLst/>
              <a:defRPr/>
            </a:pPr>
            <a:r>
              <a:rPr kumimoji="0" lang="en-US" altLang="en-US" sz="2500" b="0" i="0" u="none" strike="noStrike" kern="1200" cap="none" spc="0" normalizeH="0" baseline="0" noProof="0" dirty="0">
                <a:ln>
                  <a:noFill/>
                </a:ln>
                <a:solidFill>
                  <a:srgbClr val="1E2D53"/>
                </a:solidFill>
                <a:effectLst/>
                <a:uLnTx/>
                <a:uFillTx/>
                <a:latin typeface="Lucida Sans" panose="020B0602030504020204" pitchFamily="34" charset="0"/>
                <a:ea typeface="+mn-ea"/>
                <a:cs typeface="Arial" pitchFamily="34" charset="0"/>
              </a:rPr>
              <a:t> </a:t>
            </a:r>
            <a:endParaRPr kumimoji="0" lang="en-US" altLang="en-US" sz="19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endParaRPr>
          </a:p>
        </p:txBody>
      </p:sp>
      <p:pic>
        <p:nvPicPr>
          <p:cNvPr id="14" name="Picture 13" descr="A black and grey text&#10;&#10;Description automatically generated">
            <a:extLst>
              <a:ext uri="{FF2B5EF4-FFF2-40B4-BE49-F238E27FC236}">
                <a16:creationId xmlns:a16="http://schemas.microsoft.com/office/drawing/2014/main" id="{AF21E452-DCAE-DA58-0AB7-0C6962FEED62}"/>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r="81947"/>
          <a:stretch/>
        </p:blipFill>
        <p:spPr>
          <a:xfrm>
            <a:off x="11835183" y="6480880"/>
            <a:ext cx="315482" cy="304226"/>
          </a:xfrm>
          <a:prstGeom prst="rect">
            <a:avLst/>
          </a:prstGeom>
        </p:spPr>
      </p:pic>
      <p:sp>
        <p:nvSpPr>
          <p:cNvPr id="24" name="TextBox 23">
            <a:extLst>
              <a:ext uri="{FF2B5EF4-FFF2-40B4-BE49-F238E27FC236}">
                <a16:creationId xmlns:a16="http://schemas.microsoft.com/office/drawing/2014/main" id="{A7D289A0-FEF6-5297-FAB2-277447E6F7F7}"/>
              </a:ext>
            </a:extLst>
          </p:cNvPr>
          <p:cNvSpPr txBox="1"/>
          <p:nvPr/>
        </p:nvSpPr>
        <p:spPr>
          <a:xfrm>
            <a:off x="566211" y="6489777"/>
            <a:ext cx="8839200" cy="307756"/>
          </a:xfrm>
          <a:prstGeom prst="rect">
            <a:avLst/>
          </a:prstGeom>
          <a:noFill/>
        </p:spPr>
        <p:txBody>
          <a:bodyPr wrap="square" lIns="91034" tIns="45710" rIns="91034" bIns="45710" rtlCol="0">
            <a:spAutoFit/>
          </a:bodyPr>
          <a:lstStyle/>
          <a:p>
            <a:pPr marL="0" marR="0" lvl="0" indent="0" algn="l" defTabSz="121779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Source: </a:t>
            </a:r>
            <a:r>
              <a:rPr kumimoji="0" lang="en-US" sz="1400" b="0" i="0" u="none" strike="noStrike" kern="1200" cap="none" spc="0" normalizeH="0" baseline="0" noProof="0" dirty="0" err="1">
                <a:ln>
                  <a:noFill/>
                </a:ln>
                <a:solidFill>
                  <a:prstClr val="black"/>
                </a:solidFill>
                <a:effectLst/>
                <a:uLnTx/>
                <a:uFillTx/>
                <a:latin typeface="Lucida Sans" panose="020B0602030504020204" pitchFamily="34" charset="0"/>
                <a:ea typeface="Lato" panose="020F0502020204030203" pitchFamily="34" charset="0"/>
                <a:cs typeface="Arial" pitchFamily="34" charset="0"/>
              </a:rPr>
              <a:t>Urbanland</a:t>
            </a: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 (2023)</a:t>
            </a:r>
          </a:p>
        </p:txBody>
      </p:sp>
      <p:sp>
        <p:nvSpPr>
          <p:cNvPr id="5" name="Rectangle 4">
            <a:extLst>
              <a:ext uri="{FF2B5EF4-FFF2-40B4-BE49-F238E27FC236}">
                <a16:creationId xmlns:a16="http://schemas.microsoft.com/office/drawing/2014/main" id="{9F1817C7-ACBD-7542-51A3-1F08556AF000}"/>
              </a:ext>
            </a:extLst>
          </p:cNvPr>
          <p:cNvSpPr>
            <a:spLocks noChangeArrowheads="1"/>
          </p:cNvSpPr>
          <p:nvPr/>
        </p:nvSpPr>
        <p:spPr bwMode="auto">
          <a:xfrm>
            <a:off x="609074" y="375319"/>
            <a:ext cx="104994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262626"/>
                </a:solidFill>
                <a:effectLst/>
                <a:uLnTx/>
                <a:uFillTx/>
                <a:latin typeface="Lucida Bright" panose="02040602050505020304" pitchFamily="18" charset="0"/>
                <a:ea typeface="+mn-ea"/>
                <a:cs typeface="Arial" pitchFamily="34" charset="0"/>
              </a:rPr>
              <a:t>Increasing Cross-Class Interaction Through Urban Design</a:t>
            </a:r>
          </a:p>
        </p:txBody>
      </p:sp>
      <p:cxnSp>
        <p:nvCxnSpPr>
          <p:cNvPr id="18" name="Straight Connector 17">
            <a:extLst>
              <a:ext uri="{FF2B5EF4-FFF2-40B4-BE49-F238E27FC236}">
                <a16:creationId xmlns:a16="http://schemas.microsoft.com/office/drawing/2014/main" id="{6F9E59A7-DFB4-AB2D-638A-4CF0966CF7CD}"/>
              </a:ext>
            </a:extLst>
          </p:cNvPr>
          <p:cNvCxnSpPr>
            <a:cxnSpLocks/>
          </p:cNvCxnSpPr>
          <p:nvPr/>
        </p:nvCxnSpPr>
        <p:spPr>
          <a:xfrm>
            <a:off x="620980" y="6483107"/>
            <a:ext cx="109536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53A5B6AA-2F0D-B721-8A2D-D49EC7B69F06}"/>
              </a:ext>
            </a:extLst>
          </p:cNvPr>
          <p:cNvGrpSpPr/>
          <p:nvPr/>
        </p:nvGrpSpPr>
        <p:grpSpPr>
          <a:xfrm>
            <a:off x="788102" y="1169591"/>
            <a:ext cx="4965281" cy="4943755"/>
            <a:chOff x="788102" y="1553097"/>
            <a:chExt cx="4965281" cy="4943755"/>
          </a:xfrm>
        </p:grpSpPr>
        <p:sp>
          <p:nvSpPr>
            <p:cNvPr id="12" name="Rectangle 11">
              <a:extLst>
                <a:ext uri="{FF2B5EF4-FFF2-40B4-BE49-F238E27FC236}">
                  <a16:creationId xmlns:a16="http://schemas.microsoft.com/office/drawing/2014/main" id="{F182015B-753C-0C90-4F45-F3841EB3BE31}"/>
                </a:ext>
              </a:extLst>
            </p:cNvPr>
            <p:cNvSpPr/>
            <p:nvPr/>
          </p:nvSpPr>
          <p:spPr>
            <a:xfrm>
              <a:off x="788102" y="1627126"/>
              <a:ext cx="4965281" cy="486972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F368FE52-C9BE-A1AA-B572-C25EF005D5F0}"/>
                </a:ext>
              </a:extLst>
            </p:cNvPr>
            <p:cNvSpPr txBox="1"/>
            <p:nvPr/>
          </p:nvSpPr>
          <p:spPr>
            <a:xfrm>
              <a:off x="788102" y="1553097"/>
              <a:ext cx="4873752" cy="584775"/>
            </a:xfrm>
            <a:prstGeom prst="rect">
              <a:avLst/>
            </a:prstGeom>
            <a:noFill/>
            <a:ln>
              <a:noFill/>
            </a:ln>
          </p:spPr>
          <p:txBody>
            <a:bodyPr wrap="square" lIns="182880" tIns="182880" rIns="182880" bIns="182880" rtlCol="0">
              <a:spAutoFit/>
            </a:bodyPr>
            <a:lstStyle/>
            <a:p>
              <a:pPr marL="0" marR="0" lvl="0" indent="0" algn="l" defTabSz="914173"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2023</a:t>
              </a:r>
              <a:endParaRPr kumimoji="0" lang="en-US" sz="1400" b="0" i="0" u="none" strike="noStrike" kern="1200" cap="none" spc="0" normalizeH="0" baseline="0" noProof="0" dirty="0">
                <a:ln>
                  <a:noFill/>
                </a:ln>
                <a:solidFill>
                  <a:prstClr val="black"/>
                </a:solidFill>
                <a:effectLst/>
                <a:uLnTx/>
                <a:uFillTx/>
                <a:latin typeface="Lucida Bright" panose="02040602050505020304" pitchFamily="18" charset="0"/>
                <a:ea typeface="+mn-ea"/>
                <a:cs typeface="+mn-cs"/>
              </a:endParaRPr>
            </a:p>
          </p:txBody>
        </p:sp>
      </p:grpSp>
      <p:pic>
        <p:nvPicPr>
          <p:cNvPr id="13" name="Picture 2">
            <a:extLst>
              <a:ext uri="{FF2B5EF4-FFF2-40B4-BE49-F238E27FC236}">
                <a16:creationId xmlns:a16="http://schemas.microsoft.com/office/drawing/2014/main" id="{44D96558-CED6-0167-DC42-8E8232071F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p:blipFill>
        <p:spPr bwMode="auto">
          <a:xfrm>
            <a:off x="6055013" y="1243619"/>
            <a:ext cx="5062204" cy="486972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A5F463B-86AC-89EC-600F-CCBD720DE337}"/>
              </a:ext>
            </a:extLst>
          </p:cNvPr>
          <p:cNvSpPr txBox="1"/>
          <p:nvPr/>
        </p:nvSpPr>
        <p:spPr>
          <a:xfrm>
            <a:off x="832481" y="1552386"/>
            <a:ext cx="4876523" cy="2031325"/>
          </a:xfrm>
          <a:prstGeom prst="rect">
            <a:avLst/>
          </a:prstGeom>
          <a:noFill/>
          <a:ln>
            <a:noFill/>
          </a:ln>
        </p:spPr>
        <p:txBody>
          <a:bodyPr wrap="square" lIns="182880" tIns="182880" rIns="182880" bIns="182880" rtlCol="0">
            <a:spAutoFit/>
          </a:bodyPr>
          <a:lstStyle/>
          <a:p>
            <a:pPr marL="0" marR="0" lvl="0" indent="0" algn="l"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a:p>
            <a:pPr marL="0" marR="0" lvl="0" indent="0" algn="l"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a:p>
            <a:pPr marL="0" marR="0" lvl="0" indent="0" algn="l" defTabSz="914173"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mn-cs"/>
              </a:rPr>
              <a:t>Connecting Communities: Adding Soccer Fields to Atlanta’s MARTA Stations</a:t>
            </a:r>
          </a:p>
          <a:p>
            <a:pPr marL="0" marR="0" lvl="0" indent="0" algn="l"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a:p>
            <a:pPr marL="0" marR="0" lvl="0" indent="0" algn="l"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prstClr val="black"/>
              </a:solidFill>
              <a:effectLst/>
              <a:uLnTx/>
              <a:uFillTx/>
              <a:latin typeface="Lucida Bright" panose="02040602050505020304" pitchFamily="18" charset="0"/>
              <a:ea typeface="+mn-ea"/>
              <a:cs typeface="+mn-cs"/>
            </a:endParaRPr>
          </a:p>
        </p:txBody>
      </p:sp>
      <p:pic>
        <p:nvPicPr>
          <p:cNvPr id="6" name="Picture 6">
            <a:extLst>
              <a:ext uri="{FF2B5EF4-FFF2-40B4-BE49-F238E27FC236}">
                <a16:creationId xmlns:a16="http://schemas.microsoft.com/office/drawing/2014/main" id="{CC4B1C7B-2A60-0374-399B-80BF8757F8C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p:blipFill>
        <p:spPr bwMode="auto">
          <a:xfrm>
            <a:off x="1360356" y="1785130"/>
            <a:ext cx="3820773" cy="384825"/>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west-end-station_900">
            <a:extLst>
              <a:ext uri="{FF2B5EF4-FFF2-40B4-BE49-F238E27FC236}">
                <a16:creationId xmlns:a16="http://schemas.microsoft.com/office/drawing/2014/main" id="{25D9F0AB-4CE0-7003-E854-E1A82126D28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89732" y="2972086"/>
            <a:ext cx="4362020" cy="2908014"/>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24">
            <a:extLst>
              <a:ext uri="{FF2B5EF4-FFF2-40B4-BE49-F238E27FC236}">
                <a16:creationId xmlns:a16="http://schemas.microsoft.com/office/drawing/2014/main" id="{4E420BC8-8A64-3129-AB16-1C0E0E4FE503}"/>
              </a:ext>
            </a:extLst>
          </p:cNvPr>
          <p:cNvSpPr/>
          <p:nvPr/>
        </p:nvSpPr>
        <p:spPr>
          <a:xfrm>
            <a:off x="7410450" y="5496560"/>
            <a:ext cx="3669817" cy="482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7" name="Group 16">
            <a:extLst>
              <a:ext uri="{FF2B5EF4-FFF2-40B4-BE49-F238E27FC236}">
                <a16:creationId xmlns:a16="http://schemas.microsoft.com/office/drawing/2014/main" id="{FBAB82BB-C206-6C16-074C-56EFA2E6F30A}"/>
              </a:ext>
            </a:extLst>
          </p:cNvPr>
          <p:cNvGrpSpPr/>
          <p:nvPr/>
        </p:nvGrpSpPr>
        <p:grpSpPr>
          <a:xfrm>
            <a:off x="7503266" y="5583712"/>
            <a:ext cx="1477736" cy="307777"/>
            <a:chOff x="8007187" y="6279916"/>
            <a:chExt cx="1477736" cy="307777"/>
          </a:xfrm>
        </p:grpSpPr>
        <p:sp>
          <p:nvSpPr>
            <p:cNvPr id="21" name="Oval 20">
              <a:extLst>
                <a:ext uri="{FF2B5EF4-FFF2-40B4-BE49-F238E27FC236}">
                  <a16:creationId xmlns:a16="http://schemas.microsoft.com/office/drawing/2014/main" id="{1F9BD17C-36A9-AAA5-3F69-3E2D98E14DE9}"/>
                </a:ext>
              </a:extLst>
            </p:cNvPr>
            <p:cNvSpPr/>
            <p:nvPr/>
          </p:nvSpPr>
          <p:spPr>
            <a:xfrm>
              <a:off x="8007187" y="6378777"/>
              <a:ext cx="110054" cy="110054"/>
            </a:xfrm>
            <a:prstGeom prst="ellipse">
              <a:avLst/>
            </a:prstGeom>
            <a:solidFill>
              <a:srgbClr val="00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22" name="TextBox 21">
              <a:extLst>
                <a:ext uri="{FF2B5EF4-FFF2-40B4-BE49-F238E27FC236}">
                  <a16:creationId xmlns:a16="http://schemas.microsoft.com/office/drawing/2014/main" id="{129FA07E-B9FE-C133-E81A-4019C59BCD05}"/>
                </a:ext>
              </a:extLst>
            </p:cNvPr>
            <p:cNvSpPr txBox="1"/>
            <p:nvPr/>
          </p:nvSpPr>
          <p:spPr>
            <a:xfrm>
              <a:off x="8117241" y="6279916"/>
              <a:ext cx="1367682" cy="307777"/>
            </a:xfrm>
            <a:prstGeom prst="rect">
              <a:avLst/>
            </a:prstGeom>
            <a:noFill/>
          </p:spPr>
          <p:txBody>
            <a:bodyPr wrap="none" rtlCol="0">
              <a:spAutoFit/>
            </a:bodyPr>
            <a:lstStyle/>
            <a:p>
              <a:pPr marL="0" marR="0" lvl="0" indent="0" algn="l" defTabSz="91417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262626"/>
                  </a:solidFill>
                  <a:effectLst/>
                  <a:uLnTx/>
                  <a:uFillTx/>
                  <a:latin typeface="Source Sans Pro"/>
                  <a:ea typeface="+mn-ea"/>
                  <a:cs typeface="+mn-cs"/>
                </a:rPr>
                <a:t>MARTA Stations</a:t>
              </a:r>
            </a:p>
          </p:txBody>
        </p:sp>
      </p:grpSp>
      <p:pic>
        <p:nvPicPr>
          <p:cNvPr id="23" name="Picture 22" descr="Map&#10;&#10;Description automatically generated">
            <a:extLst>
              <a:ext uri="{FF2B5EF4-FFF2-40B4-BE49-F238E27FC236}">
                <a16:creationId xmlns:a16="http://schemas.microsoft.com/office/drawing/2014/main" id="{DFEFD1C0-D479-8B69-C8F9-93CF5151E575}"/>
              </a:ext>
            </a:extLst>
          </p:cNvPr>
          <p:cNvPicPr>
            <a:picLocks noChangeAspect="1"/>
          </p:cNvPicPr>
          <p:nvPr/>
        </p:nvPicPr>
        <p:blipFill rotWithShape="1">
          <a:blip r:embed="rId7">
            <a:extLst>
              <a:ext uri="{28A0092B-C50C-407E-A947-70E740481C1C}">
                <a14:useLocalDpi xmlns:a14="http://schemas.microsoft.com/office/drawing/2010/main" val="0"/>
              </a:ext>
            </a:extLst>
          </a:blip>
          <a:srcRect l="67461" r="-258" b="90625"/>
          <a:stretch/>
        </p:blipFill>
        <p:spPr>
          <a:xfrm>
            <a:off x="8890132" y="5524702"/>
            <a:ext cx="2190135" cy="425797"/>
          </a:xfrm>
          <a:prstGeom prst="rect">
            <a:avLst/>
          </a:prstGeom>
          <a:ln>
            <a:noFill/>
          </a:ln>
        </p:spPr>
      </p:pic>
      <p:cxnSp>
        <p:nvCxnSpPr>
          <p:cNvPr id="7" name="Straight Connector 6">
            <a:extLst>
              <a:ext uri="{FF2B5EF4-FFF2-40B4-BE49-F238E27FC236}">
                <a16:creationId xmlns:a16="http://schemas.microsoft.com/office/drawing/2014/main" id="{F56D0376-A126-24E6-65BE-6CB476C89AD4}"/>
              </a:ext>
            </a:extLst>
          </p:cNvPr>
          <p:cNvCxnSpPr>
            <a:cxnSpLocks/>
          </p:cNvCxnSpPr>
          <p:nvPr/>
        </p:nvCxnSpPr>
        <p:spPr>
          <a:xfrm>
            <a:off x="620980" y="851188"/>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9040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686</Words>
  <Application>Microsoft Office PowerPoint</Application>
  <PresentationFormat>Widescreen</PresentationFormat>
  <Paragraphs>76</Paragraphs>
  <Slides>7</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vt:i4>
      </vt:variant>
    </vt:vector>
  </HeadingPairs>
  <TitlesOfParts>
    <vt:vector size="16" baseType="lpstr">
      <vt:lpstr>Aptos Display</vt:lpstr>
      <vt:lpstr>Calibri</vt:lpstr>
      <vt:lpstr>Source Sans Pro</vt:lpstr>
      <vt:lpstr>Aptos</vt:lpstr>
      <vt:lpstr>Lucida Sans</vt:lpstr>
      <vt:lpstr>Poppins</vt:lpstr>
      <vt:lpstr>Lucida Bright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Harvard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Leff, Emily C</dc:creator>
  <cp:lastModifiedBy>Leff, Emily C</cp:lastModifiedBy>
  <cp:revision>2</cp:revision>
  <dcterms:created xsi:type="dcterms:W3CDTF">2025-05-29T10:46:22Z</dcterms:created>
  <dcterms:modified xsi:type="dcterms:W3CDTF">2025-05-29T16:05:32Z</dcterms:modified>
</cp:coreProperties>
</file>